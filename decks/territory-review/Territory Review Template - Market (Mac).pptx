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minutes, hard stop, then questions. Seven slides. Real dealer, account, and job names. Slides 1 and 2 are pre-filled by Nate. You bring the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Pre-filled. Bookings by quarter this year against last year, quote count, and the company lead time that quarter. Lead times were 30-plus weeks in the first half and have been back to 5 to 10 weeks since summer.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for Mac. The five accounts or segments you see as the biggest new customer opportunities and why.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for Mac. The accounts that came over with the role. Numbers pre-filled, status and next move are yours.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losses. One on price, one on product, one on speed and support. Who won, why, and whether we'd lose it again today. On the price loss, include the competitor's number if you have it. If you don't, say unknown. On every loss, the lead time we quoted and the lead time the winner delivered.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for Mac. Where you'd focus us and what you need to get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The market</a:t>
            </a:r>
          </a:p>
        </p:txBody>
      </p:sp>
      <p:sp>
        <p:nvSpPr>
          <p:cNvPr id="4" name="Text Placeholder 3"/>
          <p:cNvSpPr>
            <a:spLocks noGrp="1"/>
          </p:cNvSpPr>
          <p:nvPr>
            <p:ph type="body" idx="105"/>
          </p:nvPr>
        </p:nvSpPr>
        <p:spPr/>
        <p:txBody>
          <a:bodyPr/>
          <a:lstStyle/>
          <a:p>
            <a:r>
              <a:t>The market the way I see it. Who matters, where we win, where we lose, where to focus.</a:t>
            </a:r>
          </a:p>
        </p:txBody>
      </p:sp>
      <p:sp>
        <p:nvSpPr>
          <p:cNvPr id="5" name="Text Placeholder 4"/>
          <p:cNvSpPr>
            <a:spLocks noGrp="1"/>
          </p:cNvSpPr>
          <p:nvPr>
            <p:ph type="body" idx="106"/>
          </p:nvPr>
        </p:nvSpPr>
        <p:spPr/>
        <p:txBody>
          <a:bodyPr/>
          <a:lstStyle/>
          <a:p>
            <a:r>
              <a:t>Mac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7  ·  BY THE NUMBERS</a:t>
            </a:r>
          </a:p>
        </p:txBody>
      </p:sp>
      <p:sp>
        <p:nvSpPr>
          <p:cNvPr id="3" name="Title 2"/>
          <p:cNvSpPr>
            <a:spLocks noGrp="1"/>
          </p:cNvSpPr>
          <p:nvPr>
            <p:ph type="title" idx="101"/>
          </p:nvPr>
        </p:nvSpPr>
        <p:spPr/>
        <p:txBody>
          <a:bodyPr/>
          <a:lstStyle/>
          <a:p>
            <a:r>
              <a:t>National accounts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[system], pulled [date]. Quote count, not quote dollars. Lead time is the quoted lead time from the plant that quarter.</a:t>
            </a:r>
          </a:p>
        </p:txBody>
      </p:sp>
      <p:sp>
        <p:nvSpPr>
          <p:cNvPr id="7" name="TextBox 6"/>
          <p:cNvSpPr txBox="1"/>
          <p:nvPr/>
        </p:nvSpPr>
        <p:spPr>
          <a:xfrm>
            <a:off x="731520" y="2121408"/>
            <a:ext cx="10725912" cy="237744"/>
          </a:xfrm>
          <a:prstGeom prst="rect">
            <a:avLst/>
          </a:prstGeom>
          <a:noFill/>
        </p:spPr>
        <p:txBody>
          <a:bodyPr wrap="square" anchor="t" lIns="0" rIns="0" tIns="0" bIns="0">
            <a:noAutofit/>
          </a:bodyPr>
          <a:lstStyle/>
          <a:p>
            <a:r>
              <a:rPr sz="1100" b="1">
                <a:solidFill>
                  <a:srgbClr val="3C7D4D"/>
                </a:solidFill>
                <a:latin typeface="Arial"/>
              </a:rPr>
              <a:t>BOOKINGS BY QUARTER, WITH THE COMPANY LEAD TIME THAT QUARTER  ·  PRE-FILLED</a:t>
            </a:r>
          </a:p>
        </p:txBody>
      </p:sp>
      <p:graphicFrame>
        <p:nvGraphicFramePr>
          <p:cNvPr id="8" name="Table 7"/>
          <p:cNvGraphicFramePr>
            <a:graphicFrameLocks noGrp="1"/>
          </p:cNvGraphicFramePr>
          <p:nvPr/>
        </p:nvGraphicFramePr>
        <p:xfrm>
          <a:off x="731520" y="2377440"/>
          <a:ext cx="10725912" cy="1600200"/>
        </p:xfrm>
        <a:graphic>
          <a:graphicData uri="http://schemas.openxmlformats.org/drawingml/2006/table">
            <a:tbl>
              <a:tblPr firstRow="0" bandRow="0"/>
              <a:tblGrid>
                <a:gridCol w="1463040"/>
                <a:gridCol w="1828800"/>
                <a:gridCol w="1828800"/>
                <a:gridCol w="1463040"/>
                <a:gridCol w="1828800"/>
                <a:gridCol w="2313432"/>
              </a:tblGrid>
              <a:tr h="274320">
                <a:tc>
                  <a:txBody>
                    <a:bodyPr/>
                    <a:lstStyle/>
                    <a:p>
                      <a:r>
                        <a:rPr sz="1000" b="1">
                          <a:solidFill>
                            <a:srgbClr val="FFFFFF"/>
                          </a:solidFill>
                          <a:latin typeface="Arial"/>
                        </a:rPr>
                        <a:t>Quarter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2026</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Change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Quotes 2026 (count)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Company lead time (wks)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Q1</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Q2</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Q3</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Q4 to date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YTD</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4407408"/>
            <a:ext cx="10725912"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663440"/>
            <a:ext cx="10725912" cy="1371600"/>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happened in the territory that bookings don't capture. If bookings didn't come back when lead time did, say why. If they did, say what you did to get them 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7  ·  NEW CUSTOMERS</a:t>
            </a:r>
          </a:p>
        </p:txBody>
      </p:sp>
      <p:sp>
        <p:nvSpPr>
          <p:cNvPr id="3" name="Title 2"/>
          <p:cNvSpPr>
            <a:spLocks noGrp="1"/>
          </p:cNvSpPr>
          <p:nvPr>
            <p:ph type="title" idx="101"/>
          </p:nvPr>
        </p:nvSpPr>
        <p:spPr/>
        <p:txBody>
          <a:bodyPr/>
          <a:lstStyle/>
          <a:p>
            <a:r>
              <a:t>The five biggest new customer opportunities</a:t>
            </a:r>
          </a:p>
        </p:txBody>
      </p:sp>
      <p:sp>
        <p:nvSpPr>
          <p:cNvPr id="4" name="Text Placeholder 3"/>
          <p:cNvSpPr>
            <a:spLocks noGrp="1"/>
          </p:cNvSpPr>
          <p:nvPr>
            <p:ph type="body" idx="102"/>
          </p:nvPr>
        </p:nvSpPr>
        <p:spPr/>
        <p:txBody>
          <a:bodyPr/>
          <a:lstStyle/>
          <a:p>
            <a:r>
              <a:t>[One line. What these five have in common and why they're winnable.]</a:t>
            </a:r>
          </a:p>
        </p:txBody>
      </p:sp>
      <p:graphicFrame>
        <p:nvGraphicFramePr>
          <p:cNvPr id="5" name="Table 4"/>
          <p:cNvGraphicFramePr>
            <a:graphicFrameLocks noGrp="1"/>
          </p:cNvGraphicFramePr>
          <p:nvPr/>
        </p:nvGraphicFramePr>
        <p:xfrm>
          <a:off x="731520" y="2121408"/>
          <a:ext cx="10725912" cy="3913630"/>
        </p:xfrm>
        <a:graphic>
          <a:graphicData uri="http://schemas.openxmlformats.org/drawingml/2006/table">
            <a:tbl>
              <a:tblPr firstRow="0" bandRow="0"/>
              <a:tblGrid>
                <a:gridCol w="2743200"/>
                <a:gridCol w="4206240"/>
                <a:gridCol w="3776472"/>
              </a:tblGrid>
              <a:tr h="365760">
                <a:tc>
                  <a:txBody>
                    <a:bodyPr/>
                    <a:lstStyle/>
                    <a:p>
                      <a:r>
                        <a:rPr sz="1100" b="1">
                          <a:solidFill>
                            <a:srgbClr val="FFFFFF"/>
                          </a:solidFill>
                          <a:latin typeface="Arial"/>
                        </a:rPr>
                        <a:t>Account or segment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Why it's the opportunity</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it would take to win it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[Account or segment]</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7  ·  INHERITED ACCOUNTS</a:t>
            </a:r>
          </a:p>
        </p:txBody>
      </p:sp>
      <p:sp>
        <p:nvSpPr>
          <p:cNvPr id="3" name="Title 2"/>
          <p:cNvSpPr>
            <a:spLocks noGrp="1"/>
          </p:cNvSpPr>
          <p:nvPr>
            <p:ph type="title" idx="101"/>
          </p:nvPr>
        </p:nvSpPr>
        <p:spPr/>
        <p:txBody>
          <a:bodyPr/>
          <a:lstStyle/>
          <a:p>
            <a:r>
              <a:t>The accounts I took over</a:t>
            </a:r>
          </a:p>
        </p:txBody>
      </p:sp>
      <p:sp>
        <p:nvSpPr>
          <p:cNvPr id="4" name="Text Placeholder 3"/>
          <p:cNvSpPr>
            <a:spLocks noGrp="1"/>
          </p:cNvSpPr>
          <p:nvPr>
            <p:ph type="body" idx="102"/>
          </p:nvPr>
        </p:nvSpPr>
        <p:spPr/>
        <p:txBody>
          <a:bodyPr/>
          <a:lstStyle/>
          <a:p>
            <a:r>
              <a:t>[One line. Which of these are alive, which are gone, and which are worth the time.]</a:t>
            </a:r>
          </a:p>
        </p:txBody>
      </p:sp>
      <p:sp>
        <p:nvSpPr>
          <p:cNvPr id="6" name="Text Placeholder 5"/>
          <p:cNvSpPr>
            <a:spLocks noGrp="1"/>
          </p:cNvSpPr>
          <p:nvPr>
            <p:ph type="body" idx="104"/>
          </p:nvPr>
        </p:nvSpPr>
        <p:spPr/>
        <p:txBody>
          <a:bodyPr/>
          <a:lstStyle/>
          <a:p>
            <a:r>
              <a:t>Source: bookings pre-filled from [system]. Status and next move are Mac's.</a:t>
            </a:r>
          </a:p>
        </p:txBody>
      </p:sp>
      <p:graphicFrame>
        <p:nvGraphicFramePr>
          <p:cNvPr id="7" name="Table 6"/>
          <p:cNvGraphicFramePr>
            <a:graphicFrameLocks noGrp="1"/>
          </p:cNvGraphicFramePr>
          <p:nvPr/>
        </p:nvGraphicFramePr>
        <p:xfrm>
          <a:off x="731520" y="2121408"/>
          <a:ext cx="10725912" cy="3913630"/>
        </p:xfrm>
        <a:graphic>
          <a:graphicData uri="http://schemas.openxmlformats.org/drawingml/2006/table">
            <a:tbl>
              <a:tblPr firstRow="0" bandRow="0"/>
              <a:tblGrid>
                <a:gridCol w="2377440"/>
                <a:gridCol w="1325880"/>
                <a:gridCol w="1325880"/>
                <a:gridCol w="2834640"/>
                <a:gridCol w="2862072"/>
              </a:tblGrid>
              <a:tr h="365760">
                <a:tc>
                  <a:txBody>
                    <a:bodyPr/>
                    <a:lstStyle/>
                    <a:p>
                      <a:r>
                        <a:rPr sz="11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2026 YTD</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Where it stands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Next move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7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7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rPr sz="1400"/>
              <a:t>Job: [dealer, account, job]</a:t>
            </a:r>
          </a:p>
          <a:p>
            <a:r>
              <a:rPr sz="1400"/>
              <a:t>Who won: [competitor]</a:t>
            </a:r>
          </a:p>
          <a:p>
            <a:r>
              <a:rPr sz="1400"/>
              <a:t>Their price: [$ or unknown]</a:t>
            </a:r>
          </a:p>
          <a:p>
            <a:r>
              <a:rPr sz="1400"/>
              <a:t>Lead time: ours / theirs [wks]</a:t>
            </a:r>
          </a:p>
          <a:p>
            <a:r>
              <a:rPr sz="1400"/>
              <a:t>Why: [ ]</a:t>
            </a:r>
          </a:p>
          <a:p>
            <a:r>
              <a:rPr sz="1400"/>
              <a:t>Lose it again today: [yes/no]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rPr sz="1400"/>
              <a:t>Job: [dealer, account, job]</a:t>
            </a:r>
          </a:p>
          <a:p>
            <a:r>
              <a:rPr sz="1400"/>
              <a:t>Who won: [competitor]</a:t>
            </a:r>
          </a:p>
          <a:p>
            <a:r>
              <a:rPr sz="1400"/>
              <a:t>Why: [what they had, we didn't]</a:t>
            </a:r>
          </a:p>
          <a:p>
            <a:r>
              <a:rPr sz="1400"/>
              <a:t>Lead time: ours / theirs [wks]</a:t>
            </a:r>
          </a:p>
          <a:p>
            <a:r>
              <a:rPr sz="1400"/>
              <a:t>Lose it again today: [yes/no]</a:t>
            </a:r>
          </a:p>
          <a:p>
            <a:r>
              <a:rPr sz="1400"/>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rPr sz="1400"/>
              <a:t>Job: [dealer, account, job]</a:t>
            </a:r>
          </a:p>
          <a:p>
            <a:r>
              <a:rPr sz="1400"/>
              <a:t>Who won: [competitor]</a:t>
            </a:r>
          </a:p>
          <a:p>
            <a:r>
              <a:rPr sz="1400"/>
              <a:t>Lead time: ours / theirs [wks]</a:t>
            </a:r>
          </a:p>
          <a:p>
            <a:r>
              <a:rPr sz="1400"/>
              <a:t>Why: [quoting or service]</a:t>
            </a:r>
          </a:p>
          <a:p>
            <a:r>
              <a:rPr sz="1400"/>
              <a:t>Lose it again today: [yes/no]</a:t>
            </a:r>
          </a:p>
          <a:p>
            <a:r>
              <a:rPr sz="1400"/>
              <a:t>No speed loss? Say so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7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7 OF 7  ·  FOCUS</a:t>
            </a:r>
          </a:p>
        </p:txBody>
      </p:sp>
      <p:sp>
        <p:nvSpPr>
          <p:cNvPr id="3" name="Title 2"/>
          <p:cNvSpPr>
            <a:spLocks noGrp="1"/>
          </p:cNvSpPr>
          <p:nvPr>
            <p:ph type="title" idx="101"/>
          </p:nvPr>
        </p:nvSpPr>
        <p:spPr/>
        <p:txBody>
          <a:bodyPr/>
          <a:lstStyle/>
          <a:p>
            <a:r>
              <a:t>Where I'd focus us</a:t>
            </a:r>
          </a:p>
        </p:txBody>
      </p:sp>
      <p:sp>
        <p:nvSpPr>
          <p:cNvPr id="4" name="Text Placeholder 3"/>
          <p:cNvSpPr>
            <a:spLocks noGrp="1"/>
          </p:cNvSpPr>
          <p:nvPr>
            <p:ph type="body" idx="102"/>
          </p:nvPr>
        </p:nvSpPr>
        <p:spPr/>
        <p:txBody>
          <a:bodyPr/>
          <a:lstStyle/>
          <a:p>
            <a:r>
              <a:t>[One line. The bet you'd make and what it's worth.]</a:t>
            </a:r>
          </a:p>
        </p:txBody>
      </p:sp>
      <p:sp>
        <p:nvSpPr>
          <p:cNvPr id="5" name="Text Placeholder 4"/>
          <p:cNvSpPr>
            <a:spLocks noGrp="1"/>
          </p:cNvSpPr>
          <p:nvPr>
            <p:ph type="body" idx="103"/>
          </p:nvPr>
        </p:nvSpPr>
        <p:spPr/>
        <p:txBody>
          <a:bodyPr/>
          <a:lstStyle/>
          <a:p>
            <a:r>
              <a:t>Where I'd focus us</a:t>
            </a:r>
          </a:p>
        </p:txBody>
      </p:sp>
      <p:sp>
        <p:nvSpPr>
          <p:cNvPr id="6" name="Text Placeholder 5"/>
          <p:cNvSpPr>
            <a:spLocks noGrp="1"/>
          </p:cNvSpPr>
          <p:nvPr>
            <p:ph type="body" idx="105"/>
          </p:nvPr>
        </p:nvSpPr>
        <p:spPr/>
        <p:txBody>
          <a:bodyPr/>
          <a:lstStyle/>
          <a:p>
            <a:r>
              <a:t>Segment or account: [ ]</a:t>
            </a:r>
          </a:p>
          <a:p>
            <a:r>
              <a:t>Why now: [ ]</a:t>
            </a:r>
          </a:p>
          <a:p>
            <a:r>
              <a:t>Rough size of the prize: [$]</a:t>
            </a:r>
          </a:p>
          <a:p>
            <a:r>
              <a:t>First three moves: [ ]</a:t>
            </a:r>
          </a:p>
        </p:txBody>
      </p:sp>
      <p:sp>
        <p:nvSpPr>
          <p:cNvPr id="7" name="Text Placeholder 6"/>
          <p:cNvSpPr>
            <a:spLocks noGrp="1"/>
          </p:cNvSpPr>
          <p:nvPr>
            <p:ph type="body" idx="106"/>
          </p:nvPr>
        </p:nvSpPr>
        <p:spPr/>
        <p:txBody>
          <a:bodyPr/>
          <a:lstStyle/>
          <a:p>
            <a:r>
              <a:t>What I need to get there</a:t>
            </a:r>
          </a:p>
        </p:txBody>
      </p:sp>
      <p:sp>
        <p:nvSpPr>
          <p:cNvPr id="8" name="Text Placeholder 7"/>
          <p:cNvSpPr>
            <a:spLocks noGrp="1"/>
          </p:cNvSpPr>
          <p:nvPr>
            <p:ph type="body" idx="108"/>
          </p:nvPr>
        </p:nvSpPr>
        <p:spPr/>
        <p:txBody>
          <a:bodyPr/>
          <a:lstStyle/>
          <a:p>
            <a:r>
              <a:t>From product: [ ]</a:t>
            </a:r>
          </a:p>
          <a:p>
            <a:r>
              <a:t>From marketing: [ ]</a:t>
            </a:r>
          </a:p>
          <a:p>
            <a:r>
              <a:t>From pricing: [ ]</a:t>
            </a:r>
          </a:p>
          <a:p>
            <a:r>
              <a:t>From Nate: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