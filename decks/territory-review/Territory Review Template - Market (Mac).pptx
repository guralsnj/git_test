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Bookings</c:v>
                </c:pt>
              </c:strCache>
            </c:strRef>
          </c:tx>
          <c:spPr>
            <a:solidFill>
              <a:srgbClr val="3C7D4D"/>
            </a:solidFill>
          </c:spPr>
          <c:cat>
            <c:strRef>
              <c:f>Sheet1!$A$2:$A$5</c:f>
              <c:strCache>
                <c:ptCount val="4"/>
                <c:pt idx="0">
                  <c:v>Q4 2025</c:v>
                </c:pt>
                <c:pt idx="1">
                  <c:v>Q1 2026</c:v>
                </c:pt>
                <c:pt idx="2">
                  <c:v>Q2 2026</c:v>
                </c:pt>
                <c:pt idx="3">
                  <c:v>Q3 2026</c:v>
                </c:pt>
              </c:strCache>
            </c:strRef>
          </c:cat>
          <c:val>
            <c:numRef>
              <c:f>Sheet1!$B$2:$B$5</c:f>
              <c:numCache>
                <c:formatCode>General</c:formatCode>
                <c:ptCount val="4"/>
                <c:pt idx="0">
                  <c:v>850</c:v>
                </c:pt>
                <c:pt idx="1">
                  <c:v>920</c:v>
                </c:pt>
                <c:pt idx="2">
                  <c:v>780</c:v>
                </c:pt>
                <c:pt idx="3">
                  <c:v>1010</c:v>
                </c:pt>
              </c:numCache>
            </c:numRef>
          </c:val>
        </c:ser>
        <c:ser>
          <c:idx val="1"/>
          <c:order val="1"/>
          <c:tx>
            <c:strRef>
              <c:f>Sheet1!$C$1</c:f>
              <c:strCache>
                <c:ptCount val="1"/>
                <c:pt idx="0">
                  <c:v>Quotes</c:v>
                </c:pt>
              </c:strCache>
            </c:strRef>
          </c:tx>
          <c:spPr>
            <a:solidFill>
              <a:srgbClr val="5B6670"/>
            </a:solidFill>
          </c:spPr>
          <c:cat>
            <c:strRef>
              <c:f>Sheet1!$A$2:$A$5</c:f>
              <c:strCache>
                <c:ptCount val="4"/>
                <c:pt idx="0">
                  <c:v>Q4 2025</c:v>
                </c:pt>
                <c:pt idx="1">
                  <c:v>Q1 2026</c:v>
                </c:pt>
                <c:pt idx="2">
                  <c:v>Q2 2026</c:v>
                </c:pt>
                <c:pt idx="3">
                  <c:v>Q3 2026</c:v>
                </c:pt>
              </c:strCache>
            </c:strRef>
          </c:cat>
          <c:val>
            <c:numRef>
              <c:f>Sheet1!$C$2:$C$5</c:f>
              <c:numCache>
                <c:formatCode>General</c:formatCode>
                <c:ptCount val="4"/>
                <c:pt idx="0">
                  <c:v>2400</c:v>
                </c:pt>
                <c:pt idx="1">
                  <c:v>2650</c:v>
                </c:pt>
                <c:pt idx="2">
                  <c:v>2100</c:v>
                </c:pt>
                <c:pt idx="3">
                  <c:v>2900</c:v>
                </c:pt>
              </c:numCache>
            </c:numRef>
          </c:val>
        </c:ser>
        <c:dLbls>
          <c:numFmt formatCode="$#,##0&quot;K&quot;" sourceLinked="0"/>
          <c:txPr>
            <a:bodyPr/>
            <a:lstStyle/>
            <a:p>
              <a:pPr>
                <a:defRPr sz="900">
                  <a:latin typeface="Arial"/>
                </a:defRPr>
              </a:pPr>
            </a:p>
          </c:txPr>
          <c:showLegendKey val="0"/>
          <c:showVal val="1"/>
          <c:showCatName val="0"/>
          <c:showSerName val="0"/>
          <c:showPercent val="0"/>
          <c:showBubbleSize val="0"/>
          <c:showLeaderLines val="1"/>
        </c:dLbls>
        <c:gapWidth val="55"/>
        <c:overlap val="-10"/>
        <c:axId val="-2068027336"/>
        <c:axId val="-2113994440"/>
      </c:barChart>
      <c:catAx>
        <c:axId val="-2068027336"/>
        <c:scaling>
          <c:orientation val="minMax"/>
        </c:scaling>
        <c:delete val="0"/>
        <c:axPos val="b"/>
        <c:majorTickMark val="out"/>
        <c:minorTickMark val="none"/>
        <c:tickLblPos val="nextTo"/>
        <c:spPr>
          <a:ln>
            <a:solidFill>
              <a:srgbClr val="E2E6E3"/>
            </a:solidFill>
          </a:ln>
        </c:spPr>
        <c:txPr>
          <a:bodyPr/>
          <a:lstStyle/>
          <a:p>
            <a:pPr>
              <a:defRPr sz="1000">
                <a:latin typeface="Aria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val="b"/>
      <c:overlay val="0"/>
      <c:txPr>
        <a:bodyPr/>
        <a:lstStyle/>
        <a:p>
          <a:pPr>
            <a:defRPr sz="1000">
              <a:latin typeface="Aria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 Six slides. Real dealer, account, and job names. No new data pulls.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Bookings and quotes by quarter, top accounts, Excalibur dealers. Pre-filled. Add a couple of sentences on what the numbers don't show.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for Mac. The five accounts or segments you see as the biggest new customer opportunities and why.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Three wins. One on price, one on product, one on speed and support. Why we won, and whether it's repeatable.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Three losses. One on price, one on product, one on speed and support. Who won, why, and whether we'd lose it again today. On the price loss, include the competitor's number if you have it. If you don't, say unknown. If you don't have a loss in one of the three buckets, say so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What we do well and what we don't. One of each for the company, for marketing, and for sales direction. Nate: I mean that last one. I'd rather hear it in the room than not at all.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for Mac. Where you'd focus us and what you need to get there.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COVER-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SECTION-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AGENDA-image-2.jpe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TITLE_CONTENT-image-2.jpe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image" Target="../media/TWO_CONTENT-image-2.jpe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image" Target="../media/THREE_CARDS-image-2.jpe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image" Target="../media/BIG_NUMBERS-image-2.jpe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9-1.png"/><Relationship Id="rId2" Type="http://schemas.openxmlformats.org/officeDocument/2006/relationships/image" Target="../media/CONTENT_VISUAL-image-2.jpe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010-1.png"/><Relationship Id="rId2" Type="http://schemas.openxmlformats.org/officeDocument/2006/relationships/image" Target="../media/FULL_VISUAL-image-2.jpe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1011-1.png"/><Relationship Id="rId2" Type="http://schemas.openxmlformats.org/officeDocument/2006/relationships/image" Target="../media/COMPARISON-image-2.jpe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image" Target="../media/image-1012-1.png"/><Relationship Id="rId2" Type="http://schemas.openxmlformats.org/officeDocument/2006/relationships/image" Target="../media/TIMELINE-image-2.jpe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image" Target="../media/image-1013-1.png"/><Relationship Id="rId2" Type="http://schemas.openxmlformats.org/officeDocument/2006/relationships/image" Target="../media/KEY_MESSAGE-image-2.jpeg"/><Relationship Id="rId3"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image" Target="../media/image-1014-1.png"/><Relationship Id="rId2" Type="http://schemas.openxmlformats.org/officeDocument/2006/relationships/image" Target="../media/NEXT_STEPS-image-2.jpeg"/><Relationship Id="rId3"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image" Target="../media/image-1015-1.png"/><Relationship Id="rId2" Type="http://schemas.openxmlformats.org/officeDocument/2006/relationships/image" Target="../media/CLOSING-image-2.jpeg"/><Relationship Id="rId3"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image" Target="../media/image-1016-1.png"/><Relationship Id="rId2" Type="http://schemas.openxmlformats.org/officeDocument/2006/relationships/image" Target="../media/image-1016-2.png"/><Relationship Id="rId3" Type="http://schemas.openxmlformats.org/officeDocument/2006/relationships/image" Target="../media/COVER_MASCOT-image-3.jpe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brand/logo_h_rev.png">    </p:cNvPr>
          <p:cNvPicPr>
            <a:picLocks noChangeAspect="1"/>
          </p:cNvPicPr>
          <p:nvPr/>
        </p:nvPicPr>
        <p:blipFill>
          <a:blip r:embed="rId1"/>
          <a:stretch>
            <a:fillRect/>
          </a:stretch>
        </p:blipFill>
        <p:spPr>
          <a:xfrm>
            <a:off x="731520" y="658368"/>
            <a:ext cx="2377440" cy="803189"/>
          </a:xfrm>
          <a:prstGeom prst="rect">
            <a:avLst/>
          </a:prstGeom>
        </p:spPr>
      </p:pic>
      <p:sp>
        <p:nvSpPr>
          <p:cNvPr id="3" name="Text 0"/>
          <p:cNvSpPr txBox="1"/>
          <p:nvPr>
            <p:ph idx="101" type="body" hasCustomPrompt="1"/>
          </p:nvPr>
        </p:nvSpPr>
        <p:spPr>
          <a:xfrm>
            <a:off x="731520" y="2212848"/>
            <a:ext cx="6949440" cy="274320"/>
          </a:xfrm>
          <a:prstGeom prst="rect">
            <a:avLst/>
          </a:prstGeom>
          <a:noFill/>
          <a:ln/>
        </p:spPr>
        <p:txBody>
          <a:bodyPr wrap="square" rtlCol="0"/>
          <a:lstStyle>
            <a:lvl1pPr algn="l" indent="0" marL="0">
              <a:buNone/>
              <a:defRPr lang="en-US" sz="1100" b="1" spc="340" kern="0" dirty="0">
                <a:solidFill>
                  <a:srgbClr val="A9D9BF"/>
                </a:solidFill>
                <a:latin typeface="Arial" pitchFamily="34" charset="0"/>
                <a:ea typeface="Arial" pitchFamily="34" charset="-122"/>
                <a:cs typeface="Arial" pitchFamily="34" charset="-120"/>
              </a:defRPr>
            </a:lvl1pPr>
          </a:lstStyle>
          <a:p>
            <a:pPr algn="l" indent="0" marL="0">
              <a:buNone/>
            </a:pPr>
            <a:r>
              <a:rPr lang="en-US" sz="1100" b="1" spc="340" kern="0" dirty="0">
                <a:solidFill>
                  <a:srgbClr val="A9D9BF"/>
                </a:solidFill>
                <a:latin typeface="Arial" pitchFamily="34" charset="0"/>
                <a:ea typeface="Arial" pitchFamily="34" charset="-122"/>
                <a:cs typeface="Arial" pitchFamily="34" charset="-120"/>
              </a:rPr>
              <a:t>EXECUTIVE BRIEFING</a:t>
            </a:r>
            <a:endParaRPr lang="en-US" sz="1100" dirty="0"/>
          </a:p>
        </p:txBody>
      </p:sp>
      <p:sp>
        <p:nvSpPr>
          <p:cNvPr id="4" name="Shape 0"/>
          <p:cNvSpPr/>
          <p:nvPr/>
        </p:nvSpPr>
        <p:spPr>
          <a:xfrm>
            <a:off x="731520" y="2688336"/>
            <a:ext cx="777240" cy="50292"/>
          </a:xfrm>
          <a:prstGeom prst="rect">
            <a:avLst/>
          </a:prstGeom>
          <a:solidFill>
            <a:srgbClr val="F2A900"/>
          </a:solidFill>
          <a:ln/>
        </p:spPr>
      </p:sp>
      <p:sp>
        <p:nvSpPr>
          <p:cNvPr id="5" name="Text 1"/>
          <p:cNvSpPr txBox="1"/>
          <p:nvPr>
            <p:ph idx="103" type="title" hasCustomPrompt="1"/>
          </p:nvPr>
        </p:nvSpPr>
        <p:spPr>
          <a:xfrm>
            <a:off x="731520" y="2907792"/>
            <a:ext cx="6949440" cy="1627632"/>
          </a:xfrm>
          <a:prstGeom prst="rect">
            <a:avLst/>
          </a:prstGeom>
          <a:noFill/>
          <a:ln/>
        </p:spPr>
        <p:txBody>
          <a:bodyPr wrap="square" rtlCol="0"/>
          <a:lstStyle>
            <a:lvl1pPr algn="l" indent="0" marL="0">
              <a:buNone/>
              <a:defRPr lang="en-US" sz="4600" b="1" spc="-100" kern="0" dirty="0">
                <a:solidFill>
                  <a:srgbClr val="FFFFFF"/>
                </a:solidFill>
                <a:latin typeface="Arial" pitchFamily="34" charset="0"/>
                <a:ea typeface="Arial" pitchFamily="34" charset="-122"/>
                <a:cs typeface="Arial" pitchFamily="34" charset="-120"/>
              </a:defRPr>
            </a:lvl1pPr>
          </a:lstStyle>
          <a:p>
            <a:pPr algn="l" indent="0" marL="0">
              <a:buNone/>
            </a:pPr>
            <a:r>
              <a:rPr lang="en-US" sz="4600" b="1" spc="-100" kern="0" dirty="0">
                <a:solidFill>
                  <a:srgbClr val="FFFFFF"/>
                </a:solidFill>
                <a:latin typeface="Arial" pitchFamily="34" charset="0"/>
                <a:ea typeface="Arial" pitchFamily="34" charset="-122"/>
                <a:cs typeface="Arial" pitchFamily="34" charset="-120"/>
              </a:rPr>
              <a:t>Presentation title</a:t>
            </a:r>
            <a:endParaRPr lang="en-US" sz="4600" dirty="0"/>
          </a:p>
        </p:txBody>
      </p:sp>
      <p:sp>
        <p:nvSpPr>
          <p:cNvPr id="6" name="Text 1"/>
          <p:cNvSpPr txBox="1"/>
          <p:nvPr>
            <p:ph idx="104" type="body" hasCustomPrompt="1"/>
          </p:nvPr>
        </p:nvSpPr>
        <p:spPr>
          <a:xfrm>
            <a:off x="731520" y="4663440"/>
            <a:ext cx="6949440" cy="502920"/>
          </a:xfrm>
          <a:prstGeom prst="rect">
            <a:avLst/>
          </a:prstGeom>
          <a:noFill/>
          <a:ln/>
        </p:spPr>
        <p:txBody>
          <a:bodyPr wrap="square" rtlCol="0"/>
          <a:lstStyle>
            <a:lvl1pPr algn="l" indent="0" marL="0">
              <a:buNone/>
              <a:defRPr lang="en-US" sz="1700" dirty="0">
                <a:solidFill>
                  <a:srgbClr val="E4EFE8"/>
                </a:solidFill>
                <a:latin typeface="Arial" pitchFamily="34" charset="0"/>
                <a:ea typeface="Arial" pitchFamily="34" charset="-122"/>
                <a:cs typeface="Arial" pitchFamily="34" charset="-120"/>
              </a:defRPr>
            </a:lvl1pPr>
          </a:lstStyle>
          <a:p>
            <a:pPr algn="l" indent="0" marL="0">
              <a:buNone/>
            </a:pPr>
            <a:r>
              <a:rPr lang="en-US" sz="1700" dirty="0">
                <a:solidFill>
                  <a:srgbClr val="E4EFE8"/>
                </a:solidFill>
                <a:latin typeface="Arial" pitchFamily="34" charset="0"/>
                <a:ea typeface="Arial" pitchFamily="34" charset="-122"/>
                <a:cs typeface="Arial" pitchFamily="34" charset="-120"/>
              </a:rPr>
              <a:t>One line on what this deck argues</a:t>
            </a:r>
            <a:endParaRPr lang="en-US" sz="1700" dirty="0"/>
          </a:p>
        </p:txBody>
      </p:sp>
      <p:sp>
        <p:nvSpPr>
          <p:cNvPr id="7" name="Text 1"/>
          <p:cNvSpPr txBox="1"/>
          <p:nvPr>
            <p:ph idx="105" type="body" hasCustomPrompt="1"/>
          </p:nvPr>
        </p:nvSpPr>
        <p:spPr>
          <a:xfrm>
            <a:off x="731520" y="5998464"/>
            <a:ext cx="6949440" cy="310896"/>
          </a:xfrm>
          <a:prstGeom prst="rect">
            <a:avLst/>
          </a:prstGeom>
          <a:noFill/>
          <a:ln/>
        </p:spPr>
        <p:txBody>
          <a:bodyPr wrap="square" rtlCol="0"/>
          <a:lstStyle>
            <a:lvl1pPr algn="l" indent="0" marL="0">
              <a:buNone/>
              <a:defRPr lang="en-US" sz="1150" spc="80" kern="0" dirty="0">
                <a:solidFill>
                  <a:srgbClr val="C3DACB"/>
                </a:solidFill>
                <a:latin typeface="Arial" pitchFamily="34" charset="0"/>
                <a:ea typeface="Arial" pitchFamily="34" charset="-122"/>
                <a:cs typeface="Arial" pitchFamily="34" charset="-120"/>
              </a:defRPr>
            </a:lvl1pPr>
          </a:lstStyle>
          <a:p>
            <a:pPr algn="l" indent="0" marL="0">
              <a:buNone/>
            </a:pPr>
            <a:r>
              <a:rPr lang="en-US" sz="1150" spc="80" kern="0" dirty="0">
                <a:solidFill>
                  <a:srgbClr val="C3DACB"/>
                </a:solidFill>
                <a:latin typeface="Arial" pitchFamily="34" charset="0"/>
                <a:ea typeface="Arial" pitchFamily="34" charset="-122"/>
                <a:cs typeface="Arial" pitchFamily="34" charset="-120"/>
              </a:rPr>
              <a:t>Presenter  |  Audience  |  Month Year</a:t>
            </a:r>
            <a:endParaRPr lang="en-US" sz="11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brand/logo_h_rev.png">    </p:cNvPr>
          <p:cNvPicPr>
            <a:picLocks noChangeAspect="1"/>
          </p:cNvPicPr>
          <p:nvPr/>
        </p:nvPicPr>
        <p:blipFill>
          <a:blip r:embed="rId1"/>
          <a:stretch>
            <a:fillRect/>
          </a:stretch>
        </p:blipFill>
        <p:spPr>
          <a:xfrm>
            <a:off x="10625328" y="6272784"/>
            <a:ext cx="1325880" cy="447932"/>
          </a:xfrm>
          <a:prstGeom prst="rect">
            <a:avLst/>
          </a:prstGeom>
        </p:spPr>
      </p:pic>
      <p:sp>
        <p:nvSpPr>
          <p:cNvPr id="3" name="Text 0"/>
          <p:cNvSpPr txBox="1"/>
          <p:nvPr>
            <p:ph idx="101" type="body" hasCustomPrompt="1"/>
          </p:nvPr>
        </p:nvSpPr>
        <p:spPr>
          <a:xfrm>
            <a:off x="731520" y="2212848"/>
            <a:ext cx="2926080" cy="1325880"/>
          </a:xfrm>
          <a:prstGeom prst="rect">
            <a:avLst/>
          </a:prstGeom>
          <a:noFill/>
          <a:ln/>
        </p:spPr>
        <p:txBody>
          <a:bodyPr wrap="square" rtlCol="0"/>
          <a:lstStyle>
            <a:lvl1pPr algn="l" indent="0" marL="0">
              <a:buNone/>
              <a:defRPr lang="en-US" sz="8600" b="1" spc="-200" kern="0" dirty="0">
                <a:solidFill>
                  <a:srgbClr val="A9D9BF">
                    <a:alpha val="55000"/>
                  </a:srgbClr>
                </a:solidFill>
                <a:latin typeface="Arial" pitchFamily="34" charset="0"/>
                <a:ea typeface="Arial" pitchFamily="34" charset="-122"/>
                <a:cs typeface="Arial" pitchFamily="34" charset="-120"/>
              </a:defRPr>
            </a:lvl1pPr>
          </a:lstStyle>
          <a:p>
            <a:pPr algn="l" indent="0" marL="0">
              <a:buNone/>
            </a:pPr>
            <a:r>
              <a:rPr lang="en-US" sz="8600" b="1" spc="-200" kern="0" dirty="0">
                <a:solidFill>
                  <a:srgbClr val="A9D9BF">
                    <a:alpha val="55000"/>
                  </a:srgbClr>
                </a:solidFill>
                <a:latin typeface="Arial" pitchFamily="34" charset="0"/>
                <a:ea typeface="Arial" pitchFamily="34" charset="-122"/>
                <a:cs typeface="Arial" pitchFamily="34" charset="-120"/>
              </a:rPr>
              <a:t>01</a:t>
            </a:r>
            <a:endParaRPr lang="en-US" sz="8600" dirty="0"/>
          </a:p>
        </p:txBody>
      </p:sp>
      <p:sp>
        <p:nvSpPr>
          <p:cNvPr id="4" name="Shape 0"/>
          <p:cNvSpPr/>
          <p:nvPr/>
        </p:nvSpPr>
        <p:spPr>
          <a:xfrm>
            <a:off x="731520" y="3712464"/>
            <a:ext cx="777240" cy="50292"/>
          </a:xfrm>
          <a:prstGeom prst="rect">
            <a:avLst/>
          </a:prstGeom>
          <a:solidFill>
            <a:srgbClr val="F2A900"/>
          </a:solidFill>
          <a:ln/>
        </p:spPr>
      </p:sp>
      <p:sp>
        <p:nvSpPr>
          <p:cNvPr id="5" name="Text 1"/>
          <p:cNvSpPr txBox="1"/>
          <p:nvPr>
            <p:ph idx="103" type="title" hasCustomPrompt="1"/>
          </p:nvPr>
        </p:nvSpPr>
        <p:spPr>
          <a:xfrm>
            <a:off x="731520" y="3986784"/>
            <a:ext cx="6949440" cy="841248"/>
          </a:xfrm>
          <a:prstGeom prst="rect">
            <a:avLst/>
          </a:prstGeom>
          <a:noFill/>
          <a:ln/>
        </p:spPr>
        <p:txBody>
          <a:bodyPr wrap="square" rtlCol="0"/>
          <a:lstStyle>
            <a:lvl1pPr algn="l" indent="0" marL="0">
              <a:buNone/>
              <a:defRPr lang="en-US" sz="3800" b="1" spc="-80" kern="0" dirty="0">
                <a:solidFill>
                  <a:srgbClr val="FFFFFF"/>
                </a:solidFill>
                <a:latin typeface="Arial" pitchFamily="34" charset="0"/>
                <a:ea typeface="Arial" pitchFamily="34" charset="-122"/>
                <a:cs typeface="Arial" pitchFamily="34" charset="-120"/>
              </a:defRPr>
            </a:lvl1pPr>
          </a:lstStyle>
          <a:p>
            <a:pPr algn="l" indent="0" marL="0">
              <a:buNone/>
            </a:pPr>
            <a:r>
              <a:rPr lang="en-US" sz="3800" b="1" spc="-80" kern="0" dirty="0">
                <a:solidFill>
                  <a:srgbClr val="FFFFFF"/>
                </a:solidFill>
                <a:latin typeface="Arial" pitchFamily="34" charset="0"/>
                <a:ea typeface="Arial" pitchFamily="34" charset="-122"/>
                <a:cs typeface="Arial" pitchFamily="34" charset="-120"/>
              </a:rPr>
              <a:t>Section name</a:t>
            </a:r>
            <a:endParaRPr lang="en-US" sz="3800" dirty="0"/>
          </a:p>
        </p:txBody>
      </p:sp>
      <p:sp>
        <p:nvSpPr>
          <p:cNvPr id="6" name="Text 1"/>
          <p:cNvSpPr txBox="1"/>
          <p:nvPr>
            <p:ph idx="104" type="body" hasCustomPrompt="1"/>
          </p:nvPr>
        </p:nvSpPr>
        <p:spPr>
          <a:xfrm>
            <a:off x="731520" y="4956048"/>
            <a:ext cx="6949440" cy="548640"/>
          </a:xfrm>
          <a:prstGeom prst="rect">
            <a:avLst/>
          </a:prstGeom>
          <a:noFill/>
          <a:ln/>
        </p:spPr>
        <p:txBody>
          <a:bodyPr wrap="square" rtlCol="0"/>
          <a:lstStyle>
            <a:lvl1pPr algn="l" indent="0" marL="0">
              <a:buNone/>
              <a:defRPr lang="en-US" sz="1500" dirty="0">
                <a:solidFill>
                  <a:srgbClr val="E4EFE8"/>
                </a:solidFill>
                <a:latin typeface="Arial" pitchFamily="34" charset="0"/>
                <a:ea typeface="Arial" pitchFamily="34" charset="-122"/>
                <a:cs typeface="Arial" pitchFamily="34" charset="-120"/>
              </a:defRPr>
            </a:lvl1pPr>
          </a:lstStyle>
          <a:p>
            <a:pPr algn="l" indent="0" marL="0">
              <a:buNone/>
            </a:pPr>
            <a:r>
              <a:rPr lang="en-US" sz="1500" dirty="0">
                <a:solidFill>
                  <a:srgbClr val="E4EFE8"/>
                </a:solidFill>
                <a:latin typeface="Arial" pitchFamily="34" charset="0"/>
                <a:ea typeface="Arial" pitchFamily="34" charset="-122"/>
                <a:cs typeface="Arial" pitchFamily="34" charset="-120"/>
              </a:rPr>
              <a:t>What this section settles.</a:t>
            </a:r>
            <a:endParaRPr lang="en-US" sz="15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GEN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Agenda</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What we cover and what we decide.</a:t>
            </a:r>
            <a:endParaRPr lang="en-US" sz="1600" dirty="0"/>
          </a:p>
        </p:txBody>
      </p:sp>
      <p:sp>
        <p:nvSpPr>
          <p:cNvPr id="5" name="Text 0"/>
          <p:cNvSpPr txBox="1"/>
          <p:nvPr/>
        </p:nvSpPr>
        <p:spPr>
          <a:xfrm>
            <a:off x="731520" y="2167128"/>
            <a:ext cx="658368" cy="457200"/>
          </a:xfrm>
          <a:prstGeom prst="rect">
            <a:avLst/>
          </a:prstGeom>
          <a:noFill/>
          <a:ln/>
        </p:spPr>
        <p:txBody>
          <a:bodyPr wrap="square" lIns="0" tIns="0" rIns="0" bIns="0" rtlCol="0" anchor="ctr"/>
          <a:lstStyle/>
          <a:p>
            <a:pPr algn="l" indent="0" marL="0">
              <a:buNone/>
            </a:pPr>
            <a:r>
              <a:rPr lang="en-US" sz="2000" b="1" dirty="0">
                <a:solidFill>
                  <a:srgbClr val="3C7D4D"/>
                </a:solidFill>
                <a:latin typeface="Arial" pitchFamily="34" charset="0"/>
                <a:ea typeface="Arial" pitchFamily="34" charset="-122"/>
                <a:cs typeface="Arial" pitchFamily="34" charset="-120"/>
              </a:rPr>
              <a:t>01</a:t>
            </a:r>
            <a:endParaRPr lang="en-US" sz="2000" dirty="0"/>
          </a:p>
        </p:txBody>
      </p:sp>
      <p:sp>
        <p:nvSpPr>
          <p:cNvPr id="6" name="Text 1"/>
          <p:cNvSpPr txBox="1"/>
          <p:nvPr>
            <p:ph idx="104" type="body" hasCustomPrompt="1"/>
          </p:nvPr>
        </p:nvSpPr>
        <p:spPr>
          <a:xfrm>
            <a:off x="1508760" y="2167128"/>
            <a:ext cx="7863840" cy="457200"/>
          </a:xfrm>
          <a:prstGeom prst="rect">
            <a:avLst/>
          </a:prstGeom>
          <a:noFill/>
          <a:ln/>
        </p:spPr>
        <p:txBody>
          <a:bodyPr wrap="square" rtlCol="0"/>
          <a:lstStyle>
            <a:lvl1pPr algn="l" indent="0" marL="0">
              <a:buNone/>
              <a:defRPr lang="en-US" sz="1700" b="1" dirty="0">
                <a:solidFill>
                  <a:srgbClr val="15181A"/>
                </a:solidFill>
                <a:latin typeface="Arial" pitchFamily="34" charset="0"/>
                <a:ea typeface="Arial" pitchFamily="34" charset="-122"/>
                <a:cs typeface="Arial" pitchFamily="34" charset="-120"/>
              </a:defRPr>
            </a:lvl1pPr>
          </a:lstStyle>
          <a:p>
            <a:pPr algn="l" indent="0" marL="0">
              <a:buNone/>
            </a:pPr>
            <a:r>
              <a:rPr lang="en-US" sz="1700" b="1" dirty="0">
                <a:solidFill>
                  <a:srgbClr val="15181A"/>
                </a:solidFill>
                <a:latin typeface="Arial" pitchFamily="34" charset="0"/>
                <a:ea typeface="Arial" pitchFamily="34" charset="-122"/>
                <a:cs typeface="Arial" pitchFamily="34" charset="-120"/>
              </a:rPr>
              <a:t>Agenda item</a:t>
            </a:r>
            <a:endParaRPr lang="en-US" sz="1700" dirty="0"/>
          </a:p>
        </p:txBody>
      </p:sp>
      <p:sp>
        <p:nvSpPr>
          <p:cNvPr id="7" name="Text 1"/>
          <p:cNvSpPr txBox="1"/>
          <p:nvPr>
            <p:ph idx="105" type="body" hasCustomPrompt="1"/>
          </p:nvPr>
        </p:nvSpPr>
        <p:spPr>
          <a:xfrm>
            <a:off x="8869680" y="2167128"/>
            <a:ext cx="2587752" cy="457200"/>
          </a:xfrm>
          <a:prstGeom prst="rect">
            <a:avLst/>
          </a:prstGeom>
          <a:noFill/>
          <a:ln/>
        </p:spPr>
        <p:txBody>
          <a:bodyPr wrap="square" rtlCol="0"/>
          <a:lstStyle>
            <a:lvl1pPr algn="r" indent="0" marL="0">
              <a:buNone/>
              <a:defRPr lang="en-US" sz="1200" dirty="0">
                <a:solidFill>
                  <a:srgbClr val="5B6670"/>
                </a:solidFill>
                <a:latin typeface="Arial" pitchFamily="34" charset="0"/>
                <a:ea typeface="Arial" pitchFamily="34" charset="-122"/>
                <a:cs typeface="Arial" pitchFamily="34" charset="-120"/>
              </a:defRPr>
            </a:lvl1pPr>
          </a:lstStyle>
          <a:p>
            <a:pPr algn="r" indent="0" marL="0">
              <a:buNone/>
            </a:pPr>
            <a:r>
              <a:rPr lang="en-US" sz="1200" dirty="0">
                <a:solidFill>
                  <a:srgbClr val="5B6670"/>
                </a:solidFill>
                <a:latin typeface="Arial" pitchFamily="34" charset="0"/>
                <a:ea typeface="Arial" pitchFamily="34" charset="-122"/>
                <a:cs typeface="Arial" pitchFamily="34" charset="-120"/>
              </a:rPr>
              <a:t>5 min</a:t>
            </a:r>
            <a:endParaRPr lang="en-US" sz="1200" dirty="0"/>
          </a:p>
        </p:txBody>
      </p:sp>
      <p:sp>
        <p:nvSpPr>
          <p:cNvPr id="8" name="Shape 1"/>
          <p:cNvSpPr/>
          <p:nvPr/>
        </p:nvSpPr>
        <p:spPr>
          <a:xfrm>
            <a:off x="731520" y="2770632"/>
            <a:ext cx="10728655" cy="0"/>
          </a:xfrm>
          <a:prstGeom prst="line">
            <a:avLst/>
          </a:prstGeom>
          <a:noFill/>
          <a:ln w="12700">
            <a:solidFill>
              <a:srgbClr val="E2E6E3"/>
            </a:solidFill>
            <a:prstDash val="solid"/>
          </a:ln>
        </p:spPr>
      </p:sp>
      <p:sp>
        <p:nvSpPr>
          <p:cNvPr id="9" name="Text 2"/>
          <p:cNvSpPr txBox="1"/>
          <p:nvPr/>
        </p:nvSpPr>
        <p:spPr>
          <a:xfrm>
            <a:off x="731520" y="2916936"/>
            <a:ext cx="658368" cy="457200"/>
          </a:xfrm>
          <a:prstGeom prst="rect">
            <a:avLst/>
          </a:prstGeom>
          <a:noFill/>
          <a:ln/>
        </p:spPr>
        <p:txBody>
          <a:bodyPr wrap="square" lIns="0" tIns="0" rIns="0" bIns="0" rtlCol="0" anchor="ctr"/>
          <a:lstStyle/>
          <a:p>
            <a:pPr algn="l" indent="0" marL="0">
              <a:buNone/>
            </a:pPr>
            <a:r>
              <a:rPr lang="en-US" sz="2000" b="1" dirty="0">
                <a:solidFill>
                  <a:srgbClr val="3C7D4D"/>
                </a:solidFill>
                <a:latin typeface="Arial" pitchFamily="34" charset="0"/>
                <a:ea typeface="Arial" pitchFamily="34" charset="-122"/>
                <a:cs typeface="Arial" pitchFamily="34" charset="-120"/>
              </a:rPr>
              <a:t>02</a:t>
            </a:r>
            <a:endParaRPr lang="en-US" sz="2000" dirty="0"/>
          </a:p>
        </p:txBody>
      </p:sp>
      <p:sp>
        <p:nvSpPr>
          <p:cNvPr id="10" name="Text 3"/>
          <p:cNvSpPr txBox="1"/>
          <p:nvPr>
            <p:ph idx="108" type="body" hasCustomPrompt="1"/>
          </p:nvPr>
        </p:nvSpPr>
        <p:spPr>
          <a:xfrm>
            <a:off x="1508760" y="2916936"/>
            <a:ext cx="7863840" cy="457200"/>
          </a:xfrm>
          <a:prstGeom prst="rect">
            <a:avLst/>
          </a:prstGeom>
          <a:noFill/>
          <a:ln/>
        </p:spPr>
        <p:txBody>
          <a:bodyPr wrap="square" rtlCol="0"/>
          <a:lstStyle>
            <a:lvl1pPr algn="l" indent="0" marL="0">
              <a:buNone/>
              <a:defRPr lang="en-US" sz="1700" b="1" dirty="0">
                <a:solidFill>
                  <a:srgbClr val="15181A"/>
                </a:solidFill>
                <a:latin typeface="Arial" pitchFamily="34" charset="0"/>
                <a:ea typeface="Arial" pitchFamily="34" charset="-122"/>
                <a:cs typeface="Arial" pitchFamily="34" charset="-120"/>
              </a:defRPr>
            </a:lvl1pPr>
          </a:lstStyle>
          <a:p>
            <a:pPr algn="l" indent="0" marL="0">
              <a:buNone/>
            </a:pPr>
            <a:r>
              <a:rPr lang="en-US" sz="1700" b="1" dirty="0">
                <a:solidFill>
                  <a:srgbClr val="15181A"/>
                </a:solidFill>
                <a:latin typeface="Arial" pitchFamily="34" charset="0"/>
                <a:ea typeface="Arial" pitchFamily="34" charset="-122"/>
                <a:cs typeface="Arial" pitchFamily="34" charset="-120"/>
              </a:rPr>
              <a:t>Agenda item</a:t>
            </a:r>
            <a:endParaRPr lang="en-US" sz="1700" dirty="0"/>
          </a:p>
        </p:txBody>
      </p:sp>
      <p:sp>
        <p:nvSpPr>
          <p:cNvPr id="11" name="Text 3"/>
          <p:cNvSpPr txBox="1"/>
          <p:nvPr>
            <p:ph idx="109" type="body" hasCustomPrompt="1"/>
          </p:nvPr>
        </p:nvSpPr>
        <p:spPr>
          <a:xfrm>
            <a:off x="8869680" y="2916936"/>
            <a:ext cx="2587752" cy="457200"/>
          </a:xfrm>
          <a:prstGeom prst="rect">
            <a:avLst/>
          </a:prstGeom>
          <a:noFill/>
          <a:ln/>
        </p:spPr>
        <p:txBody>
          <a:bodyPr wrap="square" rtlCol="0"/>
          <a:lstStyle>
            <a:lvl1pPr algn="r" indent="0" marL="0">
              <a:buNone/>
              <a:defRPr lang="en-US" sz="1200" dirty="0">
                <a:solidFill>
                  <a:srgbClr val="5B6670"/>
                </a:solidFill>
                <a:latin typeface="Arial" pitchFamily="34" charset="0"/>
                <a:ea typeface="Arial" pitchFamily="34" charset="-122"/>
                <a:cs typeface="Arial" pitchFamily="34" charset="-120"/>
              </a:defRPr>
            </a:lvl1pPr>
          </a:lstStyle>
          <a:p>
            <a:pPr algn="r" indent="0" marL="0">
              <a:buNone/>
            </a:pPr>
            <a:r>
              <a:rPr lang="en-US" sz="1200" dirty="0">
                <a:solidFill>
                  <a:srgbClr val="5B6670"/>
                </a:solidFill>
                <a:latin typeface="Arial" pitchFamily="34" charset="0"/>
                <a:ea typeface="Arial" pitchFamily="34" charset="-122"/>
                <a:cs typeface="Arial" pitchFamily="34" charset="-120"/>
              </a:rPr>
              <a:t>5 min</a:t>
            </a:r>
            <a:endParaRPr lang="en-US" sz="1200" dirty="0"/>
          </a:p>
        </p:txBody>
      </p:sp>
      <p:sp>
        <p:nvSpPr>
          <p:cNvPr id="12" name="Shape 3"/>
          <p:cNvSpPr/>
          <p:nvPr/>
        </p:nvSpPr>
        <p:spPr>
          <a:xfrm>
            <a:off x="731520" y="3520440"/>
            <a:ext cx="10728655" cy="0"/>
          </a:xfrm>
          <a:prstGeom prst="line">
            <a:avLst/>
          </a:prstGeom>
          <a:noFill/>
          <a:ln w="12700">
            <a:solidFill>
              <a:srgbClr val="E2E6E3"/>
            </a:solidFill>
            <a:prstDash val="solid"/>
          </a:ln>
        </p:spPr>
      </p:sp>
      <p:sp>
        <p:nvSpPr>
          <p:cNvPr id="13" name="Text 4"/>
          <p:cNvSpPr txBox="1"/>
          <p:nvPr/>
        </p:nvSpPr>
        <p:spPr>
          <a:xfrm>
            <a:off x="731520" y="3666744"/>
            <a:ext cx="658368" cy="457200"/>
          </a:xfrm>
          <a:prstGeom prst="rect">
            <a:avLst/>
          </a:prstGeom>
          <a:noFill/>
          <a:ln/>
        </p:spPr>
        <p:txBody>
          <a:bodyPr wrap="square" lIns="0" tIns="0" rIns="0" bIns="0" rtlCol="0" anchor="ctr"/>
          <a:lstStyle/>
          <a:p>
            <a:pPr algn="l" indent="0" marL="0">
              <a:buNone/>
            </a:pPr>
            <a:r>
              <a:rPr lang="en-US" sz="2000" b="1" dirty="0">
                <a:solidFill>
                  <a:srgbClr val="3C7D4D"/>
                </a:solidFill>
                <a:latin typeface="Arial" pitchFamily="34" charset="0"/>
                <a:ea typeface="Arial" pitchFamily="34" charset="-122"/>
                <a:cs typeface="Arial" pitchFamily="34" charset="-120"/>
              </a:rPr>
              <a:t>03</a:t>
            </a:r>
            <a:endParaRPr lang="en-US" sz="2000" dirty="0"/>
          </a:p>
        </p:txBody>
      </p:sp>
      <p:sp>
        <p:nvSpPr>
          <p:cNvPr id="14" name="Text 5"/>
          <p:cNvSpPr txBox="1"/>
          <p:nvPr>
            <p:ph idx="112" type="body" hasCustomPrompt="1"/>
          </p:nvPr>
        </p:nvSpPr>
        <p:spPr>
          <a:xfrm>
            <a:off x="1508760" y="3666744"/>
            <a:ext cx="7863840" cy="457200"/>
          </a:xfrm>
          <a:prstGeom prst="rect">
            <a:avLst/>
          </a:prstGeom>
          <a:noFill/>
          <a:ln/>
        </p:spPr>
        <p:txBody>
          <a:bodyPr wrap="square" rtlCol="0"/>
          <a:lstStyle>
            <a:lvl1pPr algn="l" indent="0" marL="0">
              <a:buNone/>
              <a:defRPr lang="en-US" sz="1700" b="1" dirty="0">
                <a:solidFill>
                  <a:srgbClr val="15181A"/>
                </a:solidFill>
                <a:latin typeface="Arial" pitchFamily="34" charset="0"/>
                <a:ea typeface="Arial" pitchFamily="34" charset="-122"/>
                <a:cs typeface="Arial" pitchFamily="34" charset="-120"/>
              </a:defRPr>
            </a:lvl1pPr>
          </a:lstStyle>
          <a:p>
            <a:pPr algn="l" indent="0" marL="0">
              <a:buNone/>
            </a:pPr>
            <a:r>
              <a:rPr lang="en-US" sz="1700" b="1" dirty="0">
                <a:solidFill>
                  <a:srgbClr val="15181A"/>
                </a:solidFill>
                <a:latin typeface="Arial" pitchFamily="34" charset="0"/>
                <a:ea typeface="Arial" pitchFamily="34" charset="-122"/>
                <a:cs typeface="Arial" pitchFamily="34" charset="-120"/>
              </a:rPr>
              <a:t>Agenda item</a:t>
            </a:r>
            <a:endParaRPr lang="en-US" sz="1700" dirty="0"/>
          </a:p>
        </p:txBody>
      </p:sp>
      <p:sp>
        <p:nvSpPr>
          <p:cNvPr id="15" name="Text 5"/>
          <p:cNvSpPr txBox="1"/>
          <p:nvPr>
            <p:ph idx="113" type="body" hasCustomPrompt="1"/>
          </p:nvPr>
        </p:nvSpPr>
        <p:spPr>
          <a:xfrm>
            <a:off x="8869680" y="3666744"/>
            <a:ext cx="2587752" cy="457200"/>
          </a:xfrm>
          <a:prstGeom prst="rect">
            <a:avLst/>
          </a:prstGeom>
          <a:noFill/>
          <a:ln/>
        </p:spPr>
        <p:txBody>
          <a:bodyPr wrap="square" rtlCol="0"/>
          <a:lstStyle>
            <a:lvl1pPr algn="r" indent="0" marL="0">
              <a:buNone/>
              <a:defRPr lang="en-US" sz="1200" dirty="0">
                <a:solidFill>
                  <a:srgbClr val="5B6670"/>
                </a:solidFill>
                <a:latin typeface="Arial" pitchFamily="34" charset="0"/>
                <a:ea typeface="Arial" pitchFamily="34" charset="-122"/>
                <a:cs typeface="Arial" pitchFamily="34" charset="-120"/>
              </a:defRPr>
            </a:lvl1pPr>
          </a:lstStyle>
          <a:p>
            <a:pPr algn="r" indent="0" marL="0">
              <a:buNone/>
            </a:pPr>
            <a:r>
              <a:rPr lang="en-US" sz="1200" dirty="0">
                <a:solidFill>
                  <a:srgbClr val="5B6670"/>
                </a:solidFill>
                <a:latin typeface="Arial" pitchFamily="34" charset="0"/>
                <a:ea typeface="Arial" pitchFamily="34" charset="-122"/>
                <a:cs typeface="Arial" pitchFamily="34" charset="-120"/>
              </a:rPr>
              <a:t>5 min</a:t>
            </a:r>
            <a:endParaRPr lang="en-US" sz="1200" dirty="0"/>
          </a:p>
        </p:txBody>
      </p:sp>
      <p:sp>
        <p:nvSpPr>
          <p:cNvPr id="16" name="Shape 5"/>
          <p:cNvSpPr/>
          <p:nvPr/>
        </p:nvSpPr>
        <p:spPr>
          <a:xfrm>
            <a:off x="731520" y="4270248"/>
            <a:ext cx="10728655" cy="0"/>
          </a:xfrm>
          <a:prstGeom prst="line">
            <a:avLst/>
          </a:prstGeom>
          <a:noFill/>
          <a:ln w="12700">
            <a:solidFill>
              <a:srgbClr val="E2E6E3"/>
            </a:solidFill>
            <a:prstDash val="solid"/>
          </a:ln>
        </p:spPr>
      </p:sp>
      <p:sp>
        <p:nvSpPr>
          <p:cNvPr id="17" name="Text 6"/>
          <p:cNvSpPr txBox="1"/>
          <p:nvPr/>
        </p:nvSpPr>
        <p:spPr>
          <a:xfrm>
            <a:off x="731520" y="4416552"/>
            <a:ext cx="658368" cy="457200"/>
          </a:xfrm>
          <a:prstGeom prst="rect">
            <a:avLst/>
          </a:prstGeom>
          <a:noFill/>
          <a:ln/>
        </p:spPr>
        <p:txBody>
          <a:bodyPr wrap="square" lIns="0" tIns="0" rIns="0" bIns="0" rtlCol="0" anchor="ctr"/>
          <a:lstStyle/>
          <a:p>
            <a:pPr algn="l" indent="0" marL="0">
              <a:buNone/>
            </a:pPr>
            <a:r>
              <a:rPr lang="en-US" sz="2000" b="1" dirty="0">
                <a:solidFill>
                  <a:srgbClr val="3C7D4D"/>
                </a:solidFill>
                <a:latin typeface="Arial" pitchFamily="34" charset="0"/>
                <a:ea typeface="Arial" pitchFamily="34" charset="-122"/>
                <a:cs typeface="Arial" pitchFamily="34" charset="-120"/>
              </a:rPr>
              <a:t>04</a:t>
            </a:r>
            <a:endParaRPr lang="en-US" sz="2000" dirty="0"/>
          </a:p>
        </p:txBody>
      </p:sp>
      <p:sp>
        <p:nvSpPr>
          <p:cNvPr id="18" name="Text 7"/>
          <p:cNvSpPr txBox="1"/>
          <p:nvPr>
            <p:ph idx="116" type="body" hasCustomPrompt="1"/>
          </p:nvPr>
        </p:nvSpPr>
        <p:spPr>
          <a:xfrm>
            <a:off x="1508760" y="4416552"/>
            <a:ext cx="7863840" cy="457200"/>
          </a:xfrm>
          <a:prstGeom prst="rect">
            <a:avLst/>
          </a:prstGeom>
          <a:noFill/>
          <a:ln/>
        </p:spPr>
        <p:txBody>
          <a:bodyPr wrap="square" rtlCol="0"/>
          <a:lstStyle>
            <a:lvl1pPr algn="l" indent="0" marL="0">
              <a:buNone/>
              <a:defRPr lang="en-US" sz="1700" b="1" dirty="0">
                <a:solidFill>
                  <a:srgbClr val="15181A"/>
                </a:solidFill>
                <a:latin typeface="Arial" pitchFamily="34" charset="0"/>
                <a:ea typeface="Arial" pitchFamily="34" charset="-122"/>
                <a:cs typeface="Arial" pitchFamily="34" charset="-120"/>
              </a:defRPr>
            </a:lvl1pPr>
          </a:lstStyle>
          <a:p>
            <a:pPr algn="l" indent="0" marL="0">
              <a:buNone/>
            </a:pPr>
            <a:r>
              <a:rPr lang="en-US" sz="1700" b="1" dirty="0">
                <a:solidFill>
                  <a:srgbClr val="15181A"/>
                </a:solidFill>
                <a:latin typeface="Arial" pitchFamily="34" charset="0"/>
                <a:ea typeface="Arial" pitchFamily="34" charset="-122"/>
                <a:cs typeface="Arial" pitchFamily="34" charset="-120"/>
              </a:rPr>
              <a:t>Agenda item</a:t>
            </a:r>
            <a:endParaRPr lang="en-US" sz="1700" dirty="0"/>
          </a:p>
        </p:txBody>
      </p:sp>
      <p:sp>
        <p:nvSpPr>
          <p:cNvPr id="19" name="Text 7"/>
          <p:cNvSpPr txBox="1"/>
          <p:nvPr>
            <p:ph idx="117" type="body" hasCustomPrompt="1"/>
          </p:nvPr>
        </p:nvSpPr>
        <p:spPr>
          <a:xfrm>
            <a:off x="8869680" y="4416552"/>
            <a:ext cx="2587752" cy="457200"/>
          </a:xfrm>
          <a:prstGeom prst="rect">
            <a:avLst/>
          </a:prstGeom>
          <a:noFill/>
          <a:ln/>
        </p:spPr>
        <p:txBody>
          <a:bodyPr wrap="square" rtlCol="0"/>
          <a:lstStyle>
            <a:lvl1pPr algn="r" indent="0" marL="0">
              <a:buNone/>
              <a:defRPr lang="en-US" sz="1200" dirty="0">
                <a:solidFill>
                  <a:srgbClr val="5B6670"/>
                </a:solidFill>
                <a:latin typeface="Arial" pitchFamily="34" charset="0"/>
                <a:ea typeface="Arial" pitchFamily="34" charset="-122"/>
                <a:cs typeface="Arial" pitchFamily="34" charset="-120"/>
              </a:defRPr>
            </a:lvl1pPr>
          </a:lstStyle>
          <a:p>
            <a:pPr algn="r" indent="0" marL="0">
              <a:buNone/>
            </a:pPr>
            <a:r>
              <a:rPr lang="en-US" sz="1200" dirty="0">
                <a:solidFill>
                  <a:srgbClr val="5B6670"/>
                </a:solidFill>
                <a:latin typeface="Arial" pitchFamily="34" charset="0"/>
                <a:ea typeface="Arial" pitchFamily="34" charset="-122"/>
                <a:cs typeface="Arial" pitchFamily="34" charset="-120"/>
              </a:rPr>
              <a:t>5 min</a:t>
            </a:r>
            <a:endParaRPr lang="en-US" sz="1200" dirty="0"/>
          </a:p>
        </p:txBody>
      </p:sp>
      <p:sp>
        <p:nvSpPr>
          <p:cNvPr id="20" name="Shape 7"/>
          <p:cNvSpPr/>
          <p:nvPr/>
        </p:nvSpPr>
        <p:spPr>
          <a:xfrm>
            <a:off x="731520" y="5020056"/>
            <a:ext cx="10728655" cy="0"/>
          </a:xfrm>
          <a:prstGeom prst="line">
            <a:avLst/>
          </a:prstGeom>
          <a:noFill/>
          <a:ln w="12700">
            <a:solidFill>
              <a:srgbClr val="E2E6E3"/>
            </a:solidFill>
            <a:prstDash val="solid"/>
          </a:ln>
        </p:spPr>
      </p:sp>
      <p:sp>
        <p:nvSpPr>
          <p:cNvPr id="21" name="Text 8"/>
          <p:cNvSpPr txBox="1"/>
          <p:nvPr/>
        </p:nvSpPr>
        <p:spPr>
          <a:xfrm>
            <a:off x="731520" y="5166360"/>
            <a:ext cx="658368" cy="457200"/>
          </a:xfrm>
          <a:prstGeom prst="rect">
            <a:avLst/>
          </a:prstGeom>
          <a:noFill/>
          <a:ln/>
        </p:spPr>
        <p:txBody>
          <a:bodyPr wrap="square" lIns="0" tIns="0" rIns="0" bIns="0" rtlCol="0" anchor="ctr"/>
          <a:lstStyle/>
          <a:p>
            <a:pPr algn="l" indent="0" marL="0">
              <a:buNone/>
            </a:pPr>
            <a:r>
              <a:rPr lang="en-US" sz="2000" b="1" dirty="0">
                <a:solidFill>
                  <a:srgbClr val="3C7D4D"/>
                </a:solidFill>
                <a:latin typeface="Arial" pitchFamily="34" charset="0"/>
                <a:ea typeface="Arial" pitchFamily="34" charset="-122"/>
                <a:cs typeface="Arial" pitchFamily="34" charset="-120"/>
              </a:rPr>
              <a:t>05</a:t>
            </a:r>
            <a:endParaRPr lang="en-US" sz="2000" dirty="0"/>
          </a:p>
        </p:txBody>
      </p:sp>
      <p:sp>
        <p:nvSpPr>
          <p:cNvPr id="22" name="Text 9"/>
          <p:cNvSpPr txBox="1"/>
          <p:nvPr>
            <p:ph idx="120" type="body" hasCustomPrompt="1"/>
          </p:nvPr>
        </p:nvSpPr>
        <p:spPr>
          <a:xfrm>
            <a:off x="1508760" y="5166360"/>
            <a:ext cx="7863840" cy="457200"/>
          </a:xfrm>
          <a:prstGeom prst="rect">
            <a:avLst/>
          </a:prstGeom>
          <a:noFill/>
          <a:ln/>
        </p:spPr>
        <p:txBody>
          <a:bodyPr wrap="square" rtlCol="0"/>
          <a:lstStyle>
            <a:lvl1pPr algn="l" indent="0" marL="0">
              <a:buNone/>
              <a:defRPr lang="en-US" sz="1700" b="1" dirty="0">
                <a:solidFill>
                  <a:srgbClr val="15181A"/>
                </a:solidFill>
                <a:latin typeface="Arial" pitchFamily="34" charset="0"/>
                <a:ea typeface="Arial" pitchFamily="34" charset="-122"/>
                <a:cs typeface="Arial" pitchFamily="34" charset="-120"/>
              </a:defRPr>
            </a:lvl1pPr>
          </a:lstStyle>
          <a:p>
            <a:pPr algn="l" indent="0" marL="0">
              <a:buNone/>
            </a:pPr>
            <a:r>
              <a:rPr lang="en-US" sz="1700" b="1" dirty="0">
                <a:solidFill>
                  <a:srgbClr val="15181A"/>
                </a:solidFill>
                <a:latin typeface="Arial" pitchFamily="34" charset="0"/>
                <a:ea typeface="Arial" pitchFamily="34" charset="-122"/>
                <a:cs typeface="Arial" pitchFamily="34" charset="-120"/>
              </a:rPr>
              <a:t>Agenda item</a:t>
            </a:r>
            <a:endParaRPr lang="en-US" sz="1700" dirty="0"/>
          </a:p>
        </p:txBody>
      </p:sp>
      <p:sp>
        <p:nvSpPr>
          <p:cNvPr id="23" name="Text 9"/>
          <p:cNvSpPr txBox="1"/>
          <p:nvPr>
            <p:ph idx="121" type="body" hasCustomPrompt="1"/>
          </p:nvPr>
        </p:nvSpPr>
        <p:spPr>
          <a:xfrm>
            <a:off x="8869680" y="5166360"/>
            <a:ext cx="2587752" cy="457200"/>
          </a:xfrm>
          <a:prstGeom prst="rect">
            <a:avLst/>
          </a:prstGeom>
          <a:noFill/>
          <a:ln/>
        </p:spPr>
        <p:txBody>
          <a:bodyPr wrap="square" rtlCol="0"/>
          <a:lstStyle>
            <a:lvl1pPr algn="r" indent="0" marL="0">
              <a:buNone/>
              <a:defRPr lang="en-US" sz="1200" dirty="0">
                <a:solidFill>
                  <a:srgbClr val="5B6670"/>
                </a:solidFill>
                <a:latin typeface="Arial" pitchFamily="34" charset="0"/>
                <a:ea typeface="Arial" pitchFamily="34" charset="-122"/>
                <a:cs typeface="Arial" pitchFamily="34" charset="-120"/>
              </a:defRPr>
            </a:lvl1pPr>
          </a:lstStyle>
          <a:p>
            <a:pPr algn="r" indent="0" marL="0">
              <a:buNone/>
            </a:pPr>
            <a:r>
              <a:rPr lang="en-US" sz="1200" dirty="0">
                <a:solidFill>
                  <a:srgbClr val="5B6670"/>
                </a:solidFill>
                <a:latin typeface="Arial" pitchFamily="34" charset="0"/>
                <a:ea typeface="Arial" pitchFamily="34" charset="-122"/>
                <a:cs typeface="Arial" pitchFamily="34" charset="-120"/>
              </a:rPr>
              <a:t>5 min</a:t>
            </a:r>
            <a:endParaRPr lang="en-US" sz="1200" dirty="0"/>
          </a:p>
        </p:txBody>
      </p:sp>
      <p:sp>
        <p:nvSpPr>
          <p:cNvPr id="24" name="Shape 9"/>
          <p:cNvSpPr/>
          <p:nvPr/>
        </p:nvSpPr>
        <p:spPr>
          <a:xfrm>
            <a:off x="731520" y="5769864"/>
            <a:ext cx="10728655" cy="0"/>
          </a:xfrm>
          <a:prstGeom prst="line">
            <a:avLst/>
          </a:prstGeom>
          <a:noFill/>
          <a:ln w="12700">
            <a:solidFill>
              <a:srgbClr val="E2E6E3"/>
            </a:solidFill>
            <a:prstDash val="solid"/>
          </a:ln>
        </p:spPr>
      </p:sp>
      <p:pic>
        <p:nvPicPr>
          <p:cNvPr id="25"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Text 0"/>
          <p:cNvSpPr txBox="1"/>
          <p:nvPr>
            <p:ph idx="103" type="body" hasCustomPrompt="1"/>
          </p:nvPr>
        </p:nvSpPr>
        <p:spPr>
          <a:xfrm>
            <a:off x="731520" y="2121408"/>
            <a:ext cx="10728655" cy="3913632"/>
          </a:xfrm>
          <a:prstGeom prst="rect">
            <a:avLst/>
          </a:prstGeom>
          <a:noFill/>
          <a:ln/>
        </p:spPr>
        <p:txBody>
          <a:bodyPr wrap="square" rtlCol="0"/>
          <a:lstStyle>
            <a:lvl1pPr algn="l" indent="0" marL="0">
              <a:buNone/>
              <a:defRPr lang="en-US" sz="1600" dirty="0">
                <a:solidFill>
                  <a:srgbClr val="15181A"/>
                </a:solidFill>
                <a:latin typeface="Arial" pitchFamily="34" charset="0"/>
                <a:ea typeface="Arial" pitchFamily="34" charset="-122"/>
                <a:cs typeface="Arial" pitchFamily="34" charset="-120"/>
              </a:defRPr>
            </a:lvl1pPr>
          </a:lstStyle>
          <a:p>
            <a:pPr algn="l" indent="0" marL="0">
              <a:buNone/>
            </a:pPr>
            <a:r>
              <a:rPr lang="en-US" sz="1600" dirty="0">
                <a:solidFill>
                  <a:srgbClr val="15181A"/>
                </a:solidFill>
                <a:latin typeface="Arial" pitchFamily="34" charset="0"/>
                <a:ea typeface="Arial" pitchFamily="34" charset="-122"/>
                <a:cs typeface="Arial" pitchFamily="34" charset="-120"/>
              </a:rPr>
              <a:t>Supporting content</a:t>
            </a:r>
            <a:endParaRPr lang="en-US" sz="1600" dirty="0"/>
          </a:p>
        </p:txBody>
      </p:sp>
      <p:sp>
        <p:nvSpPr>
          <p:cNvPr id="6" name="Text 0"/>
          <p:cNvSpPr txBox="1"/>
          <p:nvPr>
            <p:ph idx="104"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7"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Text 0"/>
          <p:cNvSpPr txBox="1"/>
          <p:nvPr>
            <p:ph idx="103" type="body" hasCustomPrompt="1"/>
          </p:nvPr>
        </p:nvSpPr>
        <p:spPr>
          <a:xfrm>
            <a:off x="731520" y="2121408"/>
            <a:ext cx="5120640" cy="310896"/>
          </a:xfrm>
          <a:prstGeom prst="rect">
            <a:avLst/>
          </a:prstGeom>
          <a:noFill/>
          <a:ln/>
        </p:spPr>
        <p:txBody>
          <a:bodyPr wrap="square" rtlCol="0"/>
          <a:lstStyle>
            <a:lvl1pPr algn="l" indent="0" marL="0">
              <a:buNone/>
              <a:defRPr lang="en-US" sz="1100" b="1" spc="24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240" kern="0" dirty="0">
                <a:solidFill>
                  <a:srgbClr val="3C7D4D"/>
                </a:solidFill>
                <a:latin typeface="Arial" pitchFamily="34" charset="0"/>
                <a:ea typeface="Arial" pitchFamily="34" charset="-122"/>
                <a:cs typeface="Arial" pitchFamily="34" charset="-120"/>
              </a:rPr>
              <a:t>LEFT HEADING</a:t>
            </a:r>
            <a:endParaRPr lang="en-US" sz="1100" dirty="0"/>
          </a:p>
        </p:txBody>
      </p:sp>
      <p:sp>
        <p:nvSpPr>
          <p:cNvPr id="6" name="Shape 0"/>
          <p:cNvSpPr/>
          <p:nvPr/>
        </p:nvSpPr>
        <p:spPr>
          <a:xfrm>
            <a:off x="731520" y="2505456"/>
            <a:ext cx="5120640" cy="0"/>
          </a:xfrm>
          <a:prstGeom prst="line">
            <a:avLst/>
          </a:prstGeom>
          <a:noFill/>
          <a:ln w="12700">
            <a:solidFill>
              <a:srgbClr val="E2E6E3"/>
            </a:solidFill>
            <a:prstDash val="solid"/>
          </a:ln>
        </p:spPr>
      </p:sp>
      <p:sp>
        <p:nvSpPr>
          <p:cNvPr id="7" name="Text 1"/>
          <p:cNvSpPr txBox="1"/>
          <p:nvPr>
            <p:ph idx="105" type="body" hasCustomPrompt="1"/>
          </p:nvPr>
        </p:nvSpPr>
        <p:spPr>
          <a:xfrm>
            <a:off x="731520" y="2651760"/>
            <a:ext cx="5120640" cy="3383280"/>
          </a:xfrm>
          <a:prstGeom prst="rect">
            <a:avLst/>
          </a:prstGeom>
          <a:noFill/>
          <a:ln/>
        </p:spPr>
        <p:txBody>
          <a:bodyPr wrap="square" rtlCol="0"/>
          <a:lstStyle>
            <a:lvl1pPr algn="l" indent="0" marL="0">
              <a:buNone/>
              <a:defRPr lang="en-US" sz="1500" dirty="0">
                <a:solidFill>
                  <a:srgbClr val="15181A"/>
                </a:solidFill>
                <a:latin typeface="Arial" pitchFamily="34" charset="0"/>
                <a:ea typeface="Arial" pitchFamily="34" charset="-122"/>
                <a:cs typeface="Arial" pitchFamily="34" charset="-120"/>
              </a:defRPr>
            </a:lvl1pPr>
          </a:lstStyle>
          <a:p>
            <a:pPr algn="l" indent="0" marL="0">
              <a:buNone/>
            </a:pPr>
            <a:r>
              <a:rPr lang="en-US" sz="1500" dirty="0">
                <a:solidFill>
                  <a:srgbClr val="15181A"/>
                </a:solidFill>
                <a:latin typeface="Arial" pitchFamily="34" charset="0"/>
                <a:ea typeface="Arial" pitchFamily="34" charset="-122"/>
                <a:cs typeface="Arial" pitchFamily="34" charset="-120"/>
              </a:rPr>
              <a:t>Left content</a:t>
            </a:r>
            <a:endParaRPr lang="en-US" sz="1500" dirty="0"/>
          </a:p>
        </p:txBody>
      </p:sp>
      <p:sp>
        <p:nvSpPr>
          <p:cNvPr id="8" name="Text 1"/>
          <p:cNvSpPr txBox="1"/>
          <p:nvPr>
            <p:ph idx="106" type="body" hasCustomPrompt="1"/>
          </p:nvPr>
        </p:nvSpPr>
        <p:spPr>
          <a:xfrm>
            <a:off x="6519672" y="2121408"/>
            <a:ext cx="4937760" cy="310896"/>
          </a:xfrm>
          <a:prstGeom prst="rect">
            <a:avLst/>
          </a:prstGeom>
          <a:noFill/>
          <a:ln/>
        </p:spPr>
        <p:txBody>
          <a:bodyPr wrap="square" rtlCol="0"/>
          <a:lstStyle>
            <a:lvl1pPr algn="l" indent="0" marL="0">
              <a:buNone/>
              <a:defRPr lang="en-US" sz="1100" b="1" spc="24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240" kern="0" dirty="0">
                <a:solidFill>
                  <a:srgbClr val="3C7D4D"/>
                </a:solidFill>
                <a:latin typeface="Arial" pitchFamily="34" charset="0"/>
                <a:ea typeface="Arial" pitchFamily="34" charset="-122"/>
                <a:cs typeface="Arial" pitchFamily="34" charset="-120"/>
              </a:rPr>
              <a:t>RIGHT HEADING</a:t>
            </a:r>
            <a:endParaRPr lang="en-US" sz="1100" dirty="0"/>
          </a:p>
        </p:txBody>
      </p:sp>
      <p:sp>
        <p:nvSpPr>
          <p:cNvPr id="9" name="Shape 1"/>
          <p:cNvSpPr/>
          <p:nvPr/>
        </p:nvSpPr>
        <p:spPr>
          <a:xfrm>
            <a:off x="6519672" y="2505456"/>
            <a:ext cx="4937760" cy="0"/>
          </a:xfrm>
          <a:prstGeom prst="line">
            <a:avLst/>
          </a:prstGeom>
          <a:noFill/>
          <a:ln w="12700">
            <a:solidFill>
              <a:srgbClr val="E2E6E3"/>
            </a:solidFill>
            <a:prstDash val="solid"/>
          </a:ln>
        </p:spPr>
      </p:sp>
      <p:sp>
        <p:nvSpPr>
          <p:cNvPr id="10" name="Text 2"/>
          <p:cNvSpPr txBox="1"/>
          <p:nvPr>
            <p:ph idx="108" type="body" hasCustomPrompt="1"/>
          </p:nvPr>
        </p:nvSpPr>
        <p:spPr>
          <a:xfrm>
            <a:off x="6519672" y="2651760"/>
            <a:ext cx="4937760" cy="3383280"/>
          </a:xfrm>
          <a:prstGeom prst="rect">
            <a:avLst/>
          </a:prstGeom>
          <a:noFill/>
          <a:ln/>
        </p:spPr>
        <p:txBody>
          <a:bodyPr wrap="square" rtlCol="0"/>
          <a:lstStyle>
            <a:lvl1pPr algn="l" indent="0" marL="0">
              <a:buNone/>
              <a:defRPr lang="en-US" sz="1500" dirty="0">
                <a:solidFill>
                  <a:srgbClr val="15181A"/>
                </a:solidFill>
                <a:latin typeface="Arial" pitchFamily="34" charset="0"/>
                <a:ea typeface="Arial" pitchFamily="34" charset="-122"/>
                <a:cs typeface="Arial" pitchFamily="34" charset="-120"/>
              </a:defRPr>
            </a:lvl1pPr>
          </a:lstStyle>
          <a:p>
            <a:pPr algn="l" indent="0" marL="0">
              <a:buNone/>
            </a:pPr>
            <a:r>
              <a:rPr lang="en-US" sz="1500" dirty="0">
                <a:solidFill>
                  <a:srgbClr val="15181A"/>
                </a:solidFill>
                <a:latin typeface="Arial" pitchFamily="34" charset="0"/>
                <a:ea typeface="Arial" pitchFamily="34" charset="-122"/>
                <a:cs typeface="Arial" pitchFamily="34" charset="-120"/>
              </a:rPr>
              <a:t>Right content</a:t>
            </a:r>
            <a:endParaRPr lang="en-US" sz="1500" dirty="0"/>
          </a:p>
        </p:txBody>
      </p:sp>
      <p:sp>
        <p:nvSpPr>
          <p:cNvPr id="11" name="Text 2"/>
          <p:cNvSpPr txBox="1"/>
          <p:nvPr>
            <p:ph idx="109"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12"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_CARD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Shape 0"/>
          <p:cNvSpPr/>
          <p:nvPr/>
        </p:nvSpPr>
        <p:spPr>
          <a:xfrm>
            <a:off x="731520" y="2121408"/>
            <a:ext cx="3392424" cy="3584448"/>
          </a:xfrm>
          <a:prstGeom prst="rect">
            <a:avLst/>
          </a:prstGeom>
          <a:solidFill>
            <a:srgbClr val="F2F5F2"/>
          </a:solidFill>
          <a:ln/>
        </p:spPr>
      </p:sp>
      <p:sp>
        <p:nvSpPr>
          <p:cNvPr id="6" name="Text 1"/>
          <p:cNvSpPr txBox="1"/>
          <p:nvPr/>
        </p:nvSpPr>
        <p:spPr>
          <a:xfrm>
            <a:off x="1097280" y="2432304"/>
            <a:ext cx="1097280" cy="438912"/>
          </a:xfrm>
          <a:prstGeom prst="rect">
            <a:avLst/>
          </a:prstGeom>
          <a:noFill/>
          <a:ln/>
        </p:spPr>
        <p:txBody>
          <a:bodyPr wrap="square" lIns="0" tIns="0" rIns="0" bIns="0" rtlCol="0" anchor="ctr"/>
          <a:lstStyle/>
          <a:p>
            <a:pPr algn="l" indent="0" marL="0">
              <a:buNone/>
            </a:pPr>
            <a:r>
              <a:rPr lang="en-US" sz="2400" b="1" dirty="0">
                <a:solidFill>
                  <a:srgbClr val="3C7D4D"/>
                </a:solidFill>
                <a:latin typeface="Arial" pitchFamily="34" charset="0"/>
                <a:ea typeface="Arial" pitchFamily="34" charset="-122"/>
                <a:cs typeface="Arial" pitchFamily="34" charset="-120"/>
              </a:rPr>
              <a:t>01</a:t>
            </a:r>
            <a:endParaRPr lang="en-US" sz="2400" dirty="0"/>
          </a:p>
        </p:txBody>
      </p:sp>
      <p:sp>
        <p:nvSpPr>
          <p:cNvPr id="7" name="Shape 2"/>
          <p:cNvSpPr/>
          <p:nvPr/>
        </p:nvSpPr>
        <p:spPr>
          <a:xfrm>
            <a:off x="1097280" y="3017520"/>
            <a:ext cx="548640" cy="41148"/>
          </a:xfrm>
          <a:prstGeom prst="rect">
            <a:avLst/>
          </a:prstGeom>
          <a:solidFill>
            <a:srgbClr val="F2A900"/>
          </a:solidFill>
          <a:ln/>
        </p:spPr>
      </p:sp>
      <p:sp>
        <p:nvSpPr>
          <p:cNvPr id="8" name="Text 3"/>
          <p:cNvSpPr txBox="1"/>
          <p:nvPr>
            <p:ph idx="106" type="body" hasCustomPrompt="1"/>
          </p:nvPr>
        </p:nvSpPr>
        <p:spPr>
          <a:xfrm>
            <a:off x="1097280" y="3255264"/>
            <a:ext cx="2660904" cy="640080"/>
          </a:xfrm>
          <a:prstGeom prst="rect">
            <a:avLst/>
          </a:prstGeom>
          <a:noFill/>
          <a:ln/>
        </p:spPr>
        <p:txBody>
          <a:bodyPr wrap="square" rtlCol="0"/>
          <a:lstStyle>
            <a:lvl1pPr algn="l" indent="0" marL="0">
              <a:buNone/>
              <a:defRPr lang="en-US" sz="18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800" b="1" spc="-30" kern="0" dirty="0">
                <a:solidFill>
                  <a:srgbClr val="15181A"/>
                </a:solidFill>
                <a:latin typeface="Arial" pitchFamily="34" charset="0"/>
                <a:ea typeface="Arial" pitchFamily="34" charset="-122"/>
                <a:cs typeface="Arial" pitchFamily="34" charset="-120"/>
              </a:rPr>
              <a:t>Card heading</a:t>
            </a:r>
            <a:endParaRPr lang="en-US" sz="1800" dirty="0"/>
          </a:p>
        </p:txBody>
      </p:sp>
      <p:sp>
        <p:nvSpPr>
          <p:cNvPr id="9" name="Text 3"/>
          <p:cNvSpPr txBox="1"/>
          <p:nvPr>
            <p:ph idx="107" type="body" hasCustomPrompt="1"/>
          </p:nvPr>
        </p:nvSpPr>
        <p:spPr>
          <a:xfrm>
            <a:off x="1097280" y="3986784"/>
            <a:ext cx="2660904" cy="1463040"/>
          </a:xfrm>
          <a:prstGeom prst="rect">
            <a:avLst/>
          </a:prstGeom>
          <a:noFill/>
          <a:ln/>
        </p:spPr>
        <p:txBody>
          <a:bodyPr wrap="square" rtlCol="0"/>
          <a:lstStyle>
            <a:lvl1pPr algn="l" indent="0" marL="0">
              <a:buNone/>
              <a:defRPr lang="en-US" sz="1350" dirty="0">
                <a:solidFill>
                  <a:srgbClr val="5B6670"/>
                </a:solidFill>
                <a:latin typeface="Arial" pitchFamily="34" charset="0"/>
                <a:ea typeface="Arial" pitchFamily="34" charset="-122"/>
                <a:cs typeface="Arial" pitchFamily="34" charset="-120"/>
              </a:defRPr>
            </a:lvl1pPr>
          </a:lstStyle>
          <a:p>
            <a:pPr algn="l" indent="0" marL="0">
              <a:buNone/>
            </a:pPr>
            <a:r>
              <a:rPr lang="en-US" sz="1350" dirty="0">
                <a:solidFill>
                  <a:srgbClr val="5B6670"/>
                </a:solidFill>
                <a:latin typeface="Arial" pitchFamily="34" charset="0"/>
                <a:ea typeface="Arial" pitchFamily="34" charset="-122"/>
                <a:cs typeface="Arial" pitchFamily="34" charset="-120"/>
              </a:rPr>
              <a:t>Two or three lines on what this is and why it matters.</a:t>
            </a:r>
            <a:endParaRPr lang="en-US" sz="1350" dirty="0"/>
          </a:p>
        </p:txBody>
      </p:sp>
      <p:sp>
        <p:nvSpPr>
          <p:cNvPr id="10" name="Shape 3"/>
          <p:cNvSpPr/>
          <p:nvPr/>
        </p:nvSpPr>
        <p:spPr>
          <a:xfrm>
            <a:off x="4407408" y="2121408"/>
            <a:ext cx="3392424" cy="3584448"/>
          </a:xfrm>
          <a:prstGeom prst="rect">
            <a:avLst/>
          </a:prstGeom>
          <a:solidFill>
            <a:srgbClr val="F2F5F2"/>
          </a:solidFill>
          <a:ln/>
        </p:spPr>
      </p:sp>
      <p:sp>
        <p:nvSpPr>
          <p:cNvPr id="11" name="Text 4"/>
          <p:cNvSpPr txBox="1"/>
          <p:nvPr/>
        </p:nvSpPr>
        <p:spPr>
          <a:xfrm>
            <a:off x="4773168" y="2432304"/>
            <a:ext cx="1097280" cy="438912"/>
          </a:xfrm>
          <a:prstGeom prst="rect">
            <a:avLst/>
          </a:prstGeom>
          <a:noFill/>
          <a:ln/>
        </p:spPr>
        <p:txBody>
          <a:bodyPr wrap="square" lIns="0" tIns="0" rIns="0" bIns="0" rtlCol="0" anchor="ctr"/>
          <a:lstStyle/>
          <a:p>
            <a:pPr algn="l" indent="0" marL="0">
              <a:buNone/>
            </a:pPr>
            <a:r>
              <a:rPr lang="en-US" sz="2400" b="1" dirty="0">
                <a:solidFill>
                  <a:srgbClr val="3C7D4D"/>
                </a:solidFill>
                <a:latin typeface="Arial" pitchFamily="34" charset="0"/>
                <a:ea typeface="Arial" pitchFamily="34" charset="-122"/>
                <a:cs typeface="Arial" pitchFamily="34" charset="-120"/>
              </a:rPr>
              <a:t>02</a:t>
            </a:r>
            <a:endParaRPr lang="en-US" sz="2400" dirty="0"/>
          </a:p>
        </p:txBody>
      </p:sp>
      <p:sp>
        <p:nvSpPr>
          <p:cNvPr id="12" name="Shape 5"/>
          <p:cNvSpPr/>
          <p:nvPr/>
        </p:nvSpPr>
        <p:spPr>
          <a:xfrm>
            <a:off x="4773168" y="3017520"/>
            <a:ext cx="548640" cy="41148"/>
          </a:xfrm>
          <a:prstGeom prst="rect">
            <a:avLst/>
          </a:prstGeom>
          <a:solidFill>
            <a:srgbClr val="F2A900"/>
          </a:solidFill>
          <a:ln/>
        </p:spPr>
      </p:sp>
      <p:sp>
        <p:nvSpPr>
          <p:cNvPr id="13" name="Text 6"/>
          <p:cNvSpPr txBox="1"/>
          <p:nvPr>
            <p:ph idx="111" type="body" hasCustomPrompt="1"/>
          </p:nvPr>
        </p:nvSpPr>
        <p:spPr>
          <a:xfrm>
            <a:off x="4773168" y="3255264"/>
            <a:ext cx="2660904" cy="640080"/>
          </a:xfrm>
          <a:prstGeom prst="rect">
            <a:avLst/>
          </a:prstGeom>
          <a:noFill/>
          <a:ln/>
        </p:spPr>
        <p:txBody>
          <a:bodyPr wrap="square" rtlCol="0"/>
          <a:lstStyle>
            <a:lvl1pPr algn="l" indent="0" marL="0">
              <a:buNone/>
              <a:defRPr lang="en-US" sz="18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800" b="1" spc="-30" kern="0" dirty="0">
                <a:solidFill>
                  <a:srgbClr val="15181A"/>
                </a:solidFill>
                <a:latin typeface="Arial" pitchFamily="34" charset="0"/>
                <a:ea typeface="Arial" pitchFamily="34" charset="-122"/>
                <a:cs typeface="Arial" pitchFamily="34" charset="-120"/>
              </a:rPr>
              <a:t>Card heading</a:t>
            </a:r>
            <a:endParaRPr lang="en-US" sz="1800" dirty="0"/>
          </a:p>
        </p:txBody>
      </p:sp>
      <p:sp>
        <p:nvSpPr>
          <p:cNvPr id="14" name="Text 6"/>
          <p:cNvSpPr txBox="1"/>
          <p:nvPr>
            <p:ph idx="112" type="body" hasCustomPrompt="1"/>
          </p:nvPr>
        </p:nvSpPr>
        <p:spPr>
          <a:xfrm>
            <a:off x="4773168" y="3986784"/>
            <a:ext cx="2660904" cy="1463040"/>
          </a:xfrm>
          <a:prstGeom prst="rect">
            <a:avLst/>
          </a:prstGeom>
          <a:noFill/>
          <a:ln/>
        </p:spPr>
        <p:txBody>
          <a:bodyPr wrap="square" rtlCol="0"/>
          <a:lstStyle>
            <a:lvl1pPr algn="l" indent="0" marL="0">
              <a:buNone/>
              <a:defRPr lang="en-US" sz="1350" dirty="0">
                <a:solidFill>
                  <a:srgbClr val="5B6670"/>
                </a:solidFill>
                <a:latin typeface="Arial" pitchFamily="34" charset="0"/>
                <a:ea typeface="Arial" pitchFamily="34" charset="-122"/>
                <a:cs typeface="Arial" pitchFamily="34" charset="-120"/>
              </a:defRPr>
            </a:lvl1pPr>
          </a:lstStyle>
          <a:p>
            <a:pPr algn="l" indent="0" marL="0">
              <a:buNone/>
            </a:pPr>
            <a:r>
              <a:rPr lang="en-US" sz="1350" dirty="0">
                <a:solidFill>
                  <a:srgbClr val="5B6670"/>
                </a:solidFill>
                <a:latin typeface="Arial" pitchFamily="34" charset="0"/>
                <a:ea typeface="Arial" pitchFamily="34" charset="-122"/>
                <a:cs typeface="Arial" pitchFamily="34" charset="-120"/>
              </a:rPr>
              <a:t>Two or three lines on what this is and why it matters.</a:t>
            </a:r>
            <a:endParaRPr lang="en-US" sz="1350" dirty="0"/>
          </a:p>
        </p:txBody>
      </p:sp>
      <p:sp>
        <p:nvSpPr>
          <p:cNvPr id="15" name="Shape 6"/>
          <p:cNvSpPr/>
          <p:nvPr/>
        </p:nvSpPr>
        <p:spPr>
          <a:xfrm>
            <a:off x="8083296" y="2121408"/>
            <a:ext cx="3392424" cy="3584448"/>
          </a:xfrm>
          <a:prstGeom prst="rect">
            <a:avLst/>
          </a:prstGeom>
          <a:solidFill>
            <a:srgbClr val="F2F5F2"/>
          </a:solidFill>
          <a:ln/>
        </p:spPr>
      </p:sp>
      <p:sp>
        <p:nvSpPr>
          <p:cNvPr id="16" name="Text 7"/>
          <p:cNvSpPr txBox="1"/>
          <p:nvPr/>
        </p:nvSpPr>
        <p:spPr>
          <a:xfrm>
            <a:off x="8449056" y="2432304"/>
            <a:ext cx="1097280" cy="438912"/>
          </a:xfrm>
          <a:prstGeom prst="rect">
            <a:avLst/>
          </a:prstGeom>
          <a:noFill/>
          <a:ln/>
        </p:spPr>
        <p:txBody>
          <a:bodyPr wrap="square" lIns="0" tIns="0" rIns="0" bIns="0" rtlCol="0" anchor="ctr"/>
          <a:lstStyle/>
          <a:p>
            <a:pPr algn="l" indent="0" marL="0">
              <a:buNone/>
            </a:pPr>
            <a:r>
              <a:rPr lang="en-US" sz="2400" b="1" dirty="0">
                <a:solidFill>
                  <a:srgbClr val="3C7D4D"/>
                </a:solidFill>
                <a:latin typeface="Arial" pitchFamily="34" charset="0"/>
                <a:ea typeface="Arial" pitchFamily="34" charset="-122"/>
                <a:cs typeface="Arial" pitchFamily="34" charset="-120"/>
              </a:rPr>
              <a:t>03</a:t>
            </a:r>
            <a:endParaRPr lang="en-US" sz="2400" dirty="0"/>
          </a:p>
        </p:txBody>
      </p:sp>
      <p:sp>
        <p:nvSpPr>
          <p:cNvPr id="17" name="Shape 8"/>
          <p:cNvSpPr/>
          <p:nvPr/>
        </p:nvSpPr>
        <p:spPr>
          <a:xfrm>
            <a:off x="8449056" y="3017520"/>
            <a:ext cx="548640" cy="41148"/>
          </a:xfrm>
          <a:prstGeom prst="rect">
            <a:avLst/>
          </a:prstGeom>
          <a:solidFill>
            <a:srgbClr val="F2A900"/>
          </a:solidFill>
          <a:ln/>
        </p:spPr>
      </p:sp>
      <p:sp>
        <p:nvSpPr>
          <p:cNvPr id="18" name="Text 9"/>
          <p:cNvSpPr txBox="1"/>
          <p:nvPr>
            <p:ph idx="116" type="body" hasCustomPrompt="1"/>
          </p:nvPr>
        </p:nvSpPr>
        <p:spPr>
          <a:xfrm>
            <a:off x="8449056" y="3255264"/>
            <a:ext cx="2660904" cy="640080"/>
          </a:xfrm>
          <a:prstGeom prst="rect">
            <a:avLst/>
          </a:prstGeom>
          <a:noFill/>
          <a:ln/>
        </p:spPr>
        <p:txBody>
          <a:bodyPr wrap="square" rtlCol="0"/>
          <a:lstStyle>
            <a:lvl1pPr algn="l" indent="0" marL="0">
              <a:buNone/>
              <a:defRPr lang="en-US" sz="18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800" b="1" spc="-30" kern="0" dirty="0">
                <a:solidFill>
                  <a:srgbClr val="15181A"/>
                </a:solidFill>
                <a:latin typeface="Arial" pitchFamily="34" charset="0"/>
                <a:ea typeface="Arial" pitchFamily="34" charset="-122"/>
                <a:cs typeface="Arial" pitchFamily="34" charset="-120"/>
              </a:rPr>
              <a:t>Card heading</a:t>
            </a:r>
            <a:endParaRPr lang="en-US" sz="1800" dirty="0"/>
          </a:p>
        </p:txBody>
      </p:sp>
      <p:sp>
        <p:nvSpPr>
          <p:cNvPr id="19" name="Text 9"/>
          <p:cNvSpPr txBox="1"/>
          <p:nvPr>
            <p:ph idx="117" type="body" hasCustomPrompt="1"/>
          </p:nvPr>
        </p:nvSpPr>
        <p:spPr>
          <a:xfrm>
            <a:off x="8449056" y="3986784"/>
            <a:ext cx="2660904" cy="1463040"/>
          </a:xfrm>
          <a:prstGeom prst="rect">
            <a:avLst/>
          </a:prstGeom>
          <a:noFill/>
          <a:ln/>
        </p:spPr>
        <p:txBody>
          <a:bodyPr wrap="square" rtlCol="0"/>
          <a:lstStyle>
            <a:lvl1pPr algn="l" indent="0" marL="0">
              <a:buNone/>
              <a:defRPr lang="en-US" sz="1350" dirty="0">
                <a:solidFill>
                  <a:srgbClr val="5B6670"/>
                </a:solidFill>
                <a:latin typeface="Arial" pitchFamily="34" charset="0"/>
                <a:ea typeface="Arial" pitchFamily="34" charset="-122"/>
                <a:cs typeface="Arial" pitchFamily="34" charset="-120"/>
              </a:defRPr>
            </a:lvl1pPr>
          </a:lstStyle>
          <a:p>
            <a:pPr algn="l" indent="0" marL="0">
              <a:buNone/>
            </a:pPr>
            <a:r>
              <a:rPr lang="en-US" sz="1350" dirty="0">
                <a:solidFill>
                  <a:srgbClr val="5B6670"/>
                </a:solidFill>
                <a:latin typeface="Arial" pitchFamily="34" charset="0"/>
                <a:ea typeface="Arial" pitchFamily="34" charset="-122"/>
                <a:cs typeface="Arial" pitchFamily="34" charset="-120"/>
              </a:rPr>
              <a:t>Two or three lines on what this is and why it matters.</a:t>
            </a:r>
            <a:endParaRPr lang="en-US" sz="1350" dirty="0"/>
          </a:p>
        </p:txBody>
      </p:sp>
      <p:sp>
        <p:nvSpPr>
          <p:cNvPr id="20" name="Text 9"/>
          <p:cNvSpPr txBox="1"/>
          <p:nvPr>
            <p:ph idx="118"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21"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IG_NUMB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Shape 0"/>
          <p:cNvSpPr/>
          <p:nvPr/>
        </p:nvSpPr>
        <p:spPr>
          <a:xfrm>
            <a:off x="731520" y="2121408"/>
            <a:ext cx="3392424" cy="0"/>
          </a:xfrm>
          <a:prstGeom prst="line">
            <a:avLst/>
          </a:prstGeom>
          <a:noFill/>
          <a:ln w="31750">
            <a:solidFill>
              <a:srgbClr val="3C7D4D"/>
            </a:solidFill>
            <a:prstDash val="solid"/>
          </a:ln>
        </p:spPr>
      </p:sp>
      <p:sp>
        <p:nvSpPr>
          <p:cNvPr id="6" name="Text 1"/>
          <p:cNvSpPr txBox="1"/>
          <p:nvPr>
            <p:ph idx="104" type="body" hasCustomPrompt="1"/>
          </p:nvPr>
        </p:nvSpPr>
        <p:spPr>
          <a:xfrm>
            <a:off x="731520" y="2359152"/>
            <a:ext cx="3392424" cy="1051560"/>
          </a:xfrm>
          <a:prstGeom prst="rect">
            <a:avLst/>
          </a:prstGeom>
          <a:noFill/>
          <a:ln/>
        </p:spPr>
        <p:txBody>
          <a:bodyPr wrap="square" rtlCol="0"/>
          <a:lstStyle>
            <a:lvl1pPr algn="l" indent="0" marL="0">
              <a:buNone/>
              <a:defRPr lang="en-US" sz="4800" b="1" spc="-150" kern="0" dirty="0">
                <a:solidFill>
                  <a:srgbClr val="3C7D4D"/>
                </a:solidFill>
                <a:latin typeface="Arial" pitchFamily="34" charset="0"/>
                <a:ea typeface="Arial" pitchFamily="34" charset="-122"/>
                <a:cs typeface="Arial" pitchFamily="34" charset="-120"/>
              </a:defRPr>
            </a:lvl1pPr>
          </a:lstStyle>
          <a:p>
            <a:pPr algn="l" indent="0" marL="0">
              <a:buNone/>
            </a:pPr>
            <a:r>
              <a:rPr lang="en-US" sz="4800" b="1" spc="-150" kern="0" dirty="0">
                <a:solidFill>
                  <a:srgbClr val="3C7D4D"/>
                </a:solidFill>
                <a:latin typeface="Arial" pitchFamily="34" charset="0"/>
                <a:ea typeface="Arial" pitchFamily="34" charset="-122"/>
                <a:cs typeface="Arial" pitchFamily="34" charset="-120"/>
              </a:rPr>
              <a:t>00%</a:t>
            </a:r>
            <a:endParaRPr lang="en-US" sz="4800" dirty="0"/>
          </a:p>
        </p:txBody>
      </p:sp>
      <p:sp>
        <p:nvSpPr>
          <p:cNvPr id="7" name="Text 1"/>
          <p:cNvSpPr txBox="1"/>
          <p:nvPr>
            <p:ph idx="105" type="body" hasCustomPrompt="1"/>
          </p:nvPr>
        </p:nvSpPr>
        <p:spPr>
          <a:xfrm>
            <a:off x="731520" y="3493008"/>
            <a:ext cx="3118104" cy="329184"/>
          </a:xfrm>
          <a:prstGeom prst="rect">
            <a:avLst/>
          </a:prstGeom>
          <a:noFill/>
          <a:ln/>
        </p:spPr>
        <p:txBody>
          <a:bodyPr wrap="square" rtlCol="0"/>
          <a:lstStyle>
            <a:lvl1pPr algn="l" indent="0" marL="0">
              <a:buNone/>
              <a:defRPr lang="en-US" sz="1100" b="1" spc="160" kern="0" dirty="0">
                <a:solidFill>
                  <a:srgbClr val="15181A"/>
                </a:solidFill>
                <a:latin typeface="Arial" pitchFamily="34" charset="0"/>
                <a:ea typeface="Arial" pitchFamily="34" charset="-122"/>
                <a:cs typeface="Arial" pitchFamily="34" charset="-120"/>
              </a:defRPr>
            </a:lvl1pPr>
          </a:lstStyle>
          <a:p>
            <a:pPr algn="l" indent="0" marL="0">
              <a:buNone/>
            </a:pPr>
            <a:r>
              <a:rPr lang="en-US" sz="1100" b="1" spc="160" kern="0" dirty="0">
                <a:solidFill>
                  <a:srgbClr val="15181A"/>
                </a:solidFill>
                <a:latin typeface="Arial" pitchFamily="34" charset="0"/>
                <a:ea typeface="Arial" pitchFamily="34" charset="-122"/>
                <a:cs typeface="Arial" pitchFamily="34" charset="-120"/>
              </a:rPr>
              <a:t>WHAT IT MEASURES</a:t>
            </a:r>
            <a:endParaRPr lang="en-US" sz="1100" dirty="0"/>
          </a:p>
        </p:txBody>
      </p:sp>
      <p:sp>
        <p:nvSpPr>
          <p:cNvPr id="8" name="Text 1"/>
          <p:cNvSpPr txBox="1"/>
          <p:nvPr>
            <p:ph idx="106" type="body" hasCustomPrompt="1"/>
          </p:nvPr>
        </p:nvSpPr>
        <p:spPr>
          <a:xfrm>
            <a:off x="731520" y="3895344"/>
            <a:ext cx="3118104" cy="91440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One line of context or the comparison.</a:t>
            </a:r>
            <a:endParaRPr lang="en-US" sz="1300" dirty="0"/>
          </a:p>
        </p:txBody>
      </p:sp>
      <p:sp>
        <p:nvSpPr>
          <p:cNvPr id="9" name="Shape 1"/>
          <p:cNvSpPr/>
          <p:nvPr/>
        </p:nvSpPr>
        <p:spPr>
          <a:xfrm>
            <a:off x="4407408" y="2121408"/>
            <a:ext cx="3392424" cy="0"/>
          </a:xfrm>
          <a:prstGeom prst="line">
            <a:avLst/>
          </a:prstGeom>
          <a:noFill/>
          <a:ln w="31750">
            <a:solidFill>
              <a:srgbClr val="3C7D4D"/>
            </a:solidFill>
            <a:prstDash val="solid"/>
          </a:ln>
        </p:spPr>
      </p:sp>
      <p:sp>
        <p:nvSpPr>
          <p:cNvPr id="10" name="Text 2"/>
          <p:cNvSpPr txBox="1"/>
          <p:nvPr>
            <p:ph idx="108" type="body" hasCustomPrompt="1"/>
          </p:nvPr>
        </p:nvSpPr>
        <p:spPr>
          <a:xfrm>
            <a:off x="4407408" y="2359152"/>
            <a:ext cx="3392424" cy="1051560"/>
          </a:xfrm>
          <a:prstGeom prst="rect">
            <a:avLst/>
          </a:prstGeom>
          <a:noFill/>
          <a:ln/>
        </p:spPr>
        <p:txBody>
          <a:bodyPr wrap="square" rtlCol="0"/>
          <a:lstStyle>
            <a:lvl1pPr algn="l" indent="0" marL="0">
              <a:buNone/>
              <a:defRPr lang="en-US" sz="4800" b="1" spc="-150" kern="0" dirty="0">
                <a:solidFill>
                  <a:srgbClr val="3C7D4D"/>
                </a:solidFill>
                <a:latin typeface="Arial" pitchFamily="34" charset="0"/>
                <a:ea typeface="Arial" pitchFamily="34" charset="-122"/>
                <a:cs typeface="Arial" pitchFamily="34" charset="-120"/>
              </a:defRPr>
            </a:lvl1pPr>
          </a:lstStyle>
          <a:p>
            <a:pPr algn="l" indent="0" marL="0">
              <a:buNone/>
            </a:pPr>
            <a:r>
              <a:rPr lang="en-US" sz="4800" b="1" spc="-150" kern="0" dirty="0">
                <a:solidFill>
                  <a:srgbClr val="3C7D4D"/>
                </a:solidFill>
                <a:latin typeface="Arial" pitchFamily="34" charset="0"/>
                <a:ea typeface="Arial" pitchFamily="34" charset="-122"/>
                <a:cs typeface="Arial" pitchFamily="34" charset="-120"/>
              </a:rPr>
              <a:t>00%</a:t>
            </a:r>
            <a:endParaRPr lang="en-US" sz="4800" dirty="0"/>
          </a:p>
        </p:txBody>
      </p:sp>
      <p:sp>
        <p:nvSpPr>
          <p:cNvPr id="11" name="Text 2"/>
          <p:cNvSpPr txBox="1"/>
          <p:nvPr>
            <p:ph idx="109" type="body" hasCustomPrompt="1"/>
          </p:nvPr>
        </p:nvSpPr>
        <p:spPr>
          <a:xfrm>
            <a:off x="4407408" y="3493008"/>
            <a:ext cx="3118104" cy="329184"/>
          </a:xfrm>
          <a:prstGeom prst="rect">
            <a:avLst/>
          </a:prstGeom>
          <a:noFill/>
          <a:ln/>
        </p:spPr>
        <p:txBody>
          <a:bodyPr wrap="square" rtlCol="0"/>
          <a:lstStyle>
            <a:lvl1pPr algn="l" indent="0" marL="0">
              <a:buNone/>
              <a:defRPr lang="en-US" sz="1100" b="1" spc="160" kern="0" dirty="0">
                <a:solidFill>
                  <a:srgbClr val="15181A"/>
                </a:solidFill>
                <a:latin typeface="Arial" pitchFamily="34" charset="0"/>
                <a:ea typeface="Arial" pitchFamily="34" charset="-122"/>
                <a:cs typeface="Arial" pitchFamily="34" charset="-120"/>
              </a:defRPr>
            </a:lvl1pPr>
          </a:lstStyle>
          <a:p>
            <a:pPr algn="l" indent="0" marL="0">
              <a:buNone/>
            </a:pPr>
            <a:r>
              <a:rPr lang="en-US" sz="1100" b="1" spc="160" kern="0" dirty="0">
                <a:solidFill>
                  <a:srgbClr val="15181A"/>
                </a:solidFill>
                <a:latin typeface="Arial" pitchFamily="34" charset="0"/>
                <a:ea typeface="Arial" pitchFamily="34" charset="-122"/>
                <a:cs typeface="Arial" pitchFamily="34" charset="-120"/>
              </a:rPr>
              <a:t>WHAT IT MEASURES</a:t>
            </a:r>
            <a:endParaRPr lang="en-US" sz="1100" dirty="0"/>
          </a:p>
        </p:txBody>
      </p:sp>
      <p:sp>
        <p:nvSpPr>
          <p:cNvPr id="12" name="Text 2"/>
          <p:cNvSpPr txBox="1"/>
          <p:nvPr>
            <p:ph idx="110" type="body" hasCustomPrompt="1"/>
          </p:nvPr>
        </p:nvSpPr>
        <p:spPr>
          <a:xfrm>
            <a:off x="4407408" y="3895344"/>
            <a:ext cx="3118104" cy="91440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One line of context or the comparison.</a:t>
            </a:r>
            <a:endParaRPr lang="en-US" sz="1300" dirty="0"/>
          </a:p>
        </p:txBody>
      </p:sp>
      <p:sp>
        <p:nvSpPr>
          <p:cNvPr id="13" name="Shape 2"/>
          <p:cNvSpPr/>
          <p:nvPr/>
        </p:nvSpPr>
        <p:spPr>
          <a:xfrm>
            <a:off x="8083296" y="2121408"/>
            <a:ext cx="3392424" cy="0"/>
          </a:xfrm>
          <a:prstGeom prst="line">
            <a:avLst/>
          </a:prstGeom>
          <a:noFill/>
          <a:ln w="31750">
            <a:solidFill>
              <a:srgbClr val="3C7D4D"/>
            </a:solidFill>
            <a:prstDash val="solid"/>
          </a:ln>
        </p:spPr>
      </p:sp>
      <p:sp>
        <p:nvSpPr>
          <p:cNvPr id="14" name="Text 3"/>
          <p:cNvSpPr txBox="1"/>
          <p:nvPr>
            <p:ph idx="112" type="body" hasCustomPrompt="1"/>
          </p:nvPr>
        </p:nvSpPr>
        <p:spPr>
          <a:xfrm>
            <a:off x="8083296" y="2359152"/>
            <a:ext cx="3392424" cy="1051560"/>
          </a:xfrm>
          <a:prstGeom prst="rect">
            <a:avLst/>
          </a:prstGeom>
          <a:noFill/>
          <a:ln/>
        </p:spPr>
        <p:txBody>
          <a:bodyPr wrap="square" rtlCol="0"/>
          <a:lstStyle>
            <a:lvl1pPr algn="l" indent="0" marL="0">
              <a:buNone/>
              <a:defRPr lang="en-US" sz="4800" b="1" spc="-150" kern="0" dirty="0">
                <a:solidFill>
                  <a:srgbClr val="3C7D4D"/>
                </a:solidFill>
                <a:latin typeface="Arial" pitchFamily="34" charset="0"/>
                <a:ea typeface="Arial" pitchFamily="34" charset="-122"/>
                <a:cs typeface="Arial" pitchFamily="34" charset="-120"/>
              </a:defRPr>
            </a:lvl1pPr>
          </a:lstStyle>
          <a:p>
            <a:pPr algn="l" indent="0" marL="0">
              <a:buNone/>
            </a:pPr>
            <a:r>
              <a:rPr lang="en-US" sz="4800" b="1" spc="-150" kern="0" dirty="0">
                <a:solidFill>
                  <a:srgbClr val="3C7D4D"/>
                </a:solidFill>
                <a:latin typeface="Arial" pitchFamily="34" charset="0"/>
                <a:ea typeface="Arial" pitchFamily="34" charset="-122"/>
                <a:cs typeface="Arial" pitchFamily="34" charset="-120"/>
              </a:rPr>
              <a:t>00%</a:t>
            </a:r>
            <a:endParaRPr lang="en-US" sz="4800" dirty="0"/>
          </a:p>
        </p:txBody>
      </p:sp>
      <p:sp>
        <p:nvSpPr>
          <p:cNvPr id="15" name="Text 3"/>
          <p:cNvSpPr txBox="1"/>
          <p:nvPr>
            <p:ph idx="113" type="body" hasCustomPrompt="1"/>
          </p:nvPr>
        </p:nvSpPr>
        <p:spPr>
          <a:xfrm>
            <a:off x="8083296" y="3493008"/>
            <a:ext cx="3118104" cy="329184"/>
          </a:xfrm>
          <a:prstGeom prst="rect">
            <a:avLst/>
          </a:prstGeom>
          <a:noFill/>
          <a:ln/>
        </p:spPr>
        <p:txBody>
          <a:bodyPr wrap="square" rtlCol="0"/>
          <a:lstStyle>
            <a:lvl1pPr algn="l" indent="0" marL="0">
              <a:buNone/>
              <a:defRPr lang="en-US" sz="1100" b="1" spc="160" kern="0" dirty="0">
                <a:solidFill>
                  <a:srgbClr val="15181A"/>
                </a:solidFill>
                <a:latin typeface="Arial" pitchFamily="34" charset="0"/>
                <a:ea typeface="Arial" pitchFamily="34" charset="-122"/>
                <a:cs typeface="Arial" pitchFamily="34" charset="-120"/>
              </a:defRPr>
            </a:lvl1pPr>
          </a:lstStyle>
          <a:p>
            <a:pPr algn="l" indent="0" marL="0">
              <a:buNone/>
            </a:pPr>
            <a:r>
              <a:rPr lang="en-US" sz="1100" b="1" spc="160" kern="0" dirty="0">
                <a:solidFill>
                  <a:srgbClr val="15181A"/>
                </a:solidFill>
                <a:latin typeface="Arial" pitchFamily="34" charset="0"/>
                <a:ea typeface="Arial" pitchFamily="34" charset="-122"/>
                <a:cs typeface="Arial" pitchFamily="34" charset="-120"/>
              </a:rPr>
              <a:t>WHAT IT MEASURES</a:t>
            </a:r>
            <a:endParaRPr lang="en-US" sz="1100" dirty="0"/>
          </a:p>
        </p:txBody>
      </p:sp>
      <p:sp>
        <p:nvSpPr>
          <p:cNvPr id="16" name="Text 3"/>
          <p:cNvSpPr txBox="1"/>
          <p:nvPr>
            <p:ph idx="114" type="body" hasCustomPrompt="1"/>
          </p:nvPr>
        </p:nvSpPr>
        <p:spPr>
          <a:xfrm>
            <a:off x="8083296" y="3895344"/>
            <a:ext cx="3118104" cy="91440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One line of context or the comparison.</a:t>
            </a:r>
            <a:endParaRPr lang="en-US" sz="1300" dirty="0"/>
          </a:p>
        </p:txBody>
      </p:sp>
      <p:sp>
        <p:nvSpPr>
          <p:cNvPr id="17" name="Text 3"/>
          <p:cNvSpPr txBox="1"/>
          <p:nvPr>
            <p:ph idx="115" type="body" hasCustomPrompt="1"/>
          </p:nvPr>
        </p:nvSpPr>
        <p:spPr>
          <a:xfrm>
            <a:off x="731520" y="5138928"/>
            <a:ext cx="10728655" cy="868680"/>
          </a:xfrm>
          <a:prstGeom prst="rect">
            <a:avLst/>
          </a:prstGeom>
          <a:noFill/>
          <a:ln/>
        </p:spPr>
        <p:txBody>
          <a:bodyPr wrap="square" rtlCol="0"/>
          <a:lstStyle>
            <a:lvl1pPr algn="l" indent="0" marL="0">
              <a:buNone/>
              <a:defRPr lang="en-US" sz="1500" dirty="0">
                <a:solidFill>
                  <a:srgbClr val="15181A"/>
                </a:solidFill>
                <a:latin typeface="Arial" pitchFamily="34" charset="0"/>
                <a:ea typeface="Arial" pitchFamily="34" charset="-122"/>
                <a:cs typeface="Arial" pitchFamily="34" charset="-120"/>
              </a:defRPr>
            </a:lvl1pPr>
          </a:lstStyle>
          <a:p>
            <a:pPr algn="l" indent="0" marL="0">
              <a:buNone/>
            </a:pPr>
            <a:r>
              <a:rPr lang="en-US" sz="1500" dirty="0">
                <a:solidFill>
                  <a:srgbClr val="15181A"/>
                </a:solidFill>
                <a:latin typeface="Arial" pitchFamily="34" charset="0"/>
                <a:ea typeface="Arial" pitchFamily="34" charset="-122"/>
                <a:cs typeface="Arial" pitchFamily="34" charset="-120"/>
              </a:rPr>
              <a:t>So what, and what we do about it.</a:t>
            </a:r>
            <a:endParaRPr lang="en-US" sz="1500" dirty="0"/>
          </a:p>
        </p:txBody>
      </p:sp>
      <p:sp>
        <p:nvSpPr>
          <p:cNvPr id="18" name="Text 3"/>
          <p:cNvSpPr txBox="1"/>
          <p:nvPr>
            <p:ph idx="116"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19"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_VISU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Text 0"/>
          <p:cNvSpPr txBox="1"/>
          <p:nvPr>
            <p:ph idx="103" type="body" hasCustomPrompt="1"/>
          </p:nvPr>
        </p:nvSpPr>
        <p:spPr>
          <a:xfrm>
            <a:off x="731520" y="2121408"/>
            <a:ext cx="4572000" cy="3913632"/>
          </a:xfrm>
          <a:prstGeom prst="rect">
            <a:avLst/>
          </a:prstGeom>
          <a:noFill/>
          <a:ln/>
        </p:spPr>
        <p:txBody>
          <a:bodyPr wrap="square" rtlCol="0"/>
          <a:lstStyle>
            <a:lvl1pPr algn="l" indent="0" marL="0">
              <a:buNone/>
              <a:defRPr lang="en-US" sz="1500" dirty="0">
                <a:solidFill>
                  <a:srgbClr val="15181A"/>
                </a:solidFill>
                <a:latin typeface="Arial" pitchFamily="34" charset="0"/>
                <a:ea typeface="Arial" pitchFamily="34" charset="-122"/>
                <a:cs typeface="Arial" pitchFamily="34" charset="-120"/>
              </a:defRPr>
            </a:lvl1pPr>
          </a:lstStyle>
          <a:p>
            <a:pPr algn="l" indent="0" marL="0">
              <a:buNone/>
            </a:pPr>
            <a:r>
              <a:rPr lang="en-US" sz="1500" dirty="0">
                <a:solidFill>
                  <a:srgbClr val="15181A"/>
                </a:solidFill>
                <a:latin typeface="Arial" pitchFamily="34" charset="0"/>
                <a:ea typeface="Arial" pitchFamily="34" charset="-122"/>
                <a:cs typeface="Arial" pitchFamily="34" charset="-120"/>
              </a:rPr>
              <a:t>Supporting points</a:t>
            </a:r>
            <a:endParaRPr lang="en-US" sz="1500" dirty="0"/>
          </a:p>
        </p:txBody>
      </p:sp>
      <p:sp>
        <p:nvSpPr>
          <p:cNvPr id="6" name="Text 0"/>
          <p:cNvSpPr/>
          <p:nvPr>
            <p:ph idx="104" hasCustomPrompt="1"/>
          </p:nvPr>
        </p:nvSpPr>
        <p:spPr>
          <a:xfrm>
            <a:off x="5943600" y="2121408"/>
            <a:ext cx="5513832" cy="3913632"/>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 </a:t>
            </a:r>
            <a:endParaRPr lang="en-US" dirty="0"/>
          </a:p>
        </p:txBody>
      </p:sp>
      <p:sp>
        <p:nvSpPr>
          <p:cNvPr id="7" name="Text 0"/>
          <p:cNvSpPr txBox="1"/>
          <p:nvPr>
            <p:ph idx="105"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8"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1009</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ULL_VISU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Text 0"/>
          <p:cNvSpPr/>
          <p:nvPr>
            <p:ph idx="103" hasCustomPrompt="1"/>
          </p:nvPr>
        </p:nvSpPr>
        <p:spPr>
          <a:xfrm>
            <a:off x="731520" y="2121408"/>
            <a:ext cx="10728655" cy="3913632"/>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 </a:t>
            </a:r>
            <a:endParaRPr lang="en-US" dirty="0"/>
          </a:p>
        </p:txBody>
      </p:sp>
      <p:sp>
        <p:nvSpPr>
          <p:cNvPr id="6" name="Text 0"/>
          <p:cNvSpPr txBox="1"/>
          <p:nvPr>
            <p:ph idx="104"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7"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1010</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Shape 0"/>
          <p:cNvSpPr/>
          <p:nvPr/>
        </p:nvSpPr>
        <p:spPr>
          <a:xfrm>
            <a:off x="731520" y="2121408"/>
            <a:ext cx="5230368" cy="475488"/>
          </a:xfrm>
          <a:prstGeom prst="rect">
            <a:avLst/>
          </a:prstGeom>
          <a:solidFill>
            <a:srgbClr val="3C7D4D"/>
          </a:solidFill>
          <a:ln/>
        </p:spPr>
      </p:sp>
      <p:sp>
        <p:nvSpPr>
          <p:cNvPr id="6" name="Text 1"/>
          <p:cNvSpPr txBox="1"/>
          <p:nvPr>
            <p:ph idx="104" type="body" hasCustomPrompt="1"/>
          </p:nvPr>
        </p:nvSpPr>
        <p:spPr>
          <a:xfrm>
            <a:off x="987552" y="2121408"/>
            <a:ext cx="4718304" cy="475488"/>
          </a:xfrm>
          <a:prstGeom prst="rect">
            <a:avLst/>
          </a:prstGeom>
          <a:noFill/>
          <a:ln/>
        </p:spPr>
        <p:txBody>
          <a:bodyPr wrap="square" rtlCol="0"/>
          <a:lstStyle>
            <a:lvl1pPr algn="l" indent="0" marL="0">
              <a:buNone/>
              <a:defRPr lang="en-US" sz="1300" b="1" spc="200" kern="0" dirty="0">
                <a:solidFill>
                  <a:srgbClr val="FFFFFF"/>
                </a:solidFill>
                <a:latin typeface="Arial" pitchFamily="34" charset="0"/>
                <a:ea typeface="Arial" pitchFamily="34" charset="-122"/>
                <a:cs typeface="Arial" pitchFamily="34" charset="-120"/>
              </a:defRPr>
            </a:lvl1pPr>
          </a:lstStyle>
          <a:p>
            <a:pPr algn="l" indent="0" marL="0">
              <a:buNone/>
            </a:pPr>
            <a:r>
              <a:rPr lang="en-US" sz="1300" b="1" spc="200" kern="0" dirty="0">
                <a:solidFill>
                  <a:srgbClr val="FFFFFF"/>
                </a:solidFill>
                <a:latin typeface="Arial" pitchFamily="34" charset="0"/>
                <a:ea typeface="Arial" pitchFamily="34" charset="-122"/>
                <a:cs typeface="Arial" pitchFamily="34" charset="-120"/>
              </a:rPr>
              <a:t>OPTION A</a:t>
            </a:r>
            <a:endParaRPr lang="en-US" sz="1300" dirty="0"/>
          </a:p>
        </p:txBody>
      </p:sp>
      <p:sp>
        <p:nvSpPr>
          <p:cNvPr id="7" name="Shape 1"/>
          <p:cNvSpPr/>
          <p:nvPr/>
        </p:nvSpPr>
        <p:spPr>
          <a:xfrm>
            <a:off x="731520" y="2596896"/>
            <a:ext cx="5230368" cy="2980944"/>
          </a:xfrm>
          <a:prstGeom prst="rect">
            <a:avLst/>
          </a:prstGeom>
          <a:solidFill>
            <a:srgbClr val="F2F5F2"/>
          </a:solidFill>
          <a:ln/>
        </p:spPr>
      </p:sp>
      <p:sp>
        <p:nvSpPr>
          <p:cNvPr id="8" name="Text 2"/>
          <p:cNvSpPr txBox="1"/>
          <p:nvPr>
            <p:ph idx="106" type="body" hasCustomPrompt="1"/>
          </p:nvPr>
        </p:nvSpPr>
        <p:spPr>
          <a:xfrm>
            <a:off x="987552" y="2834640"/>
            <a:ext cx="4718304" cy="2560320"/>
          </a:xfrm>
          <a:prstGeom prst="rect">
            <a:avLst/>
          </a:prstGeom>
          <a:noFill/>
          <a:ln/>
        </p:spPr>
        <p:txBody>
          <a:bodyPr wrap="square" rtlCol="0"/>
          <a:lstStyle>
            <a:lvl1pPr algn="l" indent="0" marL="0">
              <a:buNone/>
              <a:defRPr lang="en-US" sz="1450" dirty="0">
                <a:solidFill>
                  <a:srgbClr val="15181A"/>
                </a:solidFill>
                <a:latin typeface="Arial" pitchFamily="34" charset="0"/>
                <a:ea typeface="Arial" pitchFamily="34" charset="-122"/>
                <a:cs typeface="Arial" pitchFamily="34" charset="-120"/>
              </a:defRPr>
            </a:lvl1pPr>
          </a:lstStyle>
          <a:p>
            <a:pPr algn="l" indent="0" marL="0">
              <a:buNone/>
            </a:pPr>
            <a:r>
              <a:rPr lang="en-US" sz="1450" dirty="0">
                <a:solidFill>
                  <a:srgbClr val="15181A"/>
                </a:solidFill>
                <a:latin typeface="Arial" pitchFamily="34" charset="0"/>
                <a:ea typeface="Arial" pitchFamily="34" charset="-122"/>
                <a:cs typeface="Arial" pitchFamily="34" charset="-120"/>
              </a:rPr>
              <a:t>What it gets us, what it costs, what breaks.</a:t>
            </a:r>
            <a:endParaRPr lang="en-US" sz="1450" dirty="0"/>
          </a:p>
        </p:txBody>
      </p:sp>
      <p:sp>
        <p:nvSpPr>
          <p:cNvPr id="9" name="Shape 2"/>
          <p:cNvSpPr/>
          <p:nvPr/>
        </p:nvSpPr>
        <p:spPr>
          <a:xfrm>
            <a:off x="6227064" y="2121408"/>
            <a:ext cx="5230368" cy="475488"/>
          </a:xfrm>
          <a:prstGeom prst="rect">
            <a:avLst/>
          </a:prstGeom>
          <a:solidFill>
            <a:srgbClr val="5B6670"/>
          </a:solidFill>
          <a:ln/>
        </p:spPr>
      </p:sp>
      <p:sp>
        <p:nvSpPr>
          <p:cNvPr id="10" name="Text 3"/>
          <p:cNvSpPr txBox="1"/>
          <p:nvPr>
            <p:ph idx="108" type="body" hasCustomPrompt="1"/>
          </p:nvPr>
        </p:nvSpPr>
        <p:spPr>
          <a:xfrm>
            <a:off x="6483096" y="2121408"/>
            <a:ext cx="4718304" cy="475488"/>
          </a:xfrm>
          <a:prstGeom prst="rect">
            <a:avLst/>
          </a:prstGeom>
          <a:noFill/>
          <a:ln/>
        </p:spPr>
        <p:txBody>
          <a:bodyPr wrap="square" rtlCol="0"/>
          <a:lstStyle>
            <a:lvl1pPr algn="l" indent="0" marL="0">
              <a:buNone/>
              <a:defRPr lang="en-US" sz="1300" b="1" spc="200" kern="0" dirty="0">
                <a:solidFill>
                  <a:srgbClr val="FFFFFF"/>
                </a:solidFill>
                <a:latin typeface="Arial" pitchFamily="34" charset="0"/>
                <a:ea typeface="Arial" pitchFamily="34" charset="-122"/>
                <a:cs typeface="Arial" pitchFamily="34" charset="-120"/>
              </a:defRPr>
            </a:lvl1pPr>
          </a:lstStyle>
          <a:p>
            <a:pPr algn="l" indent="0" marL="0">
              <a:buNone/>
            </a:pPr>
            <a:r>
              <a:rPr lang="en-US" sz="1300" b="1" spc="200" kern="0" dirty="0">
                <a:solidFill>
                  <a:srgbClr val="FFFFFF"/>
                </a:solidFill>
                <a:latin typeface="Arial" pitchFamily="34" charset="0"/>
                <a:ea typeface="Arial" pitchFamily="34" charset="-122"/>
                <a:cs typeface="Arial" pitchFamily="34" charset="-120"/>
              </a:rPr>
              <a:t>OPTION B</a:t>
            </a:r>
            <a:endParaRPr lang="en-US" sz="1300" dirty="0"/>
          </a:p>
        </p:txBody>
      </p:sp>
      <p:sp>
        <p:nvSpPr>
          <p:cNvPr id="11" name="Shape 3"/>
          <p:cNvSpPr/>
          <p:nvPr/>
        </p:nvSpPr>
        <p:spPr>
          <a:xfrm>
            <a:off x="6227064" y="2596896"/>
            <a:ext cx="5230368" cy="2980944"/>
          </a:xfrm>
          <a:prstGeom prst="rect">
            <a:avLst/>
          </a:prstGeom>
          <a:solidFill>
            <a:srgbClr val="F2F5F2"/>
          </a:solidFill>
          <a:ln/>
        </p:spPr>
      </p:sp>
      <p:sp>
        <p:nvSpPr>
          <p:cNvPr id="12" name="Text 4"/>
          <p:cNvSpPr txBox="1"/>
          <p:nvPr>
            <p:ph idx="110" type="body" hasCustomPrompt="1"/>
          </p:nvPr>
        </p:nvSpPr>
        <p:spPr>
          <a:xfrm>
            <a:off x="6483096" y="2834640"/>
            <a:ext cx="4718304" cy="2560320"/>
          </a:xfrm>
          <a:prstGeom prst="rect">
            <a:avLst/>
          </a:prstGeom>
          <a:noFill/>
          <a:ln/>
        </p:spPr>
        <p:txBody>
          <a:bodyPr wrap="square" rtlCol="0"/>
          <a:lstStyle>
            <a:lvl1pPr algn="l" indent="0" marL="0">
              <a:buNone/>
              <a:defRPr lang="en-US" sz="1450" dirty="0">
                <a:solidFill>
                  <a:srgbClr val="15181A"/>
                </a:solidFill>
                <a:latin typeface="Arial" pitchFamily="34" charset="0"/>
                <a:ea typeface="Arial" pitchFamily="34" charset="-122"/>
                <a:cs typeface="Arial" pitchFamily="34" charset="-120"/>
              </a:defRPr>
            </a:lvl1pPr>
          </a:lstStyle>
          <a:p>
            <a:pPr algn="l" indent="0" marL="0">
              <a:buNone/>
            </a:pPr>
            <a:r>
              <a:rPr lang="en-US" sz="1450" dirty="0">
                <a:solidFill>
                  <a:srgbClr val="15181A"/>
                </a:solidFill>
                <a:latin typeface="Arial" pitchFamily="34" charset="0"/>
                <a:ea typeface="Arial" pitchFamily="34" charset="-122"/>
                <a:cs typeface="Arial" pitchFamily="34" charset="-120"/>
              </a:rPr>
              <a:t>What it gets us, what it costs, what breaks.</a:t>
            </a:r>
            <a:endParaRPr lang="en-US" sz="1450" dirty="0"/>
          </a:p>
        </p:txBody>
      </p:sp>
      <p:sp>
        <p:nvSpPr>
          <p:cNvPr id="13" name="Text 4"/>
          <p:cNvSpPr txBox="1"/>
          <p:nvPr>
            <p:ph idx="111" type="body" hasCustomPrompt="1"/>
          </p:nvPr>
        </p:nvSpPr>
        <p:spPr>
          <a:xfrm>
            <a:off x="731520" y="5742432"/>
            <a:ext cx="10728655" cy="384048"/>
          </a:xfrm>
          <a:prstGeom prst="rect">
            <a:avLst/>
          </a:prstGeom>
          <a:noFill/>
          <a:ln/>
        </p:spPr>
        <p:txBody>
          <a:bodyPr wrap="square" rtlCol="0"/>
          <a:lstStyle>
            <a:lvl1pPr algn="l" indent="0" marL="0">
              <a:buNone/>
              <a:defRPr lang="en-US" sz="1500" b="1" dirty="0">
                <a:solidFill>
                  <a:srgbClr val="3C7D4D"/>
                </a:solidFill>
                <a:latin typeface="Arial" pitchFamily="34" charset="0"/>
                <a:ea typeface="Arial" pitchFamily="34" charset="-122"/>
                <a:cs typeface="Arial" pitchFamily="34" charset="-120"/>
              </a:defRPr>
            </a:lvl1pPr>
          </a:lstStyle>
          <a:p>
            <a:pPr algn="l" indent="0" marL="0">
              <a:buNone/>
            </a:pPr>
            <a:r>
              <a:rPr lang="en-US" sz="1500" b="1" dirty="0">
                <a:solidFill>
                  <a:srgbClr val="3C7D4D"/>
                </a:solidFill>
                <a:latin typeface="Arial" pitchFamily="34" charset="0"/>
                <a:ea typeface="Arial" pitchFamily="34" charset="-122"/>
                <a:cs typeface="Arial" pitchFamily="34" charset="-120"/>
              </a:rPr>
              <a:t>Recommendation: </a:t>
            </a:r>
            <a:endParaRPr lang="en-US" sz="1500" dirty="0"/>
          </a:p>
        </p:txBody>
      </p:sp>
      <p:sp>
        <p:nvSpPr>
          <p:cNvPr id="14" name="Text 4"/>
          <p:cNvSpPr txBox="1"/>
          <p:nvPr>
            <p:ph idx="112"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15"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1011</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MELI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Shape 0"/>
          <p:cNvSpPr/>
          <p:nvPr/>
        </p:nvSpPr>
        <p:spPr>
          <a:xfrm>
            <a:off x="1005840" y="2706624"/>
            <a:ext cx="10180015" cy="0"/>
          </a:xfrm>
          <a:prstGeom prst="line">
            <a:avLst/>
          </a:prstGeom>
          <a:noFill/>
          <a:ln w="25400">
            <a:solidFill>
              <a:srgbClr val="E2E6E3"/>
            </a:solidFill>
            <a:prstDash val="solid"/>
          </a:ln>
        </p:spPr>
      </p:sp>
      <p:sp>
        <p:nvSpPr>
          <p:cNvPr id="6" name="Shape 1"/>
          <p:cNvSpPr/>
          <p:nvPr/>
        </p:nvSpPr>
        <p:spPr>
          <a:xfrm>
            <a:off x="749808" y="2450592"/>
            <a:ext cx="512064" cy="512064"/>
          </a:xfrm>
          <a:prstGeom prst="rect">
            <a:avLst/>
          </a:prstGeom>
          <a:solidFill>
            <a:srgbClr val="3C7D4D"/>
          </a:solidFill>
          <a:ln/>
        </p:spPr>
      </p:sp>
      <p:sp>
        <p:nvSpPr>
          <p:cNvPr id="7" name="Text 2"/>
          <p:cNvSpPr txBox="1"/>
          <p:nvPr/>
        </p:nvSpPr>
        <p:spPr>
          <a:xfrm>
            <a:off x="749808" y="245059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8" name="Text 3"/>
          <p:cNvSpPr txBox="1"/>
          <p:nvPr>
            <p:ph idx="106" type="body" hasCustomPrompt="1"/>
          </p:nvPr>
        </p:nvSpPr>
        <p:spPr>
          <a:xfrm>
            <a:off x="731520" y="2121408"/>
            <a:ext cx="2624328" cy="274320"/>
          </a:xfrm>
          <a:prstGeom prst="rect">
            <a:avLst/>
          </a:prstGeom>
          <a:noFill/>
          <a:ln/>
        </p:spPr>
        <p:txBody>
          <a:bodyPr wrap="square" rtlCol="0"/>
          <a:lstStyle>
            <a:lvl1pPr algn="l" indent="0" marL="0">
              <a:buNone/>
              <a:defRPr lang="en-US" sz="1050" b="1" spc="180" kern="0" dirty="0">
                <a:solidFill>
                  <a:srgbClr val="5B6670"/>
                </a:solidFill>
                <a:latin typeface="Arial" pitchFamily="34" charset="0"/>
                <a:ea typeface="Arial" pitchFamily="34" charset="-122"/>
                <a:cs typeface="Arial" pitchFamily="34" charset="-120"/>
              </a:defRPr>
            </a:lvl1pPr>
          </a:lstStyle>
          <a:p>
            <a:pPr algn="l" indent="0" marL="0">
              <a:buNone/>
            </a:pPr>
            <a:r>
              <a:rPr lang="en-US" sz="1050" b="1" spc="180" kern="0" dirty="0">
                <a:solidFill>
                  <a:srgbClr val="5B6670"/>
                </a:solidFill>
                <a:latin typeface="Arial" pitchFamily="34" charset="0"/>
                <a:ea typeface="Arial" pitchFamily="34" charset="-122"/>
                <a:cs typeface="Arial" pitchFamily="34" charset="-120"/>
              </a:rPr>
              <a:t>PHASE</a:t>
            </a:r>
            <a:endParaRPr lang="en-US" sz="1050" dirty="0"/>
          </a:p>
        </p:txBody>
      </p:sp>
      <p:sp>
        <p:nvSpPr>
          <p:cNvPr id="9" name="Text 3"/>
          <p:cNvSpPr txBox="1"/>
          <p:nvPr>
            <p:ph idx="107" type="body" hasCustomPrompt="1"/>
          </p:nvPr>
        </p:nvSpPr>
        <p:spPr>
          <a:xfrm>
            <a:off x="731520" y="3145536"/>
            <a:ext cx="2487168" cy="548640"/>
          </a:xfrm>
          <a:prstGeom prst="rect">
            <a:avLst/>
          </a:prstGeom>
          <a:noFill/>
          <a:ln/>
        </p:spPr>
        <p:txBody>
          <a:bodyPr wrap="square" rtlCol="0"/>
          <a:lstStyle>
            <a:lvl1pPr algn="l" indent="0" marL="0">
              <a:buNone/>
              <a:defRPr lang="en-US" sz="16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600" b="1" spc="-30" kern="0" dirty="0">
                <a:solidFill>
                  <a:srgbClr val="15181A"/>
                </a:solidFill>
                <a:latin typeface="Arial" pitchFamily="34" charset="0"/>
                <a:ea typeface="Arial" pitchFamily="34" charset="-122"/>
                <a:cs typeface="Arial" pitchFamily="34" charset="-120"/>
              </a:rPr>
              <a:t>Milestone</a:t>
            </a:r>
            <a:endParaRPr lang="en-US" sz="1600" dirty="0"/>
          </a:p>
        </p:txBody>
      </p:sp>
      <p:sp>
        <p:nvSpPr>
          <p:cNvPr id="10" name="Text 3"/>
          <p:cNvSpPr txBox="1"/>
          <p:nvPr>
            <p:ph idx="108" type="body" hasCustomPrompt="1"/>
          </p:nvPr>
        </p:nvSpPr>
        <p:spPr>
          <a:xfrm>
            <a:off x="731520" y="3767328"/>
            <a:ext cx="2487168" cy="164592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What happens and who owns it.</a:t>
            </a:r>
            <a:endParaRPr lang="en-US" sz="1300" dirty="0"/>
          </a:p>
        </p:txBody>
      </p:sp>
      <p:sp>
        <p:nvSpPr>
          <p:cNvPr id="11" name="Shape 3"/>
          <p:cNvSpPr/>
          <p:nvPr/>
        </p:nvSpPr>
        <p:spPr>
          <a:xfrm>
            <a:off x="3639312" y="2450592"/>
            <a:ext cx="512064" cy="512064"/>
          </a:xfrm>
          <a:prstGeom prst="rect">
            <a:avLst/>
          </a:prstGeom>
          <a:solidFill>
            <a:srgbClr val="3C7D4D"/>
          </a:solidFill>
          <a:ln/>
        </p:spPr>
      </p:sp>
      <p:sp>
        <p:nvSpPr>
          <p:cNvPr id="12" name="Text 4"/>
          <p:cNvSpPr txBox="1"/>
          <p:nvPr/>
        </p:nvSpPr>
        <p:spPr>
          <a:xfrm>
            <a:off x="3639312" y="245059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Text 5"/>
          <p:cNvSpPr txBox="1"/>
          <p:nvPr>
            <p:ph idx="111" type="body" hasCustomPrompt="1"/>
          </p:nvPr>
        </p:nvSpPr>
        <p:spPr>
          <a:xfrm>
            <a:off x="3621024" y="2121408"/>
            <a:ext cx="2624328" cy="274320"/>
          </a:xfrm>
          <a:prstGeom prst="rect">
            <a:avLst/>
          </a:prstGeom>
          <a:noFill/>
          <a:ln/>
        </p:spPr>
        <p:txBody>
          <a:bodyPr wrap="square" rtlCol="0"/>
          <a:lstStyle>
            <a:lvl1pPr algn="l" indent="0" marL="0">
              <a:buNone/>
              <a:defRPr lang="en-US" sz="1050" b="1" spc="180" kern="0" dirty="0">
                <a:solidFill>
                  <a:srgbClr val="5B6670"/>
                </a:solidFill>
                <a:latin typeface="Arial" pitchFamily="34" charset="0"/>
                <a:ea typeface="Arial" pitchFamily="34" charset="-122"/>
                <a:cs typeface="Arial" pitchFamily="34" charset="-120"/>
              </a:defRPr>
            </a:lvl1pPr>
          </a:lstStyle>
          <a:p>
            <a:pPr algn="l" indent="0" marL="0">
              <a:buNone/>
            </a:pPr>
            <a:r>
              <a:rPr lang="en-US" sz="1050" b="1" spc="180" kern="0" dirty="0">
                <a:solidFill>
                  <a:srgbClr val="5B6670"/>
                </a:solidFill>
                <a:latin typeface="Arial" pitchFamily="34" charset="0"/>
                <a:ea typeface="Arial" pitchFamily="34" charset="-122"/>
                <a:cs typeface="Arial" pitchFamily="34" charset="-120"/>
              </a:rPr>
              <a:t>PHASE</a:t>
            </a:r>
            <a:endParaRPr lang="en-US" sz="1050" dirty="0"/>
          </a:p>
        </p:txBody>
      </p:sp>
      <p:sp>
        <p:nvSpPr>
          <p:cNvPr id="14" name="Text 5"/>
          <p:cNvSpPr txBox="1"/>
          <p:nvPr>
            <p:ph idx="112" type="body" hasCustomPrompt="1"/>
          </p:nvPr>
        </p:nvSpPr>
        <p:spPr>
          <a:xfrm>
            <a:off x="3621024" y="3145536"/>
            <a:ext cx="2487168" cy="548640"/>
          </a:xfrm>
          <a:prstGeom prst="rect">
            <a:avLst/>
          </a:prstGeom>
          <a:noFill/>
          <a:ln/>
        </p:spPr>
        <p:txBody>
          <a:bodyPr wrap="square" rtlCol="0"/>
          <a:lstStyle>
            <a:lvl1pPr algn="l" indent="0" marL="0">
              <a:buNone/>
              <a:defRPr lang="en-US" sz="16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600" b="1" spc="-30" kern="0" dirty="0">
                <a:solidFill>
                  <a:srgbClr val="15181A"/>
                </a:solidFill>
                <a:latin typeface="Arial" pitchFamily="34" charset="0"/>
                <a:ea typeface="Arial" pitchFamily="34" charset="-122"/>
                <a:cs typeface="Arial" pitchFamily="34" charset="-120"/>
              </a:rPr>
              <a:t>Milestone</a:t>
            </a:r>
            <a:endParaRPr lang="en-US" sz="1600" dirty="0"/>
          </a:p>
        </p:txBody>
      </p:sp>
      <p:sp>
        <p:nvSpPr>
          <p:cNvPr id="15" name="Text 5"/>
          <p:cNvSpPr txBox="1"/>
          <p:nvPr>
            <p:ph idx="113" type="body" hasCustomPrompt="1"/>
          </p:nvPr>
        </p:nvSpPr>
        <p:spPr>
          <a:xfrm>
            <a:off x="3621024" y="3767328"/>
            <a:ext cx="2487168" cy="164592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What happens and who owns it.</a:t>
            </a:r>
            <a:endParaRPr lang="en-US" sz="1300" dirty="0"/>
          </a:p>
        </p:txBody>
      </p:sp>
      <p:sp>
        <p:nvSpPr>
          <p:cNvPr id="16" name="Shape 5"/>
          <p:cNvSpPr/>
          <p:nvPr/>
        </p:nvSpPr>
        <p:spPr>
          <a:xfrm>
            <a:off x="6528816" y="2450592"/>
            <a:ext cx="512064" cy="512064"/>
          </a:xfrm>
          <a:prstGeom prst="rect">
            <a:avLst/>
          </a:prstGeom>
          <a:solidFill>
            <a:srgbClr val="3C7D4D"/>
          </a:solidFill>
          <a:ln/>
        </p:spPr>
      </p:sp>
      <p:sp>
        <p:nvSpPr>
          <p:cNvPr id="17" name="Text 6"/>
          <p:cNvSpPr txBox="1"/>
          <p:nvPr/>
        </p:nvSpPr>
        <p:spPr>
          <a:xfrm>
            <a:off x="6528816" y="245059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8" name="Text 7"/>
          <p:cNvSpPr txBox="1"/>
          <p:nvPr>
            <p:ph idx="116" type="body" hasCustomPrompt="1"/>
          </p:nvPr>
        </p:nvSpPr>
        <p:spPr>
          <a:xfrm>
            <a:off x="6510528" y="2121408"/>
            <a:ext cx="2624328" cy="274320"/>
          </a:xfrm>
          <a:prstGeom prst="rect">
            <a:avLst/>
          </a:prstGeom>
          <a:noFill/>
          <a:ln/>
        </p:spPr>
        <p:txBody>
          <a:bodyPr wrap="square" rtlCol="0"/>
          <a:lstStyle>
            <a:lvl1pPr algn="l" indent="0" marL="0">
              <a:buNone/>
              <a:defRPr lang="en-US" sz="1050" b="1" spc="180" kern="0" dirty="0">
                <a:solidFill>
                  <a:srgbClr val="5B6670"/>
                </a:solidFill>
                <a:latin typeface="Arial" pitchFamily="34" charset="0"/>
                <a:ea typeface="Arial" pitchFamily="34" charset="-122"/>
                <a:cs typeface="Arial" pitchFamily="34" charset="-120"/>
              </a:defRPr>
            </a:lvl1pPr>
          </a:lstStyle>
          <a:p>
            <a:pPr algn="l" indent="0" marL="0">
              <a:buNone/>
            </a:pPr>
            <a:r>
              <a:rPr lang="en-US" sz="1050" b="1" spc="180" kern="0" dirty="0">
                <a:solidFill>
                  <a:srgbClr val="5B6670"/>
                </a:solidFill>
                <a:latin typeface="Arial" pitchFamily="34" charset="0"/>
                <a:ea typeface="Arial" pitchFamily="34" charset="-122"/>
                <a:cs typeface="Arial" pitchFamily="34" charset="-120"/>
              </a:rPr>
              <a:t>PHASE</a:t>
            </a:r>
            <a:endParaRPr lang="en-US" sz="1050" dirty="0"/>
          </a:p>
        </p:txBody>
      </p:sp>
      <p:sp>
        <p:nvSpPr>
          <p:cNvPr id="19" name="Text 7"/>
          <p:cNvSpPr txBox="1"/>
          <p:nvPr>
            <p:ph idx="117" type="body" hasCustomPrompt="1"/>
          </p:nvPr>
        </p:nvSpPr>
        <p:spPr>
          <a:xfrm>
            <a:off x="6510528" y="3145536"/>
            <a:ext cx="2487168" cy="548640"/>
          </a:xfrm>
          <a:prstGeom prst="rect">
            <a:avLst/>
          </a:prstGeom>
          <a:noFill/>
          <a:ln/>
        </p:spPr>
        <p:txBody>
          <a:bodyPr wrap="square" rtlCol="0"/>
          <a:lstStyle>
            <a:lvl1pPr algn="l" indent="0" marL="0">
              <a:buNone/>
              <a:defRPr lang="en-US" sz="16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600" b="1" spc="-30" kern="0" dirty="0">
                <a:solidFill>
                  <a:srgbClr val="15181A"/>
                </a:solidFill>
                <a:latin typeface="Arial" pitchFamily="34" charset="0"/>
                <a:ea typeface="Arial" pitchFamily="34" charset="-122"/>
                <a:cs typeface="Arial" pitchFamily="34" charset="-120"/>
              </a:rPr>
              <a:t>Milestone</a:t>
            </a:r>
            <a:endParaRPr lang="en-US" sz="1600" dirty="0"/>
          </a:p>
        </p:txBody>
      </p:sp>
      <p:sp>
        <p:nvSpPr>
          <p:cNvPr id="20" name="Text 7"/>
          <p:cNvSpPr txBox="1"/>
          <p:nvPr>
            <p:ph idx="118" type="body" hasCustomPrompt="1"/>
          </p:nvPr>
        </p:nvSpPr>
        <p:spPr>
          <a:xfrm>
            <a:off x="6510528" y="3767328"/>
            <a:ext cx="2487168" cy="164592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What happens and who owns it.</a:t>
            </a:r>
            <a:endParaRPr lang="en-US" sz="1300" dirty="0"/>
          </a:p>
        </p:txBody>
      </p:sp>
      <p:sp>
        <p:nvSpPr>
          <p:cNvPr id="21" name="Shape 7"/>
          <p:cNvSpPr/>
          <p:nvPr/>
        </p:nvSpPr>
        <p:spPr>
          <a:xfrm>
            <a:off x="9418320" y="2450592"/>
            <a:ext cx="512064" cy="512064"/>
          </a:xfrm>
          <a:prstGeom prst="rect">
            <a:avLst/>
          </a:prstGeom>
          <a:solidFill>
            <a:srgbClr val="3C7D4D"/>
          </a:solidFill>
          <a:ln/>
        </p:spPr>
      </p:sp>
      <p:sp>
        <p:nvSpPr>
          <p:cNvPr id="22" name="Text 8"/>
          <p:cNvSpPr txBox="1"/>
          <p:nvPr/>
        </p:nvSpPr>
        <p:spPr>
          <a:xfrm>
            <a:off x="9418320" y="245059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3" name="Text 9"/>
          <p:cNvSpPr txBox="1"/>
          <p:nvPr>
            <p:ph idx="121" type="body" hasCustomPrompt="1"/>
          </p:nvPr>
        </p:nvSpPr>
        <p:spPr>
          <a:xfrm>
            <a:off x="9400032" y="2121408"/>
            <a:ext cx="2624328" cy="274320"/>
          </a:xfrm>
          <a:prstGeom prst="rect">
            <a:avLst/>
          </a:prstGeom>
          <a:noFill/>
          <a:ln/>
        </p:spPr>
        <p:txBody>
          <a:bodyPr wrap="square" rtlCol="0"/>
          <a:lstStyle>
            <a:lvl1pPr algn="l" indent="0" marL="0">
              <a:buNone/>
              <a:defRPr lang="en-US" sz="1050" b="1" spc="180" kern="0" dirty="0">
                <a:solidFill>
                  <a:srgbClr val="5B6670"/>
                </a:solidFill>
                <a:latin typeface="Arial" pitchFamily="34" charset="0"/>
                <a:ea typeface="Arial" pitchFamily="34" charset="-122"/>
                <a:cs typeface="Arial" pitchFamily="34" charset="-120"/>
              </a:defRPr>
            </a:lvl1pPr>
          </a:lstStyle>
          <a:p>
            <a:pPr algn="l" indent="0" marL="0">
              <a:buNone/>
            </a:pPr>
            <a:r>
              <a:rPr lang="en-US" sz="1050" b="1" spc="180" kern="0" dirty="0">
                <a:solidFill>
                  <a:srgbClr val="5B6670"/>
                </a:solidFill>
                <a:latin typeface="Arial" pitchFamily="34" charset="0"/>
                <a:ea typeface="Arial" pitchFamily="34" charset="-122"/>
                <a:cs typeface="Arial" pitchFamily="34" charset="-120"/>
              </a:rPr>
              <a:t>PHASE</a:t>
            </a:r>
            <a:endParaRPr lang="en-US" sz="1050" dirty="0"/>
          </a:p>
        </p:txBody>
      </p:sp>
      <p:sp>
        <p:nvSpPr>
          <p:cNvPr id="24" name="Text 9"/>
          <p:cNvSpPr txBox="1"/>
          <p:nvPr>
            <p:ph idx="122" type="body" hasCustomPrompt="1"/>
          </p:nvPr>
        </p:nvSpPr>
        <p:spPr>
          <a:xfrm>
            <a:off x="9400032" y="3145536"/>
            <a:ext cx="2487168" cy="548640"/>
          </a:xfrm>
          <a:prstGeom prst="rect">
            <a:avLst/>
          </a:prstGeom>
          <a:noFill/>
          <a:ln/>
        </p:spPr>
        <p:txBody>
          <a:bodyPr wrap="square" rtlCol="0"/>
          <a:lstStyle>
            <a:lvl1pPr algn="l" indent="0" marL="0">
              <a:buNone/>
              <a:defRPr lang="en-US" sz="16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600" b="1" spc="-30" kern="0" dirty="0">
                <a:solidFill>
                  <a:srgbClr val="15181A"/>
                </a:solidFill>
                <a:latin typeface="Arial" pitchFamily="34" charset="0"/>
                <a:ea typeface="Arial" pitchFamily="34" charset="-122"/>
                <a:cs typeface="Arial" pitchFamily="34" charset="-120"/>
              </a:rPr>
              <a:t>Milestone</a:t>
            </a:r>
            <a:endParaRPr lang="en-US" sz="1600" dirty="0"/>
          </a:p>
        </p:txBody>
      </p:sp>
      <p:sp>
        <p:nvSpPr>
          <p:cNvPr id="25" name="Text 9"/>
          <p:cNvSpPr txBox="1"/>
          <p:nvPr>
            <p:ph idx="123" type="body" hasCustomPrompt="1"/>
          </p:nvPr>
        </p:nvSpPr>
        <p:spPr>
          <a:xfrm>
            <a:off x="9400032" y="3767328"/>
            <a:ext cx="2487168" cy="164592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What happens and who owns it.</a:t>
            </a:r>
            <a:endParaRPr lang="en-US" sz="1300" dirty="0"/>
          </a:p>
        </p:txBody>
      </p:sp>
      <p:sp>
        <p:nvSpPr>
          <p:cNvPr id="26" name="Text 9"/>
          <p:cNvSpPr txBox="1"/>
          <p:nvPr>
            <p:ph idx="124"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27"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1012</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KEY_MESS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brand/logo_h_rev.png">    </p:cNvPr>
          <p:cNvPicPr>
            <a:picLocks noChangeAspect="1"/>
          </p:cNvPicPr>
          <p:nvPr/>
        </p:nvPicPr>
        <p:blipFill>
          <a:blip r:embed="rId1"/>
          <a:stretch>
            <a:fillRect/>
          </a:stretch>
        </p:blipFill>
        <p:spPr>
          <a:xfrm>
            <a:off x="10625328" y="6272784"/>
            <a:ext cx="1325880" cy="447932"/>
          </a:xfrm>
          <a:prstGeom prst="rect">
            <a:avLst/>
          </a:prstGeom>
        </p:spPr>
      </p:pic>
      <p:sp>
        <p:nvSpPr>
          <p:cNvPr id="3" name="Text 0"/>
          <p:cNvSpPr txBox="1"/>
          <p:nvPr>
            <p:ph idx="101" type="body" hasCustomPrompt="1"/>
          </p:nvPr>
        </p:nvSpPr>
        <p:spPr>
          <a:xfrm>
            <a:off x="1051560" y="2139696"/>
            <a:ext cx="8229600" cy="274320"/>
          </a:xfrm>
          <a:prstGeom prst="rect">
            <a:avLst/>
          </a:prstGeom>
          <a:noFill/>
          <a:ln/>
        </p:spPr>
        <p:txBody>
          <a:bodyPr wrap="square" rtlCol="0"/>
          <a:lstStyle>
            <a:lvl1pPr algn="l" indent="0" marL="0">
              <a:buNone/>
              <a:defRPr lang="en-US" sz="1100" b="1" spc="340" kern="0" dirty="0">
                <a:solidFill>
                  <a:srgbClr val="A9D9BF"/>
                </a:solidFill>
                <a:latin typeface="Arial" pitchFamily="34" charset="0"/>
                <a:ea typeface="Arial" pitchFamily="34" charset="-122"/>
                <a:cs typeface="Arial" pitchFamily="34" charset="-120"/>
              </a:defRPr>
            </a:lvl1pPr>
          </a:lstStyle>
          <a:p>
            <a:pPr algn="l" indent="0" marL="0">
              <a:buNone/>
            </a:pPr>
            <a:r>
              <a:rPr lang="en-US" sz="1100" b="1" spc="340" kern="0" dirty="0">
                <a:solidFill>
                  <a:srgbClr val="A9D9BF"/>
                </a:solidFill>
                <a:latin typeface="Arial" pitchFamily="34" charset="0"/>
                <a:ea typeface="Arial" pitchFamily="34" charset="-122"/>
                <a:cs typeface="Arial" pitchFamily="34" charset="-120"/>
              </a:rPr>
              <a:t>THE POINT</a:t>
            </a:r>
            <a:endParaRPr lang="en-US" sz="1100" dirty="0"/>
          </a:p>
        </p:txBody>
      </p:sp>
      <p:sp>
        <p:nvSpPr>
          <p:cNvPr id="4" name="Shape 0"/>
          <p:cNvSpPr/>
          <p:nvPr/>
        </p:nvSpPr>
        <p:spPr>
          <a:xfrm>
            <a:off x="1051560" y="2615184"/>
            <a:ext cx="777240" cy="50292"/>
          </a:xfrm>
          <a:prstGeom prst="rect">
            <a:avLst/>
          </a:prstGeom>
          <a:solidFill>
            <a:srgbClr val="F2A900"/>
          </a:solidFill>
          <a:ln/>
        </p:spPr>
      </p:sp>
      <p:sp>
        <p:nvSpPr>
          <p:cNvPr id="5" name="Text 1"/>
          <p:cNvSpPr txBox="1"/>
          <p:nvPr>
            <p:ph idx="103" type="title" hasCustomPrompt="1"/>
          </p:nvPr>
        </p:nvSpPr>
        <p:spPr>
          <a:xfrm>
            <a:off x="1051560" y="2944368"/>
            <a:ext cx="9966960" cy="1691640"/>
          </a:xfrm>
          <a:prstGeom prst="rect">
            <a:avLst/>
          </a:prstGeom>
          <a:noFill/>
          <a:ln/>
        </p:spPr>
        <p:txBody>
          <a:bodyPr wrap="square" rtlCol="0"/>
          <a:lstStyle>
            <a:lvl1pPr algn="l" indent="0" marL="0">
              <a:buNone/>
              <a:defRPr lang="en-US" sz="3600" b="1" spc="-70" kern="0" dirty="0">
                <a:solidFill>
                  <a:srgbClr val="FFFFFF"/>
                </a:solidFill>
                <a:latin typeface="Arial" pitchFamily="34" charset="0"/>
                <a:ea typeface="Arial" pitchFamily="34" charset="-122"/>
                <a:cs typeface="Arial" pitchFamily="34" charset="-120"/>
              </a:defRPr>
            </a:lvl1pPr>
          </a:lstStyle>
          <a:p>
            <a:pPr algn="l" indent="0" marL="0">
              <a:buNone/>
            </a:pPr>
            <a:r>
              <a:rPr lang="en-US" sz="3600" b="1" spc="-70" kern="0" dirty="0">
                <a:solidFill>
                  <a:srgbClr val="FFFFFF"/>
                </a:solidFill>
                <a:latin typeface="Arial" pitchFamily="34" charset="0"/>
                <a:ea typeface="Arial" pitchFamily="34" charset="-122"/>
                <a:cs typeface="Arial" pitchFamily="34" charset="-120"/>
              </a:rPr>
              <a:t>One sentence that carries the whole argument.</a:t>
            </a:r>
            <a:endParaRPr lang="en-US" sz="3600" dirty="0"/>
          </a:p>
        </p:txBody>
      </p:sp>
      <p:sp>
        <p:nvSpPr>
          <p:cNvPr id="6" name="Text 1"/>
          <p:cNvSpPr txBox="1"/>
          <p:nvPr>
            <p:ph idx="104" type="body" hasCustomPrompt="1"/>
          </p:nvPr>
        </p:nvSpPr>
        <p:spPr>
          <a:xfrm>
            <a:off x="1051560" y="4809744"/>
            <a:ext cx="8595360" cy="731520"/>
          </a:xfrm>
          <a:prstGeom prst="rect">
            <a:avLst/>
          </a:prstGeom>
          <a:noFill/>
          <a:ln/>
        </p:spPr>
        <p:txBody>
          <a:bodyPr wrap="square" rtlCol="0"/>
          <a:lstStyle>
            <a:lvl1pPr algn="l" indent="0" marL="0">
              <a:buNone/>
              <a:defRPr lang="en-US" sz="1500" dirty="0">
                <a:solidFill>
                  <a:srgbClr val="E4EFE8"/>
                </a:solidFill>
                <a:latin typeface="Arial" pitchFamily="34" charset="0"/>
                <a:ea typeface="Arial" pitchFamily="34" charset="-122"/>
                <a:cs typeface="Arial" pitchFamily="34" charset="-120"/>
              </a:defRPr>
            </a:lvl1pPr>
          </a:lstStyle>
          <a:p>
            <a:pPr algn="l" indent="0" marL="0">
              <a:buNone/>
            </a:pPr>
            <a:r>
              <a:rPr lang="en-US" sz="1500" dirty="0">
                <a:solidFill>
                  <a:srgbClr val="E4EFE8"/>
                </a:solidFill>
                <a:latin typeface="Arial" pitchFamily="34" charset="0"/>
                <a:ea typeface="Arial" pitchFamily="34" charset="-122"/>
                <a:cs typeface="Arial" pitchFamily="34" charset="-120"/>
              </a:rPr>
              <a:t>Short support, or the ask.</a:t>
            </a:r>
            <a:endParaRPr lang="en-US" sz="1500"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NEXT_STEP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Next steps</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What we need decided today.</a:t>
            </a:r>
            <a:endParaRPr lang="en-US" sz="1600" dirty="0"/>
          </a:p>
        </p:txBody>
      </p:sp>
      <p:sp>
        <p:nvSpPr>
          <p:cNvPr id="5" name="Text 0"/>
          <p:cNvSpPr/>
          <p:nvPr>
            <p:ph idx="103" type="body" hasCustomPrompt="1"/>
          </p:nvPr>
        </p:nvSpPr>
        <p:spPr>
          <a:xfrm>
            <a:off x="731520" y="2121408"/>
            <a:ext cx="10728655" cy="3913632"/>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 </a:t>
            </a:r>
            <a:endParaRPr lang="en-US" dirty="0"/>
          </a:p>
        </p:txBody>
      </p:sp>
      <p:sp>
        <p:nvSpPr>
          <p:cNvPr id="6" name="Text 0"/>
          <p:cNvSpPr txBox="1"/>
          <p:nvPr>
            <p:ph idx="104"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7"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1014</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brand/logo_h_rev.png">    </p:cNvPr>
          <p:cNvPicPr>
            <a:picLocks noChangeAspect="1"/>
          </p:cNvPicPr>
          <p:nvPr/>
        </p:nvPicPr>
        <p:blipFill>
          <a:blip r:embed="rId1"/>
          <a:stretch>
            <a:fillRect/>
          </a:stretch>
        </p:blipFill>
        <p:spPr>
          <a:xfrm>
            <a:off x="731520" y="694944"/>
            <a:ext cx="2377440" cy="803189"/>
          </a:xfrm>
          <a:prstGeom prst="rect">
            <a:avLst/>
          </a:prstGeom>
        </p:spPr>
      </p:pic>
      <p:sp>
        <p:nvSpPr>
          <p:cNvPr id="3" name="Shape 0"/>
          <p:cNvSpPr/>
          <p:nvPr/>
        </p:nvSpPr>
        <p:spPr>
          <a:xfrm>
            <a:off x="731520" y="3054096"/>
            <a:ext cx="777240" cy="50292"/>
          </a:xfrm>
          <a:prstGeom prst="rect">
            <a:avLst/>
          </a:prstGeom>
          <a:solidFill>
            <a:srgbClr val="F2A900"/>
          </a:solidFill>
          <a:ln/>
        </p:spPr>
      </p:sp>
      <p:sp>
        <p:nvSpPr>
          <p:cNvPr id="4" name="Text 1"/>
          <p:cNvSpPr txBox="1"/>
          <p:nvPr>
            <p:ph idx="102" type="title" hasCustomPrompt="1"/>
          </p:nvPr>
        </p:nvSpPr>
        <p:spPr>
          <a:xfrm>
            <a:off x="731520" y="3364992"/>
            <a:ext cx="6949440" cy="896112"/>
          </a:xfrm>
          <a:prstGeom prst="rect">
            <a:avLst/>
          </a:prstGeom>
          <a:noFill/>
          <a:ln/>
        </p:spPr>
        <p:txBody>
          <a:bodyPr wrap="square" rtlCol="0"/>
          <a:lstStyle>
            <a:lvl1pPr algn="l" indent="0" marL="0">
              <a:buNone/>
              <a:defRPr lang="en-US" sz="3600" b="1" spc="-70" kern="0" dirty="0">
                <a:solidFill>
                  <a:srgbClr val="FFFFFF"/>
                </a:solidFill>
                <a:latin typeface="Arial" pitchFamily="34" charset="0"/>
                <a:ea typeface="Arial" pitchFamily="34" charset="-122"/>
                <a:cs typeface="Arial" pitchFamily="34" charset="-120"/>
              </a:defRPr>
            </a:lvl1pPr>
          </a:lstStyle>
          <a:p>
            <a:pPr algn="l" indent="0" marL="0">
              <a:buNone/>
            </a:pPr>
            <a:r>
              <a:rPr lang="en-US" sz="3600" b="1" spc="-70" kern="0" dirty="0">
                <a:solidFill>
                  <a:srgbClr val="FFFFFF"/>
                </a:solidFill>
                <a:latin typeface="Arial" pitchFamily="34" charset="0"/>
                <a:ea typeface="Arial" pitchFamily="34" charset="-122"/>
                <a:cs typeface="Arial" pitchFamily="34" charset="-120"/>
              </a:rPr>
              <a:t>What we decided</a:t>
            </a:r>
            <a:endParaRPr lang="en-US" sz="3600" dirty="0"/>
          </a:p>
        </p:txBody>
      </p:sp>
      <p:sp>
        <p:nvSpPr>
          <p:cNvPr id="5" name="Text 1"/>
          <p:cNvSpPr txBox="1"/>
          <p:nvPr>
            <p:ph idx="103" type="body" hasCustomPrompt="1"/>
          </p:nvPr>
        </p:nvSpPr>
        <p:spPr>
          <a:xfrm>
            <a:off x="731520" y="4334256"/>
            <a:ext cx="6949440" cy="1188720"/>
          </a:xfrm>
          <a:prstGeom prst="rect">
            <a:avLst/>
          </a:prstGeom>
          <a:noFill/>
          <a:ln/>
        </p:spPr>
        <p:txBody>
          <a:bodyPr wrap="square" rtlCol="0"/>
          <a:lstStyle>
            <a:lvl1pPr algn="l" indent="0" marL="0">
              <a:buNone/>
              <a:defRPr lang="en-US" sz="1500" dirty="0">
                <a:solidFill>
                  <a:srgbClr val="E4EFE8"/>
                </a:solidFill>
                <a:latin typeface="Arial" pitchFamily="34" charset="0"/>
                <a:ea typeface="Arial" pitchFamily="34" charset="-122"/>
                <a:cs typeface="Arial" pitchFamily="34" charset="-120"/>
              </a:defRPr>
            </a:lvl1pPr>
          </a:lstStyle>
          <a:p>
            <a:pPr algn="l" indent="0" marL="0">
              <a:buNone/>
            </a:pPr>
            <a:r>
              <a:rPr lang="en-US" sz="1500" dirty="0">
                <a:solidFill>
                  <a:srgbClr val="E4EFE8"/>
                </a:solidFill>
                <a:latin typeface="Arial" pitchFamily="34" charset="0"/>
                <a:ea typeface="Arial" pitchFamily="34" charset="-122"/>
                <a:cs typeface="Arial" pitchFamily="34" charset="-120"/>
              </a:rPr>
              <a:t>Decision, owner, and date.</a:t>
            </a:r>
            <a:endParaRPr lang="en-US" sz="1500" dirty="0"/>
          </a:p>
        </p:txBody>
      </p:sp>
      <p:sp>
        <p:nvSpPr>
          <p:cNvPr id="6" name="Text 1"/>
          <p:cNvSpPr txBox="1"/>
          <p:nvPr>
            <p:ph idx="104" type="body" hasCustomPrompt="1"/>
          </p:nvPr>
        </p:nvSpPr>
        <p:spPr>
          <a:xfrm>
            <a:off x="731520" y="5961888"/>
            <a:ext cx="6949440" cy="310896"/>
          </a:xfrm>
          <a:prstGeom prst="rect">
            <a:avLst/>
          </a:prstGeom>
          <a:noFill/>
          <a:ln/>
        </p:spPr>
        <p:txBody>
          <a:bodyPr wrap="square" rtlCol="0"/>
          <a:lstStyle>
            <a:lvl1pPr algn="l" indent="0" marL="0">
              <a:buNone/>
              <a:defRPr lang="en-US" sz="1150" spc="80" kern="0" dirty="0">
                <a:solidFill>
                  <a:srgbClr val="C3DACB"/>
                </a:solidFill>
                <a:latin typeface="Arial" pitchFamily="34" charset="0"/>
                <a:ea typeface="Arial" pitchFamily="34" charset="-122"/>
                <a:cs typeface="Arial" pitchFamily="34" charset="-120"/>
              </a:defRPr>
            </a:lvl1pPr>
          </a:lstStyle>
          <a:p>
            <a:pPr algn="l" indent="0" marL="0">
              <a:buNone/>
            </a:pPr>
            <a:r>
              <a:rPr lang="en-US" sz="1150" spc="80" kern="0" dirty="0">
                <a:solidFill>
                  <a:srgbClr val="C3DACB"/>
                </a:solidFill>
                <a:latin typeface="Arial" pitchFamily="34" charset="0"/>
                <a:ea typeface="Arial" pitchFamily="34" charset="-122"/>
                <a:cs typeface="Arial" pitchFamily="34" charset="-120"/>
              </a:rPr>
              <a:t>Name  |  Title  |  email@steelking.com</a:t>
            </a:r>
            <a:endParaRPr lang="en-US" sz="1150"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VER_MASCO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brand/logo_knight.png">    </p:cNvPr>
          <p:cNvPicPr>
            <a:picLocks noChangeAspect="1"/>
          </p:cNvPicPr>
          <p:nvPr/>
        </p:nvPicPr>
        <p:blipFill>
          <a:blip r:embed="rId1"/>
          <a:stretch>
            <a:fillRect/>
          </a:stretch>
        </p:blipFill>
        <p:spPr>
          <a:xfrm>
            <a:off x="7863840" y="1481328"/>
            <a:ext cx="3658880" cy="5212080"/>
          </a:xfrm>
          <a:prstGeom prst="rect">
            <a:avLst/>
          </a:prstGeom>
        </p:spPr>
      </p:pic>
      <p:pic>
        <p:nvPicPr>
          <p:cNvPr id="3" name="Image 1" descr="brand/logo_h_rev.png">    </p:cNvPr>
          <p:cNvPicPr>
            <a:picLocks noChangeAspect="1"/>
          </p:cNvPicPr>
          <p:nvPr/>
        </p:nvPicPr>
        <p:blipFill>
          <a:blip r:embed="rId2"/>
          <a:stretch>
            <a:fillRect/>
          </a:stretch>
        </p:blipFill>
        <p:spPr>
          <a:xfrm>
            <a:off x="731520" y="658368"/>
            <a:ext cx="2377440" cy="803189"/>
          </a:xfrm>
          <a:prstGeom prst="rect">
            <a:avLst/>
          </a:prstGeom>
        </p:spPr>
      </p:pic>
      <p:sp>
        <p:nvSpPr>
          <p:cNvPr id="4" name="Text 0"/>
          <p:cNvSpPr txBox="1"/>
          <p:nvPr>
            <p:ph idx="102" type="body" hasCustomPrompt="1"/>
          </p:nvPr>
        </p:nvSpPr>
        <p:spPr>
          <a:xfrm>
            <a:off x="731520" y="2395728"/>
            <a:ext cx="6583680" cy="274320"/>
          </a:xfrm>
          <a:prstGeom prst="rect">
            <a:avLst/>
          </a:prstGeom>
          <a:noFill/>
          <a:ln/>
        </p:spPr>
        <p:txBody>
          <a:bodyPr wrap="square" rtlCol="0"/>
          <a:lstStyle>
            <a:lvl1pPr algn="l" indent="0" marL="0">
              <a:buNone/>
              <a:defRPr lang="en-US" sz="1100" b="1" spc="340" kern="0" dirty="0">
                <a:solidFill>
                  <a:srgbClr val="A9D9BF"/>
                </a:solidFill>
                <a:latin typeface="Arial" pitchFamily="34" charset="0"/>
                <a:ea typeface="Arial" pitchFamily="34" charset="-122"/>
                <a:cs typeface="Arial" pitchFamily="34" charset="-120"/>
              </a:defRPr>
            </a:lvl1pPr>
          </a:lstStyle>
          <a:p>
            <a:pPr algn="l" indent="0" marL="0">
              <a:buNone/>
            </a:pPr>
            <a:r>
              <a:rPr lang="en-US" sz="1100" b="1" spc="340" kern="0" dirty="0">
                <a:solidFill>
                  <a:srgbClr val="A9D9BF"/>
                </a:solidFill>
                <a:latin typeface="Arial" pitchFamily="34" charset="0"/>
                <a:ea typeface="Arial" pitchFamily="34" charset="-122"/>
                <a:cs typeface="Arial" pitchFamily="34" charset="-120"/>
              </a:rPr>
              <a:t>DEALER MEETING</a:t>
            </a:r>
            <a:endParaRPr lang="en-US" sz="1100" dirty="0"/>
          </a:p>
        </p:txBody>
      </p:sp>
      <p:sp>
        <p:nvSpPr>
          <p:cNvPr id="5" name="Shape 0"/>
          <p:cNvSpPr/>
          <p:nvPr/>
        </p:nvSpPr>
        <p:spPr>
          <a:xfrm>
            <a:off x="731520" y="2871216"/>
            <a:ext cx="777240" cy="50292"/>
          </a:xfrm>
          <a:prstGeom prst="rect">
            <a:avLst/>
          </a:prstGeom>
          <a:solidFill>
            <a:srgbClr val="F2A900"/>
          </a:solidFill>
          <a:ln/>
        </p:spPr>
      </p:sp>
      <p:sp>
        <p:nvSpPr>
          <p:cNvPr id="6" name="Text 1"/>
          <p:cNvSpPr txBox="1"/>
          <p:nvPr>
            <p:ph idx="104" type="title" hasCustomPrompt="1"/>
          </p:nvPr>
        </p:nvSpPr>
        <p:spPr>
          <a:xfrm>
            <a:off x="731520" y="3200400"/>
            <a:ext cx="6583680" cy="1627632"/>
          </a:xfrm>
          <a:prstGeom prst="rect">
            <a:avLst/>
          </a:prstGeom>
          <a:noFill/>
          <a:ln/>
        </p:spPr>
        <p:txBody>
          <a:bodyPr wrap="square" rtlCol="0"/>
          <a:lstStyle>
            <a:lvl1pPr algn="l" indent="0" marL="0">
              <a:buNone/>
              <a:defRPr lang="en-US" sz="4400" b="1" spc="-100" kern="0" dirty="0">
                <a:solidFill>
                  <a:srgbClr val="FFFFFF"/>
                </a:solidFill>
                <a:latin typeface="Arial" pitchFamily="34" charset="0"/>
                <a:ea typeface="Arial" pitchFamily="34" charset="-122"/>
                <a:cs typeface="Arial" pitchFamily="34" charset="-120"/>
              </a:defRPr>
            </a:lvl1pPr>
          </a:lstStyle>
          <a:p>
            <a:pPr algn="l" indent="0" marL="0">
              <a:buNone/>
            </a:pPr>
            <a:r>
              <a:rPr lang="en-US" sz="4400" b="1" spc="-100" kern="0" dirty="0">
                <a:solidFill>
                  <a:srgbClr val="FFFFFF"/>
                </a:solidFill>
                <a:latin typeface="Arial" pitchFamily="34" charset="0"/>
                <a:ea typeface="Arial" pitchFamily="34" charset="-122"/>
                <a:cs typeface="Arial" pitchFamily="34" charset="-120"/>
              </a:rPr>
              <a:t>Presentation title</a:t>
            </a:r>
            <a:endParaRPr lang="en-US" sz="4400" dirty="0"/>
          </a:p>
        </p:txBody>
      </p:sp>
      <p:sp>
        <p:nvSpPr>
          <p:cNvPr id="7" name="Text 1"/>
          <p:cNvSpPr txBox="1"/>
          <p:nvPr>
            <p:ph idx="105" type="body" hasCustomPrompt="1"/>
          </p:nvPr>
        </p:nvSpPr>
        <p:spPr>
          <a:xfrm>
            <a:off x="731520" y="4956048"/>
            <a:ext cx="6583680" cy="502920"/>
          </a:xfrm>
          <a:prstGeom prst="rect">
            <a:avLst/>
          </a:prstGeom>
          <a:noFill/>
          <a:ln/>
        </p:spPr>
        <p:txBody>
          <a:bodyPr wrap="square" rtlCol="0"/>
          <a:lstStyle>
            <a:lvl1pPr algn="l" indent="0" marL="0">
              <a:buNone/>
              <a:defRPr lang="en-US" sz="1700" dirty="0">
                <a:solidFill>
                  <a:srgbClr val="E4EFE8"/>
                </a:solidFill>
                <a:latin typeface="Arial" pitchFamily="34" charset="0"/>
                <a:ea typeface="Arial" pitchFamily="34" charset="-122"/>
                <a:cs typeface="Arial" pitchFamily="34" charset="-120"/>
              </a:defRPr>
            </a:lvl1pPr>
          </a:lstStyle>
          <a:p>
            <a:pPr algn="l" indent="0" marL="0">
              <a:buNone/>
            </a:pPr>
            <a:r>
              <a:rPr lang="en-US" sz="1700" dirty="0">
                <a:solidFill>
                  <a:srgbClr val="E4EFE8"/>
                </a:solidFill>
                <a:latin typeface="Arial" pitchFamily="34" charset="0"/>
                <a:ea typeface="Arial" pitchFamily="34" charset="-122"/>
                <a:cs typeface="Arial" pitchFamily="34" charset="-120"/>
              </a:rPr>
              <a:t>One line on what this deck argues</a:t>
            </a:r>
            <a:endParaRPr lang="en-US" sz="1700" dirty="0"/>
          </a:p>
        </p:txBody>
      </p:sp>
      <p:sp>
        <p:nvSpPr>
          <p:cNvPr id="8" name="Text 1"/>
          <p:cNvSpPr txBox="1"/>
          <p:nvPr>
            <p:ph idx="106" type="body" hasCustomPrompt="1"/>
          </p:nvPr>
        </p:nvSpPr>
        <p:spPr>
          <a:xfrm>
            <a:off x="731520" y="5998464"/>
            <a:ext cx="6583680" cy="310896"/>
          </a:xfrm>
          <a:prstGeom prst="rect">
            <a:avLst/>
          </a:prstGeom>
          <a:noFill/>
          <a:ln/>
        </p:spPr>
        <p:txBody>
          <a:bodyPr wrap="square" rtlCol="0"/>
          <a:lstStyle>
            <a:lvl1pPr algn="l" indent="0" marL="0">
              <a:buNone/>
              <a:defRPr lang="en-US" sz="1150" spc="80" kern="0" dirty="0">
                <a:solidFill>
                  <a:srgbClr val="C3DACB"/>
                </a:solidFill>
                <a:latin typeface="Arial" pitchFamily="34" charset="0"/>
                <a:ea typeface="Arial" pitchFamily="34" charset="-122"/>
                <a:cs typeface="Arial" pitchFamily="34" charset="-120"/>
              </a:defRPr>
            </a:lvl1pPr>
          </a:lstStyle>
          <a:p>
            <a:pPr algn="l" indent="0" marL="0">
              <a:buNone/>
            </a:pPr>
            <a:r>
              <a:rPr lang="en-US" sz="1150" spc="80" kern="0" dirty="0">
                <a:solidFill>
                  <a:srgbClr val="C3DACB"/>
                </a:solidFill>
                <a:latin typeface="Arial" pitchFamily="34" charset="0"/>
                <a:ea typeface="Arial" pitchFamily="34" charset="-122"/>
                <a:cs typeface="Arial" pitchFamily="34" charset="-120"/>
              </a:rPr>
              <a:t>Presenter  |  Audience  |  Month Year</a:t>
            </a:r>
            <a:endParaRPr lang="en-US" sz="115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t>SALES MEETING  ·  TERRITORY REVIEW</a:t>
            </a:r>
          </a:p>
        </p:txBody>
      </p:sp>
      <p:sp>
        <p:nvSpPr>
          <p:cNvPr id="3" name="Title 2"/>
          <p:cNvSpPr>
            <a:spLocks noGrp="1"/>
          </p:cNvSpPr>
          <p:nvPr>
            <p:ph type="title" idx="104"/>
          </p:nvPr>
        </p:nvSpPr>
        <p:spPr/>
        <p:txBody>
          <a:bodyPr/>
          <a:lstStyle/>
          <a:p>
            <a:r>
              <a:t>The market</a:t>
            </a:r>
          </a:p>
        </p:txBody>
      </p:sp>
      <p:sp>
        <p:nvSpPr>
          <p:cNvPr id="4" name="Text Placeholder 3"/>
          <p:cNvSpPr>
            <a:spLocks noGrp="1"/>
          </p:cNvSpPr>
          <p:nvPr>
            <p:ph type="body" idx="105"/>
          </p:nvPr>
        </p:nvSpPr>
        <p:spPr/>
        <p:txBody>
          <a:bodyPr/>
          <a:lstStyle/>
          <a:p>
            <a:r>
              <a:t>The market the way I see it. Who matters, where we win, where we lose, where to focus.</a:t>
            </a:r>
          </a:p>
        </p:txBody>
      </p:sp>
      <p:sp>
        <p:nvSpPr>
          <p:cNvPr id="5" name="Text Placeholder 4"/>
          <p:cNvSpPr>
            <a:spLocks noGrp="1"/>
          </p:cNvSpPr>
          <p:nvPr>
            <p:ph type="body" idx="106"/>
          </p:nvPr>
        </p:nvSpPr>
        <p:spPr/>
        <p:txBody>
          <a:bodyPr/>
          <a:lstStyle/>
          <a:p>
            <a:r>
              <a:t>Mac  |  Sales Meeting  |  [Month]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TERRITORY REVIEW  ·  1 OF 6  ·  BY THE NUMBERS</a:t>
            </a:r>
          </a:p>
        </p:txBody>
      </p:sp>
      <p:sp>
        <p:nvSpPr>
          <p:cNvPr id="3" name="Title 2"/>
          <p:cNvSpPr>
            <a:spLocks noGrp="1"/>
          </p:cNvSpPr>
          <p:nvPr>
            <p:ph type="title" idx="101"/>
          </p:nvPr>
        </p:nvSpPr>
        <p:spPr/>
        <p:txBody>
          <a:bodyPr/>
          <a:lstStyle/>
          <a:p>
            <a:r>
              <a:t>The market in numbers</a:t>
            </a:r>
          </a:p>
        </p:txBody>
      </p:sp>
      <p:sp>
        <p:nvSpPr>
          <p:cNvPr id="4" name="Text Placeholder 3"/>
          <p:cNvSpPr>
            <a:spLocks noGrp="1"/>
          </p:cNvSpPr>
          <p:nvPr>
            <p:ph type="body" idx="102"/>
          </p:nvPr>
        </p:nvSpPr>
        <p:spPr/>
        <p:txBody>
          <a:bodyPr/>
          <a:lstStyle/>
          <a:p>
            <a:r>
              <a:t>[One line on what the numbers say. The story starts here.]</a:t>
            </a:r>
          </a:p>
        </p:txBody>
      </p:sp>
      <p:sp>
        <p:nvSpPr>
          <p:cNvPr id="6" name="Text Placeholder 5"/>
          <p:cNvSpPr>
            <a:spLocks noGrp="1"/>
          </p:cNvSpPr>
          <p:nvPr>
            <p:ph type="body" idx="104"/>
          </p:nvPr>
        </p:nvSpPr>
        <p:spPr/>
        <p:txBody>
          <a:bodyPr/>
          <a:lstStyle/>
          <a:p>
            <a:r>
              <a:t>Source: bookings and quotes from [system], pulled [date]. Pre-filled by Nate.</a:t>
            </a:r>
          </a:p>
        </p:txBody>
      </p:sp>
      <p:sp>
        <p:nvSpPr>
          <p:cNvPr id="7" name="TextBox 6"/>
          <p:cNvSpPr txBox="1"/>
          <p:nvPr/>
        </p:nvSpPr>
        <p:spPr>
          <a:xfrm>
            <a:off x="731520" y="2121408"/>
            <a:ext cx="5120640" cy="237744"/>
          </a:xfrm>
          <a:prstGeom prst="rect">
            <a:avLst/>
          </a:prstGeom>
          <a:noFill/>
        </p:spPr>
        <p:txBody>
          <a:bodyPr wrap="square" anchor="t" lIns="0" rIns="0" tIns="0" bIns="0">
            <a:noAutofit/>
          </a:bodyPr>
          <a:lstStyle/>
          <a:p>
            <a:r>
              <a:rPr sz="1100" b="1">
                <a:solidFill>
                  <a:srgbClr val="3C7D4D"/>
                </a:solidFill>
                <a:latin typeface="Arial"/>
              </a:rPr>
              <a:t>BOOKINGS AND QUOTES BY QUARTER ($K)  ·  PRE-FILLED</a:t>
            </a:r>
          </a:p>
        </p:txBody>
      </p:sp>
      <p:graphicFrame>
        <p:nvGraphicFramePr>
          <p:cNvPr id="8" name="Chart 7"/>
          <p:cNvGraphicFramePr>
            <a:graphicFrameLocks noGrp="1"/>
          </p:cNvGraphicFramePr>
          <p:nvPr/>
        </p:nvGraphicFramePr>
        <p:xfrm>
          <a:off x="731520" y="2377440"/>
          <a:ext cx="5120640" cy="1828800"/>
        </p:xfrm>
        <a:graphic>
          <a:graphicData uri="http://schemas.openxmlformats.org/drawingml/2006/chart">
            <c:chart xmlns:c="http://schemas.openxmlformats.org/drawingml/2006/chart" r:id="rId2"/>
          </a:graphicData>
        </a:graphic>
      </p:graphicFrame>
      <p:sp>
        <p:nvSpPr>
          <p:cNvPr id="9" name="TextBox 8"/>
          <p:cNvSpPr txBox="1"/>
          <p:nvPr/>
        </p:nvSpPr>
        <p:spPr>
          <a:xfrm>
            <a:off x="731520" y="4315968"/>
            <a:ext cx="5120640" cy="237744"/>
          </a:xfrm>
          <a:prstGeom prst="rect">
            <a:avLst/>
          </a:prstGeom>
          <a:noFill/>
        </p:spPr>
        <p:txBody>
          <a:bodyPr wrap="square" anchor="t" lIns="0" rIns="0" tIns="0" bIns="0">
            <a:noAutofit/>
          </a:bodyPr>
          <a:lstStyle/>
          <a:p>
            <a:r>
              <a:rPr sz="1100" b="1">
                <a:solidFill>
                  <a:srgbClr val="3C7D4D"/>
                </a:solidFill>
                <a:latin typeface="Arial"/>
              </a:rPr>
              <a:t>WHAT THE NUMBERS DON'T SHOW  ·  YOU FILL THIS IN</a:t>
            </a:r>
          </a:p>
        </p:txBody>
      </p:sp>
      <p:sp>
        <p:nvSpPr>
          <p:cNvPr id="10" name="TextBox 9"/>
          <p:cNvSpPr txBox="1"/>
          <p:nvPr/>
        </p:nvSpPr>
        <p:spPr>
          <a:xfrm>
            <a:off x="731520" y="4572000"/>
            <a:ext cx="5120640" cy="1463040"/>
          </a:xfrm>
          <a:prstGeom prst="rect">
            <a:avLst/>
          </a:prstGeom>
          <a:solidFill>
            <a:srgbClr val="F2F5F2"/>
          </a:solidFill>
        </p:spPr>
        <p:txBody>
          <a:bodyPr wrap="square" anchor="t" tIns="54864" bIns="54864">
            <a:noAutofit/>
          </a:bodyPr>
          <a:lstStyle/>
          <a:p>
            <a:r>
              <a:rPr sz="1200" b="0">
                <a:solidFill>
                  <a:srgbClr val="5B6670"/>
                </a:solidFill>
                <a:latin typeface="Arial"/>
              </a:rPr>
              <a:t>[Two or three sentences. What is happening in the territory that bookings and quotes don't capture. A dealer in transition, a job that slipped a quarter, a competitor that showed up, a plant issue that cost you.]</a:t>
            </a:r>
          </a:p>
        </p:txBody>
      </p:sp>
      <p:sp>
        <p:nvSpPr>
          <p:cNvPr id="11" name="TextBox 10"/>
          <p:cNvSpPr txBox="1"/>
          <p:nvPr/>
        </p:nvSpPr>
        <p:spPr>
          <a:xfrm>
            <a:off x="6519672" y="2121408"/>
            <a:ext cx="4937760" cy="237744"/>
          </a:xfrm>
          <a:prstGeom prst="rect">
            <a:avLst/>
          </a:prstGeom>
          <a:noFill/>
        </p:spPr>
        <p:txBody>
          <a:bodyPr wrap="square" anchor="t" lIns="0" rIns="0" tIns="0" bIns="0">
            <a:noAutofit/>
          </a:bodyPr>
          <a:lstStyle/>
          <a:p>
            <a:r>
              <a:rPr sz="1100" b="1">
                <a:solidFill>
                  <a:srgbClr val="3C7D4D"/>
                </a:solidFill>
                <a:latin typeface="Arial"/>
              </a:rPr>
              <a:t>TOP ACCOUNTS, YTD BOOKINGS  ·  PRE-FILLED</a:t>
            </a:r>
          </a:p>
        </p:txBody>
      </p:sp>
      <p:graphicFrame>
        <p:nvGraphicFramePr>
          <p:cNvPr id="12" name="Table 11"/>
          <p:cNvGraphicFramePr>
            <a:graphicFrameLocks noGrp="1"/>
          </p:cNvGraphicFramePr>
          <p:nvPr/>
        </p:nvGraphicFramePr>
        <p:xfrm>
          <a:off x="6519672" y="2377440"/>
          <a:ext cx="4937760" cy="1591056"/>
        </p:xfrm>
        <a:graphic>
          <a:graphicData uri="http://schemas.openxmlformats.org/drawingml/2006/table">
            <a:tbl>
              <a:tblPr firstRow="0" bandRow="0"/>
              <a:tblGrid>
                <a:gridCol w="3108960"/>
                <a:gridCol w="1828800"/>
              </a:tblGrid>
              <a:tr h="265176">
                <a:tc>
                  <a:txBody>
                    <a:bodyPr/>
                    <a:lstStyle/>
                    <a:p>
                      <a:r>
                        <a:rPr sz="1000" b="1">
                          <a:solidFill>
                            <a:srgbClr val="FFFFFF"/>
                          </a:solidFill>
                          <a:latin typeface="Arial"/>
                        </a:rPr>
                        <a:t>Account</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YTD bookings</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r>
              <a:tr h="265176">
                <a:tc>
                  <a:txBody>
                    <a:bodyPr/>
                    <a:lstStyle/>
                    <a:p>
                      <a:r>
                        <a:rPr sz="1000" b="1">
                          <a:solidFill>
                            <a:srgbClr val="15181A"/>
                          </a:solidFill>
                          <a:latin typeface="Arial"/>
                        </a:rPr>
                        <a:t>1.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65176">
                <a:tc>
                  <a:txBody>
                    <a:bodyPr/>
                    <a:lstStyle/>
                    <a:p>
                      <a:r>
                        <a:rPr sz="1000" b="1">
                          <a:solidFill>
                            <a:srgbClr val="15181A"/>
                          </a:solidFill>
                          <a:latin typeface="Arial"/>
                        </a:rPr>
                        <a:t>2.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65176">
                <a:tc>
                  <a:txBody>
                    <a:bodyPr/>
                    <a:lstStyle/>
                    <a:p>
                      <a:r>
                        <a:rPr sz="1000" b="1">
                          <a:solidFill>
                            <a:srgbClr val="15181A"/>
                          </a:solidFill>
                          <a:latin typeface="Arial"/>
                        </a:rPr>
                        <a:t>3.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65176">
                <a:tc>
                  <a:txBody>
                    <a:bodyPr/>
                    <a:lstStyle/>
                    <a:p>
                      <a:r>
                        <a:rPr sz="1000" b="1">
                          <a:solidFill>
                            <a:srgbClr val="15181A"/>
                          </a:solidFill>
                          <a:latin typeface="Arial"/>
                        </a:rPr>
                        <a:t>4.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65176">
                <a:tc>
                  <a:txBody>
                    <a:bodyPr/>
                    <a:lstStyle/>
                    <a:p>
                      <a:r>
                        <a:rPr sz="1000" b="1">
                          <a:solidFill>
                            <a:srgbClr val="15181A"/>
                          </a:solidFill>
                          <a:latin typeface="Arial"/>
                        </a:rPr>
                        <a:t>5.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bl>
          </a:graphicData>
        </a:graphic>
      </p:graphicFrame>
      <p:sp>
        <p:nvSpPr>
          <p:cNvPr id="13" name="TextBox 12"/>
          <p:cNvSpPr txBox="1"/>
          <p:nvPr/>
        </p:nvSpPr>
        <p:spPr>
          <a:xfrm>
            <a:off x="6519672" y="4096512"/>
            <a:ext cx="4937760" cy="237744"/>
          </a:xfrm>
          <a:prstGeom prst="rect">
            <a:avLst/>
          </a:prstGeom>
          <a:noFill/>
        </p:spPr>
        <p:txBody>
          <a:bodyPr wrap="square" anchor="t" lIns="0" rIns="0" tIns="0" bIns="0">
            <a:noAutofit/>
          </a:bodyPr>
          <a:lstStyle/>
          <a:p>
            <a:r>
              <a:rPr sz="1100" b="1">
                <a:solidFill>
                  <a:srgbClr val="3C7D4D"/>
                </a:solidFill>
                <a:latin typeface="Arial"/>
              </a:rPr>
              <a:t>EXCALIBUR DEALERS, YTD BOOKINGS  ·  PRE-FILLED</a:t>
            </a:r>
          </a:p>
        </p:txBody>
      </p:sp>
      <p:graphicFrame>
        <p:nvGraphicFramePr>
          <p:cNvPr id="14" name="Table 13"/>
          <p:cNvGraphicFramePr>
            <a:graphicFrameLocks noGrp="1"/>
          </p:cNvGraphicFramePr>
          <p:nvPr/>
        </p:nvGraphicFramePr>
        <p:xfrm>
          <a:off x="6519672" y="4352544"/>
          <a:ext cx="4937760" cy="1060704"/>
        </p:xfrm>
        <a:graphic>
          <a:graphicData uri="http://schemas.openxmlformats.org/drawingml/2006/table">
            <a:tbl>
              <a:tblPr firstRow="0" bandRow="0"/>
              <a:tblGrid>
                <a:gridCol w="3108960"/>
                <a:gridCol w="1828800"/>
              </a:tblGrid>
              <a:tr h="265176">
                <a:tc>
                  <a:txBody>
                    <a:bodyPr/>
                    <a:lstStyle/>
                    <a:p>
                      <a:r>
                        <a:rPr sz="1000" b="1">
                          <a:solidFill>
                            <a:srgbClr val="FFFFFF"/>
                          </a:solidFill>
                          <a:latin typeface="Arial"/>
                        </a:rPr>
                        <a:t>Dealer</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YTD bookings</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r>
              <a:tr h="265176">
                <a:tc>
                  <a:txBody>
                    <a:bodyPr/>
                    <a:lstStyle/>
                    <a:p>
                      <a:r>
                        <a:rPr sz="1000" b="1">
                          <a:solidFill>
                            <a:srgbClr val="15181A"/>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65176">
                <a:tc>
                  <a:txBody>
                    <a:bodyPr/>
                    <a:lstStyle/>
                    <a:p>
                      <a:r>
                        <a:rPr sz="1000" b="1">
                          <a:solidFill>
                            <a:srgbClr val="15181A"/>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65176">
                <a:tc>
                  <a:txBody>
                    <a:bodyPr/>
                    <a:lstStyle/>
                    <a:p>
                      <a:r>
                        <a:rPr sz="1000" b="1">
                          <a:solidFill>
                            <a:srgbClr val="15181A"/>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TERRITORY REVIEW  ·  2 OF 6  ·  NEW CUSTOMERS</a:t>
            </a:r>
          </a:p>
        </p:txBody>
      </p:sp>
      <p:sp>
        <p:nvSpPr>
          <p:cNvPr id="3" name="Title 2"/>
          <p:cNvSpPr>
            <a:spLocks noGrp="1"/>
          </p:cNvSpPr>
          <p:nvPr>
            <p:ph type="title" idx="101"/>
          </p:nvPr>
        </p:nvSpPr>
        <p:spPr/>
        <p:txBody>
          <a:bodyPr/>
          <a:lstStyle/>
          <a:p>
            <a:r>
              <a:t>The five biggest new customer opportunities</a:t>
            </a:r>
          </a:p>
        </p:txBody>
      </p:sp>
      <p:sp>
        <p:nvSpPr>
          <p:cNvPr id="4" name="Text Placeholder 3"/>
          <p:cNvSpPr>
            <a:spLocks noGrp="1"/>
          </p:cNvSpPr>
          <p:nvPr>
            <p:ph type="body" idx="102"/>
          </p:nvPr>
        </p:nvSpPr>
        <p:spPr/>
        <p:txBody>
          <a:bodyPr/>
          <a:lstStyle/>
          <a:p>
            <a:r>
              <a:t>[One line. What these five have in common and why they're winnable.]</a:t>
            </a:r>
          </a:p>
        </p:txBody>
      </p:sp>
      <p:graphicFrame>
        <p:nvGraphicFramePr>
          <p:cNvPr id="5" name="Table 4"/>
          <p:cNvGraphicFramePr>
            <a:graphicFrameLocks noGrp="1"/>
          </p:cNvGraphicFramePr>
          <p:nvPr/>
        </p:nvGraphicFramePr>
        <p:xfrm>
          <a:off x="731520" y="2121408"/>
          <a:ext cx="10725912" cy="3913630"/>
        </p:xfrm>
        <a:graphic>
          <a:graphicData uri="http://schemas.openxmlformats.org/drawingml/2006/table">
            <a:tbl>
              <a:tblPr firstRow="0" bandRow="0"/>
              <a:tblGrid>
                <a:gridCol w="2743200"/>
                <a:gridCol w="4206240"/>
                <a:gridCol w="3776472"/>
              </a:tblGrid>
              <a:tr h="365760">
                <a:tc>
                  <a:txBody>
                    <a:bodyPr/>
                    <a:lstStyle/>
                    <a:p>
                      <a:r>
                        <a:rPr sz="1100" b="1">
                          <a:solidFill>
                            <a:srgbClr val="FFFFFF"/>
                          </a:solidFill>
                          <a:latin typeface="Arial"/>
                        </a:rPr>
                        <a:t>Account or segment</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100" b="1">
                          <a:solidFill>
                            <a:srgbClr val="FFFFFF"/>
                          </a:solidFill>
                          <a:latin typeface="Arial"/>
                        </a:rPr>
                        <a:t>Why it's the opportunity</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100" b="1">
                          <a:solidFill>
                            <a:srgbClr val="FFFFFF"/>
                          </a:solidFill>
                          <a:latin typeface="Arial"/>
                        </a:rPr>
                        <a:t>What it would take to win it</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r>
              <a:tr h="709574">
                <a:tc>
                  <a:txBody>
                    <a:bodyPr/>
                    <a:lstStyle/>
                    <a:p>
                      <a:r>
                        <a:rPr sz="1100" b="1">
                          <a:solidFill>
                            <a:srgbClr val="15181A"/>
                          </a:solidFill>
                          <a:latin typeface="Arial"/>
                        </a:rPr>
                        <a:t>1.  [Account or segment]</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709574">
                <a:tc>
                  <a:txBody>
                    <a:bodyPr/>
                    <a:lstStyle/>
                    <a:p>
                      <a:r>
                        <a:rPr sz="1100" b="1">
                          <a:solidFill>
                            <a:srgbClr val="15181A"/>
                          </a:solidFill>
                          <a:latin typeface="Arial"/>
                        </a:rPr>
                        <a:t>2.  [Account or segment]</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709574">
                <a:tc>
                  <a:txBody>
                    <a:bodyPr/>
                    <a:lstStyle/>
                    <a:p>
                      <a:r>
                        <a:rPr sz="1100" b="1">
                          <a:solidFill>
                            <a:srgbClr val="15181A"/>
                          </a:solidFill>
                          <a:latin typeface="Arial"/>
                        </a:rPr>
                        <a:t>3.  [Account or segment]</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709574">
                <a:tc>
                  <a:txBody>
                    <a:bodyPr/>
                    <a:lstStyle/>
                    <a:p>
                      <a:r>
                        <a:rPr sz="1100" b="1">
                          <a:solidFill>
                            <a:srgbClr val="15181A"/>
                          </a:solidFill>
                          <a:latin typeface="Arial"/>
                        </a:rPr>
                        <a:t>4.  [Account or segment]</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709574">
                <a:tc>
                  <a:txBody>
                    <a:bodyPr/>
                    <a:lstStyle/>
                    <a:p>
                      <a:r>
                        <a:rPr sz="1100" b="1">
                          <a:solidFill>
                            <a:srgbClr val="15181A"/>
                          </a:solidFill>
                          <a:latin typeface="Arial"/>
                        </a:rPr>
                        <a:t>5.  [Account or segment]</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TERRITORY REVIEW  ·  3 OF 6  ·  WINS</a:t>
            </a:r>
          </a:p>
        </p:txBody>
      </p:sp>
      <p:sp>
        <p:nvSpPr>
          <p:cNvPr id="3" name="Title 2"/>
          <p:cNvSpPr>
            <a:spLocks noGrp="1"/>
          </p:cNvSpPr>
          <p:nvPr>
            <p:ph type="title" idx="101"/>
          </p:nvPr>
        </p:nvSpPr>
        <p:spPr/>
        <p:txBody>
          <a:bodyPr/>
          <a:lstStyle/>
          <a:p>
            <a:r>
              <a:t>Three wins</a:t>
            </a:r>
          </a:p>
        </p:txBody>
      </p:sp>
      <p:sp>
        <p:nvSpPr>
          <p:cNvPr id="4" name="Text Placeholder 3"/>
          <p:cNvSpPr>
            <a:spLocks noGrp="1"/>
          </p:cNvSpPr>
          <p:nvPr>
            <p:ph type="body" idx="102"/>
          </p:nvPr>
        </p:nvSpPr>
        <p:spPr/>
        <p:txBody>
          <a:bodyPr/>
          <a:lstStyle/>
          <a:p>
            <a:r>
              <a:t>[One line. The pattern across the three, or the one we should be copying.]</a:t>
            </a:r>
          </a:p>
        </p:txBody>
      </p:sp>
      <p:sp>
        <p:nvSpPr>
          <p:cNvPr id="5" name="Text Placeholder 4"/>
          <p:cNvSpPr>
            <a:spLocks noGrp="1"/>
          </p:cNvSpPr>
          <p:nvPr>
            <p:ph type="body" idx="106"/>
          </p:nvPr>
        </p:nvSpPr>
        <p:spPr/>
        <p:txBody>
          <a:bodyPr/>
          <a:lstStyle/>
          <a:p>
            <a:r>
              <a:t>Price</a:t>
            </a:r>
          </a:p>
        </p:txBody>
      </p:sp>
      <p:sp>
        <p:nvSpPr>
          <p:cNvPr id="6" name="Text Placeholder 5"/>
          <p:cNvSpPr>
            <a:spLocks noGrp="1"/>
          </p:cNvSpPr>
          <p:nvPr>
            <p:ph type="body" idx="107"/>
          </p:nvPr>
        </p:nvSpPr>
        <p:spPr/>
        <p:txBody>
          <a:bodyPr/>
          <a:lstStyle/>
          <a:p>
            <a:r>
              <a:t>Job: [dealer, account, job name]</a:t>
            </a:r>
          </a:p>
          <a:p>
            <a:r>
              <a:t>Size: [$ and product]</a:t>
            </a:r>
          </a:p>
          <a:p>
            <a:r>
              <a:t>Why we won on price: [ ]</a:t>
            </a:r>
          </a:p>
          <a:p>
            <a:r>
              <a:t>Repeatable: [yes or no, and why]</a:t>
            </a:r>
          </a:p>
        </p:txBody>
      </p:sp>
      <p:sp>
        <p:nvSpPr>
          <p:cNvPr id="7" name="Text Placeholder 6"/>
          <p:cNvSpPr>
            <a:spLocks noGrp="1"/>
          </p:cNvSpPr>
          <p:nvPr>
            <p:ph type="body" idx="111"/>
          </p:nvPr>
        </p:nvSpPr>
        <p:spPr/>
        <p:txBody>
          <a:bodyPr/>
          <a:lstStyle/>
          <a:p>
            <a:r>
              <a:t>Product</a:t>
            </a:r>
          </a:p>
        </p:txBody>
      </p:sp>
      <p:sp>
        <p:nvSpPr>
          <p:cNvPr id="8" name="Text Placeholder 7"/>
          <p:cNvSpPr>
            <a:spLocks noGrp="1"/>
          </p:cNvSpPr>
          <p:nvPr>
            <p:ph type="body" idx="112"/>
          </p:nvPr>
        </p:nvSpPr>
        <p:spPr/>
        <p:txBody>
          <a:bodyPr/>
          <a:lstStyle/>
          <a:p>
            <a:r>
              <a:t>Job: [dealer, account, job name]</a:t>
            </a:r>
          </a:p>
          <a:p>
            <a:r>
              <a:t>Size: [$ and product]</a:t>
            </a:r>
          </a:p>
          <a:p>
            <a:r>
              <a:t>Why we won on product: [ ]</a:t>
            </a:r>
          </a:p>
          <a:p>
            <a:r>
              <a:t>Repeatable: [yes or no, and why]</a:t>
            </a:r>
          </a:p>
        </p:txBody>
      </p:sp>
      <p:sp>
        <p:nvSpPr>
          <p:cNvPr id="9" name="Text Placeholder 8"/>
          <p:cNvSpPr>
            <a:spLocks noGrp="1"/>
          </p:cNvSpPr>
          <p:nvPr>
            <p:ph type="body" idx="116"/>
          </p:nvPr>
        </p:nvSpPr>
        <p:spPr/>
        <p:txBody>
          <a:bodyPr/>
          <a:lstStyle/>
          <a:p>
            <a:r>
              <a:t>Speed and support</a:t>
            </a:r>
          </a:p>
        </p:txBody>
      </p:sp>
      <p:sp>
        <p:nvSpPr>
          <p:cNvPr id="10" name="Text Placeholder 9"/>
          <p:cNvSpPr>
            <a:spLocks noGrp="1"/>
          </p:cNvSpPr>
          <p:nvPr>
            <p:ph type="body" idx="117"/>
          </p:nvPr>
        </p:nvSpPr>
        <p:spPr/>
        <p:txBody>
          <a:bodyPr/>
          <a:lstStyle/>
          <a:p>
            <a:r>
              <a:t>Job: [dealer, account, job name]</a:t>
            </a:r>
          </a:p>
          <a:p>
            <a:r>
              <a:t>Size: [$ and product]</a:t>
            </a:r>
          </a:p>
          <a:p>
            <a:r>
              <a:t>Why we won on speed or support: [ ]</a:t>
            </a:r>
          </a:p>
          <a:p>
            <a:r>
              <a:t>Repeatable: [yes or no, and why]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TERRITORY REVIEW  ·  4 OF 6  ·  LOSSES</a:t>
            </a:r>
          </a:p>
        </p:txBody>
      </p:sp>
      <p:sp>
        <p:nvSpPr>
          <p:cNvPr id="3" name="Title 2"/>
          <p:cNvSpPr>
            <a:spLocks noGrp="1"/>
          </p:cNvSpPr>
          <p:nvPr>
            <p:ph type="title" idx="101"/>
          </p:nvPr>
        </p:nvSpPr>
        <p:spPr/>
        <p:txBody>
          <a:bodyPr/>
          <a:lstStyle/>
          <a:p>
            <a:r>
              <a:t>Three losses</a:t>
            </a:r>
          </a:p>
        </p:txBody>
      </p:sp>
      <p:sp>
        <p:nvSpPr>
          <p:cNvPr id="4" name="Text Placeholder 3"/>
          <p:cNvSpPr>
            <a:spLocks noGrp="1"/>
          </p:cNvSpPr>
          <p:nvPr>
            <p:ph type="body" idx="102"/>
          </p:nvPr>
        </p:nvSpPr>
        <p:spPr/>
        <p:txBody>
          <a:bodyPr/>
          <a:lstStyle/>
          <a:p>
            <a:r>
              <a:t>[One line. Which loss hurt most and whether we'd lose it again today.]</a:t>
            </a:r>
          </a:p>
        </p:txBody>
      </p:sp>
      <p:sp>
        <p:nvSpPr>
          <p:cNvPr id="5" name="Text Placeholder 4"/>
          <p:cNvSpPr>
            <a:spLocks noGrp="1"/>
          </p:cNvSpPr>
          <p:nvPr>
            <p:ph type="body" idx="106"/>
          </p:nvPr>
        </p:nvSpPr>
        <p:spPr/>
        <p:txBody>
          <a:bodyPr/>
          <a:lstStyle/>
          <a:p>
            <a:r>
              <a:t>Price</a:t>
            </a:r>
          </a:p>
        </p:txBody>
      </p:sp>
      <p:sp>
        <p:nvSpPr>
          <p:cNvPr id="6" name="Text Placeholder 5"/>
          <p:cNvSpPr>
            <a:spLocks noGrp="1"/>
          </p:cNvSpPr>
          <p:nvPr>
            <p:ph type="body" idx="107"/>
          </p:nvPr>
        </p:nvSpPr>
        <p:spPr/>
        <p:txBody>
          <a:bodyPr/>
          <a:lstStyle/>
          <a:p>
            <a:r>
              <a:t>Job: [dealer, account, job name]</a:t>
            </a:r>
          </a:p>
          <a:p>
            <a:r>
              <a:t>Who won: [competitor]</a:t>
            </a:r>
          </a:p>
          <a:p>
            <a:r>
              <a:t>Their number: [$ or unknown]</a:t>
            </a:r>
          </a:p>
          <a:p>
            <a:r>
              <a:t>Our number: [$]</a:t>
            </a:r>
          </a:p>
          <a:p>
            <a:r>
              <a:t>Why: [ ]</a:t>
            </a:r>
          </a:p>
          <a:p>
            <a:r>
              <a:t>Lose it again today: [yes or no]</a:t>
            </a:r>
          </a:p>
        </p:txBody>
      </p:sp>
      <p:sp>
        <p:nvSpPr>
          <p:cNvPr id="7" name="Text Placeholder 6"/>
          <p:cNvSpPr>
            <a:spLocks noGrp="1"/>
          </p:cNvSpPr>
          <p:nvPr>
            <p:ph type="body" idx="111"/>
          </p:nvPr>
        </p:nvSpPr>
        <p:spPr/>
        <p:txBody>
          <a:bodyPr/>
          <a:lstStyle/>
          <a:p>
            <a:r>
              <a:t>Product</a:t>
            </a:r>
          </a:p>
        </p:txBody>
      </p:sp>
      <p:sp>
        <p:nvSpPr>
          <p:cNvPr id="8" name="Text Placeholder 7"/>
          <p:cNvSpPr>
            <a:spLocks noGrp="1"/>
          </p:cNvSpPr>
          <p:nvPr>
            <p:ph type="body" idx="112"/>
          </p:nvPr>
        </p:nvSpPr>
        <p:spPr/>
        <p:txBody>
          <a:bodyPr/>
          <a:lstStyle/>
          <a:p>
            <a:r>
              <a:t>Job: [dealer, account, job name]</a:t>
            </a:r>
          </a:p>
          <a:p>
            <a:r>
              <a:t>Who won: [competitor]</a:t>
            </a:r>
          </a:p>
          <a:p>
            <a:r>
              <a:t>Why: [what they had that we didn't]</a:t>
            </a:r>
          </a:p>
          <a:p>
            <a:r>
              <a:t>Lose it again today: [yes or no]</a:t>
            </a:r>
          </a:p>
          <a:p>
            <a:r>
              <a:t>No product loss? Say so here.</a:t>
            </a:r>
          </a:p>
        </p:txBody>
      </p:sp>
      <p:sp>
        <p:nvSpPr>
          <p:cNvPr id="9" name="Text Placeholder 8"/>
          <p:cNvSpPr>
            <a:spLocks noGrp="1"/>
          </p:cNvSpPr>
          <p:nvPr>
            <p:ph type="body" idx="116"/>
          </p:nvPr>
        </p:nvSpPr>
        <p:spPr/>
        <p:txBody>
          <a:bodyPr/>
          <a:lstStyle/>
          <a:p>
            <a:r>
              <a:t>Speed and support</a:t>
            </a:r>
          </a:p>
        </p:txBody>
      </p:sp>
      <p:sp>
        <p:nvSpPr>
          <p:cNvPr id="10" name="Text Placeholder 9"/>
          <p:cNvSpPr>
            <a:spLocks noGrp="1"/>
          </p:cNvSpPr>
          <p:nvPr>
            <p:ph type="body" idx="117"/>
          </p:nvPr>
        </p:nvSpPr>
        <p:spPr/>
        <p:txBody>
          <a:bodyPr/>
          <a:lstStyle/>
          <a:p>
            <a:r>
              <a:t>Job: [dealer, account, job name]</a:t>
            </a:r>
          </a:p>
          <a:p>
            <a:r>
              <a:t>Who won: [competitor]</a:t>
            </a:r>
          </a:p>
          <a:p>
            <a:r>
              <a:t>Why: [lead time, quoting, service]</a:t>
            </a:r>
          </a:p>
          <a:p>
            <a:r>
              <a:t>Lose it again today: [yes or no]</a:t>
            </a:r>
          </a:p>
          <a:p>
            <a:r>
              <a:t>No speed loss? Say so here.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TERRITORY REVIEW  ·  5 OF 6  ·  STRAIGHT TALK</a:t>
            </a:r>
          </a:p>
        </p:txBody>
      </p:sp>
      <p:sp>
        <p:nvSpPr>
          <p:cNvPr id="3" name="Title 2"/>
          <p:cNvSpPr>
            <a:spLocks noGrp="1"/>
          </p:cNvSpPr>
          <p:nvPr>
            <p:ph type="title" idx="101"/>
          </p:nvPr>
        </p:nvSpPr>
        <p:spPr/>
        <p:txBody>
          <a:bodyPr/>
          <a:lstStyle/>
          <a:p>
            <a:r>
              <a:t>What we do well and what we don't</a:t>
            </a:r>
          </a:p>
        </p:txBody>
      </p:sp>
      <p:sp>
        <p:nvSpPr>
          <p:cNvPr id="4" name="Text Placeholder 3"/>
          <p:cNvSpPr>
            <a:spLocks noGrp="1"/>
          </p:cNvSpPr>
          <p:nvPr>
            <p:ph type="body" idx="102"/>
          </p:nvPr>
        </p:nvSpPr>
        <p:spPr/>
        <p:txBody>
          <a:bodyPr/>
          <a:lstStyle/>
          <a:p>
            <a:r>
              <a:t>[One line. The one thing you'd change first.]</a:t>
            </a:r>
          </a:p>
        </p:txBody>
      </p:sp>
      <p:graphicFrame>
        <p:nvGraphicFramePr>
          <p:cNvPr id="5" name="Table 4"/>
          <p:cNvGraphicFramePr>
            <a:graphicFrameLocks noGrp="1"/>
          </p:cNvGraphicFramePr>
          <p:nvPr/>
        </p:nvGraphicFramePr>
        <p:xfrm>
          <a:off x="731520" y="2121408"/>
          <a:ext cx="10725912" cy="3912717"/>
        </p:xfrm>
        <a:graphic>
          <a:graphicData uri="http://schemas.openxmlformats.org/drawingml/2006/table">
            <a:tbl>
              <a:tblPr firstRow="0" bandRow="0"/>
              <a:tblGrid>
                <a:gridCol w="2130552"/>
                <a:gridCol w="4297680"/>
                <a:gridCol w="4297680"/>
              </a:tblGrid>
              <a:tr h="365760">
                <a:tc>
                  <a:txBody>
                    <a:bodyPr/>
                    <a:lstStyle/>
                    <a:p>
                      <a:r>
                        <a:rPr sz="1100" b="1">
                          <a:solidFill>
                            <a:srgbClr val="FFFFFF"/>
                          </a:solidFill>
                          <a:latin typeface="Arial"/>
                        </a:rPr>
                        <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100" b="1">
                          <a:solidFill>
                            <a:srgbClr val="FFFFFF"/>
                          </a:solidFill>
                          <a:latin typeface="Arial"/>
                        </a:rPr>
                        <a:t>What we do well</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100" b="1">
                          <a:solidFill>
                            <a:srgbClr val="FFFFFF"/>
                          </a:solidFill>
                          <a:latin typeface="Arial"/>
                        </a:rPr>
                        <a:t>What we don't</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r>
              <a:tr h="1182319">
                <a:tc>
                  <a:txBody>
                    <a:bodyPr/>
                    <a:lstStyle/>
                    <a:p>
                      <a:r>
                        <a:rPr sz="1200" b="1">
                          <a:solidFill>
                            <a:srgbClr val="15181A"/>
                          </a:solidFill>
                          <a:latin typeface="Arial"/>
                        </a:rPr>
                        <a:t>Company</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200" b="0">
                          <a:solidFill>
                            <a:srgbClr val="5B6670"/>
                          </a:solidFill>
                          <a:latin typeface="Arial"/>
                        </a:rPr>
                        <a:t>[One thing]</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200" b="0">
                          <a:solidFill>
                            <a:srgbClr val="5B6670"/>
                          </a:solidFill>
                          <a:latin typeface="Arial"/>
                        </a:rPr>
                        <a:t>[One thing]</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1182319">
                <a:tc>
                  <a:txBody>
                    <a:bodyPr/>
                    <a:lstStyle/>
                    <a:p>
                      <a:r>
                        <a:rPr sz="1200" b="1">
                          <a:solidFill>
                            <a:srgbClr val="15181A"/>
                          </a:solidFill>
                          <a:latin typeface="Arial"/>
                        </a:rPr>
                        <a:t>Marketing</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200" b="0">
                          <a:solidFill>
                            <a:srgbClr val="5B6670"/>
                          </a:solidFill>
                          <a:latin typeface="Arial"/>
                        </a:rPr>
                        <a:t>[One thing]</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200" b="0">
                          <a:solidFill>
                            <a:srgbClr val="5B6670"/>
                          </a:solidFill>
                          <a:latin typeface="Arial"/>
                        </a:rPr>
                        <a:t>[One thing]</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1182319">
                <a:tc>
                  <a:txBody>
                    <a:bodyPr/>
                    <a:lstStyle/>
                    <a:p>
                      <a:r>
                        <a:rPr sz="1200" b="1">
                          <a:solidFill>
                            <a:srgbClr val="15181A"/>
                          </a:solidFill>
                          <a:latin typeface="Arial"/>
                        </a:rPr>
                        <a:t>Sales direction</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200" b="0">
                          <a:solidFill>
                            <a:srgbClr val="5B6670"/>
                          </a:solidFill>
                          <a:latin typeface="Arial"/>
                        </a:rPr>
                        <a:t>[One thing]</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200" b="0">
                          <a:solidFill>
                            <a:srgbClr val="5B6670"/>
                          </a:solidFill>
                          <a:latin typeface="Arial"/>
                        </a:rPr>
                        <a:t>[One thing]</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TERRITORY REVIEW  ·  6 OF 6  ·  FOCUS</a:t>
            </a:r>
          </a:p>
        </p:txBody>
      </p:sp>
      <p:sp>
        <p:nvSpPr>
          <p:cNvPr id="3" name="Title 2"/>
          <p:cNvSpPr>
            <a:spLocks noGrp="1"/>
          </p:cNvSpPr>
          <p:nvPr>
            <p:ph type="title" idx="101"/>
          </p:nvPr>
        </p:nvSpPr>
        <p:spPr/>
        <p:txBody>
          <a:bodyPr/>
          <a:lstStyle/>
          <a:p>
            <a:r>
              <a:t>Where I'd focus us</a:t>
            </a:r>
          </a:p>
        </p:txBody>
      </p:sp>
      <p:sp>
        <p:nvSpPr>
          <p:cNvPr id="4" name="Text Placeholder 3"/>
          <p:cNvSpPr>
            <a:spLocks noGrp="1"/>
          </p:cNvSpPr>
          <p:nvPr>
            <p:ph type="body" idx="102"/>
          </p:nvPr>
        </p:nvSpPr>
        <p:spPr/>
        <p:txBody>
          <a:bodyPr/>
          <a:lstStyle/>
          <a:p>
            <a:r>
              <a:t>[One line. The bet you'd make and what it's worth.]</a:t>
            </a:r>
          </a:p>
        </p:txBody>
      </p:sp>
      <p:sp>
        <p:nvSpPr>
          <p:cNvPr id="5" name="Text Placeholder 4"/>
          <p:cNvSpPr>
            <a:spLocks noGrp="1"/>
          </p:cNvSpPr>
          <p:nvPr>
            <p:ph type="body" idx="103"/>
          </p:nvPr>
        </p:nvSpPr>
        <p:spPr/>
        <p:txBody>
          <a:bodyPr/>
          <a:lstStyle/>
          <a:p>
            <a:r>
              <a:t>Where I'd focus us</a:t>
            </a:r>
          </a:p>
        </p:txBody>
      </p:sp>
      <p:sp>
        <p:nvSpPr>
          <p:cNvPr id="6" name="Text Placeholder 5"/>
          <p:cNvSpPr>
            <a:spLocks noGrp="1"/>
          </p:cNvSpPr>
          <p:nvPr>
            <p:ph type="body" idx="105"/>
          </p:nvPr>
        </p:nvSpPr>
        <p:spPr/>
        <p:txBody>
          <a:bodyPr/>
          <a:lstStyle/>
          <a:p>
            <a:r>
              <a:t>Segment or account: [ ]</a:t>
            </a:r>
          </a:p>
          <a:p>
            <a:r>
              <a:t>Why now: [ ]</a:t>
            </a:r>
          </a:p>
          <a:p>
            <a:r>
              <a:t>Rough size of the prize: [$]</a:t>
            </a:r>
          </a:p>
          <a:p>
            <a:r>
              <a:t>First three moves: [ ]</a:t>
            </a:r>
          </a:p>
        </p:txBody>
      </p:sp>
      <p:sp>
        <p:nvSpPr>
          <p:cNvPr id="7" name="Text Placeholder 6"/>
          <p:cNvSpPr>
            <a:spLocks noGrp="1"/>
          </p:cNvSpPr>
          <p:nvPr>
            <p:ph type="body" idx="106"/>
          </p:nvPr>
        </p:nvSpPr>
        <p:spPr/>
        <p:txBody>
          <a:bodyPr/>
          <a:lstStyle/>
          <a:p>
            <a:r>
              <a:t>What I need to get there</a:t>
            </a:r>
          </a:p>
        </p:txBody>
      </p:sp>
      <p:sp>
        <p:nvSpPr>
          <p:cNvPr id="8" name="Text Placeholder 7"/>
          <p:cNvSpPr>
            <a:spLocks noGrp="1"/>
          </p:cNvSpPr>
          <p:nvPr>
            <p:ph type="body" idx="108"/>
          </p:nvPr>
        </p:nvSpPr>
        <p:spPr/>
        <p:txBody>
          <a:bodyPr/>
          <a:lstStyle/>
          <a:p>
            <a:r>
              <a:t>From product: [ ]</a:t>
            </a:r>
          </a:p>
          <a:p>
            <a:r>
              <a:t>From marketing: [ ]</a:t>
            </a:r>
          </a:p>
          <a:p>
            <a:r>
              <a:t>From pricing: [ ]</a:t>
            </a:r>
          </a:p>
          <a:p>
            <a:r>
              <a:t>From Nate: [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Steel King Industries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Steel King Presentation System</dc:title>
  <dc:subject>PptxGenJS Presentation</dc:subject>
  <dc:creator>Steel King Industries</dc:creator>
  <cp:lastModifiedBy>Steel King Industries</cp:lastModifiedBy>
  <cp:revision>1</cp:revision>
  <dcterms:created xsi:type="dcterms:W3CDTF">2026-09-11T23:28:37Z</dcterms:created>
  <dcterms:modified xsi:type="dcterms:W3CDTF">2026-09-11T23:28:37Z</dcterms:modified>
</cp:coreProperties>
</file>