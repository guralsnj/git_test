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Six slides. Real dealer, account, and job names. No new data pulls.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Bookings and quotes by quarter, top accounts, Excalibur dealers. Pre-filled.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for Mac. The five accounts or segments you see as the biggest new customer opportunities and why.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losses. One on price, one on product, one on speed and support. Who won, why, and whether we'd lose it again today. On the price loss, include the competitor's number if you have it. If you don't, say unknown. On every loss, the lead time we quoted and the lead time the winner delivered.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for Mac. Where you'd focus us and what you need to get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The market</a:t>
            </a:r>
          </a:p>
        </p:txBody>
      </p:sp>
      <p:sp>
        <p:nvSpPr>
          <p:cNvPr id="4" name="Text Placeholder 3"/>
          <p:cNvSpPr>
            <a:spLocks noGrp="1"/>
          </p:cNvSpPr>
          <p:nvPr>
            <p:ph type="body" idx="105"/>
          </p:nvPr>
        </p:nvSpPr>
        <p:spPr/>
        <p:txBody>
          <a:bodyPr/>
          <a:lstStyle/>
          <a:p>
            <a:r>
              <a:t>The market the way I see it. Who matters, where we win, where we lose, where to focus.</a:t>
            </a:r>
          </a:p>
        </p:txBody>
      </p:sp>
      <p:sp>
        <p:nvSpPr>
          <p:cNvPr id="5" name="Text Placeholder 4"/>
          <p:cNvSpPr>
            <a:spLocks noGrp="1"/>
          </p:cNvSpPr>
          <p:nvPr>
            <p:ph type="body" idx="106"/>
          </p:nvPr>
        </p:nvSpPr>
        <p:spPr/>
        <p:txBody>
          <a:bodyPr/>
          <a:lstStyle/>
          <a:p>
            <a:r>
              <a:t>Mac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6  ·  BY THE NUMBERS</a:t>
            </a:r>
          </a:p>
        </p:txBody>
      </p:sp>
      <p:sp>
        <p:nvSpPr>
          <p:cNvPr id="3" name="Title 2"/>
          <p:cNvSpPr>
            <a:spLocks noGrp="1"/>
          </p:cNvSpPr>
          <p:nvPr>
            <p:ph type="title" idx="101"/>
          </p:nvPr>
        </p:nvSpPr>
        <p:spPr/>
        <p:txBody>
          <a:bodyPr/>
          <a:lstStyle/>
          <a:p>
            <a:r>
              <a:t>The market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[system], pulled [date]. Hit rate is bookings divided by quotes. Lead time is the average we quoted that quarter.</a:t>
            </a:r>
          </a:p>
        </p:txBody>
      </p:sp>
      <p:sp>
        <p:nvSpPr>
          <p:cNvPr id="7" name="TextBox 6"/>
          <p:cNvSpPr txBox="1"/>
          <p:nvPr/>
        </p:nvSpPr>
        <p:spPr>
          <a:xfrm>
            <a:off x="731520" y="2121408"/>
            <a:ext cx="5120640" cy="237744"/>
          </a:xfrm>
          <a:prstGeom prst="rect">
            <a:avLst/>
          </a:prstGeom>
          <a:noFill/>
        </p:spPr>
        <p:txBody>
          <a:bodyPr wrap="square" anchor="t" lIns="0" rIns="0" tIns="0" bIns="0">
            <a:noAutofit/>
          </a:bodyPr>
          <a:lstStyle/>
          <a:p>
            <a:r>
              <a:rPr sz="1100" b="1">
                <a:solidFill>
                  <a:srgbClr val="3C7D4D"/>
                </a:solidFill>
                <a:latin typeface="Arial"/>
              </a:rPr>
              <a:t>BY QUARTER  ·  PRE-FILLED</a:t>
            </a:r>
          </a:p>
        </p:txBody>
      </p:sp>
      <p:graphicFrame>
        <p:nvGraphicFramePr>
          <p:cNvPr id="8" name="Table 7"/>
          <p:cNvGraphicFramePr>
            <a:graphicFrameLocks noGrp="1"/>
          </p:cNvGraphicFramePr>
          <p:nvPr/>
        </p:nvGraphicFramePr>
        <p:xfrm>
          <a:off x="731520" y="2377440"/>
          <a:ext cx="5120640" cy="1335024"/>
        </p:xfrm>
        <a:graphic>
          <a:graphicData uri="http://schemas.openxmlformats.org/drawingml/2006/table">
            <a:tbl>
              <a:tblPr firstRow="0" bandRow="0"/>
              <a:tblGrid>
                <a:gridCol w="1005840"/>
                <a:gridCol w="1005840"/>
                <a:gridCol w="1005840"/>
                <a:gridCol w="868680"/>
                <a:gridCol w="1234440"/>
              </a:tblGrid>
              <a:tr h="274320">
                <a:tc>
                  <a:txBody>
                    <a:bodyPr/>
                    <a:lstStyle/>
                    <a:p>
                      <a:r>
                        <a:rPr sz="1000" b="1">
                          <a:solidFill>
                            <a:srgbClr val="FFFFFF"/>
                          </a:solidFill>
                          <a:latin typeface="Arial"/>
                        </a:rPr>
                        <a:t>Quarter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Hit rate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Quoted lead time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Q4 2025</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Q1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Q2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Q3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3931920"/>
            <a:ext cx="5120640"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187952"/>
            <a:ext cx="5120640" cy="1847088"/>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is happening in the territory that bookings and quotes don't capture. A dealer in transition, a job that slipped a quarter, a competitor that showed up, a plant issue that cost you.]</a:t>
            </a:r>
          </a:p>
        </p:txBody>
      </p:sp>
      <p:sp>
        <p:nvSpPr>
          <p:cNvPr id="11" name="TextBox 10"/>
          <p:cNvSpPr txBox="1"/>
          <p:nvPr/>
        </p:nvSpPr>
        <p:spPr>
          <a:xfrm>
            <a:off x="6519672" y="2121408"/>
            <a:ext cx="4937760" cy="237744"/>
          </a:xfrm>
          <a:prstGeom prst="rect">
            <a:avLst/>
          </a:prstGeom>
          <a:noFill/>
        </p:spPr>
        <p:txBody>
          <a:bodyPr wrap="square" anchor="t" lIns="0" rIns="0" tIns="0" bIns="0">
            <a:noAutofit/>
          </a:bodyPr>
          <a:lstStyle/>
          <a:p>
            <a:r>
              <a:rPr sz="1100" b="1">
                <a:solidFill>
                  <a:srgbClr val="3C7D4D"/>
                </a:solidFill>
                <a:latin typeface="Arial"/>
              </a:rPr>
              <a:t>TOP ACCOUNTS, YTD BOOKINGS  ·  PRE-FILLED</a:t>
            </a:r>
          </a:p>
        </p:txBody>
      </p:sp>
      <p:graphicFrame>
        <p:nvGraphicFramePr>
          <p:cNvPr id="12" name="Table 11"/>
          <p:cNvGraphicFramePr>
            <a:graphicFrameLocks noGrp="1"/>
          </p:cNvGraphicFramePr>
          <p:nvPr/>
        </p:nvGraphicFramePr>
        <p:xfrm>
          <a:off x="6519672" y="2377440"/>
          <a:ext cx="4937760" cy="1591056"/>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13" name="TextBox 12"/>
          <p:cNvSpPr txBox="1"/>
          <p:nvPr/>
        </p:nvSpPr>
        <p:spPr>
          <a:xfrm>
            <a:off x="6519672" y="4096512"/>
            <a:ext cx="4937760" cy="237744"/>
          </a:xfrm>
          <a:prstGeom prst="rect">
            <a:avLst/>
          </a:prstGeom>
          <a:noFill/>
        </p:spPr>
        <p:txBody>
          <a:bodyPr wrap="square" anchor="t" lIns="0" rIns="0" tIns="0" bIns="0">
            <a:noAutofit/>
          </a:bodyPr>
          <a:lstStyle/>
          <a:p>
            <a:r>
              <a:rPr sz="1100" b="1">
                <a:solidFill>
                  <a:srgbClr val="3C7D4D"/>
                </a:solidFill>
                <a:latin typeface="Arial"/>
              </a:rPr>
              <a:t>EXCALIBUR DEALERS, YTD BOOKINGS  ·  PRE-FILLED</a:t>
            </a:r>
          </a:p>
        </p:txBody>
      </p:sp>
      <p:graphicFrame>
        <p:nvGraphicFramePr>
          <p:cNvPr id="14" name="Table 13"/>
          <p:cNvGraphicFramePr>
            <a:graphicFrameLocks noGrp="1"/>
          </p:cNvGraphicFramePr>
          <p:nvPr/>
        </p:nvGraphicFramePr>
        <p:xfrm>
          <a:off x="6519672" y="4352544"/>
          <a:ext cx="4937760" cy="1060704"/>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6  ·  NEW CUSTOMERS</a:t>
            </a:r>
          </a:p>
        </p:txBody>
      </p:sp>
      <p:sp>
        <p:nvSpPr>
          <p:cNvPr id="3" name="Title 2"/>
          <p:cNvSpPr>
            <a:spLocks noGrp="1"/>
          </p:cNvSpPr>
          <p:nvPr>
            <p:ph type="title" idx="101"/>
          </p:nvPr>
        </p:nvSpPr>
        <p:spPr/>
        <p:txBody>
          <a:bodyPr/>
          <a:lstStyle/>
          <a:p>
            <a:r>
              <a:t>The five biggest new customer opportunities</a:t>
            </a:r>
          </a:p>
        </p:txBody>
      </p:sp>
      <p:sp>
        <p:nvSpPr>
          <p:cNvPr id="4" name="Text Placeholder 3"/>
          <p:cNvSpPr>
            <a:spLocks noGrp="1"/>
          </p:cNvSpPr>
          <p:nvPr>
            <p:ph type="body" idx="102"/>
          </p:nvPr>
        </p:nvSpPr>
        <p:spPr/>
        <p:txBody>
          <a:bodyPr/>
          <a:lstStyle/>
          <a:p>
            <a:r>
              <a:t>[One line. What these five have in common and why they're winnable.]</a:t>
            </a:r>
          </a:p>
        </p:txBody>
      </p:sp>
      <p:graphicFrame>
        <p:nvGraphicFramePr>
          <p:cNvPr id="5" name="Table 4"/>
          <p:cNvGraphicFramePr>
            <a:graphicFrameLocks noGrp="1"/>
          </p:cNvGraphicFramePr>
          <p:nvPr/>
        </p:nvGraphicFramePr>
        <p:xfrm>
          <a:off x="731520" y="2121408"/>
          <a:ext cx="10725912" cy="3913630"/>
        </p:xfrm>
        <a:graphic>
          <a:graphicData uri="http://schemas.openxmlformats.org/drawingml/2006/table">
            <a:tbl>
              <a:tblPr firstRow="0" bandRow="0"/>
              <a:tblGrid>
                <a:gridCol w="2743200"/>
                <a:gridCol w="4206240"/>
                <a:gridCol w="3776472"/>
              </a:tblGrid>
              <a:tr h="365760">
                <a:tc>
                  <a:txBody>
                    <a:bodyPr/>
                    <a:lstStyle/>
                    <a:p>
                      <a:r>
                        <a:rPr sz="1100" b="1">
                          <a:solidFill>
                            <a:srgbClr val="FFFFFF"/>
                          </a:solidFill>
                          <a:latin typeface="Arial"/>
                        </a:rPr>
                        <a:t>Account or segment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Why it's the opportunity</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it would take to win it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6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6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rPr sz="1400"/>
              <a:t>Job: [dealer, account, job]</a:t>
            </a:r>
          </a:p>
          <a:p>
            <a:r>
              <a:rPr sz="1400"/>
              <a:t>Who won: [competitor]</a:t>
            </a:r>
          </a:p>
          <a:p>
            <a:r>
              <a:rPr sz="1400"/>
              <a:t>Their price: [$ or unknown]</a:t>
            </a:r>
          </a:p>
          <a:p>
            <a:r>
              <a:rPr sz="1400"/>
              <a:t>Lead time: ours / theirs [wks]</a:t>
            </a:r>
          </a:p>
          <a:p>
            <a:r>
              <a:rPr sz="1400"/>
              <a:t>Why: [ ]</a:t>
            </a:r>
          </a:p>
          <a:p>
            <a:r>
              <a:rPr sz="1400"/>
              <a:t>Lose it again today: [yes/no]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rPr sz="1400"/>
              <a:t>Job: [dealer, account, job]</a:t>
            </a:r>
          </a:p>
          <a:p>
            <a:r>
              <a:rPr sz="1400"/>
              <a:t>Who won: [competitor]</a:t>
            </a:r>
          </a:p>
          <a:p>
            <a:r>
              <a:rPr sz="1400"/>
              <a:t>Why: [what they had, we didn't]</a:t>
            </a:r>
          </a:p>
          <a:p>
            <a:r>
              <a:rPr sz="1400"/>
              <a:t>Lead time: ours / theirs [wks]</a:t>
            </a:r>
          </a:p>
          <a:p>
            <a:r>
              <a:rPr sz="1400"/>
              <a:t>Lose it again today: [yes/no]</a:t>
            </a:r>
          </a:p>
          <a:p>
            <a:r>
              <a:rPr sz="1400"/>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rPr sz="1400"/>
              <a:t>Job: [dealer, account, job]</a:t>
            </a:r>
          </a:p>
          <a:p>
            <a:r>
              <a:rPr sz="1400"/>
              <a:t>Who won: [competitor]</a:t>
            </a:r>
          </a:p>
          <a:p>
            <a:r>
              <a:rPr sz="1400"/>
              <a:t>Lead time: ours / theirs [wks]</a:t>
            </a:r>
          </a:p>
          <a:p>
            <a:r>
              <a:rPr sz="1400"/>
              <a:t>Why: [quoting or service]</a:t>
            </a:r>
          </a:p>
          <a:p>
            <a:r>
              <a:rPr sz="1400"/>
              <a:t>Lose it again today: [yes/no]</a:t>
            </a:r>
          </a:p>
          <a:p>
            <a:r>
              <a:rPr sz="1400"/>
              <a:t>No speed loss? Say so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6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6  ·  FOCUS</a:t>
            </a:r>
          </a:p>
        </p:txBody>
      </p:sp>
      <p:sp>
        <p:nvSpPr>
          <p:cNvPr id="3" name="Title 2"/>
          <p:cNvSpPr>
            <a:spLocks noGrp="1"/>
          </p:cNvSpPr>
          <p:nvPr>
            <p:ph type="title" idx="101"/>
          </p:nvPr>
        </p:nvSpPr>
        <p:spPr/>
        <p:txBody>
          <a:bodyPr/>
          <a:lstStyle/>
          <a:p>
            <a:r>
              <a:t>Where I'd focus us</a:t>
            </a:r>
          </a:p>
        </p:txBody>
      </p:sp>
      <p:sp>
        <p:nvSpPr>
          <p:cNvPr id="4" name="Text Placeholder 3"/>
          <p:cNvSpPr>
            <a:spLocks noGrp="1"/>
          </p:cNvSpPr>
          <p:nvPr>
            <p:ph type="body" idx="102"/>
          </p:nvPr>
        </p:nvSpPr>
        <p:spPr/>
        <p:txBody>
          <a:bodyPr/>
          <a:lstStyle/>
          <a:p>
            <a:r>
              <a:t>[One line. The bet you'd make and what it's worth.]</a:t>
            </a:r>
          </a:p>
        </p:txBody>
      </p:sp>
      <p:sp>
        <p:nvSpPr>
          <p:cNvPr id="5" name="Text Placeholder 4"/>
          <p:cNvSpPr>
            <a:spLocks noGrp="1"/>
          </p:cNvSpPr>
          <p:nvPr>
            <p:ph type="body" idx="103"/>
          </p:nvPr>
        </p:nvSpPr>
        <p:spPr/>
        <p:txBody>
          <a:bodyPr/>
          <a:lstStyle/>
          <a:p>
            <a:r>
              <a:t>Where I'd focus us</a:t>
            </a:r>
          </a:p>
        </p:txBody>
      </p:sp>
      <p:sp>
        <p:nvSpPr>
          <p:cNvPr id="6" name="Text Placeholder 5"/>
          <p:cNvSpPr>
            <a:spLocks noGrp="1"/>
          </p:cNvSpPr>
          <p:nvPr>
            <p:ph type="body" idx="105"/>
          </p:nvPr>
        </p:nvSpPr>
        <p:spPr/>
        <p:txBody>
          <a:bodyPr/>
          <a:lstStyle/>
          <a:p>
            <a:r>
              <a:t>Segment or account: [ ]</a:t>
            </a:r>
          </a:p>
          <a:p>
            <a:r>
              <a:t>Why now: [ ]</a:t>
            </a:r>
          </a:p>
          <a:p>
            <a:r>
              <a:t>Rough size of the prize: [$]</a:t>
            </a:r>
          </a:p>
          <a:p>
            <a:r>
              <a:t>First three moves: [ ]</a:t>
            </a:r>
          </a:p>
        </p:txBody>
      </p:sp>
      <p:sp>
        <p:nvSpPr>
          <p:cNvPr id="7" name="Text Placeholder 6"/>
          <p:cNvSpPr>
            <a:spLocks noGrp="1"/>
          </p:cNvSpPr>
          <p:nvPr>
            <p:ph type="body" idx="106"/>
          </p:nvPr>
        </p:nvSpPr>
        <p:spPr/>
        <p:txBody>
          <a:bodyPr/>
          <a:lstStyle/>
          <a:p>
            <a:r>
              <a:t>What I need to get there</a:t>
            </a:r>
          </a:p>
        </p:txBody>
      </p:sp>
      <p:sp>
        <p:nvSpPr>
          <p:cNvPr id="8" name="Text Placeholder 7"/>
          <p:cNvSpPr>
            <a:spLocks noGrp="1"/>
          </p:cNvSpPr>
          <p:nvPr>
            <p:ph type="body" idx="108"/>
          </p:nvPr>
        </p:nvSpPr>
        <p:spPr/>
        <p:txBody>
          <a:bodyPr/>
          <a:lstStyle/>
          <a:p>
            <a:r>
              <a:t>From product: [ ]</a:t>
            </a:r>
          </a:p>
          <a:p>
            <a:r>
              <a:t>From marketing: [ ]</a:t>
            </a:r>
          </a:p>
          <a:p>
            <a:r>
              <a:t>From pricing: [ ]</a:t>
            </a:r>
          </a:p>
          <a:p>
            <a:r>
              <a:t>From Nate: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