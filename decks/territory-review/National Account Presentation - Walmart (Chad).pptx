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Ten minutes. Six slides. Real sites, programs, and job names. No new data pulls. Pricing gets its own block on Day 2, leave it out of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1. Pre-filled. Add two sentences on what the numbers don't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for Chad. Which products are performing across the Walmart sites and why Walmart keeps choosing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3. The two or three things Walmart counts on us for. Then the one product or resource gap that costs you the most business.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for Chad. How you keep mindshare inside Walmart and with their integrators.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5. Three wins, one loss. For each win: the job, the competitor, and what won it. For the loss: what decided it, and what we could have done differently. Real jobs, real names. If the loss came down to the number, say what else was true.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6. Three projects you're going after, one you're going to grow, one thing you'd change about how we run sales.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COVER-image-2.jpeg"/><Relationship Id="rId3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SECTION-image-2.jpeg"/><Relationship Id="rId3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image" Target="../media/AGENDA-image-2.jpeg"/><Relationship Id="rId3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image" Target="../media/TITLE_CONTENT-image-2.jpeg"/><Relationship Id="rId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image" Target="../media/TWO_CONTENT-image-2.jpeg"/><Relationship Id="rId3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image" Target="../media/THREE_CARDS-image-2.jpeg"/><Relationship Id="rId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image" Target="../media/BIG_NUMBERS-image-2.jpeg"/><Relationship Id="rId3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CONTENT_VISUAL-image-2.jpeg"/><Relationship Id="rId3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FULL_VISUAL-image-2.jpeg"/><Relationship Id="rId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COMPARISON-image-2.jpeg"/><Relationship Id="rId3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image" Target="../media/TIMELINE-image-2.jpeg"/><Relationship Id="rId3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KEY_MESSAGE-image-2.jpeg"/><Relationship Id="rId3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NEXT_STEPS-image-2.jpeg"/><Relationship Id="rId3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CLOSING-image-2.jpeg"/><Relationship Id="rId3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image-1016-2.png"/><Relationship Id="rId3" Type="http://schemas.openxmlformats.org/officeDocument/2006/relationships/image" Target="../media/COVER_MASCOT-image-3.jpeg"/><Relationship Id="rId4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58368"/>
            <a:ext cx="2377440" cy="803189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731520" y="2212848"/>
            <a:ext cx="69494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BRIEFING</a:t>
            </a:r>
            <a:endParaRPr lang="en-US" sz="1100" dirty="0"/>
          </a:p>
        </p:txBody>
      </p:sp>
      <p:sp>
        <p:nvSpPr>
          <p:cNvPr id="4" name="Shape 0"/>
          <p:cNvSpPr/>
          <p:nvPr/>
        </p:nvSpPr>
        <p:spPr>
          <a:xfrm>
            <a:off x="731520" y="268833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731520" y="2907792"/>
            <a:ext cx="6949440" cy="1627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6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46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46634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on what this deck argues</a:t>
            </a:r>
            <a:endParaRPr lang="en-US" sz="17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5998464"/>
            <a:ext cx="69494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|  Audience  |  Month Year</a:t>
            </a:r>
            <a:endParaRPr lang="en-US" sz="115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731520" y="2212848"/>
            <a:ext cx="2926080" cy="1325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8600" b="1" spc="-200" kern="0" dirty="0">
                <a:solidFill>
                  <a:srgbClr val="A9D9B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8600" b="1" spc="-200" kern="0" dirty="0">
                <a:solidFill>
                  <a:srgbClr val="A9D9BF">
                    <a:alpha val="5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4" name="Shape 0"/>
          <p:cNvSpPr/>
          <p:nvPr/>
        </p:nvSpPr>
        <p:spPr>
          <a:xfrm>
            <a:off x="731520" y="3712464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731520" y="3986784"/>
            <a:ext cx="694944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800" b="1" spc="-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name</a:t>
            </a:r>
            <a:endParaRPr lang="en-US" sz="38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4956048"/>
            <a:ext cx="694944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this section settles.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cover and what we decide.</a:t>
            </a:r>
            <a:endParaRPr lang="en-US" sz="1600" dirty="0"/>
          </a:p>
        </p:txBody>
      </p:sp>
      <p:sp>
        <p:nvSpPr>
          <p:cNvPr id="5" name="Text 0"/>
          <p:cNvSpPr txBox="1"/>
          <p:nvPr/>
        </p:nvSpPr>
        <p:spPr>
          <a:xfrm>
            <a:off x="731520" y="2167128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1508760" y="2167128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8869680" y="2167128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8" name="Shape 1"/>
          <p:cNvSpPr/>
          <p:nvPr/>
        </p:nvSpPr>
        <p:spPr>
          <a:xfrm>
            <a:off x="731520" y="2770632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9" name="Text 2"/>
          <p:cNvSpPr txBox="1"/>
          <p:nvPr/>
        </p:nvSpPr>
        <p:spPr>
          <a:xfrm>
            <a:off x="731520" y="2916936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000" dirty="0"/>
          </a:p>
        </p:txBody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1508760" y="2916936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1" name="Text 3"/>
          <p:cNvSpPr txBox="1"/>
          <p:nvPr>
            <p:ph idx="109" type="body" hasCustomPrompt="1"/>
          </p:nvPr>
        </p:nvSpPr>
        <p:spPr>
          <a:xfrm>
            <a:off x="8869680" y="2916936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12" name="Shape 3"/>
          <p:cNvSpPr/>
          <p:nvPr/>
        </p:nvSpPr>
        <p:spPr>
          <a:xfrm>
            <a:off x="731520" y="3520440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3" name="Text 4"/>
          <p:cNvSpPr txBox="1"/>
          <p:nvPr/>
        </p:nvSpPr>
        <p:spPr>
          <a:xfrm>
            <a:off x="731520" y="3666744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0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1508760" y="3666744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5" name="Text 5"/>
          <p:cNvSpPr txBox="1"/>
          <p:nvPr>
            <p:ph idx="113" type="body" hasCustomPrompt="1"/>
          </p:nvPr>
        </p:nvSpPr>
        <p:spPr>
          <a:xfrm>
            <a:off x="8869680" y="3666744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16" name="Shape 5"/>
          <p:cNvSpPr/>
          <p:nvPr/>
        </p:nvSpPr>
        <p:spPr>
          <a:xfrm>
            <a:off x="731520" y="4270248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7" name="Text 6"/>
          <p:cNvSpPr txBox="1"/>
          <p:nvPr/>
        </p:nvSpPr>
        <p:spPr>
          <a:xfrm>
            <a:off x="731520" y="4416552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0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1508760" y="4416552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869680" y="4416552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20" name="Shape 7"/>
          <p:cNvSpPr/>
          <p:nvPr/>
        </p:nvSpPr>
        <p:spPr>
          <a:xfrm>
            <a:off x="731520" y="5020056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21" name="Text 8"/>
          <p:cNvSpPr txBox="1"/>
          <p:nvPr/>
        </p:nvSpPr>
        <p:spPr>
          <a:xfrm>
            <a:off x="731520" y="5166360"/>
            <a:ext cx="658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000" dirty="0"/>
          </a:p>
        </p:txBody>
      </p:sp>
      <p:sp>
        <p:nvSpPr>
          <p:cNvPr id="22" name="Text 9"/>
          <p:cNvSpPr txBox="1"/>
          <p:nvPr>
            <p:ph idx="120" type="body" hasCustomPrompt="1"/>
          </p:nvPr>
        </p:nvSpPr>
        <p:spPr>
          <a:xfrm>
            <a:off x="1508760" y="5166360"/>
            <a:ext cx="786384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b="1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 item</a:t>
            </a:r>
            <a:endParaRPr lang="en-US" sz="1700" dirty="0"/>
          </a:p>
        </p:txBody>
      </p:sp>
      <p:sp>
        <p:nvSpPr>
          <p:cNvPr id="23" name="Text 9"/>
          <p:cNvSpPr txBox="1"/>
          <p:nvPr>
            <p:ph idx="121" type="body" hasCustomPrompt="1"/>
          </p:nvPr>
        </p:nvSpPr>
        <p:spPr>
          <a:xfrm>
            <a:off x="8869680" y="5166360"/>
            <a:ext cx="2587752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2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min</a:t>
            </a:r>
            <a:endParaRPr lang="en-US" sz="1200" dirty="0"/>
          </a:p>
        </p:txBody>
      </p:sp>
      <p:sp>
        <p:nvSpPr>
          <p:cNvPr id="24" name="Shape 9"/>
          <p:cNvSpPr/>
          <p:nvPr/>
        </p:nvSpPr>
        <p:spPr>
          <a:xfrm>
            <a:off x="731520" y="5769864"/>
            <a:ext cx="10728655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pic>
        <p:nvPicPr>
          <p:cNvPr id="25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content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_CONTEN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51206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HEADING</a:t>
            </a:r>
            <a:endParaRPr lang="en-US" sz="1100" dirty="0"/>
          </a:p>
        </p:txBody>
      </p:sp>
      <p:sp>
        <p:nvSpPr>
          <p:cNvPr id="6" name="Shape 0"/>
          <p:cNvSpPr/>
          <p:nvPr/>
        </p:nvSpPr>
        <p:spPr>
          <a:xfrm>
            <a:off x="731520" y="2505456"/>
            <a:ext cx="5120640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2651760"/>
            <a:ext cx="512064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content</a:t>
            </a:r>
            <a:endParaRPr lang="en-US" sz="15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6519672" y="2121408"/>
            <a:ext cx="493776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24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HEADING</a:t>
            </a:r>
            <a:endParaRPr lang="en-US" sz="1100" dirty="0"/>
          </a:p>
        </p:txBody>
      </p:sp>
      <p:sp>
        <p:nvSpPr>
          <p:cNvPr id="9" name="Shape 1"/>
          <p:cNvSpPr/>
          <p:nvPr/>
        </p:nvSpPr>
        <p:spPr>
          <a:xfrm>
            <a:off x="6519672" y="2505456"/>
            <a:ext cx="4937760" cy="0"/>
          </a:xfrm>
          <a:prstGeom prst="line">
            <a:avLst/>
          </a:prstGeom>
          <a:noFill/>
          <a:ln w="12700">
            <a:solidFill>
              <a:srgbClr val="E2E6E3"/>
            </a:solidFill>
            <a:prstDash val="solid"/>
          </a:ln>
        </p:spPr>
      </p:sp>
      <p:sp>
        <p:nvSpPr>
          <p:cNvPr id="10" name="Text 2"/>
          <p:cNvSpPr txBox="1"/>
          <p:nvPr>
            <p:ph idx="108" type="body" hasCustomPrompt="1"/>
          </p:nvPr>
        </p:nvSpPr>
        <p:spPr>
          <a:xfrm>
            <a:off x="6519672" y="2651760"/>
            <a:ext cx="4937760" cy="3383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content</a:t>
            </a:r>
            <a:endParaRPr lang="en-US" sz="1500" dirty="0"/>
          </a:p>
        </p:txBody>
      </p:sp>
      <p:sp>
        <p:nvSpPr>
          <p:cNvPr id="11" name="Text 2"/>
          <p:cNvSpPr txBox="1"/>
          <p:nvPr>
            <p:ph idx="109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2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REE_CARD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6" name="Text 1"/>
          <p:cNvSpPr txBox="1"/>
          <p:nvPr/>
        </p:nvSpPr>
        <p:spPr>
          <a:xfrm>
            <a:off x="1097280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Shape 2"/>
          <p:cNvSpPr/>
          <p:nvPr/>
        </p:nvSpPr>
        <p:spPr>
          <a:xfrm>
            <a:off x="1097280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1097280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9" name="Text 3"/>
          <p:cNvSpPr txBox="1"/>
          <p:nvPr>
            <p:ph idx="107" type="body" hasCustomPrompt="1"/>
          </p:nvPr>
        </p:nvSpPr>
        <p:spPr>
          <a:xfrm>
            <a:off x="1097280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10" name="Shape 3"/>
          <p:cNvSpPr/>
          <p:nvPr/>
        </p:nvSpPr>
        <p:spPr>
          <a:xfrm>
            <a:off x="4407408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1" name="Text 4"/>
          <p:cNvSpPr txBox="1"/>
          <p:nvPr/>
        </p:nvSpPr>
        <p:spPr>
          <a:xfrm>
            <a:off x="4773168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12" name="Shape 5"/>
          <p:cNvSpPr/>
          <p:nvPr/>
        </p:nvSpPr>
        <p:spPr>
          <a:xfrm>
            <a:off x="4773168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4773168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773168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15" name="Shape 6"/>
          <p:cNvSpPr/>
          <p:nvPr/>
        </p:nvSpPr>
        <p:spPr>
          <a:xfrm>
            <a:off x="8083296" y="2121408"/>
            <a:ext cx="3392424" cy="3584448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6" name="Text 7"/>
          <p:cNvSpPr txBox="1"/>
          <p:nvPr/>
        </p:nvSpPr>
        <p:spPr>
          <a:xfrm>
            <a:off x="8449056" y="2432304"/>
            <a:ext cx="1097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Shape 8"/>
          <p:cNvSpPr/>
          <p:nvPr/>
        </p:nvSpPr>
        <p:spPr>
          <a:xfrm>
            <a:off x="8449056" y="3017520"/>
            <a:ext cx="548640" cy="41148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8449056" y="3255264"/>
            <a:ext cx="2660904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heading</a:t>
            </a:r>
            <a:endParaRPr lang="en-US" sz="1800" dirty="0"/>
          </a:p>
        </p:txBody>
      </p:sp>
      <p:sp>
        <p:nvSpPr>
          <p:cNvPr id="19" name="Text 9"/>
          <p:cNvSpPr txBox="1"/>
          <p:nvPr>
            <p:ph idx="117" type="body" hasCustomPrompt="1"/>
          </p:nvPr>
        </p:nvSpPr>
        <p:spPr>
          <a:xfrm>
            <a:off x="8449056" y="3986784"/>
            <a:ext cx="2660904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5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or three lines on what this is and why it matters.</a:t>
            </a:r>
            <a:endParaRPr lang="en-US" sz="1350" dirty="0"/>
          </a:p>
        </p:txBody>
      </p:sp>
      <p:sp>
        <p:nvSpPr>
          <p:cNvPr id="20" name="Text 9"/>
          <p:cNvSpPr txBox="1"/>
          <p:nvPr>
            <p:ph idx="118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21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_NUMBER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731520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9" name="Shape 1"/>
          <p:cNvSpPr/>
          <p:nvPr/>
        </p:nvSpPr>
        <p:spPr>
          <a:xfrm>
            <a:off x="4407408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10" name="Text 2"/>
          <p:cNvSpPr txBox="1"/>
          <p:nvPr>
            <p:ph idx="108" type="body" hasCustomPrompt="1"/>
          </p:nvPr>
        </p:nvSpPr>
        <p:spPr>
          <a:xfrm>
            <a:off x="4407408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11" name="Text 2"/>
          <p:cNvSpPr txBox="1"/>
          <p:nvPr>
            <p:ph idx="109" type="body" hasCustomPrompt="1"/>
          </p:nvPr>
        </p:nvSpPr>
        <p:spPr>
          <a:xfrm>
            <a:off x="4407408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12" name="Text 2"/>
          <p:cNvSpPr txBox="1"/>
          <p:nvPr>
            <p:ph idx="110" type="body" hasCustomPrompt="1"/>
          </p:nvPr>
        </p:nvSpPr>
        <p:spPr>
          <a:xfrm>
            <a:off x="4407408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13" name="Shape 2"/>
          <p:cNvSpPr/>
          <p:nvPr/>
        </p:nvSpPr>
        <p:spPr>
          <a:xfrm>
            <a:off x="8083296" y="2121408"/>
            <a:ext cx="3392424" cy="0"/>
          </a:xfrm>
          <a:prstGeom prst="line">
            <a:avLst/>
          </a:prstGeom>
          <a:noFill/>
          <a:ln w="31750">
            <a:solidFill>
              <a:srgbClr val="3C7D4D"/>
            </a:solidFill>
            <a:prstDash val="solid"/>
          </a:ln>
        </p:spPr>
      </p:sp>
      <p:sp>
        <p:nvSpPr>
          <p:cNvPr id="14" name="Text 3"/>
          <p:cNvSpPr txBox="1"/>
          <p:nvPr>
            <p:ph idx="112" type="body" hasCustomPrompt="1"/>
          </p:nvPr>
        </p:nvSpPr>
        <p:spPr>
          <a:xfrm>
            <a:off x="8083296" y="2359152"/>
            <a:ext cx="3392424" cy="1051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800" b="1" spc="-15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00%</a:t>
            </a:r>
            <a:endParaRPr lang="en-US" sz="4800" dirty="0"/>
          </a:p>
        </p:txBody>
      </p:sp>
      <p:sp>
        <p:nvSpPr>
          <p:cNvPr id="15" name="Text 3"/>
          <p:cNvSpPr txBox="1"/>
          <p:nvPr>
            <p:ph idx="113" type="body" hasCustomPrompt="1"/>
          </p:nvPr>
        </p:nvSpPr>
        <p:spPr>
          <a:xfrm>
            <a:off x="8083296" y="3493008"/>
            <a:ext cx="311810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1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MEASURES</a:t>
            </a:r>
            <a:endParaRPr lang="en-US" sz="1100" dirty="0"/>
          </a:p>
        </p:txBody>
      </p:sp>
      <p:sp>
        <p:nvSpPr>
          <p:cNvPr id="16" name="Text 3"/>
          <p:cNvSpPr txBox="1"/>
          <p:nvPr>
            <p:ph idx="114" type="body" hasCustomPrompt="1"/>
          </p:nvPr>
        </p:nvSpPr>
        <p:spPr>
          <a:xfrm>
            <a:off x="8083296" y="3895344"/>
            <a:ext cx="3118104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 or the comparison.</a:t>
            </a:r>
            <a:endParaRPr lang="en-US" sz="1300" dirty="0"/>
          </a:p>
        </p:txBody>
      </p:sp>
      <p:sp>
        <p:nvSpPr>
          <p:cNvPr id="17" name="Text 3"/>
          <p:cNvSpPr txBox="1"/>
          <p:nvPr>
            <p:ph idx="115" type="body" hasCustomPrompt="1"/>
          </p:nvPr>
        </p:nvSpPr>
        <p:spPr>
          <a:xfrm>
            <a:off x="731520" y="5138928"/>
            <a:ext cx="1072865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what, and what we do about it.</a:t>
            </a:r>
            <a:endParaRPr lang="en-US" sz="1500" dirty="0"/>
          </a:p>
        </p:txBody>
      </p:sp>
      <p:sp>
        <p:nvSpPr>
          <p:cNvPr id="18" name="Text 3"/>
          <p:cNvSpPr txBox="1"/>
          <p:nvPr>
            <p:ph idx="116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9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VISU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3" type="body" hasCustomPrompt="1"/>
          </p:nvPr>
        </p:nvSpPr>
        <p:spPr>
          <a:xfrm>
            <a:off x="731520" y="2121408"/>
            <a:ext cx="4572000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Supporting points</a:t>
            </a:r>
            <a:endParaRPr lang="en-US" sz="1500" dirty="0"/>
          </a:p>
        </p:txBody>
      </p:sp>
      <p:sp>
        <p:nvSpPr>
          <p:cNvPr id="6" name="Text 0"/>
          <p:cNvSpPr/>
          <p:nvPr>
            <p:ph idx="104" hasCustomPrompt="1"/>
          </p:nvPr>
        </p:nvSpPr>
        <p:spPr>
          <a:xfrm>
            <a:off x="5943600" y="2121408"/>
            <a:ext cx="5513832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7" name="Text 0"/>
          <p:cNvSpPr txBox="1"/>
          <p:nvPr>
            <p:ph idx="105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8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1009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_VISU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731520" y="2121408"/>
            <a:ext cx="5230368" cy="475488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987552" y="2121408"/>
            <a:ext cx="4718304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A</a:t>
            </a:r>
            <a:endParaRPr lang="en-US" sz="1300" dirty="0"/>
          </a:p>
        </p:txBody>
      </p:sp>
      <p:sp>
        <p:nvSpPr>
          <p:cNvPr id="7" name="Shape 1"/>
          <p:cNvSpPr/>
          <p:nvPr/>
        </p:nvSpPr>
        <p:spPr>
          <a:xfrm>
            <a:off x="731520" y="2596896"/>
            <a:ext cx="5230368" cy="2980944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8" name="Text 2"/>
          <p:cNvSpPr txBox="1"/>
          <p:nvPr>
            <p:ph idx="106" type="body" hasCustomPrompt="1"/>
          </p:nvPr>
        </p:nvSpPr>
        <p:spPr>
          <a:xfrm>
            <a:off x="987552" y="2834640"/>
            <a:ext cx="4718304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gets us, what it costs, what breaks.</a:t>
            </a:r>
            <a:endParaRPr lang="en-US" sz="1450" dirty="0"/>
          </a:p>
        </p:txBody>
      </p:sp>
      <p:sp>
        <p:nvSpPr>
          <p:cNvPr id="9" name="Shape 2"/>
          <p:cNvSpPr/>
          <p:nvPr/>
        </p:nvSpPr>
        <p:spPr>
          <a:xfrm>
            <a:off x="6227064" y="2121408"/>
            <a:ext cx="5230368" cy="475488"/>
          </a:xfrm>
          <a:prstGeom prst="rect">
            <a:avLst/>
          </a:prstGeom>
          <a:solidFill>
            <a:srgbClr val="5B6670"/>
          </a:solidFill>
          <a:ln/>
        </p:spPr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6483096" y="2121408"/>
            <a:ext cx="4718304" cy="47548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B</a:t>
            </a:r>
            <a:endParaRPr lang="en-US" sz="1300" dirty="0"/>
          </a:p>
        </p:txBody>
      </p:sp>
      <p:sp>
        <p:nvSpPr>
          <p:cNvPr id="11" name="Shape 3"/>
          <p:cNvSpPr/>
          <p:nvPr/>
        </p:nvSpPr>
        <p:spPr>
          <a:xfrm>
            <a:off x="6227064" y="2596896"/>
            <a:ext cx="5230368" cy="2980944"/>
          </a:xfrm>
          <a:prstGeom prst="rect">
            <a:avLst/>
          </a:prstGeom>
          <a:solidFill>
            <a:srgbClr val="F2F5F2"/>
          </a:solidFill>
          <a:ln/>
        </p:spPr>
      </p:sp>
      <p:sp>
        <p:nvSpPr>
          <p:cNvPr id="12" name="Text 4"/>
          <p:cNvSpPr txBox="1"/>
          <p:nvPr>
            <p:ph idx="110" type="body" hasCustomPrompt="1"/>
          </p:nvPr>
        </p:nvSpPr>
        <p:spPr>
          <a:xfrm>
            <a:off x="6483096" y="2834640"/>
            <a:ext cx="4718304" cy="2560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5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gets us, what it costs, what breaks.</a:t>
            </a:r>
            <a:endParaRPr lang="en-US" sz="1450" dirty="0"/>
          </a:p>
        </p:txBody>
      </p:sp>
      <p:sp>
        <p:nvSpPr>
          <p:cNvPr id="13" name="Text 4"/>
          <p:cNvSpPr txBox="1"/>
          <p:nvPr>
            <p:ph idx="111" type="body" hasCustomPrompt="1"/>
          </p:nvPr>
        </p:nvSpPr>
        <p:spPr>
          <a:xfrm>
            <a:off x="731520" y="5742432"/>
            <a:ext cx="1072865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</a:t>
            </a:r>
            <a:endParaRPr lang="en-US" sz="1500" dirty="0"/>
          </a:p>
        </p:txBody>
      </p:sp>
      <p:sp>
        <p:nvSpPr>
          <p:cNvPr id="14" name="Text 4"/>
          <p:cNvSpPr txBox="1"/>
          <p:nvPr>
            <p:ph idx="112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15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title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 thing this slide proves.</a:t>
            </a:r>
            <a:endParaRPr lang="en-US" sz="1600" dirty="0"/>
          </a:p>
        </p:txBody>
      </p:sp>
      <p:sp>
        <p:nvSpPr>
          <p:cNvPr id="5" name="Shape 0"/>
          <p:cNvSpPr/>
          <p:nvPr/>
        </p:nvSpPr>
        <p:spPr>
          <a:xfrm>
            <a:off x="1005840" y="2706624"/>
            <a:ext cx="10180015" cy="0"/>
          </a:xfrm>
          <a:prstGeom prst="line">
            <a:avLst/>
          </a:prstGeom>
          <a:noFill/>
          <a:ln w="25400">
            <a:solidFill>
              <a:srgbClr val="E2E6E3"/>
            </a:solidFill>
            <a:prstDash val="solid"/>
          </a:ln>
        </p:spPr>
      </p:sp>
      <p:sp>
        <p:nvSpPr>
          <p:cNvPr id="6" name="Shape 1"/>
          <p:cNvSpPr/>
          <p:nvPr/>
        </p:nvSpPr>
        <p:spPr>
          <a:xfrm>
            <a:off x="749808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7" name="Text 2"/>
          <p:cNvSpPr txBox="1"/>
          <p:nvPr/>
        </p:nvSpPr>
        <p:spPr>
          <a:xfrm>
            <a:off x="749808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731520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9" name="Text 3"/>
          <p:cNvSpPr txBox="1"/>
          <p:nvPr>
            <p:ph idx="107" type="body" hasCustomPrompt="1"/>
          </p:nvPr>
        </p:nvSpPr>
        <p:spPr>
          <a:xfrm>
            <a:off x="731520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10" name="Text 3"/>
          <p:cNvSpPr txBox="1"/>
          <p:nvPr>
            <p:ph idx="108" type="body" hasCustomPrompt="1"/>
          </p:nvPr>
        </p:nvSpPr>
        <p:spPr>
          <a:xfrm>
            <a:off x="731520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11" name="Shape 3"/>
          <p:cNvSpPr/>
          <p:nvPr/>
        </p:nvSpPr>
        <p:spPr>
          <a:xfrm>
            <a:off x="3639312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12" name="Text 4"/>
          <p:cNvSpPr txBox="1"/>
          <p:nvPr/>
        </p:nvSpPr>
        <p:spPr>
          <a:xfrm>
            <a:off x="3639312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3621024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3621024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15" name="Text 5"/>
          <p:cNvSpPr txBox="1"/>
          <p:nvPr>
            <p:ph idx="113" type="body" hasCustomPrompt="1"/>
          </p:nvPr>
        </p:nvSpPr>
        <p:spPr>
          <a:xfrm>
            <a:off x="3621024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16" name="Shape 5"/>
          <p:cNvSpPr/>
          <p:nvPr/>
        </p:nvSpPr>
        <p:spPr>
          <a:xfrm>
            <a:off x="6528816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17" name="Text 6"/>
          <p:cNvSpPr txBox="1"/>
          <p:nvPr/>
        </p:nvSpPr>
        <p:spPr>
          <a:xfrm>
            <a:off x="6528816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6510528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6510528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20" name="Text 7"/>
          <p:cNvSpPr txBox="1"/>
          <p:nvPr>
            <p:ph idx="118" type="body" hasCustomPrompt="1"/>
          </p:nvPr>
        </p:nvSpPr>
        <p:spPr>
          <a:xfrm>
            <a:off x="6510528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21" name="Shape 7"/>
          <p:cNvSpPr/>
          <p:nvPr/>
        </p:nvSpPr>
        <p:spPr>
          <a:xfrm>
            <a:off x="9418320" y="2450592"/>
            <a:ext cx="512064" cy="512064"/>
          </a:xfrm>
          <a:prstGeom prst="rect">
            <a:avLst/>
          </a:prstGeom>
          <a:solidFill>
            <a:srgbClr val="3C7D4D"/>
          </a:solidFill>
          <a:ln/>
        </p:spPr>
      </p:sp>
      <p:sp>
        <p:nvSpPr>
          <p:cNvPr id="22" name="Text 8"/>
          <p:cNvSpPr txBox="1"/>
          <p:nvPr/>
        </p:nvSpPr>
        <p:spPr>
          <a:xfrm>
            <a:off x="9418320" y="245059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23" name="Text 9"/>
          <p:cNvSpPr txBox="1"/>
          <p:nvPr>
            <p:ph idx="121" type="body" hasCustomPrompt="1"/>
          </p:nvPr>
        </p:nvSpPr>
        <p:spPr>
          <a:xfrm>
            <a:off x="9400032" y="2121408"/>
            <a:ext cx="2624328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50" b="1" spc="180" kern="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1050" dirty="0"/>
          </a:p>
        </p:txBody>
      </p:sp>
      <p:sp>
        <p:nvSpPr>
          <p:cNvPr id="24" name="Text 9"/>
          <p:cNvSpPr txBox="1"/>
          <p:nvPr>
            <p:ph idx="122" type="body" hasCustomPrompt="1"/>
          </p:nvPr>
        </p:nvSpPr>
        <p:spPr>
          <a:xfrm>
            <a:off x="9400032" y="3145536"/>
            <a:ext cx="2487168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spc="-3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</a:t>
            </a:r>
            <a:endParaRPr lang="en-US" sz="1600" dirty="0"/>
          </a:p>
        </p:txBody>
      </p:sp>
      <p:sp>
        <p:nvSpPr>
          <p:cNvPr id="25" name="Text 9"/>
          <p:cNvSpPr txBox="1"/>
          <p:nvPr>
            <p:ph idx="123" type="body" hasCustomPrompt="1"/>
          </p:nvPr>
        </p:nvSpPr>
        <p:spPr>
          <a:xfrm>
            <a:off x="9400032" y="3767328"/>
            <a:ext cx="2487168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3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happens and who owns it.</a:t>
            </a:r>
            <a:endParaRPr lang="en-US" sz="1300" dirty="0"/>
          </a:p>
        </p:txBody>
      </p:sp>
      <p:sp>
        <p:nvSpPr>
          <p:cNvPr id="26" name="Text 9"/>
          <p:cNvSpPr txBox="1"/>
          <p:nvPr>
            <p:ph idx="12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2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EY_MESS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1" type="body" hasCustomPrompt="1"/>
          </p:nvPr>
        </p:nvSpPr>
        <p:spPr>
          <a:xfrm>
            <a:off x="1051560" y="2139696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</a:t>
            </a:r>
            <a:endParaRPr lang="en-US" sz="1100" dirty="0"/>
          </a:p>
        </p:txBody>
      </p:sp>
      <p:sp>
        <p:nvSpPr>
          <p:cNvPr id="4" name="Shape 0"/>
          <p:cNvSpPr/>
          <p:nvPr/>
        </p:nvSpPr>
        <p:spPr>
          <a:xfrm>
            <a:off x="1051560" y="2615184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5" name="Text 1"/>
          <p:cNvSpPr txBox="1"/>
          <p:nvPr>
            <p:ph idx="103" type="title" hasCustomPrompt="1"/>
          </p:nvPr>
        </p:nvSpPr>
        <p:spPr>
          <a:xfrm>
            <a:off x="1051560" y="2944368"/>
            <a:ext cx="996696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 that carries the whole argument.</a:t>
            </a:r>
            <a:endParaRPr lang="en-US" sz="36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1051560" y="4809744"/>
            <a:ext cx="8595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support, or the ask.</a:t>
            </a:r>
            <a:endParaRPr lang="en-US" sz="1500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XT_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0" type="body" hasCustomPrompt="1"/>
          </p:nvPr>
        </p:nvSpPr>
        <p:spPr>
          <a:xfrm>
            <a:off x="731520" y="548640"/>
            <a:ext cx="10728655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00" kern="0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</a:t>
            </a:r>
            <a:endParaRPr lang="en-US" sz="1100" dirty="0"/>
          </a:p>
        </p:txBody>
      </p:sp>
      <p:sp>
        <p:nvSpPr>
          <p:cNvPr id="3" name="Text 0"/>
          <p:cNvSpPr txBox="1"/>
          <p:nvPr>
            <p:ph idx="101" type="title" hasCustomPrompt="1"/>
          </p:nvPr>
        </p:nvSpPr>
        <p:spPr>
          <a:xfrm>
            <a:off x="731520" y="822960"/>
            <a:ext cx="10058400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400" b="1" spc="-60" kern="0" dirty="0">
                <a:solidFill>
                  <a:srgbClr val="1518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1591056"/>
            <a:ext cx="10728655" cy="42062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3C7D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decided today.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731520" y="2121408"/>
            <a:ext cx="10728655" cy="39136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 </a:t>
            </a:r>
            <a:endParaRPr lang="en-US" dirty="0"/>
          </a:p>
        </p:txBody>
      </p:sp>
      <p:sp>
        <p:nvSpPr>
          <p:cNvPr id="6" name="Text 0"/>
          <p:cNvSpPr txBox="1"/>
          <p:nvPr>
            <p:ph idx="104" type="body" hasCustomPrompt="1"/>
          </p:nvPr>
        </p:nvSpPr>
        <p:spPr>
          <a:xfrm>
            <a:off x="731520" y="6364224"/>
            <a:ext cx="786384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900" dirty="0">
                <a:solidFill>
                  <a:srgbClr val="5B66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endParaRPr lang="en-US" sz="900" dirty="0"/>
          </a:p>
        </p:txBody>
      </p:sp>
      <p:pic>
        <p:nvPicPr>
          <p:cNvPr id="7" name="Image 0" descr="brand/logo_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25328" y="6272784"/>
            <a:ext cx="1325880" cy="44793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h_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694944"/>
            <a:ext cx="2377440" cy="80318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1520" y="305409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4" name="Text 1"/>
          <p:cNvSpPr txBox="1"/>
          <p:nvPr>
            <p:ph idx="102" type="title" hasCustomPrompt="1"/>
          </p:nvPr>
        </p:nvSpPr>
        <p:spPr>
          <a:xfrm>
            <a:off x="731520" y="3364992"/>
            <a:ext cx="6949440" cy="8961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spc="-7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decided</a:t>
            </a:r>
            <a:endParaRPr lang="en-US" sz="3600" dirty="0"/>
          </a:p>
        </p:txBody>
      </p:sp>
      <p:sp>
        <p:nvSpPr>
          <p:cNvPr id="5" name="Text 1"/>
          <p:cNvSpPr txBox="1"/>
          <p:nvPr>
            <p:ph idx="103" type="body" hasCustomPrompt="1"/>
          </p:nvPr>
        </p:nvSpPr>
        <p:spPr>
          <a:xfrm>
            <a:off x="731520" y="4334256"/>
            <a:ext cx="694944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5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Decision, owner, and date.</a:t>
            </a:r>
            <a:endParaRPr lang="en-US" sz="1500" dirty="0"/>
          </a:p>
        </p:txBody>
      </p:sp>
      <p:sp>
        <p:nvSpPr>
          <p:cNvPr id="6" name="Text 1"/>
          <p:cNvSpPr txBox="1"/>
          <p:nvPr>
            <p:ph idx="104" type="body" hasCustomPrompt="1"/>
          </p:nvPr>
        </p:nvSpPr>
        <p:spPr>
          <a:xfrm>
            <a:off x="731520" y="5961888"/>
            <a:ext cx="694944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 |  Title  |  email@steelking.com</a:t>
            </a:r>
            <a:endParaRPr lang="en-US" sz="1150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_MASCOT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rand/logo_kn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1481328"/>
            <a:ext cx="3658880" cy="5212080"/>
          </a:xfrm>
          <a:prstGeom prst="rect">
            <a:avLst/>
          </a:prstGeom>
        </p:spPr>
      </p:pic>
      <p:pic>
        <p:nvPicPr>
          <p:cNvPr id="3" name="Image 1" descr="brand/logo_h_re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658368"/>
            <a:ext cx="2377440" cy="803189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2" type="body" hasCustomPrompt="1"/>
          </p:nvPr>
        </p:nvSpPr>
        <p:spPr>
          <a:xfrm>
            <a:off x="731520" y="2395728"/>
            <a:ext cx="658368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00" b="1" spc="340" kern="0" dirty="0">
                <a:solidFill>
                  <a:srgbClr val="A9D9B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DEALER MEETING</a:t>
            </a:r>
            <a:endParaRPr lang="en-US" sz="1100" dirty="0"/>
          </a:p>
        </p:txBody>
      </p:sp>
      <p:sp>
        <p:nvSpPr>
          <p:cNvPr id="5" name="Shape 0"/>
          <p:cNvSpPr/>
          <p:nvPr/>
        </p:nvSpPr>
        <p:spPr>
          <a:xfrm>
            <a:off x="731520" y="2871216"/>
            <a:ext cx="777240" cy="50292"/>
          </a:xfrm>
          <a:prstGeom prst="rect">
            <a:avLst/>
          </a:prstGeom>
          <a:solidFill>
            <a:srgbClr val="F2A900"/>
          </a:solidFill>
          <a:ln/>
        </p:spPr>
      </p:sp>
      <p:sp>
        <p:nvSpPr>
          <p:cNvPr id="6" name="Text 1"/>
          <p:cNvSpPr txBox="1"/>
          <p:nvPr>
            <p:ph idx="104" type="title" hasCustomPrompt="1"/>
          </p:nvPr>
        </p:nvSpPr>
        <p:spPr>
          <a:xfrm>
            <a:off x="731520" y="3200400"/>
            <a:ext cx="6583680" cy="16276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spc="-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4400" dirty="0"/>
          </a:p>
        </p:txBody>
      </p:sp>
      <p:sp>
        <p:nvSpPr>
          <p:cNvPr id="7" name="Text 1"/>
          <p:cNvSpPr txBox="1"/>
          <p:nvPr>
            <p:ph idx="105" type="body" hasCustomPrompt="1"/>
          </p:nvPr>
        </p:nvSpPr>
        <p:spPr>
          <a:xfrm>
            <a:off x="731520" y="4956048"/>
            <a:ext cx="658368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E4EF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on what this deck argues</a:t>
            </a:r>
            <a:endParaRPr lang="en-US" sz="1700" dirty="0"/>
          </a:p>
        </p:txBody>
      </p:sp>
      <p:sp>
        <p:nvSpPr>
          <p:cNvPr id="8" name="Text 1"/>
          <p:cNvSpPr txBox="1"/>
          <p:nvPr>
            <p:ph idx="106" type="body" hasCustomPrompt="1"/>
          </p:nvPr>
        </p:nvSpPr>
        <p:spPr>
          <a:xfrm>
            <a:off x="731520" y="5998464"/>
            <a:ext cx="6583680" cy="310896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150" spc="80" kern="0" dirty="0">
                <a:solidFill>
                  <a:srgbClr val="C3DAC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Presenter  |  Audience  |  Month Year</a:t>
            </a:r>
            <a:endParaRPr lang="en-US" sz="115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555480" y="6364224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67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SALES MEETING  ·  NATIONAL ACCOUNT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4"/>
          </p:nvPr>
        </p:nvSpPr>
        <p:spPr/>
        <p:txBody>
          <a:bodyPr/>
          <a:lstStyle/>
          <a:p>
            <a:r>
              <a:t>Walmart, Sam's, and Ambient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Where we're winning, what's performing, and why Walmart keeps choosing us.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Chad  |  Sales Meeting  |  [Month]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NATIONAL ACCOUNT REVIEW  ·  1 OF 6  ·  BY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Walmart in numbers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 on what the numbers say.]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4"/>
          </p:nvPr>
        </p:nvSpPr>
        <p:spPr/>
        <p:txBody>
          <a:bodyPr/>
          <a:lstStyle/>
          <a:p>
            <a:r>
              <a:t>Source: [system], pulled [date]. Quotes are a count. Pre-filled by Nate.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21408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BOOKINGS AND QUOTES BY QUARTER  ·  PRE-FILLED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377440"/>
          <a:ext cx="5120640" cy="1600200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Quarter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Bookings 2025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Bookings 2026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Quotes 2026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Q1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Q2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Q4 to date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YTD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" y="4389120"/>
            <a:ext cx="512064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WHAT THE NUMBERS DON'T SHOW  ·  TWO SENTENCES, YOURS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45152"/>
            <a:ext cx="5120640" cy="1389888"/>
          </a:xfrm>
          <a:prstGeom prst="rect">
            <a:avLst/>
          </a:prstGeom>
          <a:solidFill>
            <a:srgbClr val="F2F5F2"/>
          </a:solidFill>
        </p:spPr>
        <p:txBody>
          <a:bodyPr wrap="square" anchor="t" tIns="54864" bIns="54864">
            <a:noAutofit/>
          </a:bodyPr>
          <a:lstStyle/>
          <a:p>
            <a:r>
              <a:rPr sz="1200" b="0">
                <a:solidFill>
                  <a:srgbClr val="5B6670"/>
                </a:solidFill>
                <a:latin typeface="Arial"/>
              </a:rPr>
              <a:t>[Two sentences.]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9672" y="2121408"/>
            <a:ext cx="4937760" cy="237744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r>
              <a:rPr sz="1100" b="1">
                <a:solidFill>
                  <a:srgbClr val="3C7D4D"/>
                </a:solidFill>
                <a:latin typeface="Arial"/>
              </a:rPr>
              <a:t>TOP PROGRAMS AND SITES, YTD BOOKINGS  ·  PRE-FILLED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519672" y="2377440"/>
          <a:ext cx="4937760" cy="2130552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82880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 programs and sites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YTD bookings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1.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2.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3.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4.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5.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6.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5181A"/>
                          </a:solidFill>
                          <a:latin typeface="Arial"/>
                        </a:rPr>
                        <a:t>7.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NATIONAL ACCOUNT REVIEW  ·  2 OF 6  ·  WHAT'S PERFORMING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What's performing, and why Walmart picks us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Why Walmart keeps choosing us, in their words if you have them.]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21408"/>
          <a:ext cx="10725912" cy="3913630"/>
        </p:xfrm>
        <a:graphic>
          <a:graphicData uri="http://schemas.openxmlformats.org/drawingml/2006/table">
            <a:tbl>
              <a:tblPr firstRow="0" bandRow="0"/>
              <a:tblGrid>
                <a:gridCol w="2377440"/>
                <a:gridCol w="3291840"/>
                <a:gridCol w="505663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Product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Where it's performing: site, program, format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Walmart keeps choosing us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1.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2.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3.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4.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70957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5.  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NATIONAL ACCOUNT REVIEW  ·  3 OF 6  ·  WHAT THEY BUY US FOR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What Walmart buys us for, and what's missing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The thing they count on most, and the gap that costs the most.]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3"/>
          </p:nvPr>
        </p:nvSpPr>
        <p:spPr/>
        <p:txBody>
          <a:bodyPr/>
          <a:lstStyle/>
          <a:p>
            <a:r>
              <a:t>What Walmart and their integrators count on us for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5"/>
          </p:nvPr>
        </p:nvSpPr>
        <p:spPr/>
        <p:txBody>
          <a:bodyPr/>
          <a:lstStyle/>
          <a:p>
            <a:r>
              <a:t>1. [ ]</a:t>
            </a:r>
          </a:p>
          <a:p>
            <a:r>
              <a:t>2. [ ]</a:t>
            </a:r>
          </a:p>
          <a:p>
            <a:r>
              <a:t>3. [ 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The one gap that costs me the most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08"/>
          </p:nvPr>
        </p:nvSpPr>
        <p:spPr/>
        <p:txBody>
          <a:bodyPr/>
          <a:lstStyle/>
          <a:p>
            <a:r>
              <a:t>The gap: [product or resource]</a:t>
            </a:r>
          </a:p>
          <a:p>
            <a:r>
              <a:t>What it costs: [jobs, dealers, or $]</a:t>
            </a:r>
          </a:p>
          <a:p>
            <a:r>
              <a:t>What would fix it: [ 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NATIONAL ACCOUNT REVIEW  ·  4 OF 6  ·  MINDSHARE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How I keep mindshare inside Walmart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What keeps us in the room when engineering turns over.]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Inside Walmart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[How you stay in front of the decision makers as their engineering staff turns over]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With their integrators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[Who they are and how you stay in front of them]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What's working, what isn't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Working: [ ]</a:t>
            </a:r>
          </a:p>
          <a:p>
            <a:r>
              <a:t>Not working: [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NATIONAL ACCOUNT REVIEW  ·  5 OF 6  ·  THREE WINS, ONE LOSS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Three wins, one loss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What the wins have in common.]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2121408"/>
          <a:ext cx="10725912" cy="3913632"/>
        </p:xfrm>
        <a:graphic>
          <a:graphicData uri="http://schemas.openxmlformats.org/drawingml/2006/table">
            <a:tbl>
              <a:tblPr firstRow="0" bandRow="0"/>
              <a:tblGrid>
                <a:gridCol w="1097280"/>
                <a:gridCol w="2743200"/>
                <a:gridCol w="2011680"/>
                <a:gridCol w="2468880"/>
                <a:gridCol w="2404872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Job: dealer, account, job name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Competitor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 won it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Repeatable? How</a:t>
                      </a:r>
                    </a:p>
                  </a:txBody>
                  <a:tcPr marL="73152" marR="73152" marT="27432" marB="27432" anchor="ctr">
                    <a:solidFill>
                      <a:srgbClr val="3C7D4D"/>
                    </a:solidFill>
                    <a:lnL w="6350" cap="flat" cmpd="sng" algn="ctr">
                      <a:solidFill>
                        <a:srgbClr val="3C7D4D"/>
                      </a:solidFill>
                      <a:prstDash val="solid"/>
                    </a:lnL>
                    <a:lnR w="6350" cap="flat" cmpd="sng" algn="ctr">
                      <a:solidFill>
                        <a:srgbClr val="3C7D4D"/>
                      </a:solidFill>
                      <a:prstDash val="solid"/>
                    </a:lnR>
                    <a:lnT w="6350" cap="flat" cmpd="sng" algn="ctr">
                      <a:solidFill>
                        <a:srgbClr val="3C7D4D"/>
                      </a:solidFill>
                      <a:prstDash val="solid"/>
                    </a:lnT>
                    <a:lnB w="6350" cap="flat" cmpd="sng" algn="ctr">
                      <a:solidFill>
                        <a:srgbClr val="3C7D4D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Win 1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Win 2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Win 3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  <a:tr h="8869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5181A"/>
                          </a:solidFill>
                          <a:latin typeface="Arial"/>
                        </a:rPr>
                        <a:t>Loss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>What decided it, and what else was true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5B6670"/>
                          </a:solidFill>
                          <a:latin typeface="Arial"/>
                        </a:rPr>
                        <a:t>What we could have done differently</a:t>
                      </a:r>
                    </a:p>
                  </a:txBody>
                  <a:tcPr marL="73152" marR="73152" marT="27432" marB="27432" anchor="t">
                    <a:solidFill>
                      <a:srgbClr val="FFFFFF"/>
                    </a:solidFill>
                    <a:lnL w="6350" cap="flat" cmpd="sng" algn="ctr">
                      <a:solidFill>
                        <a:srgbClr val="E2E6E3"/>
                      </a:solidFill>
                      <a:prstDash val="solid"/>
                    </a:lnL>
                    <a:lnR w="6350" cap="flat" cmpd="sng" algn="ctr">
                      <a:solidFill>
                        <a:srgbClr val="E2E6E3"/>
                      </a:solidFill>
                      <a:prstDash val="solid"/>
                    </a:lnR>
                    <a:lnT w="6350" cap="flat" cmpd="sng" algn="ctr">
                      <a:solidFill>
                        <a:srgbClr val="E2E6E3"/>
                      </a:solidFill>
                      <a:prstDash val="solid"/>
                    </a:lnT>
                    <a:lnB w="6350" cap="flat" cmpd="sng" algn="ctr">
                      <a:solidFill>
                        <a:srgbClr val="E2E6E3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0"/>
          </p:nvPr>
        </p:nvSpPr>
        <p:spPr/>
        <p:txBody>
          <a:bodyPr/>
          <a:lstStyle/>
          <a:p>
            <a:r>
              <a:t>NATIONAL ACCOUNT REVIEW  ·  6 OF 6  ·  Q4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Q4 plan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02"/>
          </p:nvPr>
        </p:nvSpPr>
        <p:spPr/>
        <p:txBody>
          <a:bodyPr/>
          <a:lstStyle/>
          <a:p>
            <a:r>
              <a:t>[One line. What Q4 looks like if these land.]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06"/>
          </p:nvPr>
        </p:nvSpPr>
        <p:spPr/>
        <p:txBody>
          <a:bodyPr/>
          <a:lstStyle/>
          <a:p>
            <a:r>
              <a:t>Three projects I'm going after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07"/>
          </p:nvPr>
        </p:nvSpPr>
        <p:spPr/>
        <p:txBody>
          <a:bodyPr/>
          <a:lstStyle/>
          <a:p>
            <a:r>
              <a:t>1. [Job, $, close date]</a:t>
            </a:r>
          </a:p>
          <a:p>
            <a:r>
              <a:t>2. [Job, $, close date]</a:t>
            </a:r>
          </a:p>
          <a:p>
            <a:r>
              <a:t>3. [Job, $, close date]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1"/>
          </p:nvPr>
        </p:nvSpPr>
        <p:spPr/>
        <p:txBody>
          <a:bodyPr/>
          <a:lstStyle/>
          <a:p>
            <a:r>
              <a:t>One program or site I'm going to grow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112"/>
          </p:nvPr>
        </p:nvSpPr>
        <p:spPr/>
        <p:txBody>
          <a:bodyPr/>
          <a:lstStyle/>
          <a:p>
            <a:r>
              <a:t>Program or site: [name]</a:t>
            </a:r>
          </a:p>
          <a:p>
            <a:r>
              <a:t>From: [today]</a:t>
            </a:r>
          </a:p>
          <a:p>
            <a:r>
              <a:t>To: [target]</a:t>
            </a:r>
          </a:p>
          <a:p>
            <a:r>
              <a:t>How: [the specific move]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16"/>
          </p:nvPr>
        </p:nvSpPr>
        <p:spPr/>
        <p:txBody>
          <a:bodyPr/>
          <a:lstStyle/>
          <a:p>
            <a:r>
              <a:t>One thing I'd change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17"/>
          </p:nvPr>
        </p:nvSpPr>
        <p:spPr/>
        <p:txBody>
          <a:bodyPr/>
          <a:lstStyle/>
          <a:p>
            <a:r>
              <a:t>What: [about how we run sales]</a:t>
            </a:r>
          </a:p>
          <a:p>
            <a:r>
              <a:t>Why: [ ]</a:t>
            </a:r>
          </a:p>
          <a:p>
            <a:r>
              <a:t>What it would take: [ 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Steel King Industries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Steel King Presentation System</dc:title>
  <dc:subject>PptxGenJS Presentation</dc:subject>
  <dc:creator>Steel King Industries</dc:creator>
  <cp:lastModifiedBy>Steel King Industries</cp:lastModifiedBy>
  <cp:revision>1</cp:revision>
  <dcterms:created xsi:type="dcterms:W3CDTF">2026-09-11T23:28:37Z</dcterms:created>
  <dcterms:modified xsi:type="dcterms:W3CDTF">2026-09-11T23:28:37Z</dcterms:modified>
</cp:coreProperties>
</file>