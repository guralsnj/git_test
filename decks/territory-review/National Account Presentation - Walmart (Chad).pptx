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Six slides. Real names, real jobs. No new data pulls. Pricing gets its own block on Day 2, leave it out of this one.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Pre-filled by Nate. Add two sentences on what the numbers don't show. Two minutes, then move 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for Chad. Which products are performing across the Walmart sites and why Walmart keeps choosing us.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for Chad. Lead with what Walmart counts on us for. Then the one gap that costs the most.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for Chad. How you keep mindshare inside Walmart and with their integrators.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Three wins, one loss. Real jobs, real names. Spend most of the time on the wins: what won it and whether the rest of the team can do the same thing. On the loss, what decided it and what we could have done differently. If it came down to the number, say what else was true.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Three projects you're going after, one you're going to grow, one thing you'd change about how we run sales.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VER-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AGENDA-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TITLE_CONTENT-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TWO_CONTENT-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THREE_CARDS-image-2.jpe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BIG_NUMBERS-image-2.jpe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image" Target="../media/CONTENT_VISUAL-image-2.jpe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FULL_VISUAL-image-2.jpe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image" Target="../media/COMPARISON-image-2.jpe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image" Target="../media/TIMELINE-image-2.jpe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image" Target="../media/KEY_MESSAGE-image-2.jpe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image" Target="../media/NEXT_STEPS-image-2.jpe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image" Target="../media/CLOSING-image-2.jpe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image" Target="../media/image-1016-2.png"/><Relationship Id="rId3" Type="http://schemas.openxmlformats.org/officeDocument/2006/relationships/image" Target="../media/COVER_MASCOT-image-3.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58368"/>
            <a:ext cx="2377440" cy="803189"/>
          </a:xfrm>
          <a:prstGeom prst="rect">
            <a:avLst/>
          </a:prstGeom>
        </p:spPr>
      </p:pic>
      <p:sp>
        <p:nvSpPr>
          <p:cNvPr id="3" name="Text 0"/>
          <p:cNvSpPr txBox="1"/>
          <p:nvPr>
            <p:ph idx="101" type="body" hasCustomPrompt="1"/>
          </p:nvPr>
        </p:nvSpPr>
        <p:spPr>
          <a:xfrm>
            <a:off x="731520" y="2212848"/>
            <a:ext cx="694944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EXECUTIVE BRIEFING</a:t>
            </a:r>
            <a:endParaRPr lang="en-US" sz="1100" dirty="0"/>
          </a:p>
        </p:txBody>
      </p:sp>
      <p:sp>
        <p:nvSpPr>
          <p:cNvPr id="4" name="Shape 0"/>
          <p:cNvSpPr/>
          <p:nvPr/>
        </p:nvSpPr>
        <p:spPr>
          <a:xfrm>
            <a:off x="731520" y="2688336"/>
            <a:ext cx="777240" cy="50292"/>
          </a:xfrm>
          <a:prstGeom prst="rect">
            <a:avLst/>
          </a:prstGeom>
          <a:solidFill>
            <a:srgbClr val="F2A900"/>
          </a:solidFill>
          <a:ln/>
        </p:spPr>
      </p:sp>
      <p:sp>
        <p:nvSpPr>
          <p:cNvPr id="5" name="Text 1"/>
          <p:cNvSpPr txBox="1"/>
          <p:nvPr>
            <p:ph idx="103" type="title" hasCustomPrompt="1"/>
          </p:nvPr>
        </p:nvSpPr>
        <p:spPr>
          <a:xfrm>
            <a:off x="731520" y="2907792"/>
            <a:ext cx="6949440" cy="1627632"/>
          </a:xfrm>
          <a:prstGeom prst="rect">
            <a:avLst/>
          </a:prstGeom>
          <a:noFill/>
          <a:ln/>
        </p:spPr>
        <p:txBody>
          <a:bodyPr wrap="square" rtlCol="0"/>
          <a:lstStyle>
            <a:lvl1pPr algn="l" indent="0" marL="0">
              <a:buNone/>
              <a:defRPr lang="en-US" sz="46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600" b="1" spc="-100" kern="0" dirty="0">
                <a:solidFill>
                  <a:srgbClr val="FFFFFF"/>
                </a:solidFill>
                <a:latin typeface="Arial" pitchFamily="34" charset="0"/>
                <a:ea typeface="Arial" pitchFamily="34" charset="-122"/>
                <a:cs typeface="Arial" pitchFamily="34" charset="-120"/>
              </a:rPr>
              <a:t>Presentation title</a:t>
            </a:r>
            <a:endParaRPr lang="en-US" sz="4600" dirty="0"/>
          </a:p>
        </p:txBody>
      </p:sp>
      <p:sp>
        <p:nvSpPr>
          <p:cNvPr id="6" name="Text 1"/>
          <p:cNvSpPr txBox="1"/>
          <p:nvPr>
            <p:ph idx="104" type="body" hasCustomPrompt="1"/>
          </p:nvPr>
        </p:nvSpPr>
        <p:spPr>
          <a:xfrm>
            <a:off x="731520" y="4663440"/>
            <a:ext cx="694944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7" name="Text 1"/>
          <p:cNvSpPr txBox="1"/>
          <p:nvPr>
            <p:ph idx="105" type="body" hasCustomPrompt="1"/>
          </p:nvPr>
        </p:nvSpPr>
        <p:spPr>
          <a:xfrm>
            <a:off x="731520" y="5998464"/>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731520" y="2212848"/>
            <a:ext cx="2926080" cy="1325880"/>
          </a:xfrm>
          <a:prstGeom prst="rect">
            <a:avLst/>
          </a:prstGeom>
          <a:noFill/>
          <a:ln/>
        </p:spPr>
        <p:txBody>
          <a:bodyPr wrap="square" rtlCol="0"/>
          <a:lstStyle>
            <a:lvl1pPr algn="l" indent="0" marL="0">
              <a:buNone/>
              <a:defRPr lang="en-US" sz="8600" b="1" spc="-200" kern="0" dirty="0">
                <a:solidFill>
                  <a:srgbClr val="A9D9BF">
                    <a:alpha val="55000"/>
                  </a:srgbClr>
                </a:solidFill>
                <a:latin typeface="Arial" pitchFamily="34" charset="0"/>
                <a:ea typeface="Arial" pitchFamily="34" charset="-122"/>
                <a:cs typeface="Arial" pitchFamily="34" charset="-120"/>
              </a:defRPr>
            </a:lvl1pPr>
          </a:lstStyle>
          <a:p>
            <a:pPr algn="l" indent="0" marL="0">
              <a:buNone/>
            </a:pPr>
            <a:r>
              <a:rPr lang="en-US" sz="8600" b="1" spc="-200" kern="0" dirty="0">
                <a:solidFill>
                  <a:srgbClr val="A9D9BF">
                    <a:alpha val="55000"/>
                  </a:srgbClr>
                </a:solidFill>
                <a:latin typeface="Arial" pitchFamily="34" charset="0"/>
                <a:ea typeface="Arial" pitchFamily="34" charset="-122"/>
                <a:cs typeface="Arial" pitchFamily="34" charset="-120"/>
              </a:rPr>
              <a:t>01</a:t>
            </a:r>
            <a:endParaRPr lang="en-US" sz="8600" dirty="0"/>
          </a:p>
        </p:txBody>
      </p:sp>
      <p:sp>
        <p:nvSpPr>
          <p:cNvPr id="4" name="Shape 0"/>
          <p:cNvSpPr/>
          <p:nvPr/>
        </p:nvSpPr>
        <p:spPr>
          <a:xfrm>
            <a:off x="731520" y="3712464"/>
            <a:ext cx="777240" cy="50292"/>
          </a:xfrm>
          <a:prstGeom prst="rect">
            <a:avLst/>
          </a:prstGeom>
          <a:solidFill>
            <a:srgbClr val="F2A900"/>
          </a:solidFill>
          <a:ln/>
        </p:spPr>
      </p:sp>
      <p:sp>
        <p:nvSpPr>
          <p:cNvPr id="5" name="Text 1"/>
          <p:cNvSpPr txBox="1"/>
          <p:nvPr>
            <p:ph idx="103" type="title" hasCustomPrompt="1"/>
          </p:nvPr>
        </p:nvSpPr>
        <p:spPr>
          <a:xfrm>
            <a:off x="731520" y="3986784"/>
            <a:ext cx="6949440" cy="841248"/>
          </a:xfrm>
          <a:prstGeom prst="rect">
            <a:avLst/>
          </a:prstGeom>
          <a:noFill/>
          <a:ln/>
        </p:spPr>
        <p:txBody>
          <a:bodyPr wrap="square" rtlCol="0"/>
          <a:lstStyle>
            <a:lvl1pPr algn="l" indent="0" marL="0">
              <a:buNone/>
              <a:defRPr lang="en-US" sz="3800" b="1" spc="-80" kern="0" dirty="0">
                <a:solidFill>
                  <a:srgbClr val="FFFFFF"/>
                </a:solidFill>
                <a:latin typeface="Arial" pitchFamily="34" charset="0"/>
                <a:ea typeface="Arial" pitchFamily="34" charset="-122"/>
                <a:cs typeface="Arial" pitchFamily="34" charset="-120"/>
              </a:defRPr>
            </a:lvl1pPr>
          </a:lstStyle>
          <a:p>
            <a:pPr algn="l" indent="0" marL="0">
              <a:buNone/>
            </a:pPr>
            <a:r>
              <a:rPr lang="en-US" sz="3800" b="1" spc="-80" kern="0" dirty="0">
                <a:solidFill>
                  <a:srgbClr val="FFFFFF"/>
                </a:solidFill>
                <a:latin typeface="Arial" pitchFamily="34" charset="0"/>
                <a:ea typeface="Arial" pitchFamily="34" charset="-122"/>
                <a:cs typeface="Arial" pitchFamily="34" charset="-120"/>
              </a:rPr>
              <a:t>Section name</a:t>
            </a:r>
            <a:endParaRPr lang="en-US" sz="3800" dirty="0"/>
          </a:p>
        </p:txBody>
      </p:sp>
      <p:sp>
        <p:nvSpPr>
          <p:cNvPr id="6" name="Text 1"/>
          <p:cNvSpPr txBox="1"/>
          <p:nvPr>
            <p:ph idx="104" type="body" hasCustomPrompt="1"/>
          </p:nvPr>
        </p:nvSpPr>
        <p:spPr>
          <a:xfrm>
            <a:off x="731520" y="4956048"/>
            <a:ext cx="6949440" cy="54864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What this section settles.</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Agenda</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cover and what we decide.</a:t>
            </a:r>
            <a:endParaRPr lang="en-US" sz="1600" dirty="0"/>
          </a:p>
        </p:txBody>
      </p:sp>
      <p:sp>
        <p:nvSpPr>
          <p:cNvPr id="5" name="Text 0"/>
          <p:cNvSpPr txBox="1"/>
          <p:nvPr/>
        </p:nvSpPr>
        <p:spPr>
          <a:xfrm>
            <a:off x="731520" y="2167128"/>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01</a:t>
            </a:r>
            <a:endParaRPr lang="en-US" sz="2000" dirty="0"/>
          </a:p>
        </p:txBody>
      </p:sp>
      <p:sp>
        <p:nvSpPr>
          <p:cNvPr id="6" name="Text 1"/>
          <p:cNvSpPr txBox="1"/>
          <p:nvPr>
            <p:ph idx="104" type="body" hasCustomPrompt="1"/>
          </p:nvPr>
        </p:nvSpPr>
        <p:spPr>
          <a:xfrm>
            <a:off x="1508760" y="2167128"/>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7" name="Text 1"/>
          <p:cNvSpPr txBox="1"/>
          <p:nvPr>
            <p:ph idx="105" type="body" hasCustomPrompt="1"/>
          </p:nvPr>
        </p:nvSpPr>
        <p:spPr>
          <a:xfrm>
            <a:off x="8869680" y="2167128"/>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8" name="Shape 1"/>
          <p:cNvSpPr/>
          <p:nvPr/>
        </p:nvSpPr>
        <p:spPr>
          <a:xfrm>
            <a:off x="731520" y="2770632"/>
            <a:ext cx="10728655" cy="0"/>
          </a:xfrm>
          <a:prstGeom prst="line">
            <a:avLst/>
          </a:prstGeom>
          <a:noFill/>
          <a:ln w="12700">
            <a:solidFill>
              <a:srgbClr val="E2E6E3"/>
            </a:solidFill>
            <a:prstDash val="solid"/>
          </a:ln>
        </p:spPr>
      </p:sp>
      <p:sp>
        <p:nvSpPr>
          <p:cNvPr id="9" name="Text 2"/>
          <p:cNvSpPr txBox="1"/>
          <p:nvPr/>
        </p:nvSpPr>
        <p:spPr>
          <a:xfrm>
            <a:off x="731520" y="2916936"/>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02</a:t>
            </a:r>
            <a:endParaRPr lang="en-US" sz="2000" dirty="0"/>
          </a:p>
        </p:txBody>
      </p:sp>
      <p:sp>
        <p:nvSpPr>
          <p:cNvPr id="10" name="Text 3"/>
          <p:cNvSpPr txBox="1"/>
          <p:nvPr>
            <p:ph idx="108" type="body" hasCustomPrompt="1"/>
          </p:nvPr>
        </p:nvSpPr>
        <p:spPr>
          <a:xfrm>
            <a:off x="1508760" y="2916936"/>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1" name="Text 3"/>
          <p:cNvSpPr txBox="1"/>
          <p:nvPr>
            <p:ph idx="109" type="body" hasCustomPrompt="1"/>
          </p:nvPr>
        </p:nvSpPr>
        <p:spPr>
          <a:xfrm>
            <a:off x="8869680" y="2916936"/>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2" name="Shape 3"/>
          <p:cNvSpPr/>
          <p:nvPr/>
        </p:nvSpPr>
        <p:spPr>
          <a:xfrm>
            <a:off x="731520" y="3520440"/>
            <a:ext cx="10728655" cy="0"/>
          </a:xfrm>
          <a:prstGeom prst="line">
            <a:avLst/>
          </a:prstGeom>
          <a:noFill/>
          <a:ln w="12700">
            <a:solidFill>
              <a:srgbClr val="E2E6E3"/>
            </a:solidFill>
            <a:prstDash val="solid"/>
          </a:ln>
        </p:spPr>
      </p:sp>
      <p:sp>
        <p:nvSpPr>
          <p:cNvPr id="13" name="Text 4"/>
          <p:cNvSpPr txBox="1"/>
          <p:nvPr/>
        </p:nvSpPr>
        <p:spPr>
          <a:xfrm>
            <a:off x="731520" y="3666744"/>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03</a:t>
            </a:r>
            <a:endParaRPr lang="en-US" sz="2000" dirty="0"/>
          </a:p>
        </p:txBody>
      </p:sp>
      <p:sp>
        <p:nvSpPr>
          <p:cNvPr id="14" name="Text 5"/>
          <p:cNvSpPr txBox="1"/>
          <p:nvPr>
            <p:ph idx="112" type="body" hasCustomPrompt="1"/>
          </p:nvPr>
        </p:nvSpPr>
        <p:spPr>
          <a:xfrm>
            <a:off x="1508760" y="3666744"/>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5" name="Text 5"/>
          <p:cNvSpPr txBox="1"/>
          <p:nvPr>
            <p:ph idx="113" type="body" hasCustomPrompt="1"/>
          </p:nvPr>
        </p:nvSpPr>
        <p:spPr>
          <a:xfrm>
            <a:off x="8869680" y="3666744"/>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6" name="Shape 5"/>
          <p:cNvSpPr/>
          <p:nvPr/>
        </p:nvSpPr>
        <p:spPr>
          <a:xfrm>
            <a:off x="731520" y="4270248"/>
            <a:ext cx="10728655" cy="0"/>
          </a:xfrm>
          <a:prstGeom prst="line">
            <a:avLst/>
          </a:prstGeom>
          <a:noFill/>
          <a:ln w="12700">
            <a:solidFill>
              <a:srgbClr val="E2E6E3"/>
            </a:solidFill>
            <a:prstDash val="solid"/>
          </a:ln>
        </p:spPr>
      </p:sp>
      <p:sp>
        <p:nvSpPr>
          <p:cNvPr id="17" name="Text 6"/>
          <p:cNvSpPr txBox="1"/>
          <p:nvPr/>
        </p:nvSpPr>
        <p:spPr>
          <a:xfrm>
            <a:off x="731520" y="4416552"/>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04</a:t>
            </a:r>
            <a:endParaRPr lang="en-US" sz="2000" dirty="0"/>
          </a:p>
        </p:txBody>
      </p:sp>
      <p:sp>
        <p:nvSpPr>
          <p:cNvPr id="18" name="Text 7"/>
          <p:cNvSpPr txBox="1"/>
          <p:nvPr>
            <p:ph idx="116" type="body" hasCustomPrompt="1"/>
          </p:nvPr>
        </p:nvSpPr>
        <p:spPr>
          <a:xfrm>
            <a:off x="1508760" y="4416552"/>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9" name="Text 7"/>
          <p:cNvSpPr txBox="1"/>
          <p:nvPr>
            <p:ph idx="117" type="body" hasCustomPrompt="1"/>
          </p:nvPr>
        </p:nvSpPr>
        <p:spPr>
          <a:xfrm>
            <a:off x="8869680" y="4416552"/>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0" name="Shape 7"/>
          <p:cNvSpPr/>
          <p:nvPr/>
        </p:nvSpPr>
        <p:spPr>
          <a:xfrm>
            <a:off x="731520" y="5020056"/>
            <a:ext cx="10728655" cy="0"/>
          </a:xfrm>
          <a:prstGeom prst="line">
            <a:avLst/>
          </a:prstGeom>
          <a:noFill/>
          <a:ln w="12700">
            <a:solidFill>
              <a:srgbClr val="E2E6E3"/>
            </a:solidFill>
            <a:prstDash val="solid"/>
          </a:ln>
        </p:spPr>
      </p:sp>
      <p:sp>
        <p:nvSpPr>
          <p:cNvPr id="21" name="Text 8"/>
          <p:cNvSpPr txBox="1"/>
          <p:nvPr/>
        </p:nvSpPr>
        <p:spPr>
          <a:xfrm>
            <a:off x="731520" y="5166360"/>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05</a:t>
            </a:r>
            <a:endParaRPr lang="en-US" sz="2000" dirty="0"/>
          </a:p>
        </p:txBody>
      </p:sp>
      <p:sp>
        <p:nvSpPr>
          <p:cNvPr id="22" name="Text 9"/>
          <p:cNvSpPr txBox="1"/>
          <p:nvPr>
            <p:ph idx="120" type="body" hasCustomPrompt="1"/>
          </p:nvPr>
        </p:nvSpPr>
        <p:spPr>
          <a:xfrm>
            <a:off x="1508760" y="5166360"/>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23" name="Text 9"/>
          <p:cNvSpPr txBox="1"/>
          <p:nvPr>
            <p:ph idx="121" type="body" hasCustomPrompt="1"/>
          </p:nvPr>
        </p:nvSpPr>
        <p:spPr>
          <a:xfrm>
            <a:off x="8869680" y="5166360"/>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4" name="Shape 9"/>
          <p:cNvSpPr/>
          <p:nvPr/>
        </p:nvSpPr>
        <p:spPr>
          <a:xfrm>
            <a:off x="731520" y="5769864"/>
            <a:ext cx="10728655" cy="0"/>
          </a:xfrm>
          <a:prstGeom prst="line">
            <a:avLst/>
          </a:prstGeom>
          <a:noFill/>
          <a:ln w="12700">
            <a:solidFill>
              <a:srgbClr val="E2E6E3"/>
            </a:solidFill>
            <a:prstDash val="solid"/>
          </a:ln>
        </p:spPr>
      </p:sp>
      <p:pic>
        <p:nvPicPr>
          <p:cNvPr id="2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10728655" cy="3913632"/>
          </a:xfrm>
          <a:prstGeom prst="rect">
            <a:avLst/>
          </a:prstGeom>
          <a:noFill/>
          <a:ln/>
        </p:spPr>
        <p:txBody>
          <a:bodyPr wrap="square" rtlCol="0"/>
          <a:lstStyle>
            <a:lvl1pPr algn="l" indent="0" marL="0">
              <a:buNone/>
              <a:defRPr lang="en-US" sz="1600" dirty="0">
                <a:solidFill>
                  <a:srgbClr val="15181A"/>
                </a:solidFill>
                <a:latin typeface="Arial" pitchFamily="34" charset="0"/>
                <a:ea typeface="Arial" pitchFamily="34" charset="-122"/>
                <a:cs typeface="Arial" pitchFamily="34" charset="-120"/>
              </a:defRPr>
            </a:lvl1pPr>
          </a:lstStyle>
          <a:p>
            <a:pPr algn="l" indent="0" marL="0">
              <a:buNone/>
            </a:pPr>
            <a:r>
              <a:rPr lang="en-US" sz="1600" dirty="0">
                <a:solidFill>
                  <a:srgbClr val="15181A"/>
                </a:solidFill>
                <a:latin typeface="Arial" pitchFamily="34" charset="0"/>
                <a:ea typeface="Arial" pitchFamily="34" charset="-122"/>
                <a:cs typeface="Arial" pitchFamily="34" charset="-120"/>
              </a:rPr>
              <a:t>Supporting content</a:t>
            </a:r>
            <a:endParaRPr lang="en-US" sz="1600"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_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512064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LEFT HEADING</a:t>
            </a:r>
            <a:endParaRPr lang="en-US" sz="1100" dirty="0"/>
          </a:p>
        </p:txBody>
      </p:sp>
      <p:sp>
        <p:nvSpPr>
          <p:cNvPr id="6" name="Shape 0"/>
          <p:cNvSpPr/>
          <p:nvPr/>
        </p:nvSpPr>
        <p:spPr>
          <a:xfrm>
            <a:off x="731520" y="2505456"/>
            <a:ext cx="5120640" cy="0"/>
          </a:xfrm>
          <a:prstGeom prst="line">
            <a:avLst/>
          </a:prstGeom>
          <a:noFill/>
          <a:ln w="12700">
            <a:solidFill>
              <a:srgbClr val="E2E6E3"/>
            </a:solidFill>
            <a:prstDash val="solid"/>
          </a:ln>
        </p:spPr>
      </p:sp>
      <p:sp>
        <p:nvSpPr>
          <p:cNvPr id="7" name="Text 1"/>
          <p:cNvSpPr txBox="1"/>
          <p:nvPr>
            <p:ph idx="105" type="body" hasCustomPrompt="1"/>
          </p:nvPr>
        </p:nvSpPr>
        <p:spPr>
          <a:xfrm>
            <a:off x="731520" y="2651760"/>
            <a:ext cx="512064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Left content</a:t>
            </a:r>
            <a:endParaRPr lang="en-US" sz="1500" dirty="0"/>
          </a:p>
        </p:txBody>
      </p:sp>
      <p:sp>
        <p:nvSpPr>
          <p:cNvPr id="8" name="Text 1"/>
          <p:cNvSpPr txBox="1"/>
          <p:nvPr>
            <p:ph idx="106" type="body" hasCustomPrompt="1"/>
          </p:nvPr>
        </p:nvSpPr>
        <p:spPr>
          <a:xfrm>
            <a:off x="6519672" y="2121408"/>
            <a:ext cx="493776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RIGHT HEADING</a:t>
            </a:r>
            <a:endParaRPr lang="en-US" sz="1100" dirty="0"/>
          </a:p>
        </p:txBody>
      </p:sp>
      <p:sp>
        <p:nvSpPr>
          <p:cNvPr id="9" name="Shape 1"/>
          <p:cNvSpPr/>
          <p:nvPr/>
        </p:nvSpPr>
        <p:spPr>
          <a:xfrm>
            <a:off x="6519672" y="2505456"/>
            <a:ext cx="4937760" cy="0"/>
          </a:xfrm>
          <a:prstGeom prst="line">
            <a:avLst/>
          </a:prstGeom>
          <a:noFill/>
          <a:ln w="12700">
            <a:solidFill>
              <a:srgbClr val="E2E6E3"/>
            </a:solidFill>
            <a:prstDash val="solid"/>
          </a:ln>
        </p:spPr>
      </p:sp>
      <p:sp>
        <p:nvSpPr>
          <p:cNvPr id="10" name="Text 2"/>
          <p:cNvSpPr txBox="1"/>
          <p:nvPr>
            <p:ph idx="108" type="body" hasCustomPrompt="1"/>
          </p:nvPr>
        </p:nvSpPr>
        <p:spPr>
          <a:xfrm>
            <a:off x="6519672" y="2651760"/>
            <a:ext cx="493776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Right content</a:t>
            </a:r>
            <a:endParaRPr lang="en-US" sz="1500" dirty="0"/>
          </a:p>
        </p:txBody>
      </p:sp>
      <p:sp>
        <p:nvSpPr>
          <p:cNvPr id="11" name="Text 2"/>
          <p:cNvSpPr txBox="1"/>
          <p:nvPr>
            <p:ph idx="109"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2"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_CARD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3584448"/>
          </a:xfrm>
          <a:prstGeom prst="rect">
            <a:avLst/>
          </a:prstGeom>
          <a:solidFill>
            <a:srgbClr val="F2F5F2"/>
          </a:solidFill>
          <a:ln/>
        </p:spPr>
      </p:sp>
      <p:sp>
        <p:nvSpPr>
          <p:cNvPr id="6" name="Text 1"/>
          <p:cNvSpPr txBox="1"/>
          <p:nvPr/>
        </p:nvSpPr>
        <p:spPr>
          <a:xfrm>
            <a:off x="1097280"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01</a:t>
            </a:r>
            <a:endParaRPr lang="en-US" sz="2400" dirty="0"/>
          </a:p>
        </p:txBody>
      </p:sp>
      <p:sp>
        <p:nvSpPr>
          <p:cNvPr id="7" name="Shape 2"/>
          <p:cNvSpPr/>
          <p:nvPr/>
        </p:nvSpPr>
        <p:spPr>
          <a:xfrm>
            <a:off x="1097280" y="3017520"/>
            <a:ext cx="548640" cy="41148"/>
          </a:xfrm>
          <a:prstGeom prst="rect">
            <a:avLst/>
          </a:prstGeom>
          <a:solidFill>
            <a:srgbClr val="F2A900"/>
          </a:solidFill>
          <a:ln/>
        </p:spPr>
      </p:sp>
      <p:sp>
        <p:nvSpPr>
          <p:cNvPr id="8" name="Text 3"/>
          <p:cNvSpPr txBox="1"/>
          <p:nvPr>
            <p:ph idx="106" type="body" hasCustomPrompt="1"/>
          </p:nvPr>
        </p:nvSpPr>
        <p:spPr>
          <a:xfrm>
            <a:off x="1097280"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9" name="Text 3"/>
          <p:cNvSpPr txBox="1"/>
          <p:nvPr>
            <p:ph idx="107" type="body" hasCustomPrompt="1"/>
          </p:nvPr>
        </p:nvSpPr>
        <p:spPr>
          <a:xfrm>
            <a:off x="1097280"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0" name="Shape 3"/>
          <p:cNvSpPr/>
          <p:nvPr/>
        </p:nvSpPr>
        <p:spPr>
          <a:xfrm>
            <a:off x="4407408" y="2121408"/>
            <a:ext cx="3392424" cy="3584448"/>
          </a:xfrm>
          <a:prstGeom prst="rect">
            <a:avLst/>
          </a:prstGeom>
          <a:solidFill>
            <a:srgbClr val="F2F5F2"/>
          </a:solidFill>
          <a:ln/>
        </p:spPr>
      </p:sp>
      <p:sp>
        <p:nvSpPr>
          <p:cNvPr id="11" name="Text 4"/>
          <p:cNvSpPr txBox="1"/>
          <p:nvPr/>
        </p:nvSpPr>
        <p:spPr>
          <a:xfrm>
            <a:off x="4773168"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02</a:t>
            </a:r>
            <a:endParaRPr lang="en-US" sz="2400" dirty="0"/>
          </a:p>
        </p:txBody>
      </p:sp>
      <p:sp>
        <p:nvSpPr>
          <p:cNvPr id="12" name="Shape 5"/>
          <p:cNvSpPr/>
          <p:nvPr/>
        </p:nvSpPr>
        <p:spPr>
          <a:xfrm>
            <a:off x="4773168" y="3017520"/>
            <a:ext cx="548640" cy="41148"/>
          </a:xfrm>
          <a:prstGeom prst="rect">
            <a:avLst/>
          </a:prstGeom>
          <a:solidFill>
            <a:srgbClr val="F2A900"/>
          </a:solidFill>
          <a:ln/>
        </p:spPr>
      </p:sp>
      <p:sp>
        <p:nvSpPr>
          <p:cNvPr id="13" name="Text 6"/>
          <p:cNvSpPr txBox="1"/>
          <p:nvPr>
            <p:ph idx="111" type="body" hasCustomPrompt="1"/>
          </p:nvPr>
        </p:nvSpPr>
        <p:spPr>
          <a:xfrm>
            <a:off x="4773168"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4" name="Text 6"/>
          <p:cNvSpPr txBox="1"/>
          <p:nvPr>
            <p:ph idx="112" type="body" hasCustomPrompt="1"/>
          </p:nvPr>
        </p:nvSpPr>
        <p:spPr>
          <a:xfrm>
            <a:off x="4773168"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5" name="Shape 6"/>
          <p:cNvSpPr/>
          <p:nvPr/>
        </p:nvSpPr>
        <p:spPr>
          <a:xfrm>
            <a:off x="8083296" y="2121408"/>
            <a:ext cx="3392424" cy="3584448"/>
          </a:xfrm>
          <a:prstGeom prst="rect">
            <a:avLst/>
          </a:prstGeom>
          <a:solidFill>
            <a:srgbClr val="F2F5F2"/>
          </a:solidFill>
          <a:ln/>
        </p:spPr>
      </p:sp>
      <p:sp>
        <p:nvSpPr>
          <p:cNvPr id="16" name="Text 7"/>
          <p:cNvSpPr txBox="1"/>
          <p:nvPr/>
        </p:nvSpPr>
        <p:spPr>
          <a:xfrm>
            <a:off x="8449056"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03</a:t>
            </a:r>
            <a:endParaRPr lang="en-US" sz="2400" dirty="0"/>
          </a:p>
        </p:txBody>
      </p:sp>
      <p:sp>
        <p:nvSpPr>
          <p:cNvPr id="17" name="Shape 8"/>
          <p:cNvSpPr/>
          <p:nvPr/>
        </p:nvSpPr>
        <p:spPr>
          <a:xfrm>
            <a:off x="8449056" y="3017520"/>
            <a:ext cx="548640" cy="41148"/>
          </a:xfrm>
          <a:prstGeom prst="rect">
            <a:avLst/>
          </a:prstGeom>
          <a:solidFill>
            <a:srgbClr val="F2A900"/>
          </a:solidFill>
          <a:ln/>
        </p:spPr>
      </p:sp>
      <p:sp>
        <p:nvSpPr>
          <p:cNvPr id="18" name="Text 9"/>
          <p:cNvSpPr txBox="1"/>
          <p:nvPr>
            <p:ph idx="116" type="body" hasCustomPrompt="1"/>
          </p:nvPr>
        </p:nvSpPr>
        <p:spPr>
          <a:xfrm>
            <a:off x="8449056"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9" name="Text 9"/>
          <p:cNvSpPr txBox="1"/>
          <p:nvPr>
            <p:ph idx="117" type="body" hasCustomPrompt="1"/>
          </p:nvPr>
        </p:nvSpPr>
        <p:spPr>
          <a:xfrm>
            <a:off x="8449056"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20" name="Text 9"/>
          <p:cNvSpPr txBox="1"/>
          <p:nvPr>
            <p:ph idx="118"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1"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IG_NUMBER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0"/>
          </a:xfrm>
          <a:prstGeom prst="line">
            <a:avLst/>
          </a:prstGeom>
          <a:noFill/>
          <a:ln w="31750">
            <a:solidFill>
              <a:srgbClr val="3C7D4D"/>
            </a:solidFill>
            <a:prstDash val="solid"/>
          </a:ln>
        </p:spPr>
      </p:sp>
      <p:sp>
        <p:nvSpPr>
          <p:cNvPr id="6" name="Text 1"/>
          <p:cNvSpPr txBox="1"/>
          <p:nvPr>
            <p:ph idx="104" type="body" hasCustomPrompt="1"/>
          </p:nvPr>
        </p:nvSpPr>
        <p:spPr>
          <a:xfrm>
            <a:off x="731520"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7" name="Text 1"/>
          <p:cNvSpPr txBox="1"/>
          <p:nvPr>
            <p:ph idx="105" type="body" hasCustomPrompt="1"/>
          </p:nvPr>
        </p:nvSpPr>
        <p:spPr>
          <a:xfrm>
            <a:off x="731520"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8" name="Text 1"/>
          <p:cNvSpPr txBox="1"/>
          <p:nvPr>
            <p:ph idx="106" type="body" hasCustomPrompt="1"/>
          </p:nvPr>
        </p:nvSpPr>
        <p:spPr>
          <a:xfrm>
            <a:off x="731520"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9" name="Shape 1"/>
          <p:cNvSpPr/>
          <p:nvPr/>
        </p:nvSpPr>
        <p:spPr>
          <a:xfrm>
            <a:off x="4407408" y="2121408"/>
            <a:ext cx="3392424" cy="0"/>
          </a:xfrm>
          <a:prstGeom prst="line">
            <a:avLst/>
          </a:prstGeom>
          <a:noFill/>
          <a:ln w="31750">
            <a:solidFill>
              <a:srgbClr val="3C7D4D"/>
            </a:solidFill>
            <a:prstDash val="solid"/>
          </a:ln>
        </p:spPr>
      </p:sp>
      <p:sp>
        <p:nvSpPr>
          <p:cNvPr id="10" name="Text 2"/>
          <p:cNvSpPr txBox="1"/>
          <p:nvPr>
            <p:ph idx="108" type="body" hasCustomPrompt="1"/>
          </p:nvPr>
        </p:nvSpPr>
        <p:spPr>
          <a:xfrm>
            <a:off x="4407408"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1" name="Text 2"/>
          <p:cNvSpPr txBox="1"/>
          <p:nvPr>
            <p:ph idx="109" type="body" hasCustomPrompt="1"/>
          </p:nvPr>
        </p:nvSpPr>
        <p:spPr>
          <a:xfrm>
            <a:off x="4407408"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2" name="Text 2"/>
          <p:cNvSpPr txBox="1"/>
          <p:nvPr>
            <p:ph idx="110" type="body" hasCustomPrompt="1"/>
          </p:nvPr>
        </p:nvSpPr>
        <p:spPr>
          <a:xfrm>
            <a:off x="4407408"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3" name="Shape 2"/>
          <p:cNvSpPr/>
          <p:nvPr/>
        </p:nvSpPr>
        <p:spPr>
          <a:xfrm>
            <a:off x="8083296" y="2121408"/>
            <a:ext cx="3392424" cy="0"/>
          </a:xfrm>
          <a:prstGeom prst="line">
            <a:avLst/>
          </a:prstGeom>
          <a:noFill/>
          <a:ln w="31750">
            <a:solidFill>
              <a:srgbClr val="3C7D4D"/>
            </a:solidFill>
            <a:prstDash val="solid"/>
          </a:ln>
        </p:spPr>
      </p:sp>
      <p:sp>
        <p:nvSpPr>
          <p:cNvPr id="14" name="Text 3"/>
          <p:cNvSpPr txBox="1"/>
          <p:nvPr>
            <p:ph idx="112" type="body" hasCustomPrompt="1"/>
          </p:nvPr>
        </p:nvSpPr>
        <p:spPr>
          <a:xfrm>
            <a:off x="8083296"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5" name="Text 3"/>
          <p:cNvSpPr txBox="1"/>
          <p:nvPr>
            <p:ph idx="113" type="body" hasCustomPrompt="1"/>
          </p:nvPr>
        </p:nvSpPr>
        <p:spPr>
          <a:xfrm>
            <a:off x="8083296"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6" name="Text 3"/>
          <p:cNvSpPr txBox="1"/>
          <p:nvPr>
            <p:ph idx="114" type="body" hasCustomPrompt="1"/>
          </p:nvPr>
        </p:nvSpPr>
        <p:spPr>
          <a:xfrm>
            <a:off x="8083296"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7" name="Text 3"/>
          <p:cNvSpPr txBox="1"/>
          <p:nvPr>
            <p:ph idx="115" type="body" hasCustomPrompt="1"/>
          </p:nvPr>
        </p:nvSpPr>
        <p:spPr>
          <a:xfrm>
            <a:off x="731520" y="5138928"/>
            <a:ext cx="10728655" cy="8686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So what, and what we do about it.</a:t>
            </a:r>
            <a:endParaRPr lang="en-US" sz="1500" dirty="0"/>
          </a:p>
        </p:txBody>
      </p:sp>
      <p:sp>
        <p:nvSpPr>
          <p:cNvPr id="18" name="Text 3"/>
          <p:cNvSpPr txBox="1"/>
          <p:nvPr>
            <p:ph idx="116"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9"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_VISUAL">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4572000" cy="3913632"/>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Supporting points</a:t>
            </a:r>
            <a:endParaRPr lang="en-US" sz="1500" dirty="0"/>
          </a:p>
        </p:txBody>
      </p:sp>
      <p:sp>
        <p:nvSpPr>
          <p:cNvPr id="6" name="Text 0"/>
          <p:cNvSpPr/>
          <p:nvPr>
            <p:ph idx="104" hasCustomPrompt="1"/>
          </p:nvPr>
        </p:nvSpPr>
        <p:spPr>
          <a:xfrm>
            <a:off x="5943600" y="2121408"/>
            <a:ext cx="5513832"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7" name="Text 0"/>
          <p:cNvSpPr txBox="1"/>
          <p:nvPr>
            <p:ph idx="105"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8"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ULL_VISUAL">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p:nvPr>
            <p:ph idx="103"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RISON">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5230368" cy="475488"/>
          </a:xfrm>
          <a:prstGeom prst="rect">
            <a:avLst/>
          </a:prstGeom>
          <a:solidFill>
            <a:srgbClr val="3C7D4D"/>
          </a:solidFill>
          <a:ln/>
        </p:spPr>
      </p:sp>
      <p:sp>
        <p:nvSpPr>
          <p:cNvPr id="6" name="Text 1"/>
          <p:cNvSpPr txBox="1"/>
          <p:nvPr>
            <p:ph idx="104" type="body" hasCustomPrompt="1"/>
          </p:nvPr>
        </p:nvSpPr>
        <p:spPr>
          <a:xfrm>
            <a:off x="987552"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A</a:t>
            </a:r>
            <a:endParaRPr lang="en-US" sz="1300" dirty="0"/>
          </a:p>
        </p:txBody>
      </p:sp>
      <p:sp>
        <p:nvSpPr>
          <p:cNvPr id="7" name="Shape 1"/>
          <p:cNvSpPr/>
          <p:nvPr/>
        </p:nvSpPr>
        <p:spPr>
          <a:xfrm>
            <a:off x="731520" y="2596896"/>
            <a:ext cx="5230368" cy="2980944"/>
          </a:xfrm>
          <a:prstGeom prst="rect">
            <a:avLst/>
          </a:prstGeom>
          <a:solidFill>
            <a:srgbClr val="F2F5F2"/>
          </a:solidFill>
          <a:ln/>
        </p:spPr>
      </p:sp>
      <p:sp>
        <p:nvSpPr>
          <p:cNvPr id="8" name="Text 2"/>
          <p:cNvSpPr txBox="1"/>
          <p:nvPr>
            <p:ph idx="106" type="body" hasCustomPrompt="1"/>
          </p:nvPr>
        </p:nvSpPr>
        <p:spPr>
          <a:xfrm>
            <a:off x="987552"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9" name="Shape 2"/>
          <p:cNvSpPr/>
          <p:nvPr/>
        </p:nvSpPr>
        <p:spPr>
          <a:xfrm>
            <a:off x="6227064" y="2121408"/>
            <a:ext cx="5230368" cy="475488"/>
          </a:xfrm>
          <a:prstGeom prst="rect">
            <a:avLst/>
          </a:prstGeom>
          <a:solidFill>
            <a:srgbClr val="5B6670"/>
          </a:solidFill>
          <a:ln/>
        </p:spPr>
      </p:sp>
      <p:sp>
        <p:nvSpPr>
          <p:cNvPr id="10" name="Text 3"/>
          <p:cNvSpPr txBox="1"/>
          <p:nvPr>
            <p:ph idx="108" type="body" hasCustomPrompt="1"/>
          </p:nvPr>
        </p:nvSpPr>
        <p:spPr>
          <a:xfrm>
            <a:off x="6483096"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B</a:t>
            </a:r>
            <a:endParaRPr lang="en-US" sz="1300" dirty="0"/>
          </a:p>
        </p:txBody>
      </p:sp>
      <p:sp>
        <p:nvSpPr>
          <p:cNvPr id="11" name="Shape 3"/>
          <p:cNvSpPr/>
          <p:nvPr/>
        </p:nvSpPr>
        <p:spPr>
          <a:xfrm>
            <a:off x="6227064" y="2596896"/>
            <a:ext cx="5230368" cy="2980944"/>
          </a:xfrm>
          <a:prstGeom prst="rect">
            <a:avLst/>
          </a:prstGeom>
          <a:solidFill>
            <a:srgbClr val="F2F5F2"/>
          </a:solidFill>
          <a:ln/>
        </p:spPr>
      </p:sp>
      <p:sp>
        <p:nvSpPr>
          <p:cNvPr id="12" name="Text 4"/>
          <p:cNvSpPr txBox="1"/>
          <p:nvPr>
            <p:ph idx="110" type="body" hasCustomPrompt="1"/>
          </p:nvPr>
        </p:nvSpPr>
        <p:spPr>
          <a:xfrm>
            <a:off x="6483096"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13" name="Text 4"/>
          <p:cNvSpPr txBox="1"/>
          <p:nvPr>
            <p:ph idx="111" type="body" hasCustomPrompt="1"/>
          </p:nvPr>
        </p:nvSpPr>
        <p:spPr>
          <a:xfrm>
            <a:off x="731520" y="5742432"/>
            <a:ext cx="10728655" cy="384048"/>
          </a:xfrm>
          <a:prstGeom prst="rect">
            <a:avLst/>
          </a:prstGeom>
          <a:noFill/>
          <a:ln/>
        </p:spPr>
        <p:txBody>
          <a:bodyPr wrap="square" rtlCol="0"/>
          <a:lstStyle>
            <a:lvl1pPr algn="l" indent="0" marL="0">
              <a:buNone/>
              <a:defRPr lang="en-US" sz="1500" b="1" dirty="0">
                <a:solidFill>
                  <a:srgbClr val="3C7D4D"/>
                </a:solidFill>
                <a:latin typeface="Arial" pitchFamily="34" charset="0"/>
                <a:ea typeface="Arial" pitchFamily="34" charset="-122"/>
                <a:cs typeface="Arial" pitchFamily="34" charset="-120"/>
              </a:defRPr>
            </a:lvl1pPr>
          </a:lstStyle>
          <a:p>
            <a:pPr algn="l" indent="0" marL="0">
              <a:buNone/>
            </a:pPr>
            <a:r>
              <a:rPr lang="en-US" sz="1500" b="1" dirty="0">
                <a:solidFill>
                  <a:srgbClr val="3C7D4D"/>
                </a:solidFill>
                <a:latin typeface="Arial" pitchFamily="34" charset="0"/>
                <a:ea typeface="Arial" pitchFamily="34" charset="-122"/>
                <a:cs typeface="Arial" pitchFamily="34" charset="-120"/>
              </a:rPr>
              <a:t>Recommendation: </a:t>
            </a:r>
            <a:endParaRPr lang="en-US" sz="1500" dirty="0"/>
          </a:p>
        </p:txBody>
      </p:sp>
      <p:sp>
        <p:nvSpPr>
          <p:cNvPr id="14" name="Text 4"/>
          <p:cNvSpPr txBox="1"/>
          <p:nvPr>
            <p:ph idx="112"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MELINE">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1005840" y="2706624"/>
            <a:ext cx="10180015" cy="0"/>
          </a:xfrm>
          <a:prstGeom prst="line">
            <a:avLst/>
          </a:prstGeom>
          <a:noFill/>
          <a:ln w="25400">
            <a:solidFill>
              <a:srgbClr val="E2E6E3"/>
            </a:solidFill>
            <a:prstDash val="solid"/>
          </a:ln>
        </p:spPr>
      </p:sp>
      <p:sp>
        <p:nvSpPr>
          <p:cNvPr id="6" name="Shape 1"/>
          <p:cNvSpPr/>
          <p:nvPr/>
        </p:nvSpPr>
        <p:spPr>
          <a:xfrm>
            <a:off x="749808" y="2450592"/>
            <a:ext cx="512064" cy="512064"/>
          </a:xfrm>
          <a:prstGeom prst="rect">
            <a:avLst/>
          </a:prstGeom>
          <a:solidFill>
            <a:srgbClr val="3C7D4D"/>
          </a:solidFill>
          <a:ln/>
        </p:spPr>
      </p:sp>
      <p:sp>
        <p:nvSpPr>
          <p:cNvPr id="7" name="Text 2"/>
          <p:cNvSpPr txBox="1"/>
          <p:nvPr/>
        </p:nvSpPr>
        <p:spPr>
          <a:xfrm>
            <a:off x="749808"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3"/>
          <p:cNvSpPr txBox="1"/>
          <p:nvPr>
            <p:ph idx="106" type="body" hasCustomPrompt="1"/>
          </p:nvPr>
        </p:nvSpPr>
        <p:spPr>
          <a:xfrm>
            <a:off x="731520"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9" name="Text 3"/>
          <p:cNvSpPr txBox="1"/>
          <p:nvPr>
            <p:ph idx="107" type="body" hasCustomPrompt="1"/>
          </p:nvPr>
        </p:nvSpPr>
        <p:spPr>
          <a:xfrm>
            <a:off x="731520"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0" name="Text 3"/>
          <p:cNvSpPr txBox="1"/>
          <p:nvPr>
            <p:ph idx="108" type="body" hasCustomPrompt="1"/>
          </p:nvPr>
        </p:nvSpPr>
        <p:spPr>
          <a:xfrm>
            <a:off x="731520"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1" name="Shape 3"/>
          <p:cNvSpPr/>
          <p:nvPr/>
        </p:nvSpPr>
        <p:spPr>
          <a:xfrm>
            <a:off x="3639312" y="2450592"/>
            <a:ext cx="512064" cy="512064"/>
          </a:xfrm>
          <a:prstGeom prst="rect">
            <a:avLst/>
          </a:prstGeom>
          <a:solidFill>
            <a:srgbClr val="3C7D4D"/>
          </a:solidFill>
          <a:ln/>
        </p:spPr>
      </p:sp>
      <p:sp>
        <p:nvSpPr>
          <p:cNvPr id="12" name="Text 4"/>
          <p:cNvSpPr txBox="1"/>
          <p:nvPr/>
        </p:nvSpPr>
        <p:spPr>
          <a:xfrm>
            <a:off x="3639312"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5"/>
          <p:cNvSpPr txBox="1"/>
          <p:nvPr>
            <p:ph idx="111" type="body" hasCustomPrompt="1"/>
          </p:nvPr>
        </p:nvSpPr>
        <p:spPr>
          <a:xfrm>
            <a:off x="3621024"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4" name="Text 5"/>
          <p:cNvSpPr txBox="1"/>
          <p:nvPr>
            <p:ph idx="112" type="body" hasCustomPrompt="1"/>
          </p:nvPr>
        </p:nvSpPr>
        <p:spPr>
          <a:xfrm>
            <a:off x="3621024"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5" name="Text 5"/>
          <p:cNvSpPr txBox="1"/>
          <p:nvPr>
            <p:ph idx="113" type="body" hasCustomPrompt="1"/>
          </p:nvPr>
        </p:nvSpPr>
        <p:spPr>
          <a:xfrm>
            <a:off x="3621024"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6" name="Shape 5"/>
          <p:cNvSpPr/>
          <p:nvPr/>
        </p:nvSpPr>
        <p:spPr>
          <a:xfrm>
            <a:off x="6528816" y="2450592"/>
            <a:ext cx="512064" cy="512064"/>
          </a:xfrm>
          <a:prstGeom prst="rect">
            <a:avLst/>
          </a:prstGeom>
          <a:solidFill>
            <a:srgbClr val="3C7D4D"/>
          </a:solidFill>
          <a:ln/>
        </p:spPr>
      </p:sp>
      <p:sp>
        <p:nvSpPr>
          <p:cNvPr id="17" name="Text 6"/>
          <p:cNvSpPr txBox="1"/>
          <p:nvPr/>
        </p:nvSpPr>
        <p:spPr>
          <a:xfrm>
            <a:off x="6528816"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7"/>
          <p:cNvSpPr txBox="1"/>
          <p:nvPr>
            <p:ph idx="116" type="body" hasCustomPrompt="1"/>
          </p:nvPr>
        </p:nvSpPr>
        <p:spPr>
          <a:xfrm>
            <a:off x="6510528"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9" name="Text 7"/>
          <p:cNvSpPr txBox="1"/>
          <p:nvPr>
            <p:ph idx="117" type="body" hasCustomPrompt="1"/>
          </p:nvPr>
        </p:nvSpPr>
        <p:spPr>
          <a:xfrm>
            <a:off x="6510528"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0" name="Text 7"/>
          <p:cNvSpPr txBox="1"/>
          <p:nvPr>
            <p:ph idx="118" type="body" hasCustomPrompt="1"/>
          </p:nvPr>
        </p:nvSpPr>
        <p:spPr>
          <a:xfrm>
            <a:off x="6510528"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1" name="Shape 7"/>
          <p:cNvSpPr/>
          <p:nvPr/>
        </p:nvSpPr>
        <p:spPr>
          <a:xfrm>
            <a:off x="9418320" y="2450592"/>
            <a:ext cx="512064" cy="512064"/>
          </a:xfrm>
          <a:prstGeom prst="rect">
            <a:avLst/>
          </a:prstGeom>
          <a:solidFill>
            <a:srgbClr val="3C7D4D"/>
          </a:solidFill>
          <a:ln/>
        </p:spPr>
      </p:sp>
      <p:sp>
        <p:nvSpPr>
          <p:cNvPr id="22" name="Text 8"/>
          <p:cNvSpPr txBox="1"/>
          <p:nvPr/>
        </p:nvSpPr>
        <p:spPr>
          <a:xfrm>
            <a:off x="9418320"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9"/>
          <p:cNvSpPr txBox="1"/>
          <p:nvPr>
            <p:ph idx="121" type="body" hasCustomPrompt="1"/>
          </p:nvPr>
        </p:nvSpPr>
        <p:spPr>
          <a:xfrm>
            <a:off x="9400032"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24" name="Text 9"/>
          <p:cNvSpPr txBox="1"/>
          <p:nvPr>
            <p:ph idx="122" type="body" hasCustomPrompt="1"/>
          </p:nvPr>
        </p:nvSpPr>
        <p:spPr>
          <a:xfrm>
            <a:off x="9400032"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5" name="Text 9"/>
          <p:cNvSpPr txBox="1"/>
          <p:nvPr>
            <p:ph idx="123" type="body" hasCustomPrompt="1"/>
          </p:nvPr>
        </p:nvSpPr>
        <p:spPr>
          <a:xfrm>
            <a:off x="9400032"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6" name="Text 9"/>
          <p:cNvSpPr txBox="1"/>
          <p:nvPr>
            <p:ph idx="12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EY_MESS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1051560" y="2139696"/>
            <a:ext cx="822960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THE POINT</a:t>
            </a:r>
            <a:endParaRPr lang="en-US" sz="1100" dirty="0"/>
          </a:p>
        </p:txBody>
      </p:sp>
      <p:sp>
        <p:nvSpPr>
          <p:cNvPr id="4" name="Shape 0"/>
          <p:cNvSpPr/>
          <p:nvPr/>
        </p:nvSpPr>
        <p:spPr>
          <a:xfrm>
            <a:off x="1051560" y="2615184"/>
            <a:ext cx="777240" cy="50292"/>
          </a:xfrm>
          <a:prstGeom prst="rect">
            <a:avLst/>
          </a:prstGeom>
          <a:solidFill>
            <a:srgbClr val="F2A900"/>
          </a:solidFill>
          <a:ln/>
        </p:spPr>
      </p:sp>
      <p:sp>
        <p:nvSpPr>
          <p:cNvPr id="5" name="Text 1"/>
          <p:cNvSpPr txBox="1"/>
          <p:nvPr>
            <p:ph idx="103" type="title" hasCustomPrompt="1"/>
          </p:nvPr>
        </p:nvSpPr>
        <p:spPr>
          <a:xfrm>
            <a:off x="1051560" y="2944368"/>
            <a:ext cx="9966960" cy="1691640"/>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One sentence that carries the whole argument.</a:t>
            </a:r>
            <a:endParaRPr lang="en-US" sz="3600" dirty="0"/>
          </a:p>
        </p:txBody>
      </p:sp>
      <p:sp>
        <p:nvSpPr>
          <p:cNvPr id="6" name="Text 1"/>
          <p:cNvSpPr txBox="1"/>
          <p:nvPr>
            <p:ph idx="104" type="body" hasCustomPrompt="1"/>
          </p:nvPr>
        </p:nvSpPr>
        <p:spPr>
          <a:xfrm>
            <a:off x="1051560" y="4809744"/>
            <a:ext cx="8595360" cy="7315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Short support, or the ask.</a:t>
            </a:r>
            <a:endParaRPr lang="en-US" sz="15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EXT_STEP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Next steps</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need decided today.</a:t>
            </a:r>
            <a:endParaRPr lang="en-US" sz="1600" dirty="0"/>
          </a:p>
        </p:txBody>
      </p:sp>
      <p:sp>
        <p:nvSpPr>
          <p:cNvPr id="5" name="Text 0"/>
          <p:cNvSpPr/>
          <p:nvPr>
            <p:ph idx="103" type="body"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94944"/>
            <a:ext cx="2377440" cy="803189"/>
          </a:xfrm>
          <a:prstGeom prst="rect">
            <a:avLst/>
          </a:prstGeom>
        </p:spPr>
      </p:pic>
      <p:sp>
        <p:nvSpPr>
          <p:cNvPr id="3" name="Shape 0"/>
          <p:cNvSpPr/>
          <p:nvPr/>
        </p:nvSpPr>
        <p:spPr>
          <a:xfrm>
            <a:off x="731520" y="3054096"/>
            <a:ext cx="777240" cy="50292"/>
          </a:xfrm>
          <a:prstGeom prst="rect">
            <a:avLst/>
          </a:prstGeom>
          <a:solidFill>
            <a:srgbClr val="F2A900"/>
          </a:solidFill>
          <a:ln/>
        </p:spPr>
      </p:sp>
      <p:sp>
        <p:nvSpPr>
          <p:cNvPr id="4" name="Text 1"/>
          <p:cNvSpPr txBox="1"/>
          <p:nvPr>
            <p:ph idx="102" type="title" hasCustomPrompt="1"/>
          </p:nvPr>
        </p:nvSpPr>
        <p:spPr>
          <a:xfrm>
            <a:off x="731520" y="3364992"/>
            <a:ext cx="6949440" cy="896112"/>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What we decided</a:t>
            </a:r>
            <a:endParaRPr lang="en-US" sz="3600" dirty="0"/>
          </a:p>
        </p:txBody>
      </p:sp>
      <p:sp>
        <p:nvSpPr>
          <p:cNvPr id="5" name="Text 1"/>
          <p:cNvSpPr txBox="1"/>
          <p:nvPr>
            <p:ph idx="103" type="body" hasCustomPrompt="1"/>
          </p:nvPr>
        </p:nvSpPr>
        <p:spPr>
          <a:xfrm>
            <a:off x="731520" y="4334256"/>
            <a:ext cx="6949440" cy="11887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Decision, owner, and date.</a:t>
            </a:r>
            <a:endParaRPr lang="en-US" sz="1500" dirty="0"/>
          </a:p>
        </p:txBody>
      </p:sp>
      <p:sp>
        <p:nvSpPr>
          <p:cNvPr id="6" name="Text 1"/>
          <p:cNvSpPr txBox="1"/>
          <p:nvPr>
            <p:ph idx="104" type="body" hasCustomPrompt="1"/>
          </p:nvPr>
        </p:nvSpPr>
        <p:spPr>
          <a:xfrm>
            <a:off x="731520" y="5961888"/>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Name  |  Title  |  email@steelking.com</a:t>
            </a:r>
            <a:endParaRPr lang="en-US" sz="115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VER_MASCO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brand/logo_knight.png">    </p:cNvPr>
          <p:cNvPicPr>
            <a:picLocks noChangeAspect="1"/>
          </p:cNvPicPr>
          <p:nvPr/>
        </p:nvPicPr>
        <p:blipFill>
          <a:blip r:embed="rId1"/>
          <a:stretch>
            <a:fillRect/>
          </a:stretch>
        </p:blipFill>
        <p:spPr>
          <a:xfrm>
            <a:off x="7863840" y="1481328"/>
            <a:ext cx="3658880" cy="5212080"/>
          </a:xfrm>
          <a:prstGeom prst="rect">
            <a:avLst/>
          </a:prstGeom>
        </p:spPr>
      </p:pic>
      <p:pic>
        <p:nvPicPr>
          <p:cNvPr id="3" name="Image 1" descr="brand/logo_h_rev.png">    </p:cNvPr>
          <p:cNvPicPr>
            <a:picLocks noChangeAspect="1"/>
          </p:cNvPicPr>
          <p:nvPr/>
        </p:nvPicPr>
        <p:blipFill>
          <a:blip r:embed="rId2"/>
          <a:stretch>
            <a:fillRect/>
          </a:stretch>
        </p:blipFill>
        <p:spPr>
          <a:xfrm>
            <a:off x="731520" y="658368"/>
            <a:ext cx="2377440" cy="803189"/>
          </a:xfrm>
          <a:prstGeom prst="rect">
            <a:avLst/>
          </a:prstGeom>
        </p:spPr>
      </p:pic>
      <p:sp>
        <p:nvSpPr>
          <p:cNvPr id="4" name="Text 0"/>
          <p:cNvSpPr txBox="1"/>
          <p:nvPr>
            <p:ph idx="102" type="body" hasCustomPrompt="1"/>
          </p:nvPr>
        </p:nvSpPr>
        <p:spPr>
          <a:xfrm>
            <a:off x="731520" y="2395728"/>
            <a:ext cx="658368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DEALER MEETING</a:t>
            </a:r>
            <a:endParaRPr lang="en-US" sz="1100" dirty="0"/>
          </a:p>
        </p:txBody>
      </p:sp>
      <p:sp>
        <p:nvSpPr>
          <p:cNvPr id="5" name="Shape 0"/>
          <p:cNvSpPr/>
          <p:nvPr/>
        </p:nvSpPr>
        <p:spPr>
          <a:xfrm>
            <a:off x="731520" y="2871216"/>
            <a:ext cx="777240" cy="50292"/>
          </a:xfrm>
          <a:prstGeom prst="rect">
            <a:avLst/>
          </a:prstGeom>
          <a:solidFill>
            <a:srgbClr val="F2A900"/>
          </a:solidFill>
          <a:ln/>
        </p:spPr>
      </p:sp>
      <p:sp>
        <p:nvSpPr>
          <p:cNvPr id="6" name="Text 1"/>
          <p:cNvSpPr txBox="1"/>
          <p:nvPr>
            <p:ph idx="104" type="title" hasCustomPrompt="1"/>
          </p:nvPr>
        </p:nvSpPr>
        <p:spPr>
          <a:xfrm>
            <a:off x="731520" y="3200400"/>
            <a:ext cx="6583680" cy="1627632"/>
          </a:xfrm>
          <a:prstGeom prst="rect">
            <a:avLst/>
          </a:prstGeom>
          <a:noFill/>
          <a:ln/>
        </p:spPr>
        <p:txBody>
          <a:bodyPr wrap="square" rtlCol="0"/>
          <a:lstStyle>
            <a:lvl1pPr algn="l" indent="0" marL="0">
              <a:buNone/>
              <a:defRPr lang="en-US" sz="44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400" b="1" spc="-100" kern="0" dirty="0">
                <a:solidFill>
                  <a:srgbClr val="FFFFFF"/>
                </a:solidFill>
                <a:latin typeface="Arial" pitchFamily="34" charset="0"/>
                <a:ea typeface="Arial" pitchFamily="34" charset="-122"/>
                <a:cs typeface="Arial" pitchFamily="34" charset="-120"/>
              </a:rPr>
              <a:t>Presentation title</a:t>
            </a:r>
            <a:endParaRPr lang="en-US" sz="4400" dirty="0"/>
          </a:p>
        </p:txBody>
      </p:sp>
      <p:sp>
        <p:nvSpPr>
          <p:cNvPr id="7" name="Text 1"/>
          <p:cNvSpPr txBox="1"/>
          <p:nvPr>
            <p:ph idx="105" type="body" hasCustomPrompt="1"/>
          </p:nvPr>
        </p:nvSpPr>
        <p:spPr>
          <a:xfrm>
            <a:off x="731520" y="4956048"/>
            <a:ext cx="658368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8" name="Text 1"/>
          <p:cNvSpPr txBox="1"/>
          <p:nvPr>
            <p:ph idx="106" type="body" hasCustomPrompt="1"/>
          </p:nvPr>
        </p:nvSpPr>
        <p:spPr>
          <a:xfrm>
            <a:off x="731520" y="5998464"/>
            <a:ext cx="658368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t>SALES MEETING  ·  NATIONAL ACCOUNT PRESENTATION</a:t>
            </a:r>
          </a:p>
        </p:txBody>
      </p:sp>
      <p:sp>
        <p:nvSpPr>
          <p:cNvPr id="3" name="Title 2"/>
          <p:cNvSpPr>
            <a:spLocks noGrp="1"/>
          </p:cNvSpPr>
          <p:nvPr>
            <p:ph type="title" idx="104"/>
          </p:nvPr>
        </p:nvSpPr>
        <p:spPr/>
        <p:txBody>
          <a:bodyPr/>
          <a:lstStyle/>
          <a:p>
            <a:r>
              <a:t>Walmart, Sam's, and Ambient</a:t>
            </a:r>
          </a:p>
        </p:txBody>
      </p:sp>
      <p:sp>
        <p:nvSpPr>
          <p:cNvPr id="4" name="Text Placeholder 3"/>
          <p:cNvSpPr>
            <a:spLocks noGrp="1"/>
          </p:cNvSpPr>
          <p:nvPr>
            <p:ph type="body" idx="105"/>
          </p:nvPr>
        </p:nvSpPr>
        <p:spPr/>
        <p:txBody>
          <a:bodyPr/>
          <a:lstStyle/>
          <a:p>
            <a:r>
              <a:t>Where we're winning, what's performing, and why Walmart keeps choosing us.</a:t>
            </a:r>
          </a:p>
        </p:txBody>
      </p:sp>
      <p:sp>
        <p:nvSpPr>
          <p:cNvPr id="5" name="Text Placeholder 4"/>
          <p:cNvSpPr>
            <a:spLocks noGrp="1"/>
          </p:cNvSpPr>
          <p:nvPr>
            <p:ph type="body" idx="106"/>
          </p:nvPr>
        </p:nvSpPr>
        <p:spPr/>
        <p:txBody>
          <a:bodyPr/>
          <a:lstStyle/>
          <a:p>
            <a:r>
              <a:t>Chad  |  Sales Meeting  |  [Month]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NATIONAL ACCOUNT REVIEW  ·  1 OF 6  ·  BY THE NUMBERS</a:t>
            </a:r>
          </a:p>
        </p:txBody>
      </p:sp>
      <p:sp>
        <p:nvSpPr>
          <p:cNvPr id="3" name="Title 2"/>
          <p:cNvSpPr>
            <a:spLocks noGrp="1"/>
          </p:cNvSpPr>
          <p:nvPr>
            <p:ph type="title" idx="101"/>
          </p:nvPr>
        </p:nvSpPr>
        <p:spPr/>
        <p:txBody>
          <a:bodyPr/>
          <a:lstStyle/>
          <a:p>
            <a:r>
              <a:t>Walmart in numbers</a:t>
            </a:r>
          </a:p>
        </p:txBody>
      </p:sp>
      <p:sp>
        <p:nvSpPr>
          <p:cNvPr id="4" name="Text Placeholder 3"/>
          <p:cNvSpPr>
            <a:spLocks noGrp="1"/>
          </p:cNvSpPr>
          <p:nvPr>
            <p:ph type="body" idx="102"/>
          </p:nvPr>
        </p:nvSpPr>
        <p:spPr/>
        <p:txBody>
          <a:bodyPr/>
          <a:lstStyle/>
          <a:p>
            <a:r>
              <a:t>Numbers are pre-filled. Add two sentences on what they don't show.</a:t>
            </a:r>
          </a:p>
        </p:txBody>
      </p:sp>
      <p:sp>
        <p:nvSpPr>
          <p:cNvPr id="5" name="TextBox 4"/>
          <p:cNvSpPr txBox="1"/>
          <p:nvPr/>
        </p:nvSpPr>
        <p:spPr>
          <a:xfrm>
            <a:off x="731520" y="2121408"/>
            <a:ext cx="5120640" cy="237744"/>
          </a:xfrm>
          <a:prstGeom prst="rect">
            <a:avLst/>
          </a:prstGeom>
          <a:noFill/>
        </p:spPr>
        <p:txBody>
          <a:bodyPr wrap="square" lIns="0" rIns="0" tIns="0" bIns="0">
            <a:noAutofit/>
          </a:bodyPr>
          <a:lstStyle/>
          <a:p>
            <a:pPr algn="l"/>
            <a:r>
              <a:rPr sz="1100" b="1" i="0">
                <a:solidFill>
                  <a:srgbClr val="3C7D4D"/>
                </a:solidFill>
                <a:latin typeface="Arial"/>
              </a:rPr>
              <a:t>BOOKINGS AND QUOTES BY QUARTER</a:t>
            </a:r>
          </a:p>
        </p:txBody>
      </p:sp>
      <p:graphicFrame>
        <p:nvGraphicFramePr>
          <p:cNvPr id="6" name="Table 5"/>
          <p:cNvGraphicFramePr>
            <a:graphicFrameLocks noGrp="1"/>
          </p:cNvGraphicFramePr>
          <p:nvPr/>
        </p:nvGraphicFramePr>
        <p:xfrm>
          <a:off x="731520" y="2377440"/>
          <a:ext cx="5120640" cy="1664208"/>
        </p:xfrm>
        <a:graphic>
          <a:graphicData uri="http://schemas.openxmlformats.org/drawingml/2006/table">
            <a:tbl>
              <a:tblPr firstRow="0" bandRow="0"/>
              <a:tblGrid>
                <a:gridCol w="1280160"/>
                <a:gridCol w="1280160"/>
                <a:gridCol w="1280160"/>
                <a:gridCol w="1280160"/>
              </a:tblGrid>
              <a:tr h="292608">
                <a:tc>
                  <a:txBody>
                    <a:bodyPr/>
                    <a:lstStyle/>
                    <a:p>
                      <a:r>
                        <a:rPr sz="1000" b="1">
                          <a:solidFill>
                            <a:srgbClr val="FFFFFF"/>
                          </a:solidFill>
                          <a:latin typeface="Arial"/>
                        </a:rPr>
                        <a:t>Quarter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Bookings 2025</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Bookings 2026</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Quotes 2026</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74320">
                <a:tc>
                  <a:txBody>
                    <a:bodyPr/>
                    <a:lstStyle/>
                    <a:p>
                      <a:r>
                        <a:rPr sz="1000" b="1">
                          <a:solidFill>
                            <a:srgbClr val="5B6670"/>
                          </a:solidFill>
                          <a:latin typeface="Arial"/>
                        </a:rPr>
                        <a:t>Q1</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r>
                        <a:rPr sz="1000" b="1">
                          <a:solidFill>
                            <a:srgbClr val="5B6670"/>
                          </a:solidFill>
                          <a:latin typeface="Arial"/>
                        </a:rPr>
                        <a:t>Q2</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r>
                        <a:rPr sz="1000" b="1">
                          <a:solidFill>
                            <a:srgbClr val="5B6670"/>
                          </a:solidFill>
                          <a:latin typeface="Arial"/>
                        </a:rPr>
                        <a:t>Q3</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r>
                        <a:rPr sz="1000" b="1">
                          <a:solidFill>
                            <a:srgbClr val="5B6670"/>
                          </a:solidFill>
                          <a:latin typeface="Arial"/>
                        </a:rPr>
                        <a:t>Q4 to date</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r>
                        <a:rPr sz="1000" b="1">
                          <a:solidFill>
                            <a:srgbClr val="5B6670"/>
                          </a:solidFill>
                          <a:latin typeface="Arial"/>
                        </a:rPr>
                        <a:t>YTD</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7" name="TextBox 6"/>
          <p:cNvSpPr txBox="1"/>
          <p:nvPr/>
        </p:nvSpPr>
        <p:spPr>
          <a:xfrm>
            <a:off x="731520" y="4370832"/>
            <a:ext cx="5120640" cy="237744"/>
          </a:xfrm>
          <a:prstGeom prst="rect">
            <a:avLst/>
          </a:prstGeom>
          <a:noFill/>
        </p:spPr>
        <p:txBody>
          <a:bodyPr wrap="square" lIns="0" rIns="0" tIns="0" bIns="0">
            <a:noAutofit/>
          </a:bodyPr>
          <a:lstStyle/>
          <a:p>
            <a:pPr algn="l"/>
            <a:r>
              <a:rPr sz="1100" b="1" i="0">
                <a:solidFill>
                  <a:srgbClr val="3C7D4D"/>
                </a:solidFill>
                <a:latin typeface="Arial"/>
              </a:rPr>
              <a:t>WHAT THE NUMBERS DON'T SHOW</a:t>
            </a:r>
          </a:p>
        </p:txBody>
      </p:sp>
      <p:sp>
        <p:nvSpPr>
          <p:cNvPr id="8" name="TextBox 7"/>
          <p:cNvSpPr txBox="1"/>
          <p:nvPr/>
        </p:nvSpPr>
        <p:spPr>
          <a:xfrm>
            <a:off x="731520" y="4590288"/>
            <a:ext cx="5120640" cy="237744"/>
          </a:xfrm>
          <a:prstGeom prst="rect">
            <a:avLst/>
          </a:prstGeom>
          <a:noFill/>
        </p:spPr>
        <p:txBody>
          <a:bodyPr wrap="square" lIns="0" rIns="0" tIns="0" bIns="0">
            <a:noAutofit/>
          </a:bodyPr>
          <a:lstStyle/>
          <a:p>
            <a:pPr algn="l"/>
            <a:r>
              <a:rPr sz="1000" b="0" i="0">
                <a:solidFill>
                  <a:srgbClr val="5B6670"/>
                </a:solidFill>
                <a:latin typeface="Arial"/>
              </a:rPr>
              <a:t>Two sentences. Yours.</a:t>
            </a:r>
          </a:p>
        </p:txBody>
      </p:sp>
      <p:sp>
        <p:nvSpPr>
          <p:cNvPr id="9" name="TextBox 8"/>
          <p:cNvSpPr txBox="1"/>
          <p:nvPr/>
        </p:nvSpPr>
        <p:spPr>
          <a:xfrm>
            <a:off x="731520" y="4828032"/>
            <a:ext cx="5120640" cy="1207008"/>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
        <p:nvSpPr>
          <p:cNvPr id="10" name="TextBox 9"/>
          <p:cNvSpPr txBox="1"/>
          <p:nvPr/>
        </p:nvSpPr>
        <p:spPr>
          <a:xfrm>
            <a:off x="6519672" y="2121408"/>
            <a:ext cx="4937760" cy="237744"/>
          </a:xfrm>
          <a:prstGeom prst="rect">
            <a:avLst/>
          </a:prstGeom>
          <a:noFill/>
        </p:spPr>
        <p:txBody>
          <a:bodyPr wrap="square" lIns="0" rIns="0" tIns="0" bIns="0">
            <a:noAutofit/>
          </a:bodyPr>
          <a:lstStyle/>
          <a:p>
            <a:pPr algn="l"/>
            <a:r>
              <a:rPr sz="1100" b="1" i="0">
                <a:solidFill>
                  <a:srgbClr val="3C7D4D"/>
                </a:solidFill>
                <a:latin typeface="Arial"/>
              </a:rPr>
              <a:t>TOP PROGRAMS AND SITES, YTD BOOKINGS</a:t>
            </a:r>
          </a:p>
        </p:txBody>
      </p:sp>
      <p:graphicFrame>
        <p:nvGraphicFramePr>
          <p:cNvPr id="11" name="Table 10"/>
          <p:cNvGraphicFramePr>
            <a:graphicFrameLocks noGrp="1"/>
          </p:cNvGraphicFramePr>
          <p:nvPr/>
        </p:nvGraphicFramePr>
        <p:xfrm>
          <a:off x="6519672" y="2377440"/>
          <a:ext cx="4937760" cy="2212848"/>
        </p:xfrm>
        <a:graphic>
          <a:graphicData uri="http://schemas.openxmlformats.org/drawingml/2006/table">
            <a:tbl>
              <a:tblPr firstRow="0" bandRow="0"/>
              <a:tblGrid>
                <a:gridCol w="3108960"/>
                <a:gridCol w="1828800"/>
              </a:tblGrid>
              <a:tr h="292608">
                <a:tc>
                  <a:txBody>
                    <a:bodyPr/>
                    <a:lstStyle/>
                    <a:p>
                      <a:r>
                        <a:rPr sz="1000" b="1">
                          <a:solidFill>
                            <a:srgbClr val="FFFFFF"/>
                          </a:solidFill>
                          <a:latin typeface="Arial"/>
                        </a:rPr>
                        <a:t>Top programs and sites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YTD bookings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74320">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12" name="TextBox 11"/>
          <p:cNvSpPr txBox="1"/>
          <p:nvPr/>
        </p:nvSpPr>
        <p:spPr>
          <a:xfrm>
            <a:off x="731520" y="6364224"/>
            <a:ext cx="7863840" cy="237744"/>
          </a:xfrm>
          <a:prstGeom prst="rect">
            <a:avLst/>
          </a:prstGeom>
          <a:noFill/>
        </p:spPr>
        <p:txBody>
          <a:bodyPr wrap="square" lIns="0" rIns="0" tIns="0" bIns="0">
            <a:noAutofit/>
          </a:bodyPr>
          <a:lstStyle/>
          <a:p>
            <a:pPr algn="l"/>
            <a:r>
              <a:rPr sz="900" b="0" i="0">
                <a:solidFill>
                  <a:srgbClr val="5B6670"/>
                </a:solidFill>
                <a:latin typeface="Arial"/>
              </a:rPr>
              <a:t>Source: [system], pulled [date]. Quotes are a count. Pre-filled by Nate.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NATIONAL ACCOUNT REVIEW  ·  2 OF 6  ·  WHAT'S PERFORMING</a:t>
            </a:r>
          </a:p>
        </p:txBody>
      </p:sp>
      <p:sp>
        <p:nvSpPr>
          <p:cNvPr id="3" name="Title 2"/>
          <p:cNvSpPr>
            <a:spLocks noGrp="1"/>
          </p:cNvSpPr>
          <p:nvPr>
            <p:ph type="title" idx="101"/>
          </p:nvPr>
        </p:nvSpPr>
        <p:spPr/>
        <p:txBody>
          <a:bodyPr/>
          <a:lstStyle/>
          <a:p>
            <a:r>
              <a:t>What's performing, and why Walmart picks us</a:t>
            </a:r>
          </a:p>
        </p:txBody>
      </p:sp>
      <p:sp>
        <p:nvSpPr>
          <p:cNvPr id="4" name="Text Placeholder 3"/>
          <p:cNvSpPr>
            <a:spLocks noGrp="1"/>
          </p:cNvSpPr>
          <p:nvPr>
            <p:ph type="body" idx="102"/>
          </p:nvPr>
        </p:nvSpPr>
        <p:spPr/>
        <p:txBody>
          <a:bodyPr/>
          <a:lstStyle/>
          <a:p>
            <a:r>
              <a:t>Which products perform across the Walmart sites, and why Walmart keeps choosing us.</a:t>
            </a:r>
          </a:p>
        </p:txBody>
      </p:sp>
      <p:graphicFrame>
        <p:nvGraphicFramePr>
          <p:cNvPr id="5" name="Table 4"/>
          <p:cNvGraphicFramePr>
            <a:graphicFrameLocks noGrp="1"/>
          </p:cNvGraphicFramePr>
          <p:nvPr/>
        </p:nvGraphicFramePr>
        <p:xfrm>
          <a:off x="731520" y="2121408"/>
          <a:ext cx="10725912" cy="3657600"/>
        </p:xfrm>
        <a:graphic>
          <a:graphicData uri="http://schemas.openxmlformats.org/drawingml/2006/table">
            <a:tbl>
              <a:tblPr firstRow="0" bandRow="0"/>
              <a:tblGrid>
                <a:gridCol w="2194560"/>
                <a:gridCol w="3291840"/>
                <a:gridCol w="5239512"/>
              </a:tblGrid>
              <a:tr h="365760">
                <a:tc>
                  <a:txBody>
                    <a:bodyPr/>
                    <a:lstStyle/>
                    <a:p>
                      <a:r>
                        <a:rPr sz="1000" b="1">
                          <a:solidFill>
                            <a:srgbClr val="FFFFFF"/>
                          </a:solidFill>
                          <a:latin typeface="Arial"/>
                        </a:rPr>
                        <a:t>Product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Where it's performing: site, program, format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Why Walmart keeps choosing us, in their words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658368">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658368">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658368">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658368">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658368">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6" name="TextBox 5"/>
          <p:cNvSpPr txBox="1"/>
          <p:nvPr/>
        </p:nvSpPr>
        <p:spPr>
          <a:xfrm>
            <a:off x="731520" y="5797296"/>
            <a:ext cx="10725912" cy="237744"/>
          </a:xfrm>
          <a:prstGeom prst="rect">
            <a:avLst/>
          </a:prstGeom>
          <a:noFill/>
        </p:spPr>
        <p:txBody>
          <a:bodyPr wrap="square" lIns="0" rIns="0" tIns="0" bIns="0">
            <a:noAutofit/>
          </a:bodyPr>
          <a:lstStyle/>
          <a:p>
            <a:pPr algn="l"/>
            <a:r>
              <a:rPr sz="1100" b="1" i="0">
                <a:solidFill>
                  <a:srgbClr val="3C7D4D"/>
                </a:solidFill>
                <a:latin typeface="Arial"/>
              </a:rPr>
              <a:t>For the room:  Which of these reasons would hold at another national account?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NATIONAL ACCOUNT REVIEW  ·  3 OF 6  ·  WHAT THEY BUY US FOR</a:t>
            </a:r>
          </a:p>
        </p:txBody>
      </p:sp>
      <p:sp>
        <p:nvSpPr>
          <p:cNvPr id="3" name="Title 2"/>
          <p:cNvSpPr>
            <a:spLocks noGrp="1"/>
          </p:cNvSpPr>
          <p:nvPr>
            <p:ph type="title" idx="101"/>
          </p:nvPr>
        </p:nvSpPr>
        <p:spPr/>
        <p:txBody>
          <a:bodyPr/>
          <a:lstStyle/>
          <a:p>
            <a:r>
              <a:t>What Walmart buys us for, and what's missing</a:t>
            </a:r>
          </a:p>
        </p:txBody>
      </p:sp>
      <p:sp>
        <p:nvSpPr>
          <p:cNvPr id="4" name="Text Placeholder 3"/>
          <p:cNvSpPr>
            <a:spLocks noGrp="1"/>
          </p:cNvSpPr>
          <p:nvPr>
            <p:ph type="body" idx="102"/>
          </p:nvPr>
        </p:nvSpPr>
        <p:spPr/>
        <p:txBody>
          <a:bodyPr/>
          <a:lstStyle/>
          <a:p>
            <a:r>
              <a:t>Two or three things Walmart counts on us for, then the one gap that costs you the most business.</a:t>
            </a:r>
          </a:p>
        </p:txBody>
      </p:sp>
      <p:sp>
        <p:nvSpPr>
          <p:cNvPr id="5" name="TextBox 4"/>
          <p:cNvSpPr txBox="1"/>
          <p:nvPr/>
        </p:nvSpPr>
        <p:spPr>
          <a:xfrm>
            <a:off x="731520" y="2121408"/>
            <a:ext cx="5120640" cy="237744"/>
          </a:xfrm>
          <a:prstGeom prst="rect">
            <a:avLst/>
          </a:prstGeom>
          <a:noFill/>
        </p:spPr>
        <p:txBody>
          <a:bodyPr wrap="square" lIns="0" rIns="0" tIns="0" bIns="0">
            <a:noAutofit/>
          </a:bodyPr>
          <a:lstStyle/>
          <a:p>
            <a:pPr algn="l"/>
            <a:r>
              <a:rPr sz="1100" b="1" i="0">
                <a:solidFill>
                  <a:srgbClr val="3C7D4D"/>
                </a:solidFill>
                <a:latin typeface="Arial"/>
              </a:rPr>
              <a:t>WHAT WALMART COUNTS ON US FOR</a:t>
            </a:r>
          </a:p>
        </p:txBody>
      </p:sp>
      <p:graphicFrame>
        <p:nvGraphicFramePr>
          <p:cNvPr id="6" name="Table 5"/>
          <p:cNvGraphicFramePr>
            <a:graphicFrameLocks noGrp="1"/>
          </p:cNvGraphicFramePr>
          <p:nvPr/>
        </p:nvGraphicFramePr>
        <p:xfrm>
          <a:off x="731520" y="2377440"/>
          <a:ext cx="5120640" cy="3346704"/>
        </p:xfrm>
        <a:graphic>
          <a:graphicData uri="http://schemas.openxmlformats.org/drawingml/2006/table">
            <a:tbl>
              <a:tblPr firstRow="0" bandRow="0"/>
              <a:tblGrid>
                <a:gridCol w="457200"/>
                <a:gridCol w="4663440"/>
              </a:tblGrid>
              <a:tr h="329184">
                <a:tc>
                  <a:txBody>
                    <a:bodyPr/>
                    <a:lstStyle/>
                    <a:p>
                      <a:r>
                        <a:rPr sz="1000" b="1">
                          <a:solidFill>
                            <a:srgbClr val="FFFFFF"/>
                          </a:solidFill>
                          <a:latin typeface="Arial"/>
                        </a:rPr>
                        <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In their words if you have them</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1005840">
                <a:tc>
                  <a:txBody>
                    <a:bodyPr/>
                    <a:lstStyle/>
                    <a:p>
                      <a:r>
                        <a:rPr sz="1000" b="1">
                          <a:solidFill>
                            <a:srgbClr val="5B6670"/>
                          </a:solidFill>
                          <a:latin typeface="Arial"/>
                        </a:rPr>
                        <a:t>1</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005840">
                <a:tc>
                  <a:txBody>
                    <a:bodyPr/>
                    <a:lstStyle/>
                    <a:p>
                      <a:r>
                        <a:rPr sz="1000" b="1">
                          <a:solidFill>
                            <a:srgbClr val="5B6670"/>
                          </a:solidFill>
                          <a:latin typeface="Arial"/>
                        </a:rPr>
                        <a:t>2</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005840">
                <a:tc>
                  <a:txBody>
                    <a:bodyPr/>
                    <a:lstStyle/>
                    <a:p>
                      <a:r>
                        <a:rPr sz="1000" b="1">
                          <a:solidFill>
                            <a:srgbClr val="5B6670"/>
                          </a:solidFill>
                          <a:latin typeface="Arial"/>
                        </a:rPr>
                        <a:t>3</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7" name="TextBox 6"/>
          <p:cNvSpPr txBox="1"/>
          <p:nvPr/>
        </p:nvSpPr>
        <p:spPr>
          <a:xfrm>
            <a:off x="6519672" y="2121408"/>
            <a:ext cx="4937760" cy="237744"/>
          </a:xfrm>
          <a:prstGeom prst="rect">
            <a:avLst/>
          </a:prstGeom>
          <a:noFill/>
        </p:spPr>
        <p:txBody>
          <a:bodyPr wrap="square" lIns="0" rIns="0" tIns="0" bIns="0">
            <a:noAutofit/>
          </a:bodyPr>
          <a:lstStyle/>
          <a:p>
            <a:pPr algn="l"/>
            <a:r>
              <a:rPr sz="1100" b="1" i="0">
                <a:solidFill>
                  <a:srgbClr val="3C7D4D"/>
                </a:solidFill>
                <a:latin typeface="Arial"/>
              </a:rPr>
              <a:t>THE ONE GAP THAT COSTS ME THE MOST</a:t>
            </a:r>
          </a:p>
        </p:txBody>
      </p:sp>
      <p:graphicFrame>
        <p:nvGraphicFramePr>
          <p:cNvPr id="8" name="Table 7"/>
          <p:cNvGraphicFramePr>
            <a:graphicFrameLocks noGrp="1"/>
          </p:cNvGraphicFramePr>
          <p:nvPr/>
        </p:nvGraphicFramePr>
        <p:xfrm>
          <a:off x="6519672" y="2377440"/>
          <a:ext cx="4937760" cy="3346704"/>
        </p:xfrm>
        <a:graphic>
          <a:graphicData uri="http://schemas.openxmlformats.org/drawingml/2006/table">
            <a:tbl>
              <a:tblPr firstRow="0" bandRow="0"/>
              <a:tblGrid>
                <a:gridCol w="1554480"/>
                <a:gridCol w="3383280"/>
              </a:tblGrid>
              <a:tr h="329184">
                <a:tc>
                  <a:txBody>
                    <a:bodyPr/>
                    <a:lstStyle/>
                    <a:p>
                      <a:r>
                        <a:rPr sz="1000" b="1">
                          <a:solidFill>
                            <a:srgbClr val="FFFFFF"/>
                          </a:solidFill>
                          <a:latin typeface="Arial"/>
                        </a:rPr>
                        <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One gap. The one that costs the most.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1005840">
                <a:tc>
                  <a:txBody>
                    <a:bodyPr/>
                    <a:lstStyle/>
                    <a:p>
                      <a:r>
                        <a:rPr sz="1000" b="1">
                          <a:solidFill>
                            <a:srgbClr val="5B6670"/>
                          </a:solidFill>
                          <a:latin typeface="Arial"/>
                        </a:rPr>
                        <a:t>The gap</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005840">
                <a:tc>
                  <a:txBody>
                    <a:bodyPr/>
                    <a:lstStyle/>
                    <a:p>
                      <a:r>
                        <a:rPr sz="1000" b="1">
                          <a:solidFill>
                            <a:srgbClr val="5B6670"/>
                          </a:solidFill>
                          <a:latin typeface="Arial"/>
                        </a:rPr>
                        <a:t>What it costs us</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005840">
                <a:tc>
                  <a:txBody>
                    <a:bodyPr/>
                    <a:lstStyle/>
                    <a:p>
                      <a:r>
                        <a:rPr sz="1000" b="1">
                          <a:solidFill>
                            <a:srgbClr val="5B6670"/>
                          </a:solidFill>
                          <a:latin typeface="Arial"/>
                        </a:rPr>
                        <a:t>What would fix it</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9" name="TextBox 8"/>
          <p:cNvSpPr txBox="1"/>
          <p:nvPr/>
        </p:nvSpPr>
        <p:spPr>
          <a:xfrm>
            <a:off x="731520" y="5797296"/>
            <a:ext cx="10725912" cy="237744"/>
          </a:xfrm>
          <a:prstGeom prst="rect">
            <a:avLst/>
          </a:prstGeom>
          <a:noFill/>
        </p:spPr>
        <p:txBody>
          <a:bodyPr wrap="square" lIns="0" rIns="0" tIns="0" bIns="0">
            <a:noAutofit/>
          </a:bodyPr>
          <a:lstStyle/>
          <a:p>
            <a:pPr algn="l"/>
            <a:r>
              <a:rPr sz="1100" b="1" i="0">
                <a:solidFill>
                  <a:srgbClr val="3C7D4D"/>
                </a:solidFill>
                <a:latin typeface="Arial"/>
              </a:rPr>
              <a:t>For the room:  Which of these would the dealers say too?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NATIONAL ACCOUNT REVIEW  ·  4 OF 6  ·  MINDSHARE</a:t>
            </a:r>
          </a:p>
        </p:txBody>
      </p:sp>
      <p:sp>
        <p:nvSpPr>
          <p:cNvPr id="3" name="Title 2"/>
          <p:cNvSpPr>
            <a:spLocks noGrp="1"/>
          </p:cNvSpPr>
          <p:nvPr>
            <p:ph type="title" idx="101"/>
          </p:nvPr>
        </p:nvSpPr>
        <p:spPr/>
        <p:txBody>
          <a:bodyPr/>
          <a:lstStyle/>
          <a:p>
            <a:r>
              <a:t>Mindshare inside Walmart</a:t>
            </a:r>
          </a:p>
        </p:txBody>
      </p:sp>
      <p:sp>
        <p:nvSpPr>
          <p:cNvPr id="4" name="Text Placeholder 3"/>
          <p:cNvSpPr>
            <a:spLocks noGrp="1"/>
          </p:cNvSpPr>
          <p:nvPr>
            <p:ph type="body" idx="102"/>
          </p:nvPr>
        </p:nvSpPr>
        <p:spPr/>
        <p:txBody>
          <a:bodyPr/>
          <a:lstStyle/>
          <a:p>
            <a:r>
              <a:t>How you keep mindshare inside Walmart and with their integrators, and what's working.</a:t>
            </a:r>
          </a:p>
        </p:txBody>
      </p:sp>
      <p:sp>
        <p:nvSpPr>
          <p:cNvPr id="5" name="Text Placeholder 4"/>
          <p:cNvSpPr>
            <a:spLocks noGrp="1"/>
          </p:cNvSpPr>
          <p:nvPr>
            <p:ph type="body" idx="106"/>
          </p:nvPr>
        </p:nvSpPr>
        <p:spPr/>
        <p:txBody>
          <a:bodyPr/>
          <a:lstStyle/>
          <a:p>
            <a:r>
              <a:t>Inside Walmart</a:t>
            </a:r>
          </a:p>
        </p:txBody>
      </p:sp>
      <p:sp>
        <p:nvSpPr>
          <p:cNvPr id="7" name="Text Placeholder 6"/>
          <p:cNvSpPr>
            <a:spLocks noGrp="1"/>
          </p:cNvSpPr>
          <p:nvPr>
            <p:ph type="body" idx="111"/>
          </p:nvPr>
        </p:nvSpPr>
        <p:spPr/>
        <p:txBody>
          <a:bodyPr/>
          <a:lstStyle/>
          <a:p>
            <a:r>
              <a:t>With their integrators</a:t>
            </a:r>
          </a:p>
        </p:txBody>
      </p:sp>
      <p:sp>
        <p:nvSpPr>
          <p:cNvPr id="9" name="Text Placeholder 8"/>
          <p:cNvSpPr>
            <a:spLocks noGrp="1"/>
          </p:cNvSpPr>
          <p:nvPr>
            <p:ph type="body" idx="116"/>
          </p:nvPr>
        </p:nvSpPr>
        <p:spPr/>
        <p:txBody>
          <a:bodyPr/>
          <a:lstStyle/>
          <a:p>
            <a:r>
              <a:t>What's working, what isn't</a:t>
            </a:r>
          </a:p>
        </p:txBody>
      </p:sp>
      <p:sp>
        <p:nvSpPr>
          <p:cNvPr id="12" name="TextBox 11"/>
          <p:cNvSpPr txBox="1"/>
          <p:nvPr/>
        </p:nvSpPr>
        <p:spPr>
          <a:xfrm>
            <a:off x="1097280" y="3931920"/>
            <a:ext cx="2660904" cy="237744"/>
          </a:xfrm>
          <a:prstGeom prst="rect">
            <a:avLst/>
          </a:prstGeom>
          <a:noFill/>
        </p:spPr>
        <p:txBody>
          <a:bodyPr wrap="square" lIns="0" rIns="0" tIns="0" bIns="0">
            <a:noAutofit/>
          </a:bodyPr>
          <a:lstStyle/>
          <a:p>
            <a:pPr algn="l"/>
            <a:r>
              <a:rPr sz="1000" b="0" i="0">
                <a:solidFill>
                  <a:srgbClr val="5B6670"/>
                </a:solidFill>
                <a:latin typeface="Arial"/>
              </a:rPr>
              <a:t>As their engineering staff turns over</a:t>
            </a:r>
          </a:p>
        </p:txBody>
      </p:sp>
      <p:sp>
        <p:nvSpPr>
          <p:cNvPr id="13" name="TextBox 12"/>
          <p:cNvSpPr txBox="1"/>
          <p:nvPr/>
        </p:nvSpPr>
        <p:spPr>
          <a:xfrm>
            <a:off x="1097280"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
        <p:nvSpPr>
          <p:cNvPr id="14" name="TextBox 13"/>
          <p:cNvSpPr txBox="1"/>
          <p:nvPr/>
        </p:nvSpPr>
        <p:spPr>
          <a:xfrm>
            <a:off x="4773168" y="3931920"/>
            <a:ext cx="2660904" cy="237744"/>
          </a:xfrm>
          <a:prstGeom prst="rect">
            <a:avLst/>
          </a:prstGeom>
          <a:noFill/>
        </p:spPr>
        <p:txBody>
          <a:bodyPr wrap="square" lIns="0" rIns="0" tIns="0" bIns="0">
            <a:noAutofit/>
          </a:bodyPr>
          <a:lstStyle/>
          <a:p>
            <a:pPr algn="l"/>
            <a:r>
              <a:rPr sz="1000" b="0" i="0">
                <a:solidFill>
                  <a:srgbClr val="5B6670"/>
                </a:solidFill>
                <a:latin typeface="Arial"/>
              </a:rPr>
              <a:t>Who they are, how you stay in front</a:t>
            </a:r>
          </a:p>
        </p:txBody>
      </p:sp>
      <p:sp>
        <p:nvSpPr>
          <p:cNvPr id="15" name="TextBox 14"/>
          <p:cNvSpPr txBox="1"/>
          <p:nvPr/>
        </p:nvSpPr>
        <p:spPr>
          <a:xfrm>
            <a:off x="4773168"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
        <p:nvSpPr>
          <p:cNvPr id="16" name="TextBox 15"/>
          <p:cNvSpPr txBox="1"/>
          <p:nvPr/>
        </p:nvSpPr>
        <p:spPr>
          <a:xfrm>
            <a:off x="8449056" y="3931920"/>
            <a:ext cx="2660904" cy="237744"/>
          </a:xfrm>
          <a:prstGeom prst="rect">
            <a:avLst/>
          </a:prstGeom>
          <a:noFill/>
        </p:spPr>
        <p:txBody>
          <a:bodyPr wrap="square" lIns="0" rIns="0" tIns="0" bIns="0">
            <a:noAutofit/>
          </a:bodyPr>
          <a:lstStyle/>
          <a:p>
            <a:pPr algn="l"/>
            <a:r>
              <a:rPr sz="1000" b="0" i="0">
                <a:solidFill>
                  <a:srgbClr val="5B6670"/>
                </a:solidFill>
                <a:latin typeface="Arial"/>
              </a:rPr>
              <a:t>One of each</a:t>
            </a:r>
          </a:p>
        </p:txBody>
      </p:sp>
      <p:sp>
        <p:nvSpPr>
          <p:cNvPr id="17" name="TextBox 16"/>
          <p:cNvSpPr txBox="1"/>
          <p:nvPr/>
        </p:nvSpPr>
        <p:spPr>
          <a:xfrm>
            <a:off x="8449056"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NATIONAL ACCOUNT REVIEW  ·  5 OF 6  ·  THREE WINS, ONE LOSS</a:t>
            </a:r>
          </a:p>
        </p:txBody>
      </p:sp>
      <p:sp>
        <p:nvSpPr>
          <p:cNvPr id="3" name="Title 2"/>
          <p:cNvSpPr>
            <a:spLocks noGrp="1"/>
          </p:cNvSpPr>
          <p:nvPr>
            <p:ph type="title" idx="101"/>
          </p:nvPr>
        </p:nvSpPr>
        <p:spPr/>
        <p:txBody>
          <a:bodyPr/>
          <a:lstStyle/>
          <a:p>
            <a:r>
              <a:t>Three wins, one loss</a:t>
            </a:r>
          </a:p>
        </p:txBody>
      </p:sp>
      <p:sp>
        <p:nvSpPr>
          <p:cNvPr id="4" name="Text Placeholder 3"/>
          <p:cNvSpPr>
            <a:spLocks noGrp="1"/>
          </p:cNvSpPr>
          <p:nvPr>
            <p:ph type="body" idx="102"/>
          </p:nvPr>
        </p:nvSpPr>
        <p:spPr/>
        <p:txBody>
          <a:bodyPr/>
          <a:lstStyle/>
          <a:p>
            <a:r>
              <a:t>Three wins: job, competitor, what won it. One loss: what decided it, what we'd do differently.</a:t>
            </a:r>
          </a:p>
        </p:txBody>
      </p:sp>
      <p:graphicFrame>
        <p:nvGraphicFramePr>
          <p:cNvPr id="5" name="Table 4"/>
          <p:cNvGraphicFramePr>
            <a:graphicFrameLocks noGrp="1"/>
          </p:cNvGraphicFramePr>
          <p:nvPr/>
        </p:nvGraphicFramePr>
        <p:xfrm>
          <a:off x="731520" y="2121408"/>
          <a:ext cx="10725912" cy="3621024"/>
        </p:xfrm>
        <a:graphic>
          <a:graphicData uri="http://schemas.openxmlformats.org/drawingml/2006/table">
            <a:tbl>
              <a:tblPr firstRow="0" bandRow="0"/>
              <a:tblGrid>
                <a:gridCol w="822960"/>
                <a:gridCol w="2651760"/>
                <a:gridCol w="1737360"/>
                <a:gridCol w="2926080"/>
                <a:gridCol w="2587752"/>
              </a:tblGrid>
              <a:tr h="365760">
                <a:tc>
                  <a:txBody>
                    <a:bodyPr/>
                    <a:lstStyle/>
                    <a:p>
                      <a:r>
                        <a:rPr sz="1000" b="1">
                          <a:solidFill>
                            <a:srgbClr val="FFFFFF"/>
                          </a:solidFill>
                          <a:latin typeface="Arial"/>
                        </a:rPr>
                        <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Job: site, program, job name</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Competitor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What won it  (loss: what decided it)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Can we do it again?  (loss: what we'd change)</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841248">
                <a:tc>
                  <a:txBody>
                    <a:bodyPr/>
                    <a:lstStyle/>
                    <a:p>
                      <a:r>
                        <a:rPr sz="1000" b="1">
                          <a:solidFill>
                            <a:srgbClr val="5B6670"/>
                          </a:solidFill>
                          <a:latin typeface="Arial"/>
                        </a:rPr>
                        <a:t>Win 1</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841248">
                <a:tc>
                  <a:txBody>
                    <a:bodyPr/>
                    <a:lstStyle/>
                    <a:p>
                      <a:r>
                        <a:rPr sz="1000" b="1">
                          <a:solidFill>
                            <a:srgbClr val="5B6670"/>
                          </a:solidFill>
                          <a:latin typeface="Arial"/>
                        </a:rPr>
                        <a:t>Win 2</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841248">
                <a:tc>
                  <a:txBody>
                    <a:bodyPr/>
                    <a:lstStyle/>
                    <a:p>
                      <a:r>
                        <a:rPr sz="1000" b="1">
                          <a:solidFill>
                            <a:srgbClr val="5B6670"/>
                          </a:solidFill>
                          <a:latin typeface="Arial"/>
                        </a:rPr>
                        <a:t>Win 3</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31520">
                <a:tc>
                  <a:txBody>
                    <a:bodyPr/>
                    <a:lstStyle/>
                    <a:p>
                      <a:r>
                        <a:rPr sz="1000" b="1">
                          <a:solidFill>
                            <a:srgbClr val="5B6670"/>
                          </a:solidFill>
                          <a:latin typeface="Arial"/>
                        </a:rPr>
                        <a:t>Loss</a:t>
                      </a:r>
                    </a:p>
                  </a:txBody>
                  <a:tcPr marL="73152" marR="73152" marT="36576" marB="36576" anchor="t">
                    <a:solidFill>
                      <a:srgbClr val="F2F5F2"/>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endParaRPr lang="en-US" sz="1200" b="1">
                        <a:solidFill>
                          <a:srgbClr val="15181A"/>
                        </a:solidFill>
                        <a:latin typeface="Arial"/>
                      </a:endParaRPr>
                    </a:p>
                  </a:txBody>
                  <a:tcPr marL="73152" marR="73152" marT="36576" marB="36576"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6" name="TextBox 5"/>
          <p:cNvSpPr txBox="1"/>
          <p:nvPr/>
        </p:nvSpPr>
        <p:spPr>
          <a:xfrm>
            <a:off x="731520" y="5797296"/>
            <a:ext cx="10725912" cy="237744"/>
          </a:xfrm>
          <a:prstGeom prst="rect">
            <a:avLst/>
          </a:prstGeom>
          <a:noFill/>
        </p:spPr>
        <p:txBody>
          <a:bodyPr wrap="square" lIns="0" rIns="0" tIns="0" bIns="0">
            <a:noAutofit/>
          </a:bodyPr>
          <a:lstStyle/>
          <a:p>
            <a:pPr algn="l"/>
            <a:r>
              <a:rPr sz="1100" b="1" i="0">
                <a:solidFill>
                  <a:srgbClr val="3C7D4D"/>
                </a:solidFill>
                <a:latin typeface="Arial"/>
              </a:rPr>
              <a:t>For the room:  What won it, and can the rest of us do the same thing?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NATIONAL ACCOUNT REVIEW  ·  6 OF 6  ·  Q4</a:t>
            </a:r>
          </a:p>
        </p:txBody>
      </p:sp>
      <p:sp>
        <p:nvSpPr>
          <p:cNvPr id="3" name="Title 2"/>
          <p:cNvSpPr>
            <a:spLocks noGrp="1"/>
          </p:cNvSpPr>
          <p:nvPr>
            <p:ph type="title" idx="101"/>
          </p:nvPr>
        </p:nvSpPr>
        <p:spPr/>
        <p:txBody>
          <a:bodyPr/>
          <a:lstStyle/>
          <a:p>
            <a:r>
              <a:t>Q4 plan</a:t>
            </a:r>
          </a:p>
        </p:txBody>
      </p:sp>
      <p:sp>
        <p:nvSpPr>
          <p:cNvPr id="4" name="Text Placeholder 3"/>
          <p:cNvSpPr>
            <a:spLocks noGrp="1"/>
          </p:cNvSpPr>
          <p:nvPr>
            <p:ph type="body" idx="102"/>
          </p:nvPr>
        </p:nvSpPr>
        <p:spPr/>
        <p:txBody>
          <a:bodyPr/>
          <a:lstStyle/>
          <a:p>
            <a:r>
              <a:t>Three projects, one you'll grow, and one thing you'd change about how we run sales.</a:t>
            </a:r>
          </a:p>
        </p:txBody>
      </p:sp>
      <p:sp>
        <p:nvSpPr>
          <p:cNvPr id="5" name="Text Placeholder 4"/>
          <p:cNvSpPr>
            <a:spLocks noGrp="1"/>
          </p:cNvSpPr>
          <p:nvPr>
            <p:ph type="body" idx="106"/>
          </p:nvPr>
        </p:nvSpPr>
        <p:spPr/>
        <p:txBody>
          <a:bodyPr/>
          <a:lstStyle/>
          <a:p>
            <a:r>
              <a:t>Three projects I'm going after</a:t>
            </a:r>
          </a:p>
        </p:txBody>
      </p:sp>
      <p:sp>
        <p:nvSpPr>
          <p:cNvPr id="7" name="Text Placeholder 6"/>
          <p:cNvSpPr>
            <a:spLocks noGrp="1"/>
          </p:cNvSpPr>
          <p:nvPr>
            <p:ph type="body" idx="111"/>
          </p:nvPr>
        </p:nvSpPr>
        <p:spPr/>
        <p:txBody>
          <a:bodyPr/>
          <a:lstStyle/>
          <a:p>
            <a:r>
              <a:t>One program or site I'm going to grow</a:t>
            </a:r>
          </a:p>
        </p:txBody>
      </p:sp>
      <p:sp>
        <p:nvSpPr>
          <p:cNvPr id="9" name="Text Placeholder 8"/>
          <p:cNvSpPr>
            <a:spLocks noGrp="1"/>
          </p:cNvSpPr>
          <p:nvPr>
            <p:ph type="body" idx="116"/>
          </p:nvPr>
        </p:nvSpPr>
        <p:spPr/>
        <p:txBody>
          <a:bodyPr/>
          <a:lstStyle/>
          <a:p>
            <a:r>
              <a:t>One thing I'd change</a:t>
            </a:r>
          </a:p>
        </p:txBody>
      </p:sp>
      <p:sp>
        <p:nvSpPr>
          <p:cNvPr id="12" name="TextBox 11"/>
          <p:cNvSpPr txBox="1"/>
          <p:nvPr/>
        </p:nvSpPr>
        <p:spPr>
          <a:xfrm>
            <a:off x="1097280" y="3931920"/>
            <a:ext cx="2660904" cy="237744"/>
          </a:xfrm>
          <a:prstGeom prst="rect">
            <a:avLst/>
          </a:prstGeom>
          <a:noFill/>
        </p:spPr>
        <p:txBody>
          <a:bodyPr wrap="square" lIns="0" rIns="0" tIns="0" bIns="0">
            <a:noAutofit/>
          </a:bodyPr>
          <a:lstStyle/>
          <a:p>
            <a:pPr algn="l"/>
            <a:r>
              <a:rPr sz="1000" b="0" i="0">
                <a:solidFill>
                  <a:srgbClr val="5B6670"/>
                </a:solidFill>
                <a:latin typeface="Arial"/>
              </a:rPr>
              <a:t>Job, dollars, close date</a:t>
            </a:r>
          </a:p>
        </p:txBody>
      </p:sp>
      <p:sp>
        <p:nvSpPr>
          <p:cNvPr id="13" name="TextBox 12"/>
          <p:cNvSpPr txBox="1"/>
          <p:nvPr/>
        </p:nvSpPr>
        <p:spPr>
          <a:xfrm>
            <a:off x="1097280"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
        <p:nvSpPr>
          <p:cNvPr id="14" name="TextBox 13"/>
          <p:cNvSpPr txBox="1"/>
          <p:nvPr/>
        </p:nvSpPr>
        <p:spPr>
          <a:xfrm>
            <a:off x="4773168" y="3931920"/>
            <a:ext cx="2660904" cy="237744"/>
          </a:xfrm>
          <a:prstGeom prst="rect">
            <a:avLst/>
          </a:prstGeom>
          <a:noFill/>
        </p:spPr>
        <p:txBody>
          <a:bodyPr wrap="square" lIns="0" rIns="0" tIns="0" bIns="0">
            <a:noAutofit/>
          </a:bodyPr>
          <a:lstStyle/>
          <a:p>
            <a:pPr algn="l"/>
            <a:r>
              <a:rPr sz="1000" b="0" i="0">
                <a:solidFill>
                  <a:srgbClr val="5B6670"/>
                </a:solidFill>
                <a:latin typeface="Arial"/>
              </a:rPr>
              <a:t>Program or site, from, to, how</a:t>
            </a:r>
          </a:p>
        </p:txBody>
      </p:sp>
      <p:sp>
        <p:nvSpPr>
          <p:cNvPr id="15" name="TextBox 14"/>
          <p:cNvSpPr txBox="1"/>
          <p:nvPr/>
        </p:nvSpPr>
        <p:spPr>
          <a:xfrm>
            <a:off x="4773168"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
        <p:nvSpPr>
          <p:cNvPr id="16" name="TextBox 15"/>
          <p:cNvSpPr txBox="1"/>
          <p:nvPr/>
        </p:nvSpPr>
        <p:spPr>
          <a:xfrm>
            <a:off x="8449056" y="3931920"/>
            <a:ext cx="2660904" cy="237744"/>
          </a:xfrm>
          <a:prstGeom prst="rect">
            <a:avLst/>
          </a:prstGeom>
          <a:noFill/>
        </p:spPr>
        <p:txBody>
          <a:bodyPr wrap="square" lIns="0" rIns="0" tIns="0" bIns="0">
            <a:noAutofit/>
          </a:bodyPr>
          <a:lstStyle/>
          <a:p>
            <a:pPr algn="l"/>
            <a:r>
              <a:rPr sz="1000" b="0" i="0">
                <a:solidFill>
                  <a:srgbClr val="5B6670"/>
                </a:solidFill>
                <a:latin typeface="Arial"/>
              </a:rPr>
              <a:t>About how we run sales. What, and why.</a:t>
            </a:r>
          </a:p>
        </p:txBody>
      </p:sp>
      <p:sp>
        <p:nvSpPr>
          <p:cNvPr id="17" name="TextBox 16"/>
          <p:cNvSpPr txBox="1"/>
          <p:nvPr/>
        </p:nvSpPr>
        <p:spPr>
          <a:xfrm>
            <a:off x="8449056" y="4206240"/>
            <a:ext cx="2660904" cy="1316736"/>
          </a:xfrm>
          <a:prstGeom prst="rect">
            <a:avLst/>
          </a:prstGeom>
          <a:solidFill>
            <a:srgbClr val="FFFFFF"/>
          </a:solidFill>
          <a:ln w="9525">
            <a:solidFill>
              <a:srgbClr val="E2E6E3"/>
            </a:solidFill>
          </a:ln>
        </p:spPr>
        <p:txBody>
          <a:bodyPr wrap="square" tIns="73152" bIns="73152">
            <a:noAutofit/>
          </a:bodyPr>
          <a:lstStyle/>
          <a:p>
            <a:endParaRPr lang="en-US" sz="1200" b="1">
              <a:solidFill>
                <a:srgbClr val="15181A"/>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Steel King Industries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Steel King Presentation System</dc:title>
  <dc:subject>PptxGenJS Presentation</dc:subject>
  <dc:creator>Steel King Industries</dc:creator>
  <cp:lastModifiedBy>Steel King Industries</cp:lastModifiedBy>
  <cp:revision>1</cp:revision>
  <dcterms:created xsi:type="dcterms:W3CDTF">2026-09-11T23:28:37Z</dcterms:created>
  <dcterms:modified xsi:type="dcterms:W3CDTF">2026-09-11T23:28:37Z</dcterms:modified>
</cp:coreProperties>
</file>