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Six slides. Real names, real jobs. No new data pulls. Pricing gets its own block on Day 2, leave it out of this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Pre-filled by Nate. Add two sentences on what the numbers don't show. Two minutes,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for Mac. Which products are winning with which accounts, and where the biggest new customer opportunities 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for Mac. Why a national account would pick us, and what's missing to make that easier.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for Mac. How you're getting in the door. What's working, what isn't.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wins, one loss. Real jobs, real names. Spend most of the time on the wins: what won it and whether the rest of the team can do the same thing. On the loss, what decided it and what we could have done differently. If it came down to the number, say what else was true.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Three projects you're going after, one you're going to grow, one thing you'd change about how we run sales.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NATIONAL ACCOUNT PRESENTATION</a:t>
            </a:r>
          </a:p>
        </p:txBody>
      </p:sp>
      <p:sp>
        <p:nvSpPr>
          <p:cNvPr id="3" name="Title 2"/>
          <p:cNvSpPr>
            <a:spLocks noGrp="1"/>
          </p:cNvSpPr>
          <p:nvPr>
            <p:ph type="title" idx="104"/>
          </p:nvPr>
        </p:nvSpPr>
        <p:spPr/>
        <p:txBody>
          <a:bodyPr/>
          <a:lstStyle/>
          <a:p>
            <a:r>
              <a:t>National accounts</a:t>
            </a:r>
          </a:p>
        </p:txBody>
      </p:sp>
      <p:sp>
        <p:nvSpPr>
          <p:cNvPr id="4" name="Text Placeholder 3"/>
          <p:cNvSpPr>
            <a:spLocks noGrp="1"/>
          </p:cNvSpPr>
          <p:nvPr>
            <p:ph type="body" idx="105"/>
          </p:nvPr>
        </p:nvSpPr>
        <p:spPr/>
        <p:txBody>
          <a:bodyPr/>
          <a:lstStyle/>
          <a:p>
            <a:r>
              <a:t>Where we're winning, what's winning with which accounts, and why they'd pick us.</a:t>
            </a:r>
          </a:p>
        </p:txBody>
      </p:sp>
      <p:sp>
        <p:nvSpPr>
          <p:cNvPr id="5" name="Text Placeholder 4"/>
          <p:cNvSpPr>
            <a:spLocks noGrp="1"/>
          </p:cNvSpPr>
          <p:nvPr>
            <p:ph type="body" idx="106"/>
          </p:nvPr>
        </p:nvSpPr>
        <p:spPr/>
        <p:txBody>
          <a:bodyPr/>
          <a:lstStyle/>
          <a:p>
            <a:r>
              <a:t>Mac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1 OF 6  ·  BY THE NUMBERS</a:t>
            </a:r>
          </a:p>
        </p:txBody>
      </p:sp>
      <p:sp>
        <p:nvSpPr>
          <p:cNvPr id="3" name="Title 2"/>
          <p:cNvSpPr>
            <a:spLocks noGrp="1"/>
          </p:cNvSpPr>
          <p:nvPr>
            <p:ph type="title" idx="101"/>
          </p:nvPr>
        </p:nvSpPr>
        <p:spPr/>
        <p:txBody>
          <a:bodyPr/>
          <a:lstStyle/>
          <a:p>
            <a:r>
              <a:t>National accounts in numbers</a:t>
            </a:r>
          </a:p>
        </p:txBody>
      </p:sp>
      <p:sp>
        <p:nvSpPr>
          <p:cNvPr id="4" name="Text Placeholder 3"/>
          <p:cNvSpPr>
            <a:spLocks noGrp="1"/>
          </p:cNvSpPr>
          <p:nvPr>
            <p:ph type="body" idx="102"/>
          </p:nvPr>
        </p:nvSpPr>
        <p:spPr/>
        <p:txBody>
          <a:bodyPr/>
          <a:lstStyle/>
          <a:p>
            <a:r>
              <a:t>Numbers are pre-filled. Add two sentences on what they don't show.</a:t>
            </a:r>
          </a:p>
        </p:txBody>
      </p:sp>
      <p:sp>
        <p:nvSpPr>
          <p:cNvPr id="5" name="TextBox 4"/>
          <p:cNvSpPr txBox="1"/>
          <p:nvPr/>
        </p:nvSpPr>
        <p:spPr>
          <a:xfrm>
            <a:off x="731520" y="2121408"/>
            <a:ext cx="5120640" cy="237744"/>
          </a:xfrm>
          <a:prstGeom prst="rect">
            <a:avLst/>
          </a:prstGeom>
          <a:noFill/>
        </p:spPr>
        <p:txBody>
          <a:bodyPr wrap="square" lIns="0" rIns="0" tIns="0" bIns="0">
            <a:noAutofit/>
          </a:bodyPr>
          <a:lstStyle/>
          <a:p>
            <a:pPr algn="l"/>
            <a:r>
              <a:rPr sz="1100" b="1" i="0">
                <a:solidFill>
                  <a:srgbClr val="3C7D4D"/>
                </a:solidFill>
                <a:latin typeface="Arial"/>
              </a:rPr>
              <a:t>BOOKINGS AND QUOTES BY QUARTER</a:t>
            </a:r>
          </a:p>
        </p:txBody>
      </p:sp>
      <p:graphicFrame>
        <p:nvGraphicFramePr>
          <p:cNvPr id="6" name="Table 5"/>
          <p:cNvGraphicFramePr>
            <a:graphicFrameLocks noGrp="1"/>
          </p:cNvGraphicFramePr>
          <p:nvPr/>
        </p:nvGraphicFramePr>
        <p:xfrm>
          <a:off x="731520" y="2377440"/>
          <a:ext cx="5120640" cy="1664208"/>
        </p:xfrm>
        <a:graphic>
          <a:graphicData uri="http://schemas.openxmlformats.org/drawingml/2006/table">
            <a:tbl>
              <a:tblPr firstRow="0" bandRow="0"/>
              <a:tblGrid>
                <a:gridCol w="1280160"/>
                <a:gridCol w="1280160"/>
                <a:gridCol w="1280160"/>
                <a:gridCol w="1280160"/>
              </a:tblGrid>
              <a:tr h="292608">
                <a:tc>
                  <a:txBody>
                    <a:bodyPr/>
                    <a:lstStyle/>
                    <a:p>
                      <a:r>
                        <a:rPr sz="1000" b="1">
                          <a:solidFill>
                            <a:srgbClr val="FFFFFF"/>
                          </a:solidFill>
                          <a:latin typeface="Arial"/>
                        </a:rPr>
                        <a:t>Quarter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2026</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Quotes 2026</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74320">
                <a:tc>
                  <a:txBody>
                    <a:bodyPr/>
                    <a:lstStyle/>
                    <a:p>
                      <a:r>
                        <a:rPr sz="1000" b="1">
                          <a:solidFill>
                            <a:srgbClr val="5B6670"/>
                          </a:solidFill>
                          <a:latin typeface="Arial"/>
                        </a:rPr>
                        <a:t>Q1</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r>
                        <a:rPr sz="1000" b="1">
                          <a:solidFill>
                            <a:srgbClr val="5B6670"/>
                          </a:solidFill>
                          <a:latin typeface="Arial"/>
                        </a:rPr>
                        <a:t>Q2</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r>
                        <a:rPr sz="1000" b="1">
                          <a:solidFill>
                            <a:srgbClr val="5B6670"/>
                          </a:solidFill>
                          <a:latin typeface="Arial"/>
                        </a:rPr>
                        <a:t>Q3</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r>
                        <a:rPr sz="1000" b="1">
                          <a:solidFill>
                            <a:srgbClr val="5B6670"/>
                          </a:solidFill>
                          <a:latin typeface="Arial"/>
                        </a:rPr>
                        <a:t>Q4 to date</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r>
                        <a:rPr sz="1000" b="1">
                          <a:solidFill>
                            <a:srgbClr val="5B6670"/>
                          </a:solidFill>
                          <a:latin typeface="Arial"/>
                        </a:rPr>
                        <a:t>YTD</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7" name="TextBox 6"/>
          <p:cNvSpPr txBox="1"/>
          <p:nvPr/>
        </p:nvSpPr>
        <p:spPr>
          <a:xfrm>
            <a:off x="731520" y="4370832"/>
            <a:ext cx="5120640" cy="237744"/>
          </a:xfrm>
          <a:prstGeom prst="rect">
            <a:avLst/>
          </a:prstGeom>
          <a:noFill/>
        </p:spPr>
        <p:txBody>
          <a:bodyPr wrap="square" lIns="0" rIns="0" tIns="0" bIns="0">
            <a:noAutofit/>
          </a:bodyPr>
          <a:lstStyle/>
          <a:p>
            <a:pPr algn="l"/>
            <a:r>
              <a:rPr sz="1100" b="1" i="0">
                <a:solidFill>
                  <a:srgbClr val="3C7D4D"/>
                </a:solidFill>
                <a:latin typeface="Arial"/>
              </a:rPr>
              <a:t>WHAT THE NUMBERS DON'T SHOW</a:t>
            </a:r>
          </a:p>
        </p:txBody>
      </p:sp>
      <p:sp>
        <p:nvSpPr>
          <p:cNvPr id="8" name="TextBox 7"/>
          <p:cNvSpPr txBox="1"/>
          <p:nvPr/>
        </p:nvSpPr>
        <p:spPr>
          <a:xfrm>
            <a:off x="731520" y="4590288"/>
            <a:ext cx="5120640" cy="237744"/>
          </a:xfrm>
          <a:prstGeom prst="rect">
            <a:avLst/>
          </a:prstGeom>
          <a:noFill/>
        </p:spPr>
        <p:txBody>
          <a:bodyPr wrap="square" lIns="0" rIns="0" tIns="0" bIns="0">
            <a:noAutofit/>
          </a:bodyPr>
          <a:lstStyle/>
          <a:p>
            <a:pPr algn="l"/>
            <a:r>
              <a:rPr sz="1000" b="0" i="0">
                <a:solidFill>
                  <a:srgbClr val="5B6670"/>
                </a:solidFill>
                <a:latin typeface="Arial"/>
              </a:rPr>
              <a:t>Two sentences. Yours.</a:t>
            </a:r>
          </a:p>
        </p:txBody>
      </p:sp>
      <p:sp>
        <p:nvSpPr>
          <p:cNvPr id="9" name="TextBox 8"/>
          <p:cNvSpPr txBox="1"/>
          <p:nvPr/>
        </p:nvSpPr>
        <p:spPr>
          <a:xfrm>
            <a:off x="731520" y="4828032"/>
            <a:ext cx="5120640" cy="1207008"/>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
        <p:nvSpPr>
          <p:cNvPr id="10" name="TextBox 9"/>
          <p:cNvSpPr txBox="1"/>
          <p:nvPr/>
        </p:nvSpPr>
        <p:spPr>
          <a:xfrm>
            <a:off x="6519672" y="2121408"/>
            <a:ext cx="4937760" cy="237744"/>
          </a:xfrm>
          <a:prstGeom prst="rect">
            <a:avLst/>
          </a:prstGeom>
          <a:noFill/>
        </p:spPr>
        <p:txBody>
          <a:bodyPr wrap="square" lIns="0" rIns="0" tIns="0" bIns="0">
            <a:noAutofit/>
          </a:bodyPr>
          <a:lstStyle/>
          <a:p>
            <a:pPr algn="l"/>
            <a:r>
              <a:rPr sz="1100" b="1" i="0">
                <a:solidFill>
                  <a:srgbClr val="3C7D4D"/>
                </a:solidFill>
                <a:latin typeface="Arial"/>
              </a:rPr>
              <a:t>TOP ACCOUNTS, YTD BOOKINGS</a:t>
            </a:r>
          </a:p>
        </p:txBody>
      </p:sp>
      <p:graphicFrame>
        <p:nvGraphicFramePr>
          <p:cNvPr id="11" name="Table 10"/>
          <p:cNvGraphicFramePr>
            <a:graphicFrameLocks noGrp="1"/>
          </p:cNvGraphicFramePr>
          <p:nvPr/>
        </p:nvGraphicFramePr>
        <p:xfrm>
          <a:off x="6519672" y="2377440"/>
          <a:ext cx="4937760" cy="2212848"/>
        </p:xfrm>
        <a:graphic>
          <a:graphicData uri="http://schemas.openxmlformats.org/drawingml/2006/table">
            <a:tbl>
              <a:tblPr firstRow="0" bandRow="0"/>
              <a:tblGrid>
                <a:gridCol w="3108960"/>
                <a:gridCol w="1828800"/>
              </a:tblGrid>
              <a:tr h="292608">
                <a:tc>
                  <a:txBody>
                    <a:bodyPr/>
                    <a:lstStyle/>
                    <a:p>
                      <a:r>
                        <a:rPr sz="1000" b="1">
                          <a:solidFill>
                            <a:srgbClr val="FFFFFF"/>
                          </a:solidFill>
                          <a:latin typeface="Arial"/>
                        </a:rPr>
                        <a:t>Top accounts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743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12" name="TextBox 11"/>
          <p:cNvSpPr txBox="1"/>
          <p:nvPr/>
        </p:nvSpPr>
        <p:spPr>
          <a:xfrm>
            <a:off x="731520" y="6364224"/>
            <a:ext cx="7863840" cy="237744"/>
          </a:xfrm>
          <a:prstGeom prst="rect">
            <a:avLst/>
          </a:prstGeom>
          <a:noFill/>
        </p:spPr>
        <p:txBody>
          <a:bodyPr wrap="square" lIns="0" rIns="0" tIns="0" bIns="0">
            <a:noAutofit/>
          </a:bodyPr>
          <a:lstStyle/>
          <a:p>
            <a:pPr algn="l"/>
            <a:r>
              <a:rPr sz="900" b="0" i="0">
                <a:solidFill>
                  <a:srgbClr val="5B6670"/>
                </a:solidFill>
                <a:latin typeface="Arial"/>
              </a:rPr>
              <a:t>Source: [system], pulled [date]. Quotes are a count. Pre-filled by Nate.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2 OF 6  ·  WHAT'S WINNING</a:t>
            </a:r>
          </a:p>
        </p:txBody>
      </p:sp>
      <p:sp>
        <p:nvSpPr>
          <p:cNvPr id="3" name="Title 2"/>
          <p:cNvSpPr>
            <a:spLocks noGrp="1"/>
          </p:cNvSpPr>
          <p:nvPr>
            <p:ph type="title" idx="101"/>
          </p:nvPr>
        </p:nvSpPr>
        <p:spPr/>
        <p:txBody>
          <a:bodyPr/>
          <a:lstStyle/>
          <a:p>
            <a:r>
              <a:t>What's winning, and where growth is</a:t>
            </a:r>
          </a:p>
        </p:txBody>
      </p:sp>
      <p:sp>
        <p:nvSpPr>
          <p:cNvPr id="4" name="Text Placeholder 3"/>
          <p:cNvSpPr>
            <a:spLocks noGrp="1"/>
          </p:cNvSpPr>
          <p:nvPr>
            <p:ph type="body" idx="102"/>
          </p:nvPr>
        </p:nvSpPr>
        <p:spPr/>
        <p:txBody>
          <a:bodyPr/>
          <a:lstStyle/>
          <a:p>
            <a:r>
              <a:t>Which products are winning with which accounts, and where the biggest new customer opportunities are.</a:t>
            </a:r>
          </a:p>
        </p:txBody>
      </p:sp>
      <p:sp>
        <p:nvSpPr>
          <p:cNvPr id="5" name="TextBox 4"/>
          <p:cNvSpPr txBox="1"/>
          <p:nvPr/>
        </p:nvSpPr>
        <p:spPr>
          <a:xfrm>
            <a:off x="731520" y="2121408"/>
            <a:ext cx="5120640" cy="237744"/>
          </a:xfrm>
          <a:prstGeom prst="rect">
            <a:avLst/>
          </a:prstGeom>
          <a:noFill/>
        </p:spPr>
        <p:txBody>
          <a:bodyPr wrap="square" lIns="0" rIns="0" tIns="0" bIns="0">
            <a:noAutofit/>
          </a:bodyPr>
          <a:lstStyle/>
          <a:p>
            <a:pPr algn="l"/>
            <a:r>
              <a:rPr sz="1100" b="1" i="0">
                <a:solidFill>
                  <a:srgbClr val="3C7D4D"/>
                </a:solidFill>
                <a:latin typeface="Arial"/>
              </a:rPr>
              <a:t>PRODUCTS WINNING, BY ACCOUNT</a:t>
            </a:r>
          </a:p>
        </p:txBody>
      </p:sp>
      <p:graphicFrame>
        <p:nvGraphicFramePr>
          <p:cNvPr id="6" name="Table 5"/>
          <p:cNvGraphicFramePr>
            <a:graphicFrameLocks noGrp="1"/>
          </p:cNvGraphicFramePr>
          <p:nvPr/>
        </p:nvGraphicFramePr>
        <p:xfrm>
          <a:off x="731520" y="2377440"/>
          <a:ext cx="5120640" cy="3209544"/>
        </p:xfrm>
        <a:graphic>
          <a:graphicData uri="http://schemas.openxmlformats.org/drawingml/2006/table">
            <a:tbl>
              <a:tblPr firstRow="0" bandRow="0"/>
              <a:tblGrid>
                <a:gridCol w="1554480"/>
                <a:gridCol w="1554480"/>
                <a:gridCol w="2011680"/>
              </a:tblGrid>
              <a:tr h="329184">
                <a:tc>
                  <a:txBody>
                    <a:bodyPr/>
                    <a:lstStyle/>
                    <a:p>
                      <a:r>
                        <a:rPr sz="1000" b="1">
                          <a:solidFill>
                            <a:srgbClr val="FFFFFF"/>
                          </a:solidFill>
                          <a:latin typeface="Arial"/>
                        </a:rPr>
                        <a:t>Product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Why it's winning</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7" name="TextBox 6"/>
          <p:cNvSpPr txBox="1"/>
          <p:nvPr/>
        </p:nvSpPr>
        <p:spPr>
          <a:xfrm>
            <a:off x="6519672" y="2121408"/>
            <a:ext cx="4937760" cy="237744"/>
          </a:xfrm>
          <a:prstGeom prst="rect">
            <a:avLst/>
          </a:prstGeom>
          <a:noFill/>
        </p:spPr>
        <p:txBody>
          <a:bodyPr wrap="square" lIns="0" rIns="0" tIns="0" bIns="0">
            <a:noAutofit/>
          </a:bodyPr>
          <a:lstStyle/>
          <a:p>
            <a:pPr algn="l"/>
            <a:r>
              <a:rPr sz="1100" b="1" i="0">
                <a:solidFill>
                  <a:srgbClr val="3C7D4D"/>
                </a:solidFill>
                <a:latin typeface="Arial"/>
              </a:rPr>
              <a:t>BIGGEST NEW CUSTOMER OPPORTUNITIES</a:t>
            </a:r>
          </a:p>
        </p:txBody>
      </p:sp>
      <p:graphicFrame>
        <p:nvGraphicFramePr>
          <p:cNvPr id="8" name="Table 7"/>
          <p:cNvGraphicFramePr>
            <a:graphicFrameLocks noGrp="1"/>
          </p:cNvGraphicFramePr>
          <p:nvPr/>
        </p:nvGraphicFramePr>
        <p:xfrm>
          <a:off x="6519672" y="2377440"/>
          <a:ext cx="4937760" cy="3209544"/>
        </p:xfrm>
        <a:graphic>
          <a:graphicData uri="http://schemas.openxmlformats.org/drawingml/2006/table">
            <a:tbl>
              <a:tblPr firstRow="0" bandRow="0"/>
              <a:tblGrid>
                <a:gridCol w="1554480"/>
                <a:gridCol w="1691640"/>
                <a:gridCol w="1691640"/>
              </a:tblGrid>
              <a:tr h="329184">
                <a:tc>
                  <a:txBody>
                    <a:bodyPr/>
                    <a:lstStyle/>
                    <a:p>
                      <a:r>
                        <a:rPr sz="1000" b="1">
                          <a:solidFill>
                            <a:srgbClr val="FFFFFF"/>
                          </a:solidFill>
                          <a:latin typeface="Arial"/>
                        </a:rPr>
                        <a:t>Account or segment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Why</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What it takes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960120">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5797296"/>
            <a:ext cx="10725912" cy="237744"/>
          </a:xfrm>
          <a:prstGeom prst="rect">
            <a:avLst/>
          </a:prstGeom>
          <a:noFill/>
        </p:spPr>
        <p:txBody>
          <a:bodyPr wrap="square" lIns="0" rIns="0" tIns="0" bIns="0">
            <a:noAutofit/>
          </a:bodyPr>
          <a:lstStyle/>
          <a:p>
            <a:pPr algn="l"/>
            <a:r>
              <a:rPr sz="1100" b="1" i="0">
                <a:solidFill>
                  <a:srgbClr val="3C7D4D"/>
                </a:solidFill>
                <a:latin typeface="Arial"/>
              </a:rPr>
              <a:t>For the room:  Which of these wins could a dealer territory copy?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3 OF 6  ·  WHAT THEY BUY US FOR</a:t>
            </a:r>
          </a:p>
        </p:txBody>
      </p:sp>
      <p:sp>
        <p:nvSpPr>
          <p:cNvPr id="3" name="Title 2"/>
          <p:cNvSpPr>
            <a:spLocks noGrp="1"/>
          </p:cNvSpPr>
          <p:nvPr>
            <p:ph type="title" idx="101"/>
          </p:nvPr>
        </p:nvSpPr>
        <p:spPr/>
        <p:txBody>
          <a:bodyPr/>
          <a:lstStyle/>
          <a:p>
            <a:r>
              <a:t>Why a national account would pick us</a:t>
            </a:r>
          </a:p>
        </p:txBody>
      </p:sp>
      <p:sp>
        <p:nvSpPr>
          <p:cNvPr id="4" name="Text Placeholder 3"/>
          <p:cNvSpPr>
            <a:spLocks noGrp="1"/>
          </p:cNvSpPr>
          <p:nvPr>
            <p:ph type="body" idx="102"/>
          </p:nvPr>
        </p:nvSpPr>
        <p:spPr/>
        <p:txBody>
          <a:bodyPr/>
          <a:lstStyle/>
          <a:p>
            <a:r>
              <a:t>Why a national account would pick us, and what's missing to make that easier.</a:t>
            </a:r>
          </a:p>
        </p:txBody>
      </p:sp>
      <p:sp>
        <p:nvSpPr>
          <p:cNvPr id="5" name="TextBox 4"/>
          <p:cNvSpPr txBox="1"/>
          <p:nvPr/>
        </p:nvSpPr>
        <p:spPr>
          <a:xfrm>
            <a:off x="731520" y="2121408"/>
            <a:ext cx="5120640" cy="237744"/>
          </a:xfrm>
          <a:prstGeom prst="rect">
            <a:avLst/>
          </a:prstGeom>
          <a:noFill/>
        </p:spPr>
        <p:txBody>
          <a:bodyPr wrap="square" lIns="0" rIns="0" tIns="0" bIns="0">
            <a:noAutofit/>
          </a:bodyPr>
          <a:lstStyle/>
          <a:p>
            <a:pPr algn="l"/>
            <a:r>
              <a:rPr sz="1100" b="1" i="0">
                <a:solidFill>
                  <a:srgbClr val="3C7D4D"/>
                </a:solidFill>
                <a:latin typeface="Arial"/>
              </a:rPr>
              <a:t>WHY A NATIONAL ACCOUNT PICKS US</a:t>
            </a:r>
          </a:p>
        </p:txBody>
      </p:sp>
      <p:graphicFrame>
        <p:nvGraphicFramePr>
          <p:cNvPr id="6" name="Table 5"/>
          <p:cNvGraphicFramePr>
            <a:graphicFrameLocks noGrp="1"/>
          </p:cNvGraphicFramePr>
          <p:nvPr/>
        </p:nvGraphicFramePr>
        <p:xfrm>
          <a:off x="731520" y="2377440"/>
          <a:ext cx="5120640" cy="3346704"/>
        </p:xfrm>
        <a:graphic>
          <a:graphicData uri="http://schemas.openxmlformats.org/drawingml/2006/table">
            <a:tbl>
              <a:tblPr firstRow="0" bandRow="0"/>
              <a:tblGrid>
                <a:gridCol w="457200"/>
                <a:gridCol w="4663440"/>
              </a:tblGrid>
              <a:tr h="329184">
                <a:tc>
                  <a:txBody>
                    <a:bodyPr/>
                    <a:lstStyle/>
                    <a:p>
                      <a:r>
                        <a:rPr sz="10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In their words if you have them</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005840">
                <a:tc>
                  <a:txBody>
                    <a:bodyPr/>
                    <a:lstStyle/>
                    <a:p>
                      <a:r>
                        <a:rPr sz="1000" b="1">
                          <a:solidFill>
                            <a:srgbClr val="5B6670"/>
                          </a:solidFill>
                          <a:latin typeface="Arial"/>
                        </a:rPr>
                        <a:t>1</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000" b="1">
                          <a:solidFill>
                            <a:srgbClr val="5B6670"/>
                          </a:solidFill>
                          <a:latin typeface="Arial"/>
                        </a:rPr>
                        <a:t>2</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000" b="1">
                          <a:solidFill>
                            <a:srgbClr val="5B6670"/>
                          </a:solidFill>
                          <a:latin typeface="Arial"/>
                        </a:rPr>
                        <a:t>3</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7" name="TextBox 6"/>
          <p:cNvSpPr txBox="1"/>
          <p:nvPr/>
        </p:nvSpPr>
        <p:spPr>
          <a:xfrm>
            <a:off x="6519672" y="2121408"/>
            <a:ext cx="4937760" cy="237744"/>
          </a:xfrm>
          <a:prstGeom prst="rect">
            <a:avLst/>
          </a:prstGeom>
          <a:noFill/>
        </p:spPr>
        <p:txBody>
          <a:bodyPr wrap="square" lIns="0" rIns="0" tIns="0" bIns="0">
            <a:noAutofit/>
          </a:bodyPr>
          <a:lstStyle/>
          <a:p>
            <a:pPr algn="l"/>
            <a:r>
              <a:rPr sz="1100" b="1" i="0">
                <a:solidFill>
                  <a:srgbClr val="3C7D4D"/>
                </a:solidFill>
                <a:latin typeface="Arial"/>
              </a:rPr>
              <a:t>WHAT'S MISSING TO MAKE THAT EASIER</a:t>
            </a:r>
          </a:p>
        </p:txBody>
      </p:sp>
      <p:graphicFrame>
        <p:nvGraphicFramePr>
          <p:cNvPr id="8" name="Table 7"/>
          <p:cNvGraphicFramePr>
            <a:graphicFrameLocks noGrp="1"/>
          </p:cNvGraphicFramePr>
          <p:nvPr/>
        </p:nvGraphicFramePr>
        <p:xfrm>
          <a:off x="6519672" y="2377440"/>
          <a:ext cx="4937760" cy="3346704"/>
        </p:xfrm>
        <a:graphic>
          <a:graphicData uri="http://schemas.openxmlformats.org/drawingml/2006/table">
            <a:tbl>
              <a:tblPr firstRow="0" bandRow="0"/>
              <a:tblGrid>
                <a:gridCol w="1554480"/>
                <a:gridCol w="3383280"/>
              </a:tblGrid>
              <a:tr h="329184">
                <a:tc>
                  <a:txBody>
                    <a:bodyPr/>
                    <a:lstStyle/>
                    <a:p>
                      <a:r>
                        <a:rPr sz="10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One gap. The one that costs the most.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005840">
                <a:tc>
                  <a:txBody>
                    <a:bodyPr/>
                    <a:lstStyle/>
                    <a:p>
                      <a:r>
                        <a:rPr sz="1000" b="1">
                          <a:solidFill>
                            <a:srgbClr val="5B6670"/>
                          </a:solidFill>
                          <a:latin typeface="Arial"/>
                        </a:rPr>
                        <a:t>The gap</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000" b="1">
                          <a:solidFill>
                            <a:srgbClr val="5B6670"/>
                          </a:solidFill>
                          <a:latin typeface="Arial"/>
                        </a:rPr>
                        <a:t>What it costs us</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000" b="1">
                          <a:solidFill>
                            <a:srgbClr val="5B6670"/>
                          </a:solidFill>
                          <a:latin typeface="Arial"/>
                        </a:rPr>
                        <a:t>What would fix it</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5797296"/>
            <a:ext cx="10725912" cy="237744"/>
          </a:xfrm>
          <a:prstGeom prst="rect">
            <a:avLst/>
          </a:prstGeom>
          <a:noFill/>
        </p:spPr>
        <p:txBody>
          <a:bodyPr wrap="square" lIns="0" rIns="0" tIns="0" bIns="0">
            <a:noAutofit/>
          </a:bodyPr>
          <a:lstStyle/>
          <a:p>
            <a:pPr algn="l"/>
            <a:r>
              <a:rPr sz="1100" b="1" i="0">
                <a:solidFill>
                  <a:srgbClr val="3C7D4D"/>
                </a:solidFill>
                <a:latin typeface="Arial"/>
              </a:rPr>
              <a:t>For the room:  Is this the same reason the dealers give?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4 OF 6  ·  GETTING IN THE DOOR</a:t>
            </a:r>
          </a:p>
        </p:txBody>
      </p:sp>
      <p:sp>
        <p:nvSpPr>
          <p:cNvPr id="3" name="Title 2"/>
          <p:cNvSpPr>
            <a:spLocks noGrp="1"/>
          </p:cNvSpPr>
          <p:nvPr>
            <p:ph type="title" idx="101"/>
          </p:nvPr>
        </p:nvSpPr>
        <p:spPr/>
        <p:txBody>
          <a:bodyPr/>
          <a:lstStyle/>
          <a:p>
            <a:r>
              <a:t>Getting in the door</a:t>
            </a:r>
          </a:p>
        </p:txBody>
      </p:sp>
      <p:sp>
        <p:nvSpPr>
          <p:cNvPr id="4" name="Text Placeholder 3"/>
          <p:cNvSpPr>
            <a:spLocks noGrp="1"/>
          </p:cNvSpPr>
          <p:nvPr>
            <p:ph type="body" idx="102"/>
          </p:nvPr>
        </p:nvSpPr>
        <p:spPr/>
        <p:txBody>
          <a:bodyPr/>
          <a:lstStyle/>
          <a:p>
            <a:r>
              <a:t>How you're getting in the door with national accounts, and what's working.</a:t>
            </a:r>
          </a:p>
        </p:txBody>
      </p:sp>
      <p:sp>
        <p:nvSpPr>
          <p:cNvPr id="5" name="Text Placeholder 4"/>
          <p:cNvSpPr>
            <a:spLocks noGrp="1"/>
          </p:cNvSpPr>
          <p:nvPr>
            <p:ph type="body" idx="106"/>
          </p:nvPr>
        </p:nvSpPr>
        <p:spPr/>
        <p:txBody>
          <a:bodyPr/>
          <a:lstStyle/>
          <a:p>
            <a:r>
              <a:t>How I'm getting in</a:t>
            </a:r>
          </a:p>
        </p:txBody>
      </p:sp>
      <p:sp>
        <p:nvSpPr>
          <p:cNvPr id="7" name="Text Placeholder 6"/>
          <p:cNvSpPr>
            <a:spLocks noGrp="1"/>
          </p:cNvSpPr>
          <p:nvPr>
            <p:ph type="body" idx="111"/>
          </p:nvPr>
        </p:nvSpPr>
        <p:spPr/>
        <p:txBody>
          <a:bodyPr/>
          <a:lstStyle/>
          <a:p>
            <a:r>
              <a:t>What's working</a:t>
            </a:r>
          </a:p>
        </p:txBody>
      </p:sp>
      <p:sp>
        <p:nvSpPr>
          <p:cNvPr id="9" name="Text Placeholder 8"/>
          <p:cNvSpPr>
            <a:spLocks noGrp="1"/>
          </p:cNvSpPr>
          <p:nvPr>
            <p:ph type="body" idx="116"/>
          </p:nvPr>
        </p:nvSpPr>
        <p:spPr/>
        <p:txBody>
          <a:bodyPr/>
          <a:lstStyle/>
          <a:p>
            <a:r>
              <a:t>What isn't</a:t>
            </a:r>
          </a:p>
        </p:txBody>
      </p:sp>
      <p:sp>
        <p:nvSpPr>
          <p:cNvPr id="12" name="TextBox 11"/>
          <p:cNvSpPr txBox="1"/>
          <p:nvPr/>
        </p:nvSpPr>
        <p:spPr>
          <a:xfrm>
            <a:off x="1097280" y="3931920"/>
            <a:ext cx="2660904" cy="237744"/>
          </a:xfrm>
          <a:prstGeom prst="rect">
            <a:avLst/>
          </a:prstGeom>
          <a:noFill/>
        </p:spPr>
        <p:txBody>
          <a:bodyPr wrap="square" lIns="0" rIns="0" tIns="0" bIns="0">
            <a:noAutofit/>
          </a:bodyPr>
          <a:lstStyle/>
          <a:p>
            <a:pPr algn="l"/>
            <a:r>
              <a:rPr sz="1000" b="0" i="0">
                <a:solidFill>
                  <a:srgbClr val="5B6670"/>
                </a:solidFill>
                <a:latin typeface="Arial"/>
              </a:rPr>
              <a:t>Referrals, shows, integrators, outreach</a:t>
            </a:r>
          </a:p>
        </p:txBody>
      </p:sp>
      <p:sp>
        <p:nvSpPr>
          <p:cNvPr id="13" name="TextBox 12"/>
          <p:cNvSpPr txBox="1"/>
          <p:nvPr/>
        </p:nvSpPr>
        <p:spPr>
          <a:xfrm>
            <a:off x="1097280"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
        <p:nvSpPr>
          <p:cNvPr id="14" name="TextBox 13"/>
          <p:cNvSpPr txBox="1"/>
          <p:nvPr/>
        </p:nvSpPr>
        <p:spPr>
          <a:xfrm>
            <a:off x="4773168" y="3931920"/>
            <a:ext cx="2660904" cy="237744"/>
          </a:xfrm>
          <a:prstGeom prst="rect">
            <a:avLst/>
          </a:prstGeom>
          <a:noFill/>
        </p:spPr>
        <p:txBody>
          <a:bodyPr wrap="square" lIns="0" rIns="0" tIns="0" bIns="0">
            <a:noAutofit/>
          </a:bodyPr>
          <a:lstStyle/>
          <a:p>
            <a:pPr algn="l"/>
            <a:r>
              <a:rPr sz="1000" b="0" i="0">
                <a:solidFill>
                  <a:srgbClr val="5B6670"/>
                </a:solidFill>
                <a:latin typeface="Arial"/>
              </a:rPr>
              <a:t>And why</a:t>
            </a:r>
          </a:p>
        </p:txBody>
      </p:sp>
      <p:sp>
        <p:nvSpPr>
          <p:cNvPr id="15" name="TextBox 14"/>
          <p:cNvSpPr txBox="1"/>
          <p:nvPr/>
        </p:nvSpPr>
        <p:spPr>
          <a:xfrm>
            <a:off x="4773168"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
        <p:nvSpPr>
          <p:cNvPr id="16" name="TextBox 15"/>
          <p:cNvSpPr txBox="1"/>
          <p:nvPr/>
        </p:nvSpPr>
        <p:spPr>
          <a:xfrm>
            <a:off x="8449056" y="3931920"/>
            <a:ext cx="2660904" cy="237744"/>
          </a:xfrm>
          <a:prstGeom prst="rect">
            <a:avLst/>
          </a:prstGeom>
          <a:noFill/>
        </p:spPr>
        <p:txBody>
          <a:bodyPr wrap="square" lIns="0" rIns="0" tIns="0" bIns="0">
            <a:noAutofit/>
          </a:bodyPr>
          <a:lstStyle/>
          <a:p>
            <a:pPr algn="l"/>
            <a:r>
              <a:rPr sz="1000" b="0" i="0">
                <a:solidFill>
                  <a:srgbClr val="5B6670"/>
                </a:solidFill>
                <a:latin typeface="Arial"/>
              </a:rPr>
              <a:t>And what would help</a:t>
            </a:r>
          </a:p>
        </p:txBody>
      </p:sp>
      <p:sp>
        <p:nvSpPr>
          <p:cNvPr id="17" name="TextBox 16"/>
          <p:cNvSpPr txBox="1"/>
          <p:nvPr/>
        </p:nvSpPr>
        <p:spPr>
          <a:xfrm>
            <a:off x="8449056"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5 OF 6  ·  THREE WINS, ONE LOSS</a:t>
            </a:r>
          </a:p>
        </p:txBody>
      </p:sp>
      <p:sp>
        <p:nvSpPr>
          <p:cNvPr id="3" name="Title 2"/>
          <p:cNvSpPr>
            <a:spLocks noGrp="1"/>
          </p:cNvSpPr>
          <p:nvPr>
            <p:ph type="title" idx="101"/>
          </p:nvPr>
        </p:nvSpPr>
        <p:spPr/>
        <p:txBody>
          <a:bodyPr/>
          <a:lstStyle/>
          <a:p>
            <a:r>
              <a:t>Three wins, one loss</a:t>
            </a:r>
          </a:p>
        </p:txBody>
      </p:sp>
      <p:sp>
        <p:nvSpPr>
          <p:cNvPr id="4" name="Text Placeholder 3"/>
          <p:cNvSpPr>
            <a:spLocks noGrp="1"/>
          </p:cNvSpPr>
          <p:nvPr>
            <p:ph type="body" idx="102"/>
          </p:nvPr>
        </p:nvSpPr>
        <p:spPr/>
        <p:txBody>
          <a:bodyPr/>
          <a:lstStyle/>
          <a:p>
            <a:r>
              <a:t>Three wins: job, competitor, what won it. One loss: what decided it, what we'd do differently.</a:t>
            </a:r>
          </a:p>
        </p:txBody>
      </p:sp>
      <p:graphicFrame>
        <p:nvGraphicFramePr>
          <p:cNvPr id="5" name="Table 4"/>
          <p:cNvGraphicFramePr>
            <a:graphicFrameLocks noGrp="1"/>
          </p:cNvGraphicFramePr>
          <p:nvPr/>
        </p:nvGraphicFramePr>
        <p:xfrm>
          <a:off x="731520" y="2121408"/>
          <a:ext cx="10725912" cy="3621024"/>
        </p:xfrm>
        <a:graphic>
          <a:graphicData uri="http://schemas.openxmlformats.org/drawingml/2006/table">
            <a:tbl>
              <a:tblPr firstRow="0" bandRow="0"/>
              <a:tblGrid>
                <a:gridCol w="822960"/>
                <a:gridCol w="2651760"/>
                <a:gridCol w="1737360"/>
                <a:gridCol w="2926080"/>
                <a:gridCol w="2587752"/>
              </a:tblGrid>
              <a:tr h="365760">
                <a:tc>
                  <a:txBody>
                    <a:bodyPr/>
                    <a:lstStyle/>
                    <a:p>
                      <a:r>
                        <a:rPr sz="10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Job: account, job name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Competitor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What won it  (loss: what decided it)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Can we do it again?  (loss: what we'd change)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841248">
                <a:tc>
                  <a:txBody>
                    <a:bodyPr/>
                    <a:lstStyle/>
                    <a:p>
                      <a:r>
                        <a:rPr sz="1000" b="1">
                          <a:solidFill>
                            <a:srgbClr val="5B6670"/>
                          </a:solidFill>
                          <a:latin typeface="Arial"/>
                        </a:rPr>
                        <a:t>Win 1</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841248">
                <a:tc>
                  <a:txBody>
                    <a:bodyPr/>
                    <a:lstStyle/>
                    <a:p>
                      <a:r>
                        <a:rPr sz="1000" b="1">
                          <a:solidFill>
                            <a:srgbClr val="5B6670"/>
                          </a:solidFill>
                          <a:latin typeface="Arial"/>
                        </a:rPr>
                        <a:t>Win 2</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841248">
                <a:tc>
                  <a:txBody>
                    <a:bodyPr/>
                    <a:lstStyle/>
                    <a:p>
                      <a:r>
                        <a:rPr sz="1000" b="1">
                          <a:solidFill>
                            <a:srgbClr val="5B6670"/>
                          </a:solidFill>
                          <a:latin typeface="Arial"/>
                        </a:rPr>
                        <a:t>Win 3</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31520">
                <a:tc>
                  <a:txBody>
                    <a:bodyPr/>
                    <a:lstStyle/>
                    <a:p>
                      <a:r>
                        <a:rPr sz="1000" b="1">
                          <a:solidFill>
                            <a:srgbClr val="5B6670"/>
                          </a:solidFill>
                          <a:latin typeface="Arial"/>
                        </a:rPr>
                        <a:t>Loss</a:t>
                      </a:r>
                    </a:p>
                  </a:txBody>
                  <a:tcPr marL="73152" marR="73152" marT="36576" marB="36576" anchor="t">
                    <a:solidFill>
                      <a:srgbClr val="F2F5F2"/>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endParaRPr lang="en-US" sz="1200" b="1">
                        <a:solidFill>
                          <a:srgbClr val="15181A"/>
                        </a:solidFill>
                        <a:latin typeface="Arial"/>
                      </a:endParaRPr>
                    </a:p>
                  </a:txBody>
                  <a:tcPr marL="73152" marR="73152" marT="36576" marB="36576"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6" name="TextBox 5"/>
          <p:cNvSpPr txBox="1"/>
          <p:nvPr/>
        </p:nvSpPr>
        <p:spPr>
          <a:xfrm>
            <a:off x="731520" y="5797296"/>
            <a:ext cx="10725912" cy="237744"/>
          </a:xfrm>
          <a:prstGeom prst="rect">
            <a:avLst/>
          </a:prstGeom>
          <a:noFill/>
        </p:spPr>
        <p:txBody>
          <a:bodyPr wrap="square" lIns="0" rIns="0" tIns="0" bIns="0">
            <a:noAutofit/>
          </a:bodyPr>
          <a:lstStyle/>
          <a:p>
            <a:pPr algn="l"/>
            <a:r>
              <a:rPr sz="1100" b="1" i="0">
                <a:solidFill>
                  <a:srgbClr val="3C7D4D"/>
                </a:solidFill>
                <a:latin typeface="Arial"/>
              </a:rPr>
              <a:t>For the room:  What won it, and can the rest of us do the same 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NATIONAL ACCOUNT REVIEW  ·  6 OF 6  ·  Q4</a:t>
            </a:r>
          </a:p>
        </p:txBody>
      </p:sp>
      <p:sp>
        <p:nvSpPr>
          <p:cNvPr id="3" name="Title 2"/>
          <p:cNvSpPr>
            <a:spLocks noGrp="1"/>
          </p:cNvSpPr>
          <p:nvPr>
            <p:ph type="title" idx="101"/>
          </p:nvPr>
        </p:nvSpPr>
        <p:spPr/>
        <p:txBody>
          <a:bodyPr/>
          <a:lstStyle/>
          <a:p>
            <a:r>
              <a:t>Q4 plan</a:t>
            </a:r>
          </a:p>
        </p:txBody>
      </p:sp>
      <p:sp>
        <p:nvSpPr>
          <p:cNvPr id="4" name="Text Placeholder 3"/>
          <p:cNvSpPr>
            <a:spLocks noGrp="1"/>
          </p:cNvSpPr>
          <p:nvPr>
            <p:ph type="body" idx="102"/>
          </p:nvPr>
        </p:nvSpPr>
        <p:spPr/>
        <p:txBody>
          <a:bodyPr/>
          <a:lstStyle/>
          <a:p>
            <a:r>
              <a:t>Three projects, one you'll grow, and one thing you'd change about how we run sales.</a:t>
            </a:r>
          </a:p>
        </p:txBody>
      </p:sp>
      <p:sp>
        <p:nvSpPr>
          <p:cNvPr id="5" name="Text Placeholder 4"/>
          <p:cNvSpPr>
            <a:spLocks noGrp="1"/>
          </p:cNvSpPr>
          <p:nvPr>
            <p:ph type="body" idx="106"/>
          </p:nvPr>
        </p:nvSpPr>
        <p:spPr/>
        <p:txBody>
          <a:bodyPr/>
          <a:lstStyle/>
          <a:p>
            <a:r>
              <a:t>Three projects I'm going after</a:t>
            </a:r>
          </a:p>
        </p:txBody>
      </p:sp>
      <p:sp>
        <p:nvSpPr>
          <p:cNvPr id="7" name="Text Placeholder 6"/>
          <p:cNvSpPr>
            <a:spLocks noGrp="1"/>
          </p:cNvSpPr>
          <p:nvPr>
            <p:ph type="body" idx="111"/>
          </p:nvPr>
        </p:nvSpPr>
        <p:spPr/>
        <p:txBody>
          <a:bodyPr/>
          <a:lstStyle/>
          <a:p>
            <a:r>
              <a:t>One account I'm going to grow</a:t>
            </a:r>
          </a:p>
        </p:txBody>
      </p:sp>
      <p:sp>
        <p:nvSpPr>
          <p:cNvPr id="9" name="Text Placeholder 8"/>
          <p:cNvSpPr>
            <a:spLocks noGrp="1"/>
          </p:cNvSpPr>
          <p:nvPr>
            <p:ph type="body" idx="116"/>
          </p:nvPr>
        </p:nvSpPr>
        <p:spPr/>
        <p:txBody>
          <a:bodyPr/>
          <a:lstStyle/>
          <a:p>
            <a:r>
              <a:t>One thing I'd change</a:t>
            </a:r>
          </a:p>
        </p:txBody>
      </p:sp>
      <p:sp>
        <p:nvSpPr>
          <p:cNvPr id="12" name="TextBox 11"/>
          <p:cNvSpPr txBox="1"/>
          <p:nvPr/>
        </p:nvSpPr>
        <p:spPr>
          <a:xfrm>
            <a:off x="1097280" y="3931920"/>
            <a:ext cx="2660904" cy="237744"/>
          </a:xfrm>
          <a:prstGeom prst="rect">
            <a:avLst/>
          </a:prstGeom>
          <a:noFill/>
        </p:spPr>
        <p:txBody>
          <a:bodyPr wrap="square" lIns="0" rIns="0" tIns="0" bIns="0">
            <a:noAutofit/>
          </a:bodyPr>
          <a:lstStyle/>
          <a:p>
            <a:pPr algn="l"/>
            <a:r>
              <a:rPr sz="1000" b="0" i="0">
                <a:solidFill>
                  <a:srgbClr val="5B6670"/>
                </a:solidFill>
                <a:latin typeface="Arial"/>
              </a:rPr>
              <a:t>Job, dollars, close date</a:t>
            </a:r>
          </a:p>
        </p:txBody>
      </p:sp>
      <p:sp>
        <p:nvSpPr>
          <p:cNvPr id="13" name="TextBox 12"/>
          <p:cNvSpPr txBox="1"/>
          <p:nvPr/>
        </p:nvSpPr>
        <p:spPr>
          <a:xfrm>
            <a:off x="1097280"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
        <p:nvSpPr>
          <p:cNvPr id="14" name="TextBox 13"/>
          <p:cNvSpPr txBox="1"/>
          <p:nvPr/>
        </p:nvSpPr>
        <p:spPr>
          <a:xfrm>
            <a:off x="4773168" y="3931920"/>
            <a:ext cx="2660904" cy="237744"/>
          </a:xfrm>
          <a:prstGeom prst="rect">
            <a:avLst/>
          </a:prstGeom>
          <a:noFill/>
        </p:spPr>
        <p:txBody>
          <a:bodyPr wrap="square" lIns="0" rIns="0" tIns="0" bIns="0">
            <a:noAutofit/>
          </a:bodyPr>
          <a:lstStyle/>
          <a:p>
            <a:pPr algn="l"/>
            <a:r>
              <a:rPr sz="1000" b="0" i="0">
                <a:solidFill>
                  <a:srgbClr val="5B6670"/>
                </a:solidFill>
                <a:latin typeface="Arial"/>
              </a:rPr>
              <a:t>Account, from, to, how</a:t>
            </a:r>
          </a:p>
        </p:txBody>
      </p:sp>
      <p:sp>
        <p:nvSpPr>
          <p:cNvPr id="15" name="TextBox 14"/>
          <p:cNvSpPr txBox="1"/>
          <p:nvPr/>
        </p:nvSpPr>
        <p:spPr>
          <a:xfrm>
            <a:off x="4773168"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
        <p:nvSpPr>
          <p:cNvPr id="16" name="TextBox 15"/>
          <p:cNvSpPr txBox="1"/>
          <p:nvPr/>
        </p:nvSpPr>
        <p:spPr>
          <a:xfrm>
            <a:off x="8449056" y="3931920"/>
            <a:ext cx="2660904" cy="237744"/>
          </a:xfrm>
          <a:prstGeom prst="rect">
            <a:avLst/>
          </a:prstGeom>
          <a:noFill/>
        </p:spPr>
        <p:txBody>
          <a:bodyPr wrap="square" lIns="0" rIns="0" tIns="0" bIns="0">
            <a:noAutofit/>
          </a:bodyPr>
          <a:lstStyle/>
          <a:p>
            <a:pPr algn="l"/>
            <a:r>
              <a:rPr sz="1000" b="0" i="0">
                <a:solidFill>
                  <a:srgbClr val="5B6670"/>
                </a:solidFill>
                <a:latin typeface="Arial"/>
              </a:rPr>
              <a:t>About how we run sales. What, and why.</a:t>
            </a:r>
          </a:p>
        </p:txBody>
      </p:sp>
      <p:sp>
        <p:nvSpPr>
          <p:cNvPr id="17" name="TextBox 16"/>
          <p:cNvSpPr txBox="1"/>
          <p:nvPr/>
        </p:nvSpPr>
        <p:spPr>
          <a:xfrm>
            <a:off x="8449056" y="4206240"/>
            <a:ext cx="2660904" cy="1316736"/>
          </a:xfrm>
          <a:prstGeom prst="rect">
            <a:avLst/>
          </a:prstGeom>
          <a:solidFill>
            <a:srgbClr val="FFFFFF"/>
          </a:solidFill>
          <a:ln w="9525">
            <a:solidFill>
              <a:srgbClr val="E2E6E3"/>
            </a:solidFill>
          </a:ln>
        </p:spPr>
        <p:txBody>
          <a:bodyPr wrap="square" tIns="73152" bIns="73152">
            <a:noAutofit/>
          </a:bodyPr>
          <a:lstStyle/>
          <a:p>
            <a:endParaRPr lang="en-US" sz="1200" b="1">
              <a:solidFill>
                <a:srgbClr val="15181A"/>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