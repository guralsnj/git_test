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minutes, hard stop, then questions. Seven slides. Real dealer, account, and job names. Slides 1 and 2 are pre-filled by Nate. You bring the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Pre-filled. Bookings by quarter this year against last year, quote count, and the company lead time that quarter. Lead times were 30-plus weeks in the first half and have been back to 5 to 10 weeks since summer.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Pre-filled from the ranked customer data. Top five dealers with last year next to this year and margin. Then every Excalibur in the territory that is flat, down, or at zero bookings and quotes this year. For each top dealer: who else do they sell and what share of their rack business do we get. For each bottom Excalibur: keep, fix, or drop, and why.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Left: non-Excalibur dealers doing volume or asking to get in, and what it would take. Right: dealers who went elsewhere while lead times were 30-plus weeks, where they went, and whether they are back. If nobody left, say so. That tells us something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losses. One on price, one on product, one on speed and support. Who won, why, and whether we'd lose it again today. On the price loss, include the competitor's number if you have it. If you don't, say unknown. On every loss, the lead time we quoted and the lead time the winner delivered.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Q4. Three projects you're going after, one dealer you're going to grow, one thing you'll do differently, and one thing you need from 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[Territory name]</a:t>
            </a:r>
          </a:p>
        </p:txBody>
      </p:sp>
      <p:sp>
        <p:nvSpPr>
          <p:cNvPr id="4" name="Text Placeholder 3"/>
          <p:cNvSpPr>
            <a:spLocks noGrp="1"/>
          </p:cNvSpPr>
          <p:nvPr>
            <p:ph type="body" idx="105"/>
          </p:nvPr>
        </p:nvSpPr>
        <p:spPr/>
        <p:txBody>
          <a:bodyPr/>
          <a:lstStyle/>
          <a:p>
            <a:r>
              <a:t>The territory the way I see it. Who carries it, where we win, where we lose, what would help.</a:t>
            </a:r>
          </a:p>
        </p:txBody>
      </p:sp>
      <p:sp>
        <p:nvSpPr>
          <p:cNvPr id="5" name="Text Placeholder 4"/>
          <p:cNvSpPr>
            <a:spLocks noGrp="1"/>
          </p:cNvSpPr>
          <p:nvPr>
            <p:ph type="body" idx="106"/>
          </p:nvPr>
        </p:nvSpPr>
        <p:spPr/>
        <p:txBody>
          <a:bodyPr/>
          <a:lstStyle/>
          <a:p>
            <a:r>
              <a:t>[Your name]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7  ·  BY THE NUMBERS</a:t>
            </a:r>
          </a:p>
        </p:txBody>
      </p:sp>
      <p:sp>
        <p:nvSpPr>
          <p:cNvPr id="3" name="Title 2"/>
          <p:cNvSpPr>
            <a:spLocks noGrp="1"/>
          </p:cNvSpPr>
          <p:nvPr>
            <p:ph type="title" idx="101"/>
          </p:nvPr>
        </p:nvSpPr>
        <p:spPr/>
        <p:txBody>
          <a:bodyPr/>
          <a:lstStyle/>
          <a:p>
            <a:r>
              <a:t>[Territory]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[system], pulled [date]. Quote count, not quote dollars. Lead time is the quoted lead time from the plant that quarter.</a:t>
            </a:r>
          </a:p>
        </p:txBody>
      </p:sp>
      <p:sp>
        <p:nvSpPr>
          <p:cNvPr id="7" name="TextBox 6"/>
          <p:cNvSpPr txBox="1"/>
          <p:nvPr/>
        </p:nvSpPr>
        <p:spPr>
          <a:xfrm>
            <a:off x="731520" y="2121408"/>
            <a:ext cx="10725912" cy="237744"/>
          </a:xfrm>
          <a:prstGeom prst="rect">
            <a:avLst/>
          </a:prstGeom>
          <a:noFill/>
        </p:spPr>
        <p:txBody>
          <a:bodyPr wrap="square" anchor="t" lIns="0" rIns="0" tIns="0" bIns="0">
            <a:noAutofit/>
          </a:bodyPr>
          <a:lstStyle/>
          <a:p>
            <a:r>
              <a:rPr sz="1100" b="1">
                <a:solidFill>
                  <a:srgbClr val="3C7D4D"/>
                </a:solidFill>
                <a:latin typeface="Arial"/>
              </a:rPr>
              <a:t>BOOKINGS BY QUARTER, WITH THE COMPANY LEAD TIME THAT QUARTER  ·  PRE-FILLED</a:t>
            </a:r>
          </a:p>
        </p:txBody>
      </p:sp>
      <p:graphicFrame>
        <p:nvGraphicFramePr>
          <p:cNvPr id="8" name="Table 7"/>
          <p:cNvGraphicFramePr>
            <a:graphicFrameLocks noGrp="1"/>
          </p:cNvGraphicFramePr>
          <p:nvPr/>
        </p:nvGraphicFramePr>
        <p:xfrm>
          <a:off x="731520" y="2377440"/>
          <a:ext cx="10725912" cy="1600200"/>
        </p:xfrm>
        <a:graphic>
          <a:graphicData uri="http://schemas.openxmlformats.org/drawingml/2006/table">
            <a:tbl>
              <a:tblPr firstRow="0" bandRow="0"/>
              <a:tblGrid>
                <a:gridCol w="1463040"/>
                <a:gridCol w="1828800"/>
                <a:gridCol w="1828800"/>
                <a:gridCol w="1463040"/>
                <a:gridCol w="1828800"/>
                <a:gridCol w="2313432"/>
              </a:tblGrid>
              <a:tr h="274320">
                <a:tc>
                  <a:txBody>
                    <a:bodyPr/>
                    <a:lstStyle/>
                    <a:p>
                      <a:r>
                        <a:rPr sz="1000" b="1">
                          <a:solidFill>
                            <a:srgbClr val="FFFFFF"/>
                          </a:solidFill>
                          <a:latin typeface="Arial"/>
                        </a:rPr>
                        <a:t>Quarter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 2026</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Change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Quotes 2026 (count)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Company lead time (wks)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Q1</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Q2</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Q3</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Q4 to date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YTD</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4407408"/>
            <a:ext cx="10725912"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663440"/>
            <a:ext cx="10725912" cy="1371600"/>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happened in the territory that bookings don't capture. If bookings didn't come back when lead time did, say why. If they did, say what you did to get them 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7  ·  DEALER SCORECARD</a:t>
            </a:r>
          </a:p>
        </p:txBody>
      </p:sp>
      <p:sp>
        <p:nvSpPr>
          <p:cNvPr id="3" name="Title 2"/>
          <p:cNvSpPr>
            <a:spLocks noGrp="1"/>
          </p:cNvSpPr>
          <p:nvPr>
            <p:ph type="title" idx="101"/>
          </p:nvPr>
        </p:nvSpPr>
        <p:spPr/>
        <p:txBody>
          <a:bodyPr/>
          <a:lstStyle/>
          <a:p>
            <a:r>
              <a:t>Who carries the territory, and who doesn't</a:t>
            </a:r>
          </a:p>
        </p:txBody>
      </p:sp>
      <p:sp>
        <p:nvSpPr>
          <p:cNvPr id="4" name="Text Placeholder 3"/>
          <p:cNvSpPr>
            <a:spLocks noGrp="1"/>
          </p:cNvSpPr>
          <p:nvPr>
            <p:ph type="body" idx="102"/>
          </p:nvPr>
        </p:nvSpPr>
        <p:spPr/>
        <p:txBody>
          <a:bodyPr/>
          <a:lstStyle/>
          <a:p>
            <a:r>
              <a:t>[One line. Where the volume really comes from, and which Excalibur names are on the list for a reason.]</a:t>
            </a:r>
          </a:p>
        </p:txBody>
      </p:sp>
      <p:sp>
        <p:nvSpPr>
          <p:cNvPr id="6" name="Text Placeholder 5"/>
          <p:cNvSpPr>
            <a:spLocks noGrp="1"/>
          </p:cNvSpPr>
          <p:nvPr>
            <p:ph type="body" idx="104"/>
          </p:nvPr>
        </p:nvSpPr>
        <p:spPr/>
        <p:txBody>
          <a:bodyPr/>
          <a:lstStyle/>
          <a:p>
            <a:r>
              <a:t>Source: [system], pulled [date]. Excalibur list as of [date].</a:t>
            </a:r>
          </a:p>
        </p:txBody>
      </p:sp>
      <p:sp>
        <p:nvSpPr>
          <p:cNvPr id="7" name="TextBox 6"/>
          <p:cNvSpPr txBox="1"/>
          <p:nvPr/>
        </p:nvSpPr>
        <p:spPr>
          <a:xfrm>
            <a:off x="731520" y="2121408"/>
            <a:ext cx="10725912" cy="237744"/>
          </a:xfrm>
          <a:prstGeom prst="rect">
            <a:avLst/>
          </a:prstGeom>
          <a:noFill/>
        </p:spPr>
        <p:txBody>
          <a:bodyPr wrap="square" anchor="t" lIns="0" rIns="0" tIns="0" bIns="0">
            <a:noAutofit/>
          </a:bodyPr>
          <a:lstStyle/>
          <a:p>
            <a:r>
              <a:rPr sz="1100" b="1">
                <a:solidFill>
                  <a:srgbClr val="3C7D4D"/>
                </a:solidFill>
                <a:latin typeface="Arial"/>
              </a:rPr>
              <a:t>TOP FIVE DEALERS BY 2026 BOOKINGS  ·  NUMBERS PRE-FILLED, LAST COLUMN IS YOURS</a:t>
            </a:r>
          </a:p>
        </p:txBody>
      </p:sp>
      <p:graphicFrame>
        <p:nvGraphicFramePr>
          <p:cNvPr id="8" name="Table 7"/>
          <p:cNvGraphicFramePr>
            <a:graphicFrameLocks noGrp="1"/>
          </p:cNvGraphicFramePr>
          <p:nvPr/>
        </p:nvGraphicFramePr>
        <p:xfrm>
          <a:off x="731520" y="2377440"/>
          <a:ext cx="10725912" cy="1600200"/>
        </p:xfrm>
        <a:graphic>
          <a:graphicData uri="http://schemas.openxmlformats.org/drawingml/2006/table">
            <a:tbl>
              <a:tblPr firstRow="0" bandRow="0"/>
              <a:tblGrid>
                <a:gridCol w="2377440"/>
                <a:gridCol w="914400"/>
                <a:gridCol w="1325880"/>
                <a:gridCol w="1325880"/>
                <a:gridCol w="914400"/>
                <a:gridCol w="3867912"/>
              </a:tblGrid>
              <a:tr h="274320">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Excalibur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2026 YTD</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GP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Who else they sell, and what share we get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4370832"/>
            <a:ext cx="10725912" cy="237744"/>
          </a:xfrm>
          <a:prstGeom prst="rect">
            <a:avLst/>
          </a:prstGeom>
          <a:noFill/>
        </p:spPr>
        <p:txBody>
          <a:bodyPr wrap="square" anchor="t" lIns="0" rIns="0" tIns="0" bIns="0">
            <a:noAutofit/>
          </a:bodyPr>
          <a:lstStyle/>
          <a:p>
            <a:r>
              <a:rPr sz="1100" b="1">
                <a:solidFill>
                  <a:srgbClr val="3C7D4D"/>
                </a:solidFill>
                <a:latin typeface="Arial"/>
              </a:rPr>
              <a:t>EXCALIBURS THAT ARE FLAT, DOWN, OR AT ZERO  ·  NUMBERS PRE-FILLED, LAST TWO COLUMNS ARE YOURS. ADD ROWS AS NEEDED</a:t>
            </a:r>
          </a:p>
        </p:txBody>
      </p:sp>
      <p:graphicFrame>
        <p:nvGraphicFramePr>
          <p:cNvPr id="10" name="Table 9"/>
          <p:cNvGraphicFramePr>
            <a:graphicFrameLocks noGrp="1"/>
          </p:cNvGraphicFramePr>
          <p:nvPr/>
        </p:nvGraphicFramePr>
        <p:xfrm>
          <a:off x="731520" y="4626864"/>
          <a:ext cx="10725912" cy="1069848"/>
        </p:xfrm>
        <a:graphic>
          <a:graphicData uri="http://schemas.openxmlformats.org/drawingml/2006/table">
            <a:tbl>
              <a:tblPr firstRow="0" bandRow="0"/>
              <a:tblGrid>
                <a:gridCol w="2377440"/>
                <a:gridCol w="1325880"/>
                <a:gridCol w="1325880"/>
                <a:gridCol w="1463040"/>
                <a:gridCol w="4233672"/>
              </a:tblGrid>
              <a:tr h="274320">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2025</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2026 YTD</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Keep, fix, or drop</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Why, and what fix means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7  ·  DEALERS TO MOVE</a:t>
            </a:r>
          </a:p>
        </p:txBody>
      </p:sp>
      <p:sp>
        <p:nvSpPr>
          <p:cNvPr id="3" name="Title 2"/>
          <p:cNvSpPr>
            <a:spLocks noGrp="1"/>
          </p:cNvSpPr>
          <p:nvPr>
            <p:ph type="title" idx="101"/>
          </p:nvPr>
        </p:nvSpPr>
        <p:spPr/>
        <p:txBody>
          <a:bodyPr/>
          <a:lstStyle/>
          <a:p>
            <a:r>
              <a:t>Who should be in, and who we lost</a:t>
            </a:r>
          </a:p>
        </p:txBody>
      </p:sp>
      <p:sp>
        <p:nvSpPr>
          <p:cNvPr id="4" name="Text Placeholder 3"/>
          <p:cNvSpPr>
            <a:spLocks noGrp="1"/>
          </p:cNvSpPr>
          <p:nvPr>
            <p:ph type="body" idx="102"/>
          </p:nvPr>
        </p:nvSpPr>
        <p:spPr/>
        <p:txBody>
          <a:bodyPr/>
          <a:lstStyle/>
          <a:p>
            <a:r>
              <a:t>[One line. The one dealer move that would change the territory the most.]</a:t>
            </a:r>
          </a:p>
        </p:txBody>
      </p:sp>
      <p:sp>
        <p:nvSpPr>
          <p:cNvPr id="5" name="TextBox 4"/>
          <p:cNvSpPr txBox="1"/>
          <p:nvPr/>
        </p:nvSpPr>
        <p:spPr>
          <a:xfrm>
            <a:off x="731520" y="2121408"/>
            <a:ext cx="5120640" cy="237744"/>
          </a:xfrm>
          <a:prstGeom prst="rect">
            <a:avLst/>
          </a:prstGeom>
          <a:noFill/>
        </p:spPr>
        <p:txBody>
          <a:bodyPr wrap="square" anchor="t" lIns="0" rIns="0" tIns="0" bIns="0">
            <a:noAutofit/>
          </a:bodyPr>
          <a:lstStyle/>
          <a:p>
            <a:r>
              <a:rPr sz="1100" b="1">
                <a:solidFill>
                  <a:srgbClr val="3C7D4D"/>
                </a:solidFill>
                <a:latin typeface="Arial"/>
              </a:rPr>
              <a:t>NON-EXCALIBURS THAT SHOULD BE IN</a:t>
            </a:r>
          </a:p>
        </p:txBody>
      </p:sp>
      <p:graphicFrame>
        <p:nvGraphicFramePr>
          <p:cNvPr id="6" name="Table 5"/>
          <p:cNvGraphicFramePr>
            <a:graphicFrameLocks noGrp="1"/>
          </p:cNvGraphicFramePr>
          <p:nvPr/>
        </p:nvGraphicFramePr>
        <p:xfrm>
          <a:off x="731520" y="2377440"/>
          <a:ext cx="5120640" cy="3383280"/>
        </p:xfrm>
        <a:graphic>
          <a:graphicData uri="http://schemas.openxmlformats.org/drawingml/2006/table">
            <a:tbl>
              <a:tblPr firstRow="0" bandRow="0"/>
              <a:tblGrid>
                <a:gridCol w="1554480"/>
                <a:gridCol w="1783080"/>
                <a:gridCol w="1783080"/>
              </a:tblGrid>
              <a:tr h="365760">
                <a:tc>
                  <a:txBody>
                    <a:bodyPr/>
                    <a:lstStyle/>
                    <a:p>
                      <a:r>
                        <a:rPr sz="11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Why</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it takes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005840">
                <a:tc>
                  <a:txBody>
                    <a:bodyPr/>
                    <a:lstStyle/>
                    <a:p>
                      <a:r>
                        <a:rPr sz="11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1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1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7" name="TextBox 6"/>
          <p:cNvSpPr txBox="1"/>
          <p:nvPr/>
        </p:nvSpPr>
        <p:spPr>
          <a:xfrm>
            <a:off x="6519672" y="2121408"/>
            <a:ext cx="4937760" cy="237744"/>
          </a:xfrm>
          <a:prstGeom prst="rect">
            <a:avLst/>
          </a:prstGeom>
          <a:noFill/>
        </p:spPr>
        <p:txBody>
          <a:bodyPr wrap="square" anchor="t" lIns="0" rIns="0" tIns="0" bIns="0">
            <a:noAutofit/>
          </a:bodyPr>
          <a:lstStyle/>
          <a:p>
            <a:r>
              <a:rPr sz="1100" b="1">
                <a:solidFill>
                  <a:srgbClr val="3C7D4D"/>
                </a:solidFill>
                <a:latin typeface="Arial"/>
              </a:rPr>
              <a:t>DEALERS WE LOST DURING THE 30-WEEK LEAD TIME WINDOW</a:t>
            </a:r>
          </a:p>
        </p:txBody>
      </p:sp>
      <p:graphicFrame>
        <p:nvGraphicFramePr>
          <p:cNvPr id="8" name="Table 7"/>
          <p:cNvGraphicFramePr>
            <a:graphicFrameLocks noGrp="1"/>
          </p:cNvGraphicFramePr>
          <p:nvPr/>
        </p:nvGraphicFramePr>
        <p:xfrm>
          <a:off x="6519672" y="2377440"/>
          <a:ext cx="4937760" cy="3383280"/>
        </p:xfrm>
        <a:graphic>
          <a:graphicData uri="http://schemas.openxmlformats.org/drawingml/2006/table">
            <a:tbl>
              <a:tblPr firstRow="0" bandRow="0"/>
              <a:tblGrid>
                <a:gridCol w="1554480"/>
                <a:gridCol w="1691640"/>
                <a:gridCol w="1691640"/>
              </a:tblGrid>
              <a:tr h="365760">
                <a:tc>
                  <a:txBody>
                    <a:bodyPr/>
                    <a:lstStyle/>
                    <a:p>
                      <a:r>
                        <a:rPr sz="11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Where they went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Back? What it takes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005840">
                <a:tc>
                  <a:txBody>
                    <a:bodyPr/>
                    <a:lstStyle/>
                    <a:p>
                      <a:r>
                        <a:rPr sz="11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1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005840">
                <a:tc>
                  <a:txBody>
                    <a:bodyPr/>
                    <a:lstStyle/>
                    <a:p>
                      <a:r>
                        <a:rPr sz="11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7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7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rPr sz="1400"/>
              <a:t>Job: [dealer, account, job]</a:t>
            </a:r>
          </a:p>
          <a:p>
            <a:r>
              <a:rPr sz="1400"/>
              <a:t>Who won: [competitor]</a:t>
            </a:r>
          </a:p>
          <a:p>
            <a:r>
              <a:rPr sz="1400"/>
              <a:t>Their price: [$ or unknown]</a:t>
            </a:r>
          </a:p>
          <a:p>
            <a:r>
              <a:rPr sz="1400"/>
              <a:t>Lead time: ours / theirs [wks]</a:t>
            </a:r>
          </a:p>
          <a:p>
            <a:r>
              <a:rPr sz="1400"/>
              <a:t>Why: [ ]</a:t>
            </a:r>
          </a:p>
          <a:p>
            <a:r>
              <a:rPr sz="1400"/>
              <a:t>Lose it again today: [yes/no]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rPr sz="1400"/>
              <a:t>Job: [dealer, account, job]</a:t>
            </a:r>
          </a:p>
          <a:p>
            <a:r>
              <a:rPr sz="1400"/>
              <a:t>Who won: [competitor]</a:t>
            </a:r>
          </a:p>
          <a:p>
            <a:r>
              <a:rPr sz="1400"/>
              <a:t>Why: [what they had, we didn't]</a:t>
            </a:r>
          </a:p>
          <a:p>
            <a:r>
              <a:rPr sz="1400"/>
              <a:t>Lead time: ours / theirs [wks]</a:t>
            </a:r>
          </a:p>
          <a:p>
            <a:r>
              <a:rPr sz="1400"/>
              <a:t>Lose it again today: [yes/no]</a:t>
            </a:r>
          </a:p>
          <a:p>
            <a:r>
              <a:rPr sz="1400"/>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rPr sz="1400"/>
              <a:t>Job: [dealer, account, job]</a:t>
            </a:r>
          </a:p>
          <a:p>
            <a:r>
              <a:rPr sz="1400"/>
              <a:t>Who won: [competitor]</a:t>
            </a:r>
          </a:p>
          <a:p>
            <a:r>
              <a:rPr sz="1400"/>
              <a:t>Lead time: ours / theirs [wks]</a:t>
            </a:r>
          </a:p>
          <a:p>
            <a:r>
              <a:rPr sz="1400"/>
              <a:t>Why: [quoting or service]</a:t>
            </a:r>
          </a:p>
          <a:p>
            <a:r>
              <a:rPr sz="1400"/>
              <a:t>Lose it again today: [yes/no]</a:t>
            </a:r>
          </a:p>
          <a:p>
            <a:r>
              <a:rPr sz="1400"/>
              <a:t>No speed loss? Say so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7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7 OF 7  ·  Q4</a:t>
            </a:r>
          </a:p>
        </p:txBody>
      </p:sp>
      <p:sp>
        <p:nvSpPr>
          <p:cNvPr id="3" name="Title 2"/>
          <p:cNvSpPr>
            <a:spLocks noGrp="1"/>
          </p:cNvSpPr>
          <p:nvPr>
            <p:ph type="title" idx="101"/>
          </p:nvPr>
        </p:nvSpPr>
        <p:spPr/>
        <p:txBody>
          <a:bodyPr/>
          <a:lstStyle/>
          <a:p>
            <a:r>
              <a:t>Q4 plan</a:t>
            </a:r>
          </a:p>
        </p:txBody>
      </p:sp>
      <p:sp>
        <p:nvSpPr>
          <p:cNvPr id="4" name="Text Placeholder 3"/>
          <p:cNvSpPr>
            <a:spLocks noGrp="1"/>
          </p:cNvSpPr>
          <p:nvPr>
            <p:ph type="body" idx="102"/>
          </p:nvPr>
        </p:nvSpPr>
        <p:spPr/>
        <p:txBody>
          <a:bodyPr/>
          <a:lstStyle/>
          <a:p>
            <a:r>
              <a:t>[One line. What Q4 looks like if these land.]</a:t>
            </a:r>
          </a:p>
        </p:txBody>
      </p:sp>
      <p:sp>
        <p:nvSpPr>
          <p:cNvPr id="5" name="Text Placeholder 4"/>
          <p:cNvSpPr>
            <a:spLocks noGrp="1"/>
          </p:cNvSpPr>
          <p:nvPr>
            <p:ph type="body" idx="106"/>
          </p:nvPr>
        </p:nvSpPr>
        <p:spPr/>
        <p:txBody>
          <a:bodyPr/>
          <a:lstStyle/>
          <a:p>
            <a:r>
              <a:t>Three projects I'm going after</a:t>
            </a:r>
          </a:p>
        </p:txBody>
      </p:sp>
      <p:sp>
        <p:nvSpPr>
          <p:cNvPr id="6" name="Text Placeholder 5"/>
          <p:cNvSpPr>
            <a:spLocks noGrp="1"/>
          </p:cNvSpPr>
          <p:nvPr>
            <p:ph type="body" idx="107"/>
          </p:nvPr>
        </p:nvSpPr>
        <p:spPr/>
        <p:txBody>
          <a:bodyPr/>
          <a:lstStyle/>
          <a:p>
            <a:r>
              <a:t>1. [Job, dealer, $, close date]</a:t>
            </a:r>
          </a:p>
          <a:p>
            <a:r>
              <a:t>2. [Job, dealer, $, close date]</a:t>
            </a:r>
          </a:p>
          <a:p>
            <a:r>
              <a:t>3. [Job, dealer, $, close date]</a:t>
            </a:r>
          </a:p>
        </p:txBody>
      </p:sp>
      <p:sp>
        <p:nvSpPr>
          <p:cNvPr id="7" name="Text Placeholder 6"/>
          <p:cNvSpPr>
            <a:spLocks noGrp="1"/>
          </p:cNvSpPr>
          <p:nvPr>
            <p:ph type="body" idx="111"/>
          </p:nvPr>
        </p:nvSpPr>
        <p:spPr/>
        <p:txBody>
          <a:bodyPr/>
          <a:lstStyle/>
          <a:p>
            <a:r>
              <a:t>One dealer I'm going to grow</a:t>
            </a:r>
          </a:p>
        </p:txBody>
      </p:sp>
      <p:sp>
        <p:nvSpPr>
          <p:cNvPr id="8" name="Text Placeholder 7"/>
          <p:cNvSpPr>
            <a:spLocks noGrp="1"/>
          </p:cNvSpPr>
          <p:nvPr>
            <p:ph type="body" idx="112"/>
          </p:nvPr>
        </p:nvSpPr>
        <p:spPr/>
        <p:txBody>
          <a:bodyPr/>
          <a:lstStyle/>
          <a:p>
            <a:r>
              <a:t>Dealer: [name]</a:t>
            </a:r>
          </a:p>
          <a:p>
            <a:r>
              <a:t>From: [today's run rate]</a:t>
            </a:r>
          </a:p>
          <a:p>
            <a:r>
              <a:t>To: [target]</a:t>
            </a:r>
          </a:p>
          <a:p>
            <a:r>
              <a:t>How: [the specific move]</a:t>
            </a:r>
          </a:p>
        </p:txBody>
      </p:sp>
      <p:sp>
        <p:nvSpPr>
          <p:cNvPr id="9" name="Text Placeholder 8"/>
          <p:cNvSpPr>
            <a:spLocks noGrp="1"/>
          </p:cNvSpPr>
          <p:nvPr>
            <p:ph type="body" idx="116"/>
          </p:nvPr>
        </p:nvSpPr>
        <p:spPr/>
        <p:txBody>
          <a:bodyPr/>
          <a:lstStyle/>
          <a:p>
            <a:r>
              <a:t>One thing I'll do differently</a:t>
            </a:r>
          </a:p>
        </p:txBody>
      </p:sp>
      <p:sp>
        <p:nvSpPr>
          <p:cNvPr id="10" name="Text Placeholder 9"/>
          <p:cNvSpPr>
            <a:spLocks noGrp="1"/>
          </p:cNvSpPr>
          <p:nvPr>
            <p:ph type="body" idx="117"/>
          </p:nvPr>
        </p:nvSpPr>
        <p:spPr/>
        <p:txBody>
          <a:bodyPr/>
          <a:lstStyle/>
          <a:p>
            <a:r>
              <a:t>What: [ ]</a:t>
            </a:r>
          </a:p>
          <a:p>
            <a:r>
              <a:t>Why: [what the wins and losses told you]</a:t>
            </a:r>
          </a:p>
          <a:p>
            <a:r>
              <a:t>What I need from Nate: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