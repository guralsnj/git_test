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minutes. Six slides. Real dealer, account, and job names. No new data pulls.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Bookings and quotes by quarter, top accounts, Excalibur dealers. Pre-filled. Add a couple of sentences on what the numbers don't show.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Your five dealers. Who they are, what they're good at, what they want from us that they don't get. Real names.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Three wins. One on price, one on product, one on speed and support. Why we won, and whether it's repeatable.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Three losses. One on price, one on product, one on speed and support. Who won, why, and whether we'd lose it again today. On the price loss, include the competitor's number if you have it. If you don't, say unknown. On every loss, the lead time we quoted and the lead time the winner delivered. If you don't have a loss in one of the three buckets, say so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What we do well and what we don't. One of each for the company, for marketing, and for sales direction. Nate: I mean that last one. I'd rather hear it in the room than not at all.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Q4. Three projects you're going after, one dealer you're going to grow, one thing you'll do differently.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COVER-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SECTION-image-2.jpe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AGENDA-image-2.jpe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image" Target="../media/TITLE_CONTENT-image-2.jpe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image" Target="../media/TWO_CONTENT-image-2.jpe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image" Target="../media/THREE_CARDS-image-2.jpe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image" Target="../media/BIG_NUMBERS-image-2.jpe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image" Target="../media/CONTENT_VISUAL-image-2.jpe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png"/><Relationship Id="rId2" Type="http://schemas.openxmlformats.org/officeDocument/2006/relationships/image" Target="../media/FULL_VISUAL-image-2.jpe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png"/><Relationship Id="rId2" Type="http://schemas.openxmlformats.org/officeDocument/2006/relationships/image" Target="../media/COMPARISON-image-2.jpeg"/><Relationship Id="rId3"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png"/><Relationship Id="rId2" Type="http://schemas.openxmlformats.org/officeDocument/2006/relationships/image" Target="../media/TIMELINE-image-2.jpeg"/><Relationship Id="rId3"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png"/><Relationship Id="rId2" Type="http://schemas.openxmlformats.org/officeDocument/2006/relationships/image" Target="../media/KEY_MESSAGE-image-2.jpeg"/><Relationship Id="rId3"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image" Target="../media/image-1014-1.png"/><Relationship Id="rId2" Type="http://schemas.openxmlformats.org/officeDocument/2006/relationships/image" Target="../media/NEXT_STEPS-image-2.jpeg"/><Relationship Id="rId3"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image" Target="../media/image-1015-1.png"/><Relationship Id="rId2" Type="http://schemas.openxmlformats.org/officeDocument/2006/relationships/image" Target="../media/CLOSING-image-2.jpeg"/><Relationship Id="rId3"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image" Target="../media/image-1016-1.png"/><Relationship Id="rId2" Type="http://schemas.openxmlformats.org/officeDocument/2006/relationships/image" Target="../media/image-1016-2.png"/><Relationship Id="rId3" Type="http://schemas.openxmlformats.org/officeDocument/2006/relationships/image" Target="../media/COVER_MASCOT-image-3.jpe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731520" y="658368"/>
            <a:ext cx="2377440" cy="803189"/>
          </a:xfrm>
          <a:prstGeom prst="rect">
            <a:avLst/>
          </a:prstGeom>
        </p:spPr>
      </p:pic>
      <p:sp>
        <p:nvSpPr>
          <p:cNvPr id="3" name="Text 0"/>
          <p:cNvSpPr txBox="1"/>
          <p:nvPr>
            <p:ph idx="101" type="body" hasCustomPrompt="1"/>
          </p:nvPr>
        </p:nvSpPr>
        <p:spPr>
          <a:xfrm>
            <a:off x="731520" y="2212848"/>
            <a:ext cx="694944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EXECUTIVE BRIEFING</a:t>
            </a:r>
            <a:endParaRPr lang="en-US" sz="1100" dirty="0"/>
          </a:p>
        </p:txBody>
      </p:sp>
      <p:sp>
        <p:nvSpPr>
          <p:cNvPr id="4" name="Shape 0"/>
          <p:cNvSpPr/>
          <p:nvPr/>
        </p:nvSpPr>
        <p:spPr>
          <a:xfrm>
            <a:off x="731520" y="2688336"/>
            <a:ext cx="777240" cy="50292"/>
          </a:xfrm>
          <a:prstGeom prst="rect">
            <a:avLst/>
          </a:prstGeom>
          <a:solidFill>
            <a:srgbClr val="F2A900"/>
          </a:solidFill>
          <a:ln/>
        </p:spPr>
      </p:sp>
      <p:sp>
        <p:nvSpPr>
          <p:cNvPr id="5" name="Text 1"/>
          <p:cNvSpPr txBox="1"/>
          <p:nvPr>
            <p:ph idx="103" type="title" hasCustomPrompt="1"/>
          </p:nvPr>
        </p:nvSpPr>
        <p:spPr>
          <a:xfrm>
            <a:off x="731520" y="2907792"/>
            <a:ext cx="6949440" cy="1627632"/>
          </a:xfrm>
          <a:prstGeom prst="rect">
            <a:avLst/>
          </a:prstGeom>
          <a:noFill/>
          <a:ln/>
        </p:spPr>
        <p:txBody>
          <a:bodyPr wrap="square" rtlCol="0"/>
          <a:lstStyle>
            <a:lvl1pPr algn="l" indent="0" marL="0">
              <a:buNone/>
              <a:defRPr lang="en-US" sz="4600" b="1" spc="-100" kern="0" dirty="0">
                <a:solidFill>
                  <a:srgbClr val="FFFFFF"/>
                </a:solidFill>
                <a:latin typeface="Arial" pitchFamily="34" charset="0"/>
                <a:ea typeface="Arial" pitchFamily="34" charset="-122"/>
                <a:cs typeface="Arial" pitchFamily="34" charset="-120"/>
              </a:defRPr>
            </a:lvl1pPr>
          </a:lstStyle>
          <a:p>
            <a:pPr algn="l" indent="0" marL="0">
              <a:buNone/>
            </a:pPr>
            <a:r>
              <a:rPr lang="en-US" sz="4600" b="1" spc="-100" kern="0" dirty="0">
                <a:solidFill>
                  <a:srgbClr val="FFFFFF"/>
                </a:solidFill>
                <a:latin typeface="Arial" pitchFamily="34" charset="0"/>
                <a:ea typeface="Arial" pitchFamily="34" charset="-122"/>
                <a:cs typeface="Arial" pitchFamily="34" charset="-120"/>
              </a:rPr>
              <a:t>Presentation title</a:t>
            </a:r>
            <a:endParaRPr lang="en-US" sz="4600" dirty="0"/>
          </a:p>
        </p:txBody>
      </p:sp>
      <p:sp>
        <p:nvSpPr>
          <p:cNvPr id="6" name="Text 1"/>
          <p:cNvSpPr txBox="1"/>
          <p:nvPr>
            <p:ph idx="104" type="body" hasCustomPrompt="1"/>
          </p:nvPr>
        </p:nvSpPr>
        <p:spPr>
          <a:xfrm>
            <a:off x="731520" y="4663440"/>
            <a:ext cx="6949440" cy="502920"/>
          </a:xfrm>
          <a:prstGeom prst="rect">
            <a:avLst/>
          </a:prstGeom>
          <a:noFill/>
          <a:ln/>
        </p:spPr>
        <p:txBody>
          <a:bodyPr wrap="square" rtlCol="0"/>
          <a:lstStyle>
            <a:lvl1pPr algn="l" indent="0" marL="0">
              <a:buNone/>
              <a:defRPr lang="en-US" sz="1700" dirty="0">
                <a:solidFill>
                  <a:srgbClr val="E4EFE8"/>
                </a:solidFill>
                <a:latin typeface="Arial" pitchFamily="34" charset="0"/>
                <a:ea typeface="Arial" pitchFamily="34" charset="-122"/>
                <a:cs typeface="Arial" pitchFamily="34" charset="-120"/>
              </a:defRPr>
            </a:lvl1pPr>
          </a:lstStyle>
          <a:p>
            <a:pPr algn="l" indent="0" marL="0">
              <a:buNone/>
            </a:pPr>
            <a:r>
              <a:rPr lang="en-US" sz="1700" dirty="0">
                <a:solidFill>
                  <a:srgbClr val="E4EFE8"/>
                </a:solidFill>
                <a:latin typeface="Arial" pitchFamily="34" charset="0"/>
                <a:ea typeface="Arial" pitchFamily="34" charset="-122"/>
                <a:cs typeface="Arial" pitchFamily="34" charset="-120"/>
              </a:rPr>
              <a:t>One line on what this deck argues</a:t>
            </a:r>
            <a:endParaRPr lang="en-US" sz="1700" dirty="0"/>
          </a:p>
        </p:txBody>
      </p:sp>
      <p:sp>
        <p:nvSpPr>
          <p:cNvPr id="7" name="Text 1"/>
          <p:cNvSpPr txBox="1"/>
          <p:nvPr>
            <p:ph idx="105" type="body" hasCustomPrompt="1"/>
          </p:nvPr>
        </p:nvSpPr>
        <p:spPr>
          <a:xfrm>
            <a:off x="731520" y="5998464"/>
            <a:ext cx="694944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Presenter  |  Audience  |  Month Year</a:t>
            </a:r>
            <a:endParaRPr lang="en-US" sz="115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10625328" y="6272784"/>
            <a:ext cx="1325880" cy="447932"/>
          </a:xfrm>
          <a:prstGeom prst="rect">
            <a:avLst/>
          </a:prstGeom>
        </p:spPr>
      </p:pic>
      <p:sp>
        <p:nvSpPr>
          <p:cNvPr id="3" name="Text 0"/>
          <p:cNvSpPr txBox="1"/>
          <p:nvPr>
            <p:ph idx="101" type="body" hasCustomPrompt="1"/>
          </p:nvPr>
        </p:nvSpPr>
        <p:spPr>
          <a:xfrm>
            <a:off x="731520" y="2212848"/>
            <a:ext cx="2926080" cy="1325880"/>
          </a:xfrm>
          <a:prstGeom prst="rect">
            <a:avLst/>
          </a:prstGeom>
          <a:noFill/>
          <a:ln/>
        </p:spPr>
        <p:txBody>
          <a:bodyPr wrap="square" rtlCol="0"/>
          <a:lstStyle>
            <a:lvl1pPr algn="l" indent="0" marL="0">
              <a:buNone/>
              <a:defRPr lang="en-US" sz="8600" b="1" spc="-200" kern="0" dirty="0">
                <a:solidFill>
                  <a:srgbClr val="A9D9BF">
                    <a:alpha val="55000"/>
                  </a:srgbClr>
                </a:solidFill>
                <a:latin typeface="Arial" pitchFamily="34" charset="0"/>
                <a:ea typeface="Arial" pitchFamily="34" charset="-122"/>
                <a:cs typeface="Arial" pitchFamily="34" charset="-120"/>
              </a:defRPr>
            </a:lvl1pPr>
          </a:lstStyle>
          <a:p>
            <a:pPr algn="l" indent="0" marL="0">
              <a:buNone/>
            </a:pPr>
            <a:r>
              <a:rPr lang="en-US" sz="8600" b="1" spc="-200" kern="0" dirty="0">
                <a:solidFill>
                  <a:srgbClr val="A9D9BF">
                    <a:alpha val="55000"/>
                  </a:srgbClr>
                </a:solidFill>
                <a:latin typeface="Arial" pitchFamily="34" charset="0"/>
                <a:ea typeface="Arial" pitchFamily="34" charset="-122"/>
                <a:cs typeface="Arial" pitchFamily="34" charset="-120"/>
              </a:rPr>
              <a:t>01</a:t>
            </a:r>
            <a:endParaRPr lang="en-US" sz="8600" dirty="0"/>
          </a:p>
        </p:txBody>
      </p:sp>
      <p:sp>
        <p:nvSpPr>
          <p:cNvPr id="4" name="Shape 0"/>
          <p:cNvSpPr/>
          <p:nvPr/>
        </p:nvSpPr>
        <p:spPr>
          <a:xfrm>
            <a:off x="731520" y="3712464"/>
            <a:ext cx="777240" cy="50292"/>
          </a:xfrm>
          <a:prstGeom prst="rect">
            <a:avLst/>
          </a:prstGeom>
          <a:solidFill>
            <a:srgbClr val="F2A900"/>
          </a:solidFill>
          <a:ln/>
        </p:spPr>
      </p:sp>
      <p:sp>
        <p:nvSpPr>
          <p:cNvPr id="5" name="Text 1"/>
          <p:cNvSpPr txBox="1"/>
          <p:nvPr>
            <p:ph idx="103" type="title" hasCustomPrompt="1"/>
          </p:nvPr>
        </p:nvSpPr>
        <p:spPr>
          <a:xfrm>
            <a:off x="731520" y="3986784"/>
            <a:ext cx="6949440" cy="841248"/>
          </a:xfrm>
          <a:prstGeom prst="rect">
            <a:avLst/>
          </a:prstGeom>
          <a:noFill/>
          <a:ln/>
        </p:spPr>
        <p:txBody>
          <a:bodyPr wrap="square" rtlCol="0"/>
          <a:lstStyle>
            <a:lvl1pPr algn="l" indent="0" marL="0">
              <a:buNone/>
              <a:defRPr lang="en-US" sz="3800" b="1" spc="-80" kern="0" dirty="0">
                <a:solidFill>
                  <a:srgbClr val="FFFFFF"/>
                </a:solidFill>
                <a:latin typeface="Arial" pitchFamily="34" charset="0"/>
                <a:ea typeface="Arial" pitchFamily="34" charset="-122"/>
                <a:cs typeface="Arial" pitchFamily="34" charset="-120"/>
              </a:defRPr>
            </a:lvl1pPr>
          </a:lstStyle>
          <a:p>
            <a:pPr algn="l" indent="0" marL="0">
              <a:buNone/>
            </a:pPr>
            <a:r>
              <a:rPr lang="en-US" sz="3800" b="1" spc="-80" kern="0" dirty="0">
                <a:solidFill>
                  <a:srgbClr val="FFFFFF"/>
                </a:solidFill>
                <a:latin typeface="Arial" pitchFamily="34" charset="0"/>
                <a:ea typeface="Arial" pitchFamily="34" charset="-122"/>
                <a:cs typeface="Arial" pitchFamily="34" charset="-120"/>
              </a:rPr>
              <a:t>Section name</a:t>
            </a:r>
            <a:endParaRPr lang="en-US" sz="3800" dirty="0"/>
          </a:p>
        </p:txBody>
      </p:sp>
      <p:sp>
        <p:nvSpPr>
          <p:cNvPr id="6" name="Text 1"/>
          <p:cNvSpPr txBox="1"/>
          <p:nvPr>
            <p:ph idx="104" type="body" hasCustomPrompt="1"/>
          </p:nvPr>
        </p:nvSpPr>
        <p:spPr>
          <a:xfrm>
            <a:off x="731520" y="4956048"/>
            <a:ext cx="6949440" cy="54864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What this section settles.</a:t>
            </a:r>
            <a:endParaRPr lang="en-US" sz="15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GENDA">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Agenda</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What we cover and what we decide.</a:t>
            </a:r>
            <a:endParaRPr lang="en-US" sz="1600" dirty="0"/>
          </a:p>
        </p:txBody>
      </p:sp>
      <p:sp>
        <p:nvSpPr>
          <p:cNvPr id="5" name="Text 0"/>
          <p:cNvSpPr txBox="1"/>
          <p:nvPr/>
        </p:nvSpPr>
        <p:spPr>
          <a:xfrm>
            <a:off x="731520" y="2167128"/>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01</a:t>
            </a:r>
            <a:endParaRPr lang="en-US" sz="2000" dirty="0"/>
          </a:p>
        </p:txBody>
      </p:sp>
      <p:sp>
        <p:nvSpPr>
          <p:cNvPr id="6" name="Text 1"/>
          <p:cNvSpPr txBox="1"/>
          <p:nvPr>
            <p:ph idx="104" type="body" hasCustomPrompt="1"/>
          </p:nvPr>
        </p:nvSpPr>
        <p:spPr>
          <a:xfrm>
            <a:off x="1508760" y="2167128"/>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7" name="Text 1"/>
          <p:cNvSpPr txBox="1"/>
          <p:nvPr>
            <p:ph idx="105" type="body" hasCustomPrompt="1"/>
          </p:nvPr>
        </p:nvSpPr>
        <p:spPr>
          <a:xfrm>
            <a:off x="8869680" y="2167128"/>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8" name="Shape 1"/>
          <p:cNvSpPr/>
          <p:nvPr/>
        </p:nvSpPr>
        <p:spPr>
          <a:xfrm>
            <a:off x="731520" y="2770632"/>
            <a:ext cx="10728655" cy="0"/>
          </a:xfrm>
          <a:prstGeom prst="line">
            <a:avLst/>
          </a:prstGeom>
          <a:noFill/>
          <a:ln w="12700">
            <a:solidFill>
              <a:srgbClr val="E2E6E3"/>
            </a:solidFill>
            <a:prstDash val="solid"/>
          </a:ln>
        </p:spPr>
      </p:sp>
      <p:sp>
        <p:nvSpPr>
          <p:cNvPr id="9" name="Text 2"/>
          <p:cNvSpPr txBox="1"/>
          <p:nvPr/>
        </p:nvSpPr>
        <p:spPr>
          <a:xfrm>
            <a:off x="731520" y="2916936"/>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02</a:t>
            </a:r>
            <a:endParaRPr lang="en-US" sz="2000" dirty="0"/>
          </a:p>
        </p:txBody>
      </p:sp>
      <p:sp>
        <p:nvSpPr>
          <p:cNvPr id="10" name="Text 3"/>
          <p:cNvSpPr txBox="1"/>
          <p:nvPr>
            <p:ph idx="108" type="body" hasCustomPrompt="1"/>
          </p:nvPr>
        </p:nvSpPr>
        <p:spPr>
          <a:xfrm>
            <a:off x="1508760" y="2916936"/>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1" name="Text 3"/>
          <p:cNvSpPr txBox="1"/>
          <p:nvPr>
            <p:ph idx="109" type="body" hasCustomPrompt="1"/>
          </p:nvPr>
        </p:nvSpPr>
        <p:spPr>
          <a:xfrm>
            <a:off x="8869680" y="2916936"/>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12" name="Shape 3"/>
          <p:cNvSpPr/>
          <p:nvPr/>
        </p:nvSpPr>
        <p:spPr>
          <a:xfrm>
            <a:off x="731520" y="3520440"/>
            <a:ext cx="10728655" cy="0"/>
          </a:xfrm>
          <a:prstGeom prst="line">
            <a:avLst/>
          </a:prstGeom>
          <a:noFill/>
          <a:ln w="12700">
            <a:solidFill>
              <a:srgbClr val="E2E6E3"/>
            </a:solidFill>
            <a:prstDash val="solid"/>
          </a:ln>
        </p:spPr>
      </p:sp>
      <p:sp>
        <p:nvSpPr>
          <p:cNvPr id="13" name="Text 4"/>
          <p:cNvSpPr txBox="1"/>
          <p:nvPr/>
        </p:nvSpPr>
        <p:spPr>
          <a:xfrm>
            <a:off x="731520" y="3666744"/>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03</a:t>
            </a:r>
            <a:endParaRPr lang="en-US" sz="2000" dirty="0"/>
          </a:p>
        </p:txBody>
      </p:sp>
      <p:sp>
        <p:nvSpPr>
          <p:cNvPr id="14" name="Text 5"/>
          <p:cNvSpPr txBox="1"/>
          <p:nvPr>
            <p:ph idx="112" type="body" hasCustomPrompt="1"/>
          </p:nvPr>
        </p:nvSpPr>
        <p:spPr>
          <a:xfrm>
            <a:off x="1508760" y="3666744"/>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5" name="Text 5"/>
          <p:cNvSpPr txBox="1"/>
          <p:nvPr>
            <p:ph idx="113" type="body" hasCustomPrompt="1"/>
          </p:nvPr>
        </p:nvSpPr>
        <p:spPr>
          <a:xfrm>
            <a:off x="8869680" y="3666744"/>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16" name="Shape 5"/>
          <p:cNvSpPr/>
          <p:nvPr/>
        </p:nvSpPr>
        <p:spPr>
          <a:xfrm>
            <a:off x="731520" y="4270248"/>
            <a:ext cx="10728655" cy="0"/>
          </a:xfrm>
          <a:prstGeom prst="line">
            <a:avLst/>
          </a:prstGeom>
          <a:noFill/>
          <a:ln w="12700">
            <a:solidFill>
              <a:srgbClr val="E2E6E3"/>
            </a:solidFill>
            <a:prstDash val="solid"/>
          </a:ln>
        </p:spPr>
      </p:sp>
      <p:sp>
        <p:nvSpPr>
          <p:cNvPr id="17" name="Text 6"/>
          <p:cNvSpPr txBox="1"/>
          <p:nvPr/>
        </p:nvSpPr>
        <p:spPr>
          <a:xfrm>
            <a:off x="731520" y="4416552"/>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04</a:t>
            </a:r>
            <a:endParaRPr lang="en-US" sz="2000" dirty="0"/>
          </a:p>
        </p:txBody>
      </p:sp>
      <p:sp>
        <p:nvSpPr>
          <p:cNvPr id="18" name="Text 7"/>
          <p:cNvSpPr txBox="1"/>
          <p:nvPr>
            <p:ph idx="116" type="body" hasCustomPrompt="1"/>
          </p:nvPr>
        </p:nvSpPr>
        <p:spPr>
          <a:xfrm>
            <a:off x="1508760" y="4416552"/>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19" name="Text 7"/>
          <p:cNvSpPr txBox="1"/>
          <p:nvPr>
            <p:ph idx="117" type="body" hasCustomPrompt="1"/>
          </p:nvPr>
        </p:nvSpPr>
        <p:spPr>
          <a:xfrm>
            <a:off x="8869680" y="4416552"/>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20" name="Shape 7"/>
          <p:cNvSpPr/>
          <p:nvPr/>
        </p:nvSpPr>
        <p:spPr>
          <a:xfrm>
            <a:off x="731520" y="5020056"/>
            <a:ext cx="10728655" cy="0"/>
          </a:xfrm>
          <a:prstGeom prst="line">
            <a:avLst/>
          </a:prstGeom>
          <a:noFill/>
          <a:ln w="12700">
            <a:solidFill>
              <a:srgbClr val="E2E6E3"/>
            </a:solidFill>
            <a:prstDash val="solid"/>
          </a:ln>
        </p:spPr>
      </p:sp>
      <p:sp>
        <p:nvSpPr>
          <p:cNvPr id="21" name="Text 8"/>
          <p:cNvSpPr txBox="1"/>
          <p:nvPr/>
        </p:nvSpPr>
        <p:spPr>
          <a:xfrm>
            <a:off x="731520" y="5166360"/>
            <a:ext cx="658368" cy="457200"/>
          </a:xfrm>
          <a:prstGeom prst="rect">
            <a:avLst/>
          </a:prstGeom>
          <a:noFill/>
          <a:ln/>
        </p:spPr>
        <p:txBody>
          <a:bodyPr wrap="square" lIns="0" tIns="0" rIns="0" bIns="0" rtlCol="0" anchor="ctr"/>
          <a:lstStyle/>
          <a:p>
            <a:pPr algn="l" indent="0" marL="0">
              <a:buNone/>
            </a:pPr>
            <a:r>
              <a:rPr lang="en-US" sz="2000" b="1" dirty="0">
                <a:solidFill>
                  <a:srgbClr val="3C7D4D"/>
                </a:solidFill>
                <a:latin typeface="Arial" pitchFamily="34" charset="0"/>
                <a:ea typeface="Arial" pitchFamily="34" charset="-122"/>
                <a:cs typeface="Arial" pitchFamily="34" charset="-120"/>
              </a:rPr>
              <a:t>05</a:t>
            </a:r>
            <a:endParaRPr lang="en-US" sz="2000" dirty="0"/>
          </a:p>
        </p:txBody>
      </p:sp>
      <p:sp>
        <p:nvSpPr>
          <p:cNvPr id="22" name="Text 9"/>
          <p:cNvSpPr txBox="1"/>
          <p:nvPr>
            <p:ph idx="120" type="body" hasCustomPrompt="1"/>
          </p:nvPr>
        </p:nvSpPr>
        <p:spPr>
          <a:xfrm>
            <a:off x="1508760" y="5166360"/>
            <a:ext cx="7863840" cy="457200"/>
          </a:xfrm>
          <a:prstGeom prst="rect">
            <a:avLst/>
          </a:prstGeom>
          <a:noFill/>
          <a:ln/>
        </p:spPr>
        <p:txBody>
          <a:bodyPr wrap="square" rtlCol="0"/>
          <a:lstStyle>
            <a:lvl1pPr algn="l" indent="0" marL="0">
              <a:buNone/>
              <a:defRPr lang="en-US" sz="1700" b="1" dirty="0">
                <a:solidFill>
                  <a:srgbClr val="15181A"/>
                </a:solidFill>
                <a:latin typeface="Arial" pitchFamily="34" charset="0"/>
                <a:ea typeface="Arial" pitchFamily="34" charset="-122"/>
                <a:cs typeface="Arial" pitchFamily="34" charset="-120"/>
              </a:defRPr>
            </a:lvl1pPr>
          </a:lstStyle>
          <a:p>
            <a:pPr algn="l" indent="0" marL="0">
              <a:buNone/>
            </a:pPr>
            <a:r>
              <a:rPr lang="en-US" sz="1700" b="1" dirty="0">
                <a:solidFill>
                  <a:srgbClr val="15181A"/>
                </a:solidFill>
                <a:latin typeface="Arial" pitchFamily="34" charset="0"/>
                <a:ea typeface="Arial" pitchFamily="34" charset="-122"/>
                <a:cs typeface="Arial" pitchFamily="34" charset="-120"/>
              </a:rPr>
              <a:t>Agenda item</a:t>
            </a:r>
            <a:endParaRPr lang="en-US" sz="1700" dirty="0"/>
          </a:p>
        </p:txBody>
      </p:sp>
      <p:sp>
        <p:nvSpPr>
          <p:cNvPr id="23" name="Text 9"/>
          <p:cNvSpPr txBox="1"/>
          <p:nvPr>
            <p:ph idx="121" type="body" hasCustomPrompt="1"/>
          </p:nvPr>
        </p:nvSpPr>
        <p:spPr>
          <a:xfrm>
            <a:off x="8869680" y="5166360"/>
            <a:ext cx="2587752" cy="457200"/>
          </a:xfrm>
          <a:prstGeom prst="rect">
            <a:avLst/>
          </a:prstGeom>
          <a:noFill/>
          <a:ln/>
        </p:spPr>
        <p:txBody>
          <a:bodyPr wrap="square" rtlCol="0"/>
          <a:lstStyle>
            <a:lvl1pPr algn="r" indent="0" marL="0">
              <a:buNone/>
              <a:defRPr lang="en-US" sz="1200" dirty="0">
                <a:solidFill>
                  <a:srgbClr val="5B6670"/>
                </a:solidFill>
                <a:latin typeface="Arial" pitchFamily="34" charset="0"/>
                <a:ea typeface="Arial" pitchFamily="34" charset="-122"/>
                <a:cs typeface="Arial" pitchFamily="34" charset="-120"/>
              </a:defRPr>
            </a:lvl1pPr>
          </a:lstStyle>
          <a:p>
            <a:pPr algn="r" indent="0" marL="0">
              <a:buNone/>
            </a:pPr>
            <a:r>
              <a:rPr lang="en-US" sz="1200" dirty="0">
                <a:solidFill>
                  <a:srgbClr val="5B6670"/>
                </a:solidFill>
                <a:latin typeface="Arial" pitchFamily="34" charset="0"/>
                <a:ea typeface="Arial" pitchFamily="34" charset="-122"/>
                <a:cs typeface="Arial" pitchFamily="34" charset="-120"/>
              </a:rPr>
              <a:t>5 min</a:t>
            </a:r>
            <a:endParaRPr lang="en-US" sz="1200" dirty="0"/>
          </a:p>
        </p:txBody>
      </p:sp>
      <p:sp>
        <p:nvSpPr>
          <p:cNvPr id="24" name="Shape 9"/>
          <p:cNvSpPr/>
          <p:nvPr/>
        </p:nvSpPr>
        <p:spPr>
          <a:xfrm>
            <a:off x="731520" y="5769864"/>
            <a:ext cx="10728655" cy="0"/>
          </a:xfrm>
          <a:prstGeom prst="line">
            <a:avLst/>
          </a:prstGeom>
          <a:noFill/>
          <a:ln w="12700">
            <a:solidFill>
              <a:srgbClr val="E2E6E3"/>
            </a:solidFill>
            <a:prstDash val="solid"/>
          </a:ln>
        </p:spPr>
      </p:sp>
      <p:pic>
        <p:nvPicPr>
          <p:cNvPr id="25"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_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10728655" cy="3913632"/>
          </a:xfrm>
          <a:prstGeom prst="rect">
            <a:avLst/>
          </a:prstGeom>
          <a:noFill/>
          <a:ln/>
        </p:spPr>
        <p:txBody>
          <a:bodyPr wrap="square" rtlCol="0"/>
          <a:lstStyle>
            <a:lvl1pPr algn="l" indent="0" marL="0">
              <a:buNone/>
              <a:defRPr lang="en-US" sz="1600" dirty="0">
                <a:solidFill>
                  <a:srgbClr val="15181A"/>
                </a:solidFill>
                <a:latin typeface="Arial" pitchFamily="34" charset="0"/>
                <a:ea typeface="Arial" pitchFamily="34" charset="-122"/>
                <a:cs typeface="Arial" pitchFamily="34" charset="-120"/>
              </a:defRPr>
            </a:lvl1pPr>
          </a:lstStyle>
          <a:p>
            <a:pPr algn="l" indent="0" marL="0">
              <a:buNone/>
            </a:pPr>
            <a:r>
              <a:rPr lang="en-US" sz="1600" dirty="0">
                <a:solidFill>
                  <a:srgbClr val="15181A"/>
                </a:solidFill>
                <a:latin typeface="Arial" pitchFamily="34" charset="0"/>
                <a:ea typeface="Arial" pitchFamily="34" charset="-122"/>
                <a:cs typeface="Arial" pitchFamily="34" charset="-120"/>
              </a:rPr>
              <a:t>Supporting content</a:t>
            </a:r>
            <a:endParaRPr lang="en-US" sz="1600"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_CONTENT">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5120640" cy="310896"/>
          </a:xfrm>
          <a:prstGeom prst="rect">
            <a:avLst/>
          </a:prstGeom>
          <a:noFill/>
          <a:ln/>
        </p:spPr>
        <p:txBody>
          <a:bodyPr wrap="square" rtlCol="0"/>
          <a:lstStyle>
            <a:lvl1pPr algn="l" indent="0" marL="0">
              <a:buNone/>
              <a:defRPr lang="en-US" sz="1100" b="1" spc="24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240" kern="0" dirty="0">
                <a:solidFill>
                  <a:srgbClr val="3C7D4D"/>
                </a:solidFill>
                <a:latin typeface="Arial" pitchFamily="34" charset="0"/>
                <a:ea typeface="Arial" pitchFamily="34" charset="-122"/>
                <a:cs typeface="Arial" pitchFamily="34" charset="-120"/>
              </a:rPr>
              <a:t>LEFT HEADING</a:t>
            </a:r>
            <a:endParaRPr lang="en-US" sz="1100" dirty="0"/>
          </a:p>
        </p:txBody>
      </p:sp>
      <p:sp>
        <p:nvSpPr>
          <p:cNvPr id="6" name="Shape 0"/>
          <p:cNvSpPr/>
          <p:nvPr/>
        </p:nvSpPr>
        <p:spPr>
          <a:xfrm>
            <a:off x="731520" y="2505456"/>
            <a:ext cx="5120640" cy="0"/>
          </a:xfrm>
          <a:prstGeom prst="line">
            <a:avLst/>
          </a:prstGeom>
          <a:noFill/>
          <a:ln w="12700">
            <a:solidFill>
              <a:srgbClr val="E2E6E3"/>
            </a:solidFill>
            <a:prstDash val="solid"/>
          </a:ln>
        </p:spPr>
      </p:sp>
      <p:sp>
        <p:nvSpPr>
          <p:cNvPr id="7" name="Text 1"/>
          <p:cNvSpPr txBox="1"/>
          <p:nvPr>
            <p:ph idx="105" type="body" hasCustomPrompt="1"/>
          </p:nvPr>
        </p:nvSpPr>
        <p:spPr>
          <a:xfrm>
            <a:off x="731520" y="2651760"/>
            <a:ext cx="5120640" cy="33832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Left content</a:t>
            </a:r>
            <a:endParaRPr lang="en-US" sz="1500" dirty="0"/>
          </a:p>
        </p:txBody>
      </p:sp>
      <p:sp>
        <p:nvSpPr>
          <p:cNvPr id="8" name="Text 1"/>
          <p:cNvSpPr txBox="1"/>
          <p:nvPr>
            <p:ph idx="106" type="body" hasCustomPrompt="1"/>
          </p:nvPr>
        </p:nvSpPr>
        <p:spPr>
          <a:xfrm>
            <a:off x="6519672" y="2121408"/>
            <a:ext cx="4937760" cy="310896"/>
          </a:xfrm>
          <a:prstGeom prst="rect">
            <a:avLst/>
          </a:prstGeom>
          <a:noFill/>
          <a:ln/>
        </p:spPr>
        <p:txBody>
          <a:bodyPr wrap="square" rtlCol="0"/>
          <a:lstStyle>
            <a:lvl1pPr algn="l" indent="0" marL="0">
              <a:buNone/>
              <a:defRPr lang="en-US" sz="1100" b="1" spc="24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240" kern="0" dirty="0">
                <a:solidFill>
                  <a:srgbClr val="3C7D4D"/>
                </a:solidFill>
                <a:latin typeface="Arial" pitchFamily="34" charset="0"/>
                <a:ea typeface="Arial" pitchFamily="34" charset="-122"/>
                <a:cs typeface="Arial" pitchFamily="34" charset="-120"/>
              </a:rPr>
              <a:t>RIGHT HEADING</a:t>
            </a:r>
            <a:endParaRPr lang="en-US" sz="1100" dirty="0"/>
          </a:p>
        </p:txBody>
      </p:sp>
      <p:sp>
        <p:nvSpPr>
          <p:cNvPr id="9" name="Shape 1"/>
          <p:cNvSpPr/>
          <p:nvPr/>
        </p:nvSpPr>
        <p:spPr>
          <a:xfrm>
            <a:off x="6519672" y="2505456"/>
            <a:ext cx="4937760" cy="0"/>
          </a:xfrm>
          <a:prstGeom prst="line">
            <a:avLst/>
          </a:prstGeom>
          <a:noFill/>
          <a:ln w="12700">
            <a:solidFill>
              <a:srgbClr val="E2E6E3"/>
            </a:solidFill>
            <a:prstDash val="solid"/>
          </a:ln>
        </p:spPr>
      </p:sp>
      <p:sp>
        <p:nvSpPr>
          <p:cNvPr id="10" name="Text 2"/>
          <p:cNvSpPr txBox="1"/>
          <p:nvPr>
            <p:ph idx="108" type="body" hasCustomPrompt="1"/>
          </p:nvPr>
        </p:nvSpPr>
        <p:spPr>
          <a:xfrm>
            <a:off x="6519672" y="2651760"/>
            <a:ext cx="4937760" cy="33832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Right content</a:t>
            </a:r>
            <a:endParaRPr lang="en-US" sz="1500" dirty="0"/>
          </a:p>
        </p:txBody>
      </p:sp>
      <p:sp>
        <p:nvSpPr>
          <p:cNvPr id="11" name="Text 2"/>
          <p:cNvSpPr txBox="1"/>
          <p:nvPr>
            <p:ph idx="109"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2"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_CARDS">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3392424" cy="3584448"/>
          </a:xfrm>
          <a:prstGeom prst="rect">
            <a:avLst/>
          </a:prstGeom>
          <a:solidFill>
            <a:srgbClr val="F2F5F2"/>
          </a:solidFill>
          <a:ln/>
        </p:spPr>
      </p:sp>
      <p:sp>
        <p:nvSpPr>
          <p:cNvPr id="6" name="Text 1"/>
          <p:cNvSpPr txBox="1"/>
          <p:nvPr/>
        </p:nvSpPr>
        <p:spPr>
          <a:xfrm>
            <a:off x="1097280"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01</a:t>
            </a:r>
            <a:endParaRPr lang="en-US" sz="2400" dirty="0"/>
          </a:p>
        </p:txBody>
      </p:sp>
      <p:sp>
        <p:nvSpPr>
          <p:cNvPr id="7" name="Shape 2"/>
          <p:cNvSpPr/>
          <p:nvPr/>
        </p:nvSpPr>
        <p:spPr>
          <a:xfrm>
            <a:off x="1097280" y="3017520"/>
            <a:ext cx="548640" cy="41148"/>
          </a:xfrm>
          <a:prstGeom prst="rect">
            <a:avLst/>
          </a:prstGeom>
          <a:solidFill>
            <a:srgbClr val="F2A900"/>
          </a:solidFill>
          <a:ln/>
        </p:spPr>
      </p:sp>
      <p:sp>
        <p:nvSpPr>
          <p:cNvPr id="8" name="Text 3"/>
          <p:cNvSpPr txBox="1"/>
          <p:nvPr>
            <p:ph idx="106" type="body" hasCustomPrompt="1"/>
          </p:nvPr>
        </p:nvSpPr>
        <p:spPr>
          <a:xfrm>
            <a:off x="1097280"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9" name="Text 3"/>
          <p:cNvSpPr txBox="1"/>
          <p:nvPr>
            <p:ph idx="107" type="body" hasCustomPrompt="1"/>
          </p:nvPr>
        </p:nvSpPr>
        <p:spPr>
          <a:xfrm>
            <a:off x="1097280"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10" name="Shape 3"/>
          <p:cNvSpPr/>
          <p:nvPr/>
        </p:nvSpPr>
        <p:spPr>
          <a:xfrm>
            <a:off x="4407408" y="2121408"/>
            <a:ext cx="3392424" cy="3584448"/>
          </a:xfrm>
          <a:prstGeom prst="rect">
            <a:avLst/>
          </a:prstGeom>
          <a:solidFill>
            <a:srgbClr val="F2F5F2"/>
          </a:solidFill>
          <a:ln/>
        </p:spPr>
      </p:sp>
      <p:sp>
        <p:nvSpPr>
          <p:cNvPr id="11" name="Text 4"/>
          <p:cNvSpPr txBox="1"/>
          <p:nvPr/>
        </p:nvSpPr>
        <p:spPr>
          <a:xfrm>
            <a:off x="4773168"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02</a:t>
            </a:r>
            <a:endParaRPr lang="en-US" sz="2400" dirty="0"/>
          </a:p>
        </p:txBody>
      </p:sp>
      <p:sp>
        <p:nvSpPr>
          <p:cNvPr id="12" name="Shape 5"/>
          <p:cNvSpPr/>
          <p:nvPr/>
        </p:nvSpPr>
        <p:spPr>
          <a:xfrm>
            <a:off x="4773168" y="3017520"/>
            <a:ext cx="548640" cy="41148"/>
          </a:xfrm>
          <a:prstGeom prst="rect">
            <a:avLst/>
          </a:prstGeom>
          <a:solidFill>
            <a:srgbClr val="F2A900"/>
          </a:solidFill>
          <a:ln/>
        </p:spPr>
      </p:sp>
      <p:sp>
        <p:nvSpPr>
          <p:cNvPr id="13" name="Text 6"/>
          <p:cNvSpPr txBox="1"/>
          <p:nvPr>
            <p:ph idx="111" type="body" hasCustomPrompt="1"/>
          </p:nvPr>
        </p:nvSpPr>
        <p:spPr>
          <a:xfrm>
            <a:off x="4773168"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14" name="Text 6"/>
          <p:cNvSpPr txBox="1"/>
          <p:nvPr>
            <p:ph idx="112" type="body" hasCustomPrompt="1"/>
          </p:nvPr>
        </p:nvSpPr>
        <p:spPr>
          <a:xfrm>
            <a:off x="4773168"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15" name="Shape 6"/>
          <p:cNvSpPr/>
          <p:nvPr/>
        </p:nvSpPr>
        <p:spPr>
          <a:xfrm>
            <a:off x="8083296" y="2121408"/>
            <a:ext cx="3392424" cy="3584448"/>
          </a:xfrm>
          <a:prstGeom prst="rect">
            <a:avLst/>
          </a:prstGeom>
          <a:solidFill>
            <a:srgbClr val="F2F5F2"/>
          </a:solidFill>
          <a:ln/>
        </p:spPr>
      </p:sp>
      <p:sp>
        <p:nvSpPr>
          <p:cNvPr id="16" name="Text 7"/>
          <p:cNvSpPr txBox="1"/>
          <p:nvPr/>
        </p:nvSpPr>
        <p:spPr>
          <a:xfrm>
            <a:off x="8449056" y="2432304"/>
            <a:ext cx="1097280" cy="438912"/>
          </a:xfrm>
          <a:prstGeom prst="rect">
            <a:avLst/>
          </a:prstGeom>
          <a:noFill/>
          <a:ln/>
        </p:spPr>
        <p:txBody>
          <a:bodyPr wrap="square" lIns="0" tIns="0" rIns="0" bIns="0" rtlCol="0" anchor="ctr"/>
          <a:lstStyle/>
          <a:p>
            <a:pPr algn="l" indent="0" marL="0">
              <a:buNone/>
            </a:pPr>
            <a:r>
              <a:rPr lang="en-US" sz="2400" b="1" dirty="0">
                <a:solidFill>
                  <a:srgbClr val="3C7D4D"/>
                </a:solidFill>
                <a:latin typeface="Arial" pitchFamily="34" charset="0"/>
                <a:ea typeface="Arial" pitchFamily="34" charset="-122"/>
                <a:cs typeface="Arial" pitchFamily="34" charset="-120"/>
              </a:rPr>
              <a:t>03</a:t>
            </a:r>
            <a:endParaRPr lang="en-US" sz="2400" dirty="0"/>
          </a:p>
        </p:txBody>
      </p:sp>
      <p:sp>
        <p:nvSpPr>
          <p:cNvPr id="17" name="Shape 8"/>
          <p:cNvSpPr/>
          <p:nvPr/>
        </p:nvSpPr>
        <p:spPr>
          <a:xfrm>
            <a:off x="8449056" y="3017520"/>
            <a:ext cx="548640" cy="41148"/>
          </a:xfrm>
          <a:prstGeom prst="rect">
            <a:avLst/>
          </a:prstGeom>
          <a:solidFill>
            <a:srgbClr val="F2A900"/>
          </a:solidFill>
          <a:ln/>
        </p:spPr>
      </p:sp>
      <p:sp>
        <p:nvSpPr>
          <p:cNvPr id="18" name="Text 9"/>
          <p:cNvSpPr txBox="1"/>
          <p:nvPr>
            <p:ph idx="116" type="body" hasCustomPrompt="1"/>
          </p:nvPr>
        </p:nvSpPr>
        <p:spPr>
          <a:xfrm>
            <a:off x="8449056" y="3255264"/>
            <a:ext cx="2660904" cy="640080"/>
          </a:xfrm>
          <a:prstGeom prst="rect">
            <a:avLst/>
          </a:prstGeom>
          <a:noFill/>
          <a:ln/>
        </p:spPr>
        <p:txBody>
          <a:bodyPr wrap="square" rtlCol="0"/>
          <a:lstStyle>
            <a:lvl1pPr algn="l" indent="0" marL="0">
              <a:buNone/>
              <a:defRPr lang="en-US" sz="18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800" b="1" spc="-30" kern="0" dirty="0">
                <a:solidFill>
                  <a:srgbClr val="15181A"/>
                </a:solidFill>
                <a:latin typeface="Arial" pitchFamily="34" charset="0"/>
                <a:ea typeface="Arial" pitchFamily="34" charset="-122"/>
                <a:cs typeface="Arial" pitchFamily="34" charset="-120"/>
              </a:rPr>
              <a:t>Card heading</a:t>
            </a:r>
            <a:endParaRPr lang="en-US" sz="1800" dirty="0"/>
          </a:p>
        </p:txBody>
      </p:sp>
      <p:sp>
        <p:nvSpPr>
          <p:cNvPr id="19" name="Text 9"/>
          <p:cNvSpPr txBox="1"/>
          <p:nvPr>
            <p:ph idx="117" type="body" hasCustomPrompt="1"/>
          </p:nvPr>
        </p:nvSpPr>
        <p:spPr>
          <a:xfrm>
            <a:off x="8449056" y="3986784"/>
            <a:ext cx="2660904" cy="1463040"/>
          </a:xfrm>
          <a:prstGeom prst="rect">
            <a:avLst/>
          </a:prstGeom>
          <a:noFill/>
          <a:ln/>
        </p:spPr>
        <p:txBody>
          <a:bodyPr wrap="square" rtlCol="0"/>
          <a:lstStyle>
            <a:lvl1pPr algn="l" indent="0" marL="0">
              <a:buNone/>
              <a:defRPr lang="en-US" sz="1350" dirty="0">
                <a:solidFill>
                  <a:srgbClr val="5B6670"/>
                </a:solidFill>
                <a:latin typeface="Arial" pitchFamily="34" charset="0"/>
                <a:ea typeface="Arial" pitchFamily="34" charset="-122"/>
                <a:cs typeface="Arial" pitchFamily="34" charset="-120"/>
              </a:defRPr>
            </a:lvl1pPr>
          </a:lstStyle>
          <a:p>
            <a:pPr algn="l" indent="0" marL="0">
              <a:buNone/>
            </a:pPr>
            <a:r>
              <a:rPr lang="en-US" sz="1350" dirty="0">
                <a:solidFill>
                  <a:srgbClr val="5B6670"/>
                </a:solidFill>
                <a:latin typeface="Arial" pitchFamily="34" charset="0"/>
                <a:ea typeface="Arial" pitchFamily="34" charset="-122"/>
                <a:cs typeface="Arial" pitchFamily="34" charset="-120"/>
              </a:rPr>
              <a:t>Two or three lines on what this is and why it matters.</a:t>
            </a:r>
            <a:endParaRPr lang="en-US" sz="1350" dirty="0"/>
          </a:p>
        </p:txBody>
      </p:sp>
      <p:sp>
        <p:nvSpPr>
          <p:cNvPr id="20" name="Text 9"/>
          <p:cNvSpPr txBox="1"/>
          <p:nvPr>
            <p:ph idx="118"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21"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BIG_NUMBERS">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3392424" cy="0"/>
          </a:xfrm>
          <a:prstGeom prst="line">
            <a:avLst/>
          </a:prstGeom>
          <a:noFill/>
          <a:ln w="31750">
            <a:solidFill>
              <a:srgbClr val="3C7D4D"/>
            </a:solidFill>
            <a:prstDash val="solid"/>
          </a:ln>
        </p:spPr>
      </p:sp>
      <p:sp>
        <p:nvSpPr>
          <p:cNvPr id="6" name="Text 1"/>
          <p:cNvSpPr txBox="1"/>
          <p:nvPr>
            <p:ph idx="104" type="body" hasCustomPrompt="1"/>
          </p:nvPr>
        </p:nvSpPr>
        <p:spPr>
          <a:xfrm>
            <a:off x="731520"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7" name="Text 1"/>
          <p:cNvSpPr txBox="1"/>
          <p:nvPr>
            <p:ph idx="105" type="body" hasCustomPrompt="1"/>
          </p:nvPr>
        </p:nvSpPr>
        <p:spPr>
          <a:xfrm>
            <a:off x="731520"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8" name="Text 1"/>
          <p:cNvSpPr txBox="1"/>
          <p:nvPr>
            <p:ph idx="106" type="body" hasCustomPrompt="1"/>
          </p:nvPr>
        </p:nvSpPr>
        <p:spPr>
          <a:xfrm>
            <a:off x="731520"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9" name="Shape 1"/>
          <p:cNvSpPr/>
          <p:nvPr/>
        </p:nvSpPr>
        <p:spPr>
          <a:xfrm>
            <a:off x="4407408" y="2121408"/>
            <a:ext cx="3392424" cy="0"/>
          </a:xfrm>
          <a:prstGeom prst="line">
            <a:avLst/>
          </a:prstGeom>
          <a:noFill/>
          <a:ln w="31750">
            <a:solidFill>
              <a:srgbClr val="3C7D4D"/>
            </a:solidFill>
            <a:prstDash val="solid"/>
          </a:ln>
        </p:spPr>
      </p:sp>
      <p:sp>
        <p:nvSpPr>
          <p:cNvPr id="10" name="Text 2"/>
          <p:cNvSpPr txBox="1"/>
          <p:nvPr>
            <p:ph idx="108" type="body" hasCustomPrompt="1"/>
          </p:nvPr>
        </p:nvSpPr>
        <p:spPr>
          <a:xfrm>
            <a:off x="4407408"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11" name="Text 2"/>
          <p:cNvSpPr txBox="1"/>
          <p:nvPr>
            <p:ph idx="109" type="body" hasCustomPrompt="1"/>
          </p:nvPr>
        </p:nvSpPr>
        <p:spPr>
          <a:xfrm>
            <a:off x="4407408"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12" name="Text 2"/>
          <p:cNvSpPr txBox="1"/>
          <p:nvPr>
            <p:ph idx="110" type="body" hasCustomPrompt="1"/>
          </p:nvPr>
        </p:nvSpPr>
        <p:spPr>
          <a:xfrm>
            <a:off x="4407408"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13" name="Shape 2"/>
          <p:cNvSpPr/>
          <p:nvPr/>
        </p:nvSpPr>
        <p:spPr>
          <a:xfrm>
            <a:off x="8083296" y="2121408"/>
            <a:ext cx="3392424" cy="0"/>
          </a:xfrm>
          <a:prstGeom prst="line">
            <a:avLst/>
          </a:prstGeom>
          <a:noFill/>
          <a:ln w="31750">
            <a:solidFill>
              <a:srgbClr val="3C7D4D"/>
            </a:solidFill>
            <a:prstDash val="solid"/>
          </a:ln>
        </p:spPr>
      </p:sp>
      <p:sp>
        <p:nvSpPr>
          <p:cNvPr id="14" name="Text 3"/>
          <p:cNvSpPr txBox="1"/>
          <p:nvPr>
            <p:ph idx="112" type="body" hasCustomPrompt="1"/>
          </p:nvPr>
        </p:nvSpPr>
        <p:spPr>
          <a:xfrm>
            <a:off x="8083296" y="2359152"/>
            <a:ext cx="3392424" cy="1051560"/>
          </a:xfrm>
          <a:prstGeom prst="rect">
            <a:avLst/>
          </a:prstGeom>
          <a:noFill/>
          <a:ln/>
        </p:spPr>
        <p:txBody>
          <a:bodyPr wrap="square" rtlCol="0"/>
          <a:lstStyle>
            <a:lvl1pPr algn="l" indent="0" marL="0">
              <a:buNone/>
              <a:defRPr lang="en-US" sz="4800" b="1" spc="-150" kern="0" dirty="0">
                <a:solidFill>
                  <a:srgbClr val="3C7D4D"/>
                </a:solidFill>
                <a:latin typeface="Arial" pitchFamily="34" charset="0"/>
                <a:ea typeface="Arial" pitchFamily="34" charset="-122"/>
                <a:cs typeface="Arial" pitchFamily="34" charset="-120"/>
              </a:defRPr>
            </a:lvl1pPr>
          </a:lstStyle>
          <a:p>
            <a:pPr algn="l" indent="0" marL="0">
              <a:buNone/>
            </a:pPr>
            <a:r>
              <a:rPr lang="en-US" sz="4800" b="1" spc="-150" kern="0" dirty="0">
                <a:solidFill>
                  <a:srgbClr val="3C7D4D"/>
                </a:solidFill>
                <a:latin typeface="Arial" pitchFamily="34" charset="0"/>
                <a:ea typeface="Arial" pitchFamily="34" charset="-122"/>
                <a:cs typeface="Arial" pitchFamily="34" charset="-120"/>
              </a:rPr>
              <a:t>00%</a:t>
            </a:r>
            <a:endParaRPr lang="en-US" sz="4800" dirty="0"/>
          </a:p>
        </p:txBody>
      </p:sp>
      <p:sp>
        <p:nvSpPr>
          <p:cNvPr id="15" name="Text 3"/>
          <p:cNvSpPr txBox="1"/>
          <p:nvPr>
            <p:ph idx="113" type="body" hasCustomPrompt="1"/>
          </p:nvPr>
        </p:nvSpPr>
        <p:spPr>
          <a:xfrm>
            <a:off x="8083296" y="3493008"/>
            <a:ext cx="3118104" cy="329184"/>
          </a:xfrm>
          <a:prstGeom prst="rect">
            <a:avLst/>
          </a:prstGeom>
          <a:noFill/>
          <a:ln/>
        </p:spPr>
        <p:txBody>
          <a:bodyPr wrap="square" rtlCol="0"/>
          <a:lstStyle>
            <a:lvl1pPr algn="l" indent="0" marL="0">
              <a:buNone/>
              <a:defRPr lang="en-US" sz="1100" b="1" spc="160" kern="0" dirty="0">
                <a:solidFill>
                  <a:srgbClr val="15181A"/>
                </a:solidFill>
                <a:latin typeface="Arial" pitchFamily="34" charset="0"/>
                <a:ea typeface="Arial" pitchFamily="34" charset="-122"/>
                <a:cs typeface="Arial" pitchFamily="34" charset="-120"/>
              </a:defRPr>
            </a:lvl1pPr>
          </a:lstStyle>
          <a:p>
            <a:pPr algn="l" indent="0" marL="0">
              <a:buNone/>
            </a:pPr>
            <a:r>
              <a:rPr lang="en-US" sz="1100" b="1" spc="160" kern="0" dirty="0">
                <a:solidFill>
                  <a:srgbClr val="15181A"/>
                </a:solidFill>
                <a:latin typeface="Arial" pitchFamily="34" charset="0"/>
                <a:ea typeface="Arial" pitchFamily="34" charset="-122"/>
                <a:cs typeface="Arial" pitchFamily="34" charset="-120"/>
              </a:rPr>
              <a:t>WHAT IT MEASURES</a:t>
            </a:r>
            <a:endParaRPr lang="en-US" sz="1100" dirty="0"/>
          </a:p>
        </p:txBody>
      </p:sp>
      <p:sp>
        <p:nvSpPr>
          <p:cNvPr id="16" name="Text 3"/>
          <p:cNvSpPr txBox="1"/>
          <p:nvPr>
            <p:ph idx="114" type="body" hasCustomPrompt="1"/>
          </p:nvPr>
        </p:nvSpPr>
        <p:spPr>
          <a:xfrm>
            <a:off x="8083296" y="3895344"/>
            <a:ext cx="3118104" cy="91440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One line of context or the comparison.</a:t>
            </a:r>
            <a:endParaRPr lang="en-US" sz="1300" dirty="0"/>
          </a:p>
        </p:txBody>
      </p:sp>
      <p:sp>
        <p:nvSpPr>
          <p:cNvPr id="17" name="Text 3"/>
          <p:cNvSpPr txBox="1"/>
          <p:nvPr>
            <p:ph idx="115" type="body" hasCustomPrompt="1"/>
          </p:nvPr>
        </p:nvSpPr>
        <p:spPr>
          <a:xfrm>
            <a:off x="731520" y="5138928"/>
            <a:ext cx="10728655" cy="868680"/>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So what, and what we do about it.</a:t>
            </a:r>
            <a:endParaRPr lang="en-US" sz="1500" dirty="0"/>
          </a:p>
        </p:txBody>
      </p:sp>
      <p:sp>
        <p:nvSpPr>
          <p:cNvPr id="18" name="Text 3"/>
          <p:cNvSpPr txBox="1"/>
          <p:nvPr>
            <p:ph idx="116"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9"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_VISUAL">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txBox="1"/>
          <p:nvPr>
            <p:ph idx="103" type="body" hasCustomPrompt="1"/>
          </p:nvPr>
        </p:nvSpPr>
        <p:spPr>
          <a:xfrm>
            <a:off x="731520" y="2121408"/>
            <a:ext cx="4572000" cy="3913632"/>
          </a:xfrm>
          <a:prstGeom prst="rect">
            <a:avLst/>
          </a:prstGeom>
          <a:noFill/>
          <a:ln/>
        </p:spPr>
        <p:txBody>
          <a:bodyPr wrap="square" rtlCol="0"/>
          <a:lstStyle>
            <a:lvl1pPr algn="l" indent="0" marL="0">
              <a:buNone/>
              <a:defRPr lang="en-US" sz="1500" dirty="0">
                <a:solidFill>
                  <a:srgbClr val="15181A"/>
                </a:solidFill>
                <a:latin typeface="Arial" pitchFamily="34" charset="0"/>
                <a:ea typeface="Arial" pitchFamily="34" charset="-122"/>
                <a:cs typeface="Arial" pitchFamily="34" charset="-120"/>
              </a:defRPr>
            </a:lvl1pPr>
          </a:lstStyle>
          <a:p>
            <a:pPr algn="l" indent="0" marL="0">
              <a:buNone/>
            </a:pPr>
            <a:r>
              <a:rPr lang="en-US" sz="1500" dirty="0">
                <a:solidFill>
                  <a:srgbClr val="15181A"/>
                </a:solidFill>
                <a:latin typeface="Arial" pitchFamily="34" charset="0"/>
                <a:ea typeface="Arial" pitchFamily="34" charset="-122"/>
                <a:cs typeface="Arial" pitchFamily="34" charset="-120"/>
              </a:rPr>
              <a:t>Supporting points</a:t>
            </a:r>
            <a:endParaRPr lang="en-US" sz="1500" dirty="0"/>
          </a:p>
        </p:txBody>
      </p:sp>
      <p:sp>
        <p:nvSpPr>
          <p:cNvPr id="6" name="Text 0"/>
          <p:cNvSpPr/>
          <p:nvPr>
            <p:ph idx="104" hasCustomPrompt="1"/>
          </p:nvPr>
        </p:nvSpPr>
        <p:spPr>
          <a:xfrm>
            <a:off x="5943600" y="2121408"/>
            <a:ext cx="5513832"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7" name="Text 0"/>
          <p:cNvSpPr txBox="1"/>
          <p:nvPr>
            <p:ph idx="105"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8"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1009</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ULL_VISUAL">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Text 0"/>
          <p:cNvSpPr/>
          <p:nvPr>
            <p:ph idx="103" hasCustomPrompt="1"/>
          </p:nvPr>
        </p:nvSpPr>
        <p:spPr>
          <a:xfrm>
            <a:off x="731520" y="2121408"/>
            <a:ext cx="10728655"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1010</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ARISON">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731520" y="2121408"/>
            <a:ext cx="5230368" cy="475488"/>
          </a:xfrm>
          <a:prstGeom prst="rect">
            <a:avLst/>
          </a:prstGeom>
          <a:solidFill>
            <a:srgbClr val="3C7D4D"/>
          </a:solidFill>
          <a:ln/>
        </p:spPr>
      </p:sp>
      <p:sp>
        <p:nvSpPr>
          <p:cNvPr id="6" name="Text 1"/>
          <p:cNvSpPr txBox="1"/>
          <p:nvPr>
            <p:ph idx="104" type="body" hasCustomPrompt="1"/>
          </p:nvPr>
        </p:nvSpPr>
        <p:spPr>
          <a:xfrm>
            <a:off x="987552" y="2121408"/>
            <a:ext cx="4718304" cy="475488"/>
          </a:xfrm>
          <a:prstGeom prst="rect">
            <a:avLst/>
          </a:prstGeom>
          <a:noFill/>
          <a:ln/>
        </p:spPr>
        <p:txBody>
          <a:bodyPr wrap="square" rtlCol="0"/>
          <a:lstStyle>
            <a:lvl1pPr algn="l" indent="0" marL="0">
              <a:buNone/>
              <a:defRPr lang="en-US" sz="1300" b="1" spc="200" kern="0" dirty="0">
                <a:solidFill>
                  <a:srgbClr val="FFFFFF"/>
                </a:solidFill>
                <a:latin typeface="Arial" pitchFamily="34" charset="0"/>
                <a:ea typeface="Arial" pitchFamily="34" charset="-122"/>
                <a:cs typeface="Arial" pitchFamily="34" charset="-120"/>
              </a:defRPr>
            </a:lvl1pPr>
          </a:lstStyle>
          <a:p>
            <a:pPr algn="l" indent="0" marL="0">
              <a:buNone/>
            </a:pPr>
            <a:r>
              <a:rPr lang="en-US" sz="1300" b="1" spc="200" kern="0" dirty="0">
                <a:solidFill>
                  <a:srgbClr val="FFFFFF"/>
                </a:solidFill>
                <a:latin typeface="Arial" pitchFamily="34" charset="0"/>
                <a:ea typeface="Arial" pitchFamily="34" charset="-122"/>
                <a:cs typeface="Arial" pitchFamily="34" charset="-120"/>
              </a:rPr>
              <a:t>OPTION A</a:t>
            </a:r>
            <a:endParaRPr lang="en-US" sz="1300" dirty="0"/>
          </a:p>
        </p:txBody>
      </p:sp>
      <p:sp>
        <p:nvSpPr>
          <p:cNvPr id="7" name="Shape 1"/>
          <p:cNvSpPr/>
          <p:nvPr/>
        </p:nvSpPr>
        <p:spPr>
          <a:xfrm>
            <a:off x="731520" y="2596896"/>
            <a:ext cx="5230368" cy="2980944"/>
          </a:xfrm>
          <a:prstGeom prst="rect">
            <a:avLst/>
          </a:prstGeom>
          <a:solidFill>
            <a:srgbClr val="F2F5F2"/>
          </a:solidFill>
          <a:ln/>
        </p:spPr>
      </p:sp>
      <p:sp>
        <p:nvSpPr>
          <p:cNvPr id="8" name="Text 2"/>
          <p:cNvSpPr txBox="1"/>
          <p:nvPr>
            <p:ph idx="106" type="body" hasCustomPrompt="1"/>
          </p:nvPr>
        </p:nvSpPr>
        <p:spPr>
          <a:xfrm>
            <a:off x="987552" y="2834640"/>
            <a:ext cx="4718304" cy="2560320"/>
          </a:xfrm>
          <a:prstGeom prst="rect">
            <a:avLst/>
          </a:prstGeom>
          <a:noFill/>
          <a:ln/>
        </p:spPr>
        <p:txBody>
          <a:bodyPr wrap="square" rtlCol="0"/>
          <a:lstStyle>
            <a:lvl1pPr algn="l" indent="0" marL="0">
              <a:buNone/>
              <a:defRPr lang="en-US" sz="1450" dirty="0">
                <a:solidFill>
                  <a:srgbClr val="15181A"/>
                </a:solidFill>
                <a:latin typeface="Arial" pitchFamily="34" charset="0"/>
                <a:ea typeface="Arial" pitchFamily="34" charset="-122"/>
                <a:cs typeface="Arial" pitchFamily="34" charset="-120"/>
              </a:defRPr>
            </a:lvl1pPr>
          </a:lstStyle>
          <a:p>
            <a:pPr algn="l" indent="0" marL="0">
              <a:buNone/>
            </a:pPr>
            <a:r>
              <a:rPr lang="en-US" sz="1450" dirty="0">
                <a:solidFill>
                  <a:srgbClr val="15181A"/>
                </a:solidFill>
                <a:latin typeface="Arial" pitchFamily="34" charset="0"/>
                <a:ea typeface="Arial" pitchFamily="34" charset="-122"/>
                <a:cs typeface="Arial" pitchFamily="34" charset="-120"/>
              </a:rPr>
              <a:t>What it gets us, what it costs, what breaks.</a:t>
            </a:r>
            <a:endParaRPr lang="en-US" sz="1450" dirty="0"/>
          </a:p>
        </p:txBody>
      </p:sp>
      <p:sp>
        <p:nvSpPr>
          <p:cNvPr id="9" name="Shape 2"/>
          <p:cNvSpPr/>
          <p:nvPr/>
        </p:nvSpPr>
        <p:spPr>
          <a:xfrm>
            <a:off x="6227064" y="2121408"/>
            <a:ext cx="5230368" cy="475488"/>
          </a:xfrm>
          <a:prstGeom prst="rect">
            <a:avLst/>
          </a:prstGeom>
          <a:solidFill>
            <a:srgbClr val="5B6670"/>
          </a:solidFill>
          <a:ln/>
        </p:spPr>
      </p:sp>
      <p:sp>
        <p:nvSpPr>
          <p:cNvPr id="10" name="Text 3"/>
          <p:cNvSpPr txBox="1"/>
          <p:nvPr>
            <p:ph idx="108" type="body" hasCustomPrompt="1"/>
          </p:nvPr>
        </p:nvSpPr>
        <p:spPr>
          <a:xfrm>
            <a:off x="6483096" y="2121408"/>
            <a:ext cx="4718304" cy="475488"/>
          </a:xfrm>
          <a:prstGeom prst="rect">
            <a:avLst/>
          </a:prstGeom>
          <a:noFill/>
          <a:ln/>
        </p:spPr>
        <p:txBody>
          <a:bodyPr wrap="square" rtlCol="0"/>
          <a:lstStyle>
            <a:lvl1pPr algn="l" indent="0" marL="0">
              <a:buNone/>
              <a:defRPr lang="en-US" sz="1300" b="1" spc="200" kern="0" dirty="0">
                <a:solidFill>
                  <a:srgbClr val="FFFFFF"/>
                </a:solidFill>
                <a:latin typeface="Arial" pitchFamily="34" charset="0"/>
                <a:ea typeface="Arial" pitchFamily="34" charset="-122"/>
                <a:cs typeface="Arial" pitchFamily="34" charset="-120"/>
              </a:defRPr>
            </a:lvl1pPr>
          </a:lstStyle>
          <a:p>
            <a:pPr algn="l" indent="0" marL="0">
              <a:buNone/>
            </a:pPr>
            <a:r>
              <a:rPr lang="en-US" sz="1300" b="1" spc="200" kern="0" dirty="0">
                <a:solidFill>
                  <a:srgbClr val="FFFFFF"/>
                </a:solidFill>
                <a:latin typeface="Arial" pitchFamily="34" charset="0"/>
                <a:ea typeface="Arial" pitchFamily="34" charset="-122"/>
                <a:cs typeface="Arial" pitchFamily="34" charset="-120"/>
              </a:rPr>
              <a:t>OPTION B</a:t>
            </a:r>
            <a:endParaRPr lang="en-US" sz="1300" dirty="0"/>
          </a:p>
        </p:txBody>
      </p:sp>
      <p:sp>
        <p:nvSpPr>
          <p:cNvPr id="11" name="Shape 3"/>
          <p:cNvSpPr/>
          <p:nvPr/>
        </p:nvSpPr>
        <p:spPr>
          <a:xfrm>
            <a:off x="6227064" y="2596896"/>
            <a:ext cx="5230368" cy="2980944"/>
          </a:xfrm>
          <a:prstGeom prst="rect">
            <a:avLst/>
          </a:prstGeom>
          <a:solidFill>
            <a:srgbClr val="F2F5F2"/>
          </a:solidFill>
          <a:ln/>
        </p:spPr>
      </p:sp>
      <p:sp>
        <p:nvSpPr>
          <p:cNvPr id="12" name="Text 4"/>
          <p:cNvSpPr txBox="1"/>
          <p:nvPr>
            <p:ph idx="110" type="body" hasCustomPrompt="1"/>
          </p:nvPr>
        </p:nvSpPr>
        <p:spPr>
          <a:xfrm>
            <a:off x="6483096" y="2834640"/>
            <a:ext cx="4718304" cy="2560320"/>
          </a:xfrm>
          <a:prstGeom prst="rect">
            <a:avLst/>
          </a:prstGeom>
          <a:noFill/>
          <a:ln/>
        </p:spPr>
        <p:txBody>
          <a:bodyPr wrap="square" rtlCol="0"/>
          <a:lstStyle>
            <a:lvl1pPr algn="l" indent="0" marL="0">
              <a:buNone/>
              <a:defRPr lang="en-US" sz="1450" dirty="0">
                <a:solidFill>
                  <a:srgbClr val="15181A"/>
                </a:solidFill>
                <a:latin typeface="Arial" pitchFamily="34" charset="0"/>
                <a:ea typeface="Arial" pitchFamily="34" charset="-122"/>
                <a:cs typeface="Arial" pitchFamily="34" charset="-120"/>
              </a:defRPr>
            </a:lvl1pPr>
          </a:lstStyle>
          <a:p>
            <a:pPr algn="l" indent="0" marL="0">
              <a:buNone/>
            </a:pPr>
            <a:r>
              <a:rPr lang="en-US" sz="1450" dirty="0">
                <a:solidFill>
                  <a:srgbClr val="15181A"/>
                </a:solidFill>
                <a:latin typeface="Arial" pitchFamily="34" charset="0"/>
                <a:ea typeface="Arial" pitchFamily="34" charset="-122"/>
                <a:cs typeface="Arial" pitchFamily="34" charset="-120"/>
              </a:rPr>
              <a:t>What it gets us, what it costs, what breaks.</a:t>
            </a:r>
            <a:endParaRPr lang="en-US" sz="1450" dirty="0"/>
          </a:p>
        </p:txBody>
      </p:sp>
      <p:sp>
        <p:nvSpPr>
          <p:cNvPr id="13" name="Text 4"/>
          <p:cNvSpPr txBox="1"/>
          <p:nvPr>
            <p:ph idx="111" type="body" hasCustomPrompt="1"/>
          </p:nvPr>
        </p:nvSpPr>
        <p:spPr>
          <a:xfrm>
            <a:off x="731520" y="5742432"/>
            <a:ext cx="10728655" cy="384048"/>
          </a:xfrm>
          <a:prstGeom prst="rect">
            <a:avLst/>
          </a:prstGeom>
          <a:noFill/>
          <a:ln/>
        </p:spPr>
        <p:txBody>
          <a:bodyPr wrap="square" rtlCol="0"/>
          <a:lstStyle>
            <a:lvl1pPr algn="l" indent="0" marL="0">
              <a:buNone/>
              <a:defRPr lang="en-US" sz="1500" b="1" dirty="0">
                <a:solidFill>
                  <a:srgbClr val="3C7D4D"/>
                </a:solidFill>
                <a:latin typeface="Arial" pitchFamily="34" charset="0"/>
                <a:ea typeface="Arial" pitchFamily="34" charset="-122"/>
                <a:cs typeface="Arial" pitchFamily="34" charset="-120"/>
              </a:defRPr>
            </a:lvl1pPr>
          </a:lstStyle>
          <a:p>
            <a:pPr algn="l" indent="0" marL="0">
              <a:buNone/>
            </a:pPr>
            <a:r>
              <a:rPr lang="en-US" sz="1500" b="1" dirty="0">
                <a:solidFill>
                  <a:srgbClr val="3C7D4D"/>
                </a:solidFill>
                <a:latin typeface="Arial" pitchFamily="34" charset="0"/>
                <a:ea typeface="Arial" pitchFamily="34" charset="-122"/>
                <a:cs typeface="Arial" pitchFamily="34" charset="-120"/>
              </a:rPr>
              <a:t>Recommendation: </a:t>
            </a:r>
            <a:endParaRPr lang="en-US" sz="1500" dirty="0"/>
          </a:p>
        </p:txBody>
      </p:sp>
      <p:sp>
        <p:nvSpPr>
          <p:cNvPr id="14" name="Text 4"/>
          <p:cNvSpPr txBox="1"/>
          <p:nvPr>
            <p:ph idx="112"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15"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1011</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MELINE">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Slide title</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The one thing this slide proves.</a:t>
            </a:r>
            <a:endParaRPr lang="en-US" sz="1600" dirty="0"/>
          </a:p>
        </p:txBody>
      </p:sp>
      <p:sp>
        <p:nvSpPr>
          <p:cNvPr id="5" name="Shape 0"/>
          <p:cNvSpPr/>
          <p:nvPr/>
        </p:nvSpPr>
        <p:spPr>
          <a:xfrm>
            <a:off x="1005840" y="2706624"/>
            <a:ext cx="10180015" cy="0"/>
          </a:xfrm>
          <a:prstGeom prst="line">
            <a:avLst/>
          </a:prstGeom>
          <a:noFill/>
          <a:ln w="25400">
            <a:solidFill>
              <a:srgbClr val="E2E6E3"/>
            </a:solidFill>
            <a:prstDash val="solid"/>
          </a:ln>
        </p:spPr>
      </p:sp>
      <p:sp>
        <p:nvSpPr>
          <p:cNvPr id="6" name="Shape 1"/>
          <p:cNvSpPr/>
          <p:nvPr/>
        </p:nvSpPr>
        <p:spPr>
          <a:xfrm>
            <a:off x="749808" y="2450592"/>
            <a:ext cx="512064" cy="512064"/>
          </a:xfrm>
          <a:prstGeom prst="rect">
            <a:avLst/>
          </a:prstGeom>
          <a:solidFill>
            <a:srgbClr val="3C7D4D"/>
          </a:solidFill>
          <a:ln/>
        </p:spPr>
      </p:sp>
      <p:sp>
        <p:nvSpPr>
          <p:cNvPr id="7" name="Text 2"/>
          <p:cNvSpPr txBox="1"/>
          <p:nvPr/>
        </p:nvSpPr>
        <p:spPr>
          <a:xfrm>
            <a:off x="749808"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a:t>
            </a:r>
            <a:endParaRPr lang="en-US" sz="1600" dirty="0"/>
          </a:p>
        </p:txBody>
      </p:sp>
      <p:sp>
        <p:nvSpPr>
          <p:cNvPr id="8" name="Text 3"/>
          <p:cNvSpPr txBox="1"/>
          <p:nvPr>
            <p:ph idx="106" type="body" hasCustomPrompt="1"/>
          </p:nvPr>
        </p:nvSpPr>
        <p:spPr>
          <a:xfrm>
            <a:off x="731520"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9" name="Text 3"/>
          <p:cNvSpPr txBox="1"/>
          <p:nvPr>
            <p:ph idx="107" type="body" hasCustomPrompt="1"/>
          </p:nvPr>
        </p:nvSpPr>
        <p:spPr>
          <a:xfrm>
            <a:off x="731520"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10" name="Text 3"/>
          <p:cNvSpPr txBox="1"/>
          <p:nvPr>
            <p:ph idx="108" type="body" hasCustomPrompt="1"/>
          </p:nvPr>
        </p:nvSpPr>
        <p:spPr>
          <a:xfrm>
            <a:off x="731520"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11" name="Shape 3"/>
          <p:cNvSpPr/>
          <p:nvPr/>
        </p:nvSpPr>
        <p:spPr>
          <a:xfrm>
            <a:off x="3639312" y="2450592"/>
            <a:ext cx="512064" cy="512064"/>
          </a:xfrm>
          <a:prstGeom prst="rect">
            <a:avLst/>
          </a:prstGeom>
          <a:solidFill>
            <a:srgbClr val="3C7D4D"/>
          </a:solidFill>
          <a:ln/>
        </p:spPr>
      </p:sp>
      <p:sp>
        <p:nvSpPr>
          <p:cNvPr id="12" name="Text 4"/>
          <p:cNvSpPr txBox="1"/>
          <p:nvPr/>
        </p:nvSpPr>
        <p:spPr>
          <a:xfrm>
            <a:off x="3639312"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a:t>
            </a:r>
            <a:endParaRPr lang="en-US" sz="1600" dirty="0"/>
          </a:p>
        </p:txBody>
      </p:sp>
      <p:sp>
        <p:nvSpPr>
          <p:cNvPr id="13" name="Text 5"/>
          <p:cNvSpPr txBox="1"/>
          <p:nvPr>
            <p:ph idx="111" type="body" hasCustomPrompt="1"/>
          </p:nvPr>
        </p:nvSpPr>
        <p:spPr>
          <a:xfrm>
            <a:off x="3621024"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14" name="Text 5"/>
          <p:cNvSpPr txBox="1"/>
          <p:nvPr>
            <p:ph idx="112" type="body" hasCustomPrompt="1"/>
          </p:nvPr>
        </p:nvSpPr>
        <p:spPr>
          <a:xfrm>
            <a:off x="3621024"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15" name="Text 5"/>
          <p:cNvSpPr txBox="1"/>
          <p:nvPr>
            <p:ph idx="113" type="body" hasCustomPrompt="1"/>
          </p:nvPr>
        </p:nvSpPr>
        <p:spPr>
          <a:xfrm>
            <a:off x="3621024"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16" name="Shape 5"/>
          <p:cNvSpPr/>
          <p:nvPr/>
        </p:nvSpPr>
        <p:spPr>
          <a:xfrm>
            <a:off x="6528816" y="2450592"/>
            <a:ext cx="512064" cy="512064"/>
          </a:xfrm>
          <a:prstGeom prst="rect">
            <a:avLst/>
          </a:prstGeom>
          <a:solidFill>
            <a:srgbClr val="3C7D4D"/>
          </a:solidFill>
          <a:ln/>
        </p:spPr>
      </p:sp>
      <p:sp>
        <p:nvSpPr>
          <p:cNvPr id="17" name="Text 6"/>
          <p:cNvSpPr txBox="1"/>
          <p:nvPr/>
        </p:nvSpPr>
        <p:spPr>
          <a:xfrm>
            <a:off x="6528816"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3</a:t>
            </a:r>
            <a:endParaRPr lang="en-US" sz="1600" dirty="0"/>
          </a:p>
        </p:txBody>
      </p:sp>
      <p:sp>
        <p:nvSpPr>
          <p:cNvPr id="18" name="Text 7"/>
          <p:cNvSpPr txBox="1"/>
          <p:nvPr>
            <p:ph idx="116" type="body" hasCustomPrompt="1"/>
          </p:nvPr>
        </p:nvSpPr>
        <p:spPr>
          <a:xfrm>
            <a:off x="6510528"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19" name="Text 7"/>
          <p:cNvSpPr txBox="1"/>
          <p:nvPr>
            <p:ph idx="117" type="body" hasCustomPrompt="1"/>
          </p:nvPr>
        </p:nvSpPr>
        <p:spPr>
          <a:xfrm>
            <a:off x="6510528"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20" name="Text 7"/>
          <p:cNvSpPr txBox="1"/>
          <p:nvPr>
            <p:ph idx="118" type="body" hasCustomPrompt="1"/>
          </p:nvPr>
        </p:nvSpPr>
        <p:spPr>
          <a:xfrm>
            <a:off x="6510528"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21" name="Shape 7"/>
          <p:cNvSpPr/>
          <p:nvPr/>
        </p:nvSpPr>
        <p:spPr>
          <a:xfrm>
            <a:off x="9418320" y="2450592"/>
            <a:ext cx="512064" cy="512064"/>
          </a:xfrm>
          <a:prstGeom prst="rect">
            <a:avLst/>
          </a:prstGeom>
          <a:solidFill>
            <a:srgbClr val="3C7D4D"/>
          </a:solidFill>
          <a:ln/>
        </p:spPr>
      </p:sp>
      <p:sp>
        <p:nvSpPr>
          <p:cNvPr id="22" name="Text 8"/>
          <p:cNvSpPr txBox="1"/>
          <p:nvPr/>
        </p:nvSpPr>
        <p:spPr>
          <a:xfrm>
            <a:off x="9418320" y="2450592"/>
            <a:ext cx="512064" cy="512064"/>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4</a:t>
            </a:r>
            <a:endParaRPr lang="en-US" sz="1600" dirty="0"/>
          </a:p>
        </p:txBody>
      </p:sp>
      <p:sp>
        <p:nvSpPr>
          <p:cNvPr id="23" name="Text 9"/>
          <p:cNvSpPr txBox="1"/>
          <p:nvPr>
            <p:ph idx="121" type="body" hasCustomPrompt="1"/>
          </p:nvPr>
        </p:nvSpPr>
        <p:spPr>
          <a:xfrm>
            <a:off x="9400032" y="2121408"/>
            <a:ext cx="2624328" cy="274320"/>
          </a:xfrm>
          <a:prstGeom prst="rect">
            <a:avLst/>
          </a:prstGeom>
          <a:noFill/>
          <a:ln/>
        </p:spPr>
        <p:txBody>
          <a:bodyPr wrap="square" rtlCol="0"/>
          <a:lstStyle>
            <a:lvl1pPr algn="l" indent="0" marL="0">
              <a:buNone/>
              <a:defRPr lang="en-US" sz="1050" b="1" spc="180" kern="0" dirty="0">
                <a:solidFill>
                  <a:srgbClr val="5B6670"/>
                </a:solidFill>
                <a:latin typeface="Arial" pitchFamily="34" charset="0"/>
                <a:ea typeface="Arial" pitchFamily="34" charset="-122"/>
                <a:cs typeface="Arial" pitchFamily="34" charset="-120"/>
              </a:defRPr>
            </a:lvl1pPr>
          </a:lstStyle>
          <a:p>
            <a:pPr algn="l" indent="0" marL="0">
              <a:buNone/>
            </a:pPr>
            <a:r>
              <a:rPr lang="en-US" sz="1050" b="1" spc="180" kern="0" dirty="0">
                <a:solidFill>
                  <a:srgbClr val="5B6670"/>
                </a:solidFill>
                <a:latin typeface="Arial" pitchFamily="34" charset="0"/>
                <a:ea typeface="Arial" pitchFamily="34" charset="-122"/>
                <a:cs typeface="Arial" pitchFamily="34" charset="-120"/>
              </a:rPr>
              <a:t>PHASE</a:t>
            </a:r>
            <a:endParaRPr lang="en-US" sz="1050" dirty="0"/>
          </a:p>
        </p:txBody>
      </p:sp>
      <p:sp>
        <p:nvSpPr>
          <p:cNvPr id="24" name="Text 9"/>
          <p:cNvSpPr txBox="1"/>
          <p:nvPr>
            <p:ph idx="122" type="body" hasCustomPrompt="1"/>
          </p:nvPr>
        </p:nvSpPr>
        <p:spPr>
          <a:xfrm>
            <a:off x="9400032" y="3145536"/>
            <a:ext cx="2487168" cy="548640"/>
          </a:xfrm>
          <a:prstGeom prst="rect">
            <a:avLst/>
          </a:prstGeom>
          <a:noFill/>
          <a:ln/>
        </p:spPr>
        <p:txBody>
          <a:bodyPr wrap="square" rtlCol="0"/>
          <a:lstStyle>
            <a:lvl1pPr algn="l" indent="0" marL="0">
              <a:buNone/>
              <a:defRPr lang="en-US" sz="1600" b="1" spc="-30" kern="0" dirty="0">
                <a:solidFill>
                  <a:srgbClr val="15181A"/>
                </a:solidFill>
                <a:latin typeface="Arial" pitchFamily="34" charset="0"/>
                <a:ea typeface="Arial" pitchFamily="34" charset="-122"/>
                <a:cs typeface="Arial" pitchFamily="34" charset="-120"/>
              </a:defRPr>
            </a:lvl1pPr>
          </a:lstStyle>
          <a:p>
            <a:pPr algn="l" indent="0" marL="0">
              <a:buNone/>
            </a:pPr>
            <a:r>
              <a:rPr lang="en-US" sz="1600" b="1" spc="-30" kern="0" dirty="0">
                <a:solidFill>
                  <a:srgbClr val="15181A"/>
                </a:solidFill>
                <a:latin typeface="Arial" pitchFamily="34" charset="0"/>
                <a:ea typeface="Arial" pitchFamily="34" charset="-122"/>
                <a:cs typeface="Arial" pitchFamily="34" charset="-120"/>
              </a:rPr>
              <a:t>Milestone</a:t>
            </a:r>
            <a:endParaRPr lang="en-US" sz="1600" dirty="0"/>
          </a:p>
        </p:txBody>
      </p:sp>
      <p:sp>
        <p:nvSpPr>
          <p:cNvPr id="25" name="Text 9"/>
          <p:cNvSpPr txBox="1"/>
          <p:nvPr>
            <p:ph idx="123" type="body" hasCustomPrompt="1"/>
          </p:nvPr>
        </p:nvSpPr>
        <p:spPr>
          <a:xfrm>
            <a:off x="9400032" y="3767328"/>
            <a:ext cx="2487168" cy="1645920"/>
          </a:xfrm>
          <a:prstGeom prst="rect">
            <a:avLst/>
          </a:prstGeom>
          <a:noFill/>
          <a:ln/>
        </p:spPr>
        <p:txBody>
          <a:bodyPr wrap="square" rtlCol="0"/>
          <a:lstStyle>
            <a:lvl1pPr algn="l" indent="0" marL="0">
              <a:buNone/>
              <a:defRPr lang="en-US" sz="1300" dirty="0">
                <a:solidFill>
                  <a:srgbClr val="5B6670"/>
                </a:solidFill>
                <a:latin typeface="Arial" pitchFamily="34" charset="0"/>
                <a:ea typeface="Arial" pitchFamily="34" charset="-122"/>
                <a:cs typeface="Arial" pitchFamily="34" charset="-120"/>
              </a:defRPr>
            </a:lvl1pPr>
          </a:lstStyle>
          <a:p>
            <a:pPr algn="l" indent="0" marL="0">
              <a:buNone/>
            </a:pPr>
            <a:r>
              <a:rPr lang="en-US" sz="1300" dirty="0">
                <a:solidFill>
                  <a:srgbClr val="5B6670"/>
                </a:solidFill>
                <a:latin typeface="Arial" pitchFamily="34" charset="0"/>
                <a:ea typeface="Arial" pitchFamily="34" charset="-122"/>
                <a:cs typeface="Arial" pitchFamily="34" charset="-120"/>
              </a:rPr>
              <a:t>What happens and who owns it.</a:t>
            </a:r>
            <a:endParaRPr lang="en-US" sz="1300" dirty="0"/>
          </a:p>
        </p:txBody>
      </p:sp>
      <p:sp>
        <p:nvSpPr>
          <p:cNvPr id="26" name="Text 9"/>
          <p:cNvSpPr txBox="1"/>
          <p:nvPr>
            <p:ph idx="12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2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1012</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KEY_MESS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10625328" y="6272784"/>
            <a:ext cx="1325880" cy="447932"/>
          </a:xfrm>
          <a:prstGeom prst="rect">
            <a:avLst/>
          </a:prstGeom>
        </p:spPr>
      </p:pic>
      <p:sp>
        <p:nvSpPr>
          <p:cNvPr id="3" name="Text 0"/>
          <p:cNvSpPr txBox="1"/>
          <p:nvPr>
            <p:ph idx="101" type="body" hasCustomPrompt="1"/>
          </p:nvPr>
        </p:nvSpPr>
        <p:spPr>
          <a:xfrm>
            <a:off x="1051560" y="2139696"/>
            <a:ext cx="822960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THE POINT</a:t>
            </a:r>
            <a:endParaRPr lang="en-US" sz="1100" dirty="0"/>
          </a:p>
        </p:txBody>
      </p:sp>
      <p:sp>
        <p:nvSpPr>
          <p:cNvPr id="4" name="Shape 0"/>
          <p:cNvSpPr/>
          <p:nvPr/>
        </p:nvSpPr>
        <p:spPr>
          <a:xfrm>
            <a:off x="1051560" y="2615184"/>
            <a:ext cx="777240" cy="50292"/>
          </a:xfrm>
          <a:prstGeom prst="rect">
            <a:avLst/>
          </a:prstGeom>
          <a:solidFill>
            <a:srgbClr val="F2A900"/>
          </a:solidFill>
          <a:ln/>
        </p:spPr>
      </p:sp>
      <p:sp>
        <p:nvSpPr>
          <p:cNvPr id="5" name="Text 1"/>
          <p:cNvSpPr txBox="1"/>
          <p:nvPr>
            <p:ph idx="103" type="title" hasCustomPrompt="1"/>
          </p:nvPr>
        </p:nvSpPr>
        <p:spPr>
          <a:xfrm>
            <a:off x="1051560" y="2944368"/>
            <a:ext cx="9966960" cy="1691640"/>
          </a:xfrm>
          <a:prstGeom prst="rect">
            <a:avLst/>
          </a:prstGeom>
          <a:noFill/>
          <a:ln/>
        </p:spPr>
        <p:txBody>
          <a:bodyPr wrap="square" rtlCol="0"/>
          <a:lstStyle>
            <a:lvl1pPr algn="l" indent="0" marL="0">
              <a:buNone/>
              <a:defRPr lang="en-US" sz="3600" b="1" spc="-70" kern="0" dirty="0">
                <a:solidFill>
                  <a:srgbClr val="FFFFFF"/>
                </a:solidFill>
                <a:latin typeface="Arial" pitchFamily="34" charset="0"/>
                <a:ea typeface="Arial" pitchFamily="34" charset="-122"/>
                <a:cs typeface="Arial" pitchFamily="34" charset="-120"/>
              </a:defRPr>
            </a:lvl1pPr>
          </a:lstStyle>
          <a:p>
            <a:pPr algn="l" indent="0" marL="0">
              <a:buNone/>
            </a:pPr>
            <a:r>
              <a:rPr lang="en-US" sz="3600" b="1" spc="-70" kern="0" dirty="0">
                <a:solidFill>
                  <a:srgbClr val="FFFFFF"/>
                </a:solidFill>
                <a:latin typeface="Arial" pitchFamily="34" charset="0"/>
                <a:ea typeface="Arial" pitchFamily="34" charset="-122"/>
                <a:cs typeface="Arial" pitchFamily="34" charset="-120"/>
              </a:rPr>
              <a:t>One sentence that carries the whole argument.</a:t>
            </a:r>
            <a:endParaRPr lang="en-US" sz="3600" dirty="0"/>
          </a:p>
        </p:txBody>
      </p:sp>
      <p:sp>
        <p:nvSpPr>
          <p:cNvPr id="6" name="Text 1"/>
          <p:cNvSpPr txBox="1"/>
          <p:nvPr>
            <p:ph idx="104" type="body" hasCustomPrompt="1"/>
          </p:nvPr>
        </p:nvSpPr>
        <p:spPr>
          <a:xfrm>
            <a:off x="1051560" y="4809744"/>
            <a:ext cx="8595360" cy="73152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Short support, or the ask.</a:t>
            </a:r>
            <a:endParaRPr lang="en-US" sz="1500"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NEXT_STEPS">
    <p:bg>
      <p:bgPr>
        <a:solidFill>
          <a:srgbClr val="FFFFFF"/>
        </a:solidFill>
        <a:effectLst/>
      </p:bgPr>
    </p:bg>
    <p:spTree>
      <p:nvGrpSpPr>
        <p:cNvPr id="1" name=""/>
        <p:cNvGrpSpPr/>
        <p:nvPr/>
      </p:nvGrpSpPr>
      <p:grpSpPr>
        <a:xfrm>
          <a:off x="0" y="0"/>
          <a:ext cx="0" cy="0"/>
          <a:chOff x="0" y="0"/>
          <a:chExt cx="0" cy="0"/>
        </a:xfrm>
      </p:grpSpPr>
      <p:sp>
        <p:nvSpPr>
          <p:cNvPr id="2" name="Text 0"/>
          <p:cNvSpPr txBox="1"/>
          <p:nvPr>
            <p:ph idx="100" type="body" hasCustomPrompt="1"/>
          </p:nvPr>
        </p:nvSpPr>
        <p:spPr>
          <a:xfrm>
            <a:off x="731520" y="548640"/>
            <a:ext cx="10728655" cy="237744"/>
          </a:xfrm>
          <a:prstGeom prst="rect">
            <a:avLst/>
          </a:prstGeom>
          <a:noFill/>
          <a:ln/>
        </p:spPr>
        <p:txBody>
          <a:bodyPr wrap="square" rtlCol="0"/>
          <a:lstStyle>
            <a:lvl1pPr algn="l" indent="0" marL="0">
              <a:buNone/>
              <a:defRPr lang="en-US" sz="1100" b="1" spc="300" kern="0" dirty="0">
                <a:solidFill>
                  <a:srgbClr val="3C7D4D"/>
                </a:solidFill>
                <a:latin typeface="Arial" pitchFamily="34" charset="0"/>
                <a:ea typeface="Arial" pitchFamily="34" charset="-122"/>
                <a:cs typeface="Arial" pitchFamily="34" charset="-120"/>
              </a:defRPr>
            </a:lvl1pPr>
          </a:lstStyle>
          <a:p>
            <a:pPr algn="l" indent="0" marL="0">
              <a:buNone/>
            </a:pPr>
            <a:r>
              <a:rPr lang="en-US" sz="1100" b="1" spc="300" kern="0" dirty="0">
                <a:solidFill>
                  <a:srgbClr val="3C7D4D"/>
                </a:solidFill>
                <a:latin typeface="Arial" pitchFamily="34" charset="0"/>
                <a:ea typeface="Arial" pitchFamily="34" charset="-122"/>
                <a:cs typeface="Arial" pitchFamily="34" charset="-120"/>
              </a:rPr>
              <a:t>CATEGORY</a:t>
            </a:r>
            <a:endParaRPr lang="en-US" sz="1100" dirty="0"/>
          </a:p>
        </p:txBody>
      </p:sp>
      <p:sp>
        <p:nvSpPr>
          <p:cNvPr id="3" name="Text 0"/>
          <p:cNvSpPr txBox="1"/>
          <p:nvPr>
            <p:ph idx="101" type="title" hasCustomPrompt="1"/>
          </p:nvPr>
        </p:nvSpPr>
        <p:spPr>
          <a:xfrm>
            <a:off x="731520" y="822960"/>
            <a:ext cx="10058400" cy="713232"/>
          </a:xfrm>
          <a:prstGeom prst="rect">
            <a:avLst/>
          </a:prstGeom>
          <a:noFill/>
          <a:ln/>
        </p:spPr>
        <p:txBody>
          <a:bodyPr wrap="square" rtlCol="0"/>
          <a:lstStyle>
            <a:lvl1pPr algn="l" indent="0" marL="0">
              <a:buNone/>
              <a:defRPr lang="en-US" sz="3400" b="1" spc="-60" kern="0" dirty="0">
                <a:solidFill>
                  <a:srgbClr val="15181A"/>
                </a:solidFill>
                <a:latin typeface="Arial" pitchFamily="34" charset="0"/>
                <a:ea typeface="Arial" pitchFamily="34" charset="-122"/>
                <a:cs typeface="Arial" pitchFamily="34" charset="-120"/>
              </a:defRPr>
            </a:lvl1pPr>
          </a:lstStyle>
          <a:p>
            <a:pPr algn="l" indent="0" marL="0">
              <a:buNone/>
            </a:pPr>
            <a:r>
              <a:rPr lang="en-US" sz="3400" b="1" spc="-60" kern="0" dirty="0">
                <a:solidFill>
                  <a:srgbClr val="15181A"/>
                </a:solidFill>
                <a:latin typeface="Arial" pitchFamily="34" charset="0"/>
                <a:ea typeface="Arial" pitchFamily="34" charset="-122"/>
                <a:cs typeface="Arial" pitchFamily="34" charset="-120"/>
              </a:rPr>
              <a:t>Next steps</a:t>
            </a:r>
            <a:endParaRPr lang="en-US" sz="3400" dirty="0"/>
          </a:p>
        </p:txBody>
      </p:sp>
      <p:sp>
        <p:nvSpPr>
          <p:cNvPr id="4" name="Text 0"/>
          <p:cNvSpPr txBox="1"/>
          <p:nvPr>
            <p:ph idx="102" type="body" hasCustomPrompt="1"/>
          </p:nvPr>
        </p:nvSpPr>
        <p:spPr>
          <a:xfrm>
            <a:off x="731520" y="1591056"/>
            <a:ext cx="10728655" cy="420624"/>
          </a:xfrm>
          <a:prstGeom prst="rect">
            <a:avLst/>
          </a:prstGeom>
          <a:noFill/>
          <a:ln/>
        </p:spPr>
        <p:txBody>
          <a:bodyPr wrap="square" rtlCol="0"/>
          <a:lstStyle>
            <a:lvl1pPr algn="l" indent="0" marL="0">
              <a:buNone/>
              <a:defRPr lang="en-US" sz="1600" b="1" dirty="0">
                <a:solidFill>
                  <a:srgbClr val="3C7D4D"/>
                </a:solidFill>
                <a:latin typeface="Arial" pitchFamily="34" charset="0"/>
                <a:ea typeface="Arial" pitchFamily="34" charset="-122"/>
                <a:cs typeface="Arial" pitchFamily="34" charset="-120"/>
              </a:defRPr>
            </a:lvl1pPr>
          </a:lstStyle>
          <a:p>
            <a:pPr algn="l" indent="0" marL="0">
              <a:buNone/>
            </a:pPr>
            <a:r>
              <a:rPr lang="en-US" sz="1600" b="1" dirty="0">
                <a:solidFill>
                  <a:srgbClr val="3C7D4D"/>
                </a:solidFill>
                <a:latin typeface="Arial" pitchFamily="34" charset="0"/>
                <a:ea typeface="Arial" pitchFamily="34" charset="-122"/>
                <a:cs typeface="Arial" pitchFamily="34" charset="-120"/>
              </a:rPr>
              <a:t>What we need decided today.</a:t>
            </a:r>
            <a:endParaRPr lang="en-US" sz="1600" dirty="0"/>
          </a:p>
        </p:txBody>
      </p:sp>
      <p:sp>
        <p:nvSpPr>
          <p:cNvPr id="5" name="Text 0"/>
          <p:cNvSpPr/>
          <p:nvPr>
            <p:ph idx="103" type="body" hasCustomPrompt="1"/>
          </p:nvPr>
        </p:nvSpPr>
        <p:spPr>
          <a:xfrm>
            <a:off x="731520" y="2121408"/>
            <a:ext cx="10728655" cy="3913632"/>
          </a:xfrm>
          <a:prstGeom prst="rect">
            <a:avLst/>
          </a:prstGeom>
          <a:noFill/>
          <a:ln/>
        </p:spPr>
        <p:txBody>
          <a:bodyPr wrap="square" rtlCol="0"/>
          <a:lstStyle>
            <a:lvl1pPr indent="0" marL="0">
              <a:buNone/>
              <a:defRPr lang="en-US" dirty="0"/>
            </a:lvl1pPr>
          </a:lstStyle>
          <a:p>
            <a:pPr indent="0" marL="0">
              <a:buNone/>
            </a:pPr>
            <a:r>
              <a:rPr lang="en-US" dirty="0">
                <a:solidFill>
                  <a:srgbClr val="000000"/>
                </a:solidFill>
              </a:rPr>
              <a:t> </a:t>
            </a:r>
            <a:endParaRPr lang="en-US" dirty="0"/>
          </a:p>
        </p:txBody>
      </p:sp>
      <p:sp>
        <p:nvSpPr>
          <p:cNvPr id="6" name="Text 0"/>
          <p:cNvSpPr txBox="1"/>
          <p:nvPr>
            <p:ph idx="104" type="body" hasCustomPrompt="1"/>
          </p:nvPr>
        </p:nvSpPr>
        <p:spPr>
          <a:xfrm>
            <a:off x="731520" y="6364224"/>
            <a:ext cx="7863840" cy="237744"/>
          </a:xfrm>
          <a:prstGeom prst="rect">
            <a:avLst/>
          </a:prstGeom>
          <a:noFill/>
          <a:ln/>
        </p:spPr>
        <p:txBody>
          <a:bodyPr wrap="square" rtlCol="0"/>
          <a:lstStyle>
            <a:lvl1pPr algn="l" indent="0" marL="0">
              <a:buNone/>
              <a:defRPr lang="en-US" sz="900" dirty="0">
                <a:solidFill>
                  <a:srgbClr val="5B6670"/>
                </a:solidFill>
                <a:latin typeface="Arial" pitchFamily="34" charset="0"/>
                <a:ea typeface="Arial" pitchFamily="34" charset="-122"/>
                <a:cs typeface="Arial" pitchFamily="34" charset="-120"/>
              </a:defRPr>
            </a:lvl1pPr>
          </a:lstStyle>
          <a:p>
            <a:pPr algn="l" indent="0" marL="0">
              <a:buNone/>
            </a:pPr>
            <a:r>
              <a:rPr lang="en-US" sz="900" dirty="0">
                <a:solidFill>
                  <a:srgbClr val="5B6670"/>
                </a:solidFill>
                <a:latin typeface="Arial" pitchFamily="34" charset="0"/>
                <a:ea typeface="Arial" pitchFamily="34" charset="-122"/>
                <a:cs typeface="Arial" pitchFamily="34" charset="-120"/>
              </a:rPr>
              <a:t>Source: </a:t>
            </a:r>
            <a:endParaRPr lang="en-US" sz="900" dirty="0"/>
          </a:p>
        </p:txBody>
      </p:sp>
      <p:pic>
        <p:nvPicPr>
          <p:cNvPr id="7" name="Image 0" descr="brand/logo_h.png">    </p:cNvPr>
          <p:cNvPicPr>
            <a:picLocks noChangeAspect="1"/>
          </p:cNvPicPr>
          <p:nvPr/>
        </p:nvPicPr>
        <p:blipFill>
          <a:blip r:embed="rId1"/>
          <a:stretch>
            <a:fillRect/>
          </a:stretch>
        </p:blipFill>
        <p:spPr>
          <a:xfrm>
            <a:off x="10625328" y="6272784"/>
            <a:ext cx="1325880" cy="447932"/>
          </a:xfrm>
          <a:prstGeom prst="rect">
            <a:avLst/>
          </a:prstGeom>
        </p:spPr>
      </p:pic>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1014</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LOS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brand/logo_h_rev.png">    </p:cNvPr>
          <p:cNvPicPr>
            <a:picLocks noChangeAspect="1"/>
          </p:cNvPicPr>
          <p:nvPr/>
        </p:nvPicPr>
        <p:blipFill>
          <a:blip r:embed="rId1"/>
          <a:stretch>
            <a:fillRect/>
          </a:stretch>
        </p:blipFill>
        <p:spPr>
          <a:xfrm>
            <a:off x="731520" y="694944"/>
            <a:ext cx="2377440" cy="803189"/>
          </a:xfrm>
          <a:prstGeom prst="rect">
            <a:avLst/>
          </a:prstGeom>
        </p:spPr>
      </p:pic>
      <p:sp>
        <p:nvSpPr>
          <p:cNvPr id="3" name="Shape 0"/>
          <p:cNvSpPr/>
          <p:nvPr/>
        </p:nvSpPr>
        <p:spPr>
          <a:xfrm>
            <a:off x="731520" y="3054096"/>
            <a:ext cx="777240" cy="50292"/>
          </a:xfrm>
          <a:prstGeom prst="rect">
            <a:avLst/>
          </a:prstGeom>
          <a:solidFill>
            <a:srgbClr val="F2A900"/>
          </a:solidFill>
          <a:ln/>
        </p:spPr>
      </p:sp>
      <p:sp>
        <p:nvSpPr>
          <p:cNvPr id="4" name="Text 1"/>
          <p:cNvSpPr txBox="1"/>
          <p:nvPr>
            <p:ph idx="102" type="title" hasCustomPrompt="1"/>
          </p:nvPr>
        </p:nvSpPr>
        <p:spPr>
          <a:xfrm>
            <a:off x="731520" y="3364992"/>
            <a:ext cx="6949440" cy="896112"/>
          </a:xfrm>
          <a:prstGeom prst="rect">
            <a:avLst/>
          </a:prstGeom>
          <a:noFill/>
          <a:ln/>
        </p:spPr>
        <p:txBody>
          <a:bodyPr wrap="square" rtlCol="0"/>
          <a:lstStyle>
            <a:lvl1pPr algn="l" indent="0" marL="0">
              <a:buNone/>
              <a:defRPr lang="en-US" sz="3600" b="1" spc="-70" kern="0" dirty="0">
                <a:solidFill>
                  <a:srgbClr val="FFFFFF"/>
                </a:solidFill>
                <a:latin typeface="Arial" pitchFamily="34" charset="0"/>
                <a:ea typeface="Arial" pitchFamily="34" charset="-122"/>
                <a:cs typeface="Arial" pitchFamily="34" charset="-120"/>
              </a:defRPr>
            </a:lvl1pPr>
          </a:lstStyle>
          <a:p>
            <a:pPr algn="l" indent="0" marL="0">
              <a:buNone/>
            </a:pPr>
            <a:r>
              <a:rPr lang="en-US" sz="3600" b="1" spc="-70" kern="0" dirty="0">
                <a:solidFill>
                  <a:srgbClr val="FFFFFF"/>
                </a:solidFill>
                <a:latin typeface="Arial" pitchFamily="34" charset="0"/>
                <a:ea typeface="Arial" pitchFamily="34" charset="-122"/>
                <a:cs typeface="Arial" pitchFamily="34" charset="-120"/>
              </a:rPr>
              <a:t>What we decided</a:t>
            </a:r>
            <a:endParaRPr lang="en-US" sz="3600" dirty="0"/>
          </a:p>
        </p:txBody>
      </p:sp>
      <p:sp>
        <p:nvSpPr>
          <p:cNvPr id="5" name="Text 1"/>
          <p:cNvSpPr txBox="1"/>
          <p:nvPr>
            <p:ph idx="103" type="body" hasCustomPrompt="1"/>
          </p:nvPr>
        </p:nvSpPr>
        <p:spPr>
          <a:xfrm>
            <a:off x="731520" y="4334256"/>
            <a:ext cx="6949440" cy="1188720"/>
          </a:xfrm>
          <a:prstGeom prst="rect">
            <a:avLst/>
          </a:prstGeom>
          <a:noFill/>
          <a:ln/>
        </p:spPr>
        <p:txBody>
          <a:bodyPr wrap="square" rtlCol="0"/>
          <a:lstStyle>
            <a:lvl1pPr algn="l" indent="0" marL="0">
              <a:buNone/>
              <a:defRPr lang="en-US" sz="1500" dirty="0">
                <a:solidFill>
                  <a:srgbClr val="E4EFE8"/>
                </a:solidFill>
                <a:latin typeface="Arial" pitchFamily="34" charset="0"/>
                <a:ea typeface="Arial" pitchFamily="34" charset="-122"/>
                <a:cs typeface="Arial" pitchFamily="34" charset="-120"/>
              </a:defRPr>
            </a:lvl1pPr>
          </a:lstStyle>
          <a:p>
            <a:pPr algn="l" indent="0" marL="0">
              <a:buNone/>
            </a:pPr>
            <a:r>
              <a:rPr lang="en-US" sz="1500" dirty="0">
                <a:solidFill>
                  <a:srgbClr val="E4EFE8"/>
                </a:solidFill>
                <a:latin typeface="Arial" pitchFamily="34" charset="0"/>
                <a:ea typeface="Arial" pitchFamily="34" charset="-122"/>
                <a:cs typeface="Arial" pitchFamily="34" charset="-120"/>
              </a:rPr>
              <a:t>Decision, owner, and date.</a:t>
            </a:r>
            <a:endParaRPr lang="en-US" sz="1500" dirty="0"/>
          </a:p>
        </p:txBody>
      </p:sp>
      <p:sp>
        <p:nvSpPr>
          <p:cNvPr id="6" name="Text 1"/>
          <p:cNvSpPr txBox="1"/>
          <p:nvPr>
            <p:ph idx="104" type="body" hasCustomPrompt="1"/>
          </p:nvPr>
        </p:nvSpPr>
        <p:spPr>
          <a:xfrm>
            <a:off x="731520" y="5961888"/>
            <a:ext cx="694944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Name  |  Title  |  email@steelking.com</a:t>
            </a:r>
            <a:endParaRPr lang="en-US" sz="1150"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VER_MASCOT">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brand/logo_knight.png">    </p:cNvPr>
          <p:cNvPicPr>
            <a:picLocks noChangeAspect="1"/>
          </p:cNvPicPr>
          <p:nvPr/>
        </p:nvPicPr>
        <p:blipFill>
          <a:blip r:embed="rId1"/>
          <a:stretch>
            <a:fillRect/>
          </a:stretch>
        </p:blipFill>
        <p:spPr>
          <a:xfrm>
            <a:off x="7863840" y="1481328"/>
            <a:ext cx="3658880" cy="5212080"/>
          </a:xfrm>
          <a:prstGeom prst="rect">
            <a:avLst/>
          </a:prstGeom>
        </p:spPr>
      </p:pic>
      <p:pic>
        <p:nvPicPr>
          <p:cNvPr id="3" name="Image 1" descr="brand/logo_h_rev.png">    </p:cNvPr>
          <p:cNvPicPr>
            <a:picLocks noChangeAspect="1"/>
          </p:cNvPicPr>
          <p:nvPr/>
        </p:nvPicPr>
        <p:blipFill>
          <a:blip r:embed="rId2"/>
          <a:stretch>
            <a:fillRect/>
          </a:stretch>
        </p:blipFill>
        <p:spPr>
          <a:xfrm>
            <a:off x="731520" y="658368"/>
            <a:ext cx="2377440" cy="803189"/>
          </a:xfrm>
          <a:prstGeom prst="rect">
            <a:avLst/>
          </a:prstGeom>
        </p:spPr>
      </p:pic>
      <p:sp>
        <p:nvSpPr>
          <p:cNvPr id="4" name="Text 0"/>
          <p:cNvSpPr txBox="1"/>
          <p:nvPr>
            <p:ph idx="102" type="body" hasCustomPrompt="1"/>
          </p:nvPr>
        </p:nvSpPr>
        <p:spPr>
          <a:xfrm>
            <a:off x="731520" y="2395728"/>
            <a:ext cx="6583680" cy="274320"/>
          </a:xfrm>
          <a:prstGeom prst="rect">
            <a:avLst/>
          </a:prstGeom>
          <a:noFill/>
          <a:ln/>
        </p:spPr>
        <p:txBody>
          <a:bodyPr wrap="square" rtlCol="0"/>
          <a:lstStyle>
            <a:lvl1pPr algn="l" indent="0" marL="0">
              <a:buNone/>
              <a:defRPr lang="en-US" sz="1100" b="1" spc="340" kern="0" dirty="0">
                <a:solidFill>
                  <a:srgbClr val="A9D9BF"/>
                </a:solidFill>
                <a:latin typeface="Arial" pitchFamily="34" charset="0"/>
                <a:ea typeface="Arial" pitchFamily="34" charset="-122"/>
                <a:cs typeface="Arial" pitchFamily="34" charset="-120"/>
              </a:defRPr>
            </a:lvl1pPr>
          </a:lstStyle>
          <a:p>
            <a:pPr algn="l" indent="0" marL="0">
              <a:buNone/>
            </a:pPr>
            <a:r>
              <a:rPr lang="en-US" sz="1100" b="1" spc="340" kern="0" dirty="0">
                <a:solidFill>
                  <a:srgbClr val="A9D9BF"/>
                </a:solidFill>
                <a:latin typeface="Arial" pitchFamily="34" charset="0"/>
                <a:ea typeface="Arial" pitchFamily="34" charset="-122"/>
                <a:cs typeface="Arial" pitchFamily="34" charset="-120"/>
              </a:rPr>
              <a:t>DEALER MEETING</a:t>
            </a:r>
            <a:endParaRPr lang="en-US" sz="1100" dirty="0"/>
          </a:p>
        </p:txBody>
      </p:sp>
      <p:sp>
        <p:nvSpPr>
          <p:cNvPr id="5" name="Shape 0"/>
          <p:cNvSpPr/>
          <p:nvPr/>
        </p:nvSpPr>
        <p:spPr>
          <a:xfrm>
            <a:off x="731520" y="2871216"/>
            <a:ext cx="777240" cy="50292"/>
          </a:xfrm>
          <a:prstGeom prst="rect">
            <a:avLst/>
          </a:prstGeom>
          <a:solidFill>
            <a:srgbClr val="F2A900"/>
          </a:solidFill>
          <a:ln/>
        </p:spPr>
      </p:sp>
      <p:sp>
        <p:nvSpPr>
          <p:cNvPr id="6" name="Text 1"/>
          <p:cNvSpPr txBox="1"/>
          <p:nvPr>
            <p:ph idx="104" type="title" hasCustomPrompt="1"/>
          </p:nvPr>
        </p:nvSpPr>
        <p:spPr>
          <a:xfrm>
            <a:off x="731520" y="3200400"/>
            <a:ext cx="6583680" cy="1627632"/>
          </a:xfrm>
          <a:prstGeom prst="rect">
            <a:avLst/>
          </a:prstGeom>
          <a:noFill/>
          <a:ln/>
        </p:spPr>
        <p:txBody>
          <a:bodyPr wrap="square" rtlCol="0"/>
          <a:lstStyle>
            <a:lvl1pPr algn="l" indent="0" marL="0">
              <a:buNone/>
              <a:defRPr lang="en-US" sz="4400" b="1" spc="-100" kern="0" dirty="0">
                <a:solidFill>
                  <a:srgbClr val="FFFFFF"/>
                </a:solidFill>
                <a:latin typeface="Arial" pitchFamily="34" charset="0"/>
                <a:ea typeface="Arial" pitchFamily="34" charset="-122"/>
                <a:cs typeface="Arial" pitchFamily="34" charset="-120"/>
              </a:defRPr>
            </a:lvl1pPr>
          </a:lstStyle>
          <a:p>
            <a:pPr algn="l" indent="0" marL="0">
              <a:buNone/>
            </a:pPr>
            <a:r>
              <a:rPr lang="en-US" sz="4400" b="1" spc="-100" kern="0" dirty="0">
                <a:solidFill>
                  <a:srgbClr val="FFFFFF"/>
                </a:solidFill>
                <a:latin typeface="Arial" pitchFamily="34" charset="0"/>
                <a:ea typeface="Arial" pitchFamily="34" charset="-122"/>
                <a:cs typeface="Arial" pitchFamily="34" charset="-120"/>
              </a:rPr>
              <a:t>Presentation title</a:t>
            </a:r>
            <a:endParaRPr lang="en-US" sz="4400" dirty="0"/>
          </a:p>
        </p:txBody>
      </p:sp>
      <p:sp>
        <p:nvSpPr>
          <p:cNvPr id="7" name="Text 1"/>
          <p:cNvSpPr txBox="1"/>
          <p:nvPr>
            <p:ph idx="105" type="body" hasCustomPrompt="1"/>
          </p:nvPr>
        </p:nvSpPr>
        <p:spPr>
          <a:xfrm>
            <a:off x="731520" y="4956048"/>
            <a:ext cx="6583680" cy="502920"/>
          </a:xfrm>
          <a:prstGeom prst="rect">
            <a:avLst/>
          </a:prstGeom>
          <a:noFill/>
          <a:ln/>
        </p:spPr>
        <p:txBody>
          <a:bodyPr wrap="square" rtlCol="0"/>
          <a:lstStyle>
            <a:lvl1pPr algn="l" indent="0" marL="0">
              <a:buNone/>
              <a:defRPr lang="en-US" sz="1700" dirty="0">
                <a:solidFill>
                  <a:srgbClr val="E4EFE8"/>
                </a:solidFill>
                <a:latin typeface="Arial" pitchFamily="34" charset="0"/>
                <a:ea typeface="Arial" pitchFamily="34" charset="-122"/>
                <a:cs typeface="Arial" pitchFamily="34" charset="-120"/>
              </a:defRPr>
            </a:lvl1pPr>
          </a:lstStyle>
          <a:p>
            <a:pPr algn="l" indent="0" marL="0">
              <a:buNone/>
            </a:pPr>
            <a:r>
              <a:rPr lang="en-US" sz="1700" dirty="0">
                <a:solidFill>
                  <a:srgbClr val="E4EFE8"/>
                </a:solidFill>
                <a:latin typeface="Arial" pitchFamily="34" charset="0"/>
                <a:ea typeface="Arial" pitchFamily="34" charset="-122"/>
                <a:cs typeface="Arial" pitchFamily="34" charset="-120"/>
              </a:rPr>
              <a:t>One line on what this deck argues</a:t>
            </a:r>
            <a:endParaRPr lang="en-US" sz="1700" dirty="0"/>
          </a:p>
        </p:txBody>
      </p:sp>
      <p:sp>
        <p:nvSpPr>
          <p:cNvPr id="8" name="Text 1"/>
          <p:cNvSpPr txBox="1"/>
          <p:nvPr>
            <p:ph idx="106" type="body" hasCustomPrompt="1"/>
          </p:nvPr>
        </p:nvSpPr>
        <p:spPr>
          <a:xfrm>
            <a:off x="731520" y="5998464"/>
            <a:ext cx="6583680" cy="310896"/>
          </a:xfrm>
          <a:prstGeom prst="rect">
            <a:avLst/>
          </a:prstGeom>
          <a:noFill/>
          <a:ln/>
        </p:spPr>
        <p:txBody>
          <a:bodyPr wrap="square" rtlCol="0"/>
          <a:lstStyle>
            <a:lvl1pPr algn="l" indent="0" marL="0">
              <a:buNone/>
              <a:defRPr lang="en-US" sz="1150" spc="80" kern="0" dirty="0">
                <a:solidFill>
                  <a:srgbClr val="C3DACB"/>
                </a:solidFill>
                <a:latin typeface="Arial" pitchFamily="34" charset="0"/>
                <a:ea typeface="Arial" pitchFamily="34" charset="-122"/>
                <a:cs typeface="Arial" pitchFamily="34" charset="-120"/>
              </a:defRPr>
            </a:lvl1pPr>
          </a:lstStyle>
          <a:p>
            <a:pPr algn="l" indent="0" marL="0">
              <a:buNone/>
            </a:pPr>
            <a:r>
              <a:rPr lang="en-US" sz="1150" spc="80" kern="0" dirty="0">
                <a:solidFill>
                  <a:srgbClr val="C3DACB"/>
                </a:solidFill>
                <a:latin typeface="Arial" pitchFamily="34" charset="0"/>
                <a:ea typeface="Arial" pitchFamily="34" charset="-122"/>
                <a:cs typeface="Arial" pitchFamily="34" charset="-120"/>
              </a:rPr>
              <a:t>Presenter  |  Audience  |  Month Year</a:t>
            </a:r>
            <a:endParaRPr lang="en-US" sz="115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555480" y="6364224"/>
            <a:ext cx="8229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670"/>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2"/>
          </p:nvPr>
        </p:nvSpPr>
        <p:spPr/>
        <p:txBody>
          <a:bodyPr/>
          <a:lstStyle/>
          <a:p>
            <a:r>
              <a:t>SALES MEETING  ·  TERRITORY REVIEW</a:t>
            </a:r>
          </a:p>
        </p:txBody>
      </p:sp>
      <p:sp>
        <p:nvSpPr>
          <p:cNvPr id="3" name="Title 2"/>
          <p:cNvSpPr>
            <a:spLocks noGrp="1"/>
          </p:cNvSpPr>
          <p:nvPr>
            <p:ph type="title" idx="104"/>
          </p:nvPr>
        </p:nvSpPr>
        <p:spPr/>
        <p:txBody>
          <a:bodyPr/>
          <a:lstStyle/>
          <a:p>
            <a:r>
              <a:t>[Territory name]</a:t>
            </a:r>
          </a:p>
        </p:txBody>
      </p:sp>
      <p:sp>
        <p:nvSpPr>
          <p:cNvPr id="4" name="Text Placeholder 3"/>
          <p:cNvSpPr>
            <a:spLocks noGrp="1"/>
          </p:cNvSpPr>
          <p:nvPr>
            <p:ph type="body" idx="105"/>
          </p:nvPr>
        </p:nvSpPr>
        <p:spPr/>
        <p:txBody>
          <a:bodyPr/>
          <a:lstStyle/>
          <a:p>
            <a:r>
              <a:t>The territory the way I see it. Who matters, where we win, where we lose, what would help.</a:t>
            </a:r>
          </a:p>
        </p:txBody>
      </p:sp>
      <p:sp>
        <p:nvSpPr>
          <p:cNvPr id="5" name="Text Placeholder 4"/>
          <p:cNvSpPr>
            <a:spLocks noGrp="1"/>
          </p:cNvSpPr>
          <p:nvPr>
            <p:ph type="body" idx="106"/>
          </p:nvPr>
        </p:nvSpPr>
        <p:spPr/>
        <p:txBody>
          <a:bodyPr/>
          <a:lstStyle/>
          <a:p>
            <a:r>
              <a:t>[Your name]  |  Sales Meeting  |  [Month]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1 OF 6  ·  BY THE NUMBERS</a:t>
            </a:r>
          </a:p>
        </p:txBody>
      </p:sp>
      <p:sp>
        <p:nvSpPr>
          <p:cNvPr id="3" name="Title 2"/>
          <p:cNvSpPr>
            <a:spLocks noGrp="1"/>
          </p:cNvSpPr>
          <p:nvPr>
            <p:ph type="title" idx="101"/>
          </p:nvPr>
        </p:nvSpPr>
        <p:spPr/>
        <p:txBody>
          <a:bodyPr/>
          <a:lstStyle/>
          <a:p>
            <a:r>
              <a:t>[Territory] in numbers</a:t>
            </a:r>
          </a:p>
        </p:txBody>
      </p:sp>
      <p:sp>
        <p:nvSpPr>
          <p:cNvPr id="4" name="Text Placeholder 3"/>
          <p:cNvSpPr>
            <a:spLocks noGrp="1"/>
          </p:cNvSpPr>
          <p:nvPr>
            <p:ph type="body" idx="102"/>
          </p:nvPr>
        </p:nvSpPr>
        <p:spPr/>
        <p:txBody>
          <a:bodyPr/>
          <a:lstStyle/>
          <a:p>
            <a:r>
              <a:t>[One line on what the numbers say. The story starts here.]</a:t>
            </a:r>
          </a:p>
        </p:txBody>
      </p:sp>
      <p:sp>
        <p:nvSpPr>
          <p:cNvPr id="6" name="Text Placeholder 5"/>
          <p:cNvSpPr>
            <a:spLocks noGrp="1"/>
          </p:cNvSpPr>
          <p:nvPr>
            <p:ph type="body" idx="104"/>
          </p:nvPr>
        </p:nvSpPr>
        <p:spPr/>
        <p:txBody>
          <a:bodyPr/>
          <a:lstStyle/>
          <a:p>
            <a:r>
              <a:t>Source: [system], pulled [date]. Hit rate is bookings divided by quotes. Lead time is the average we quoted that quarter.</a:t>
            </a:r>
          </a:p>
        </p:txBody>
      </p:sp>
      <p:sp>
        <p:nvSpPr>
          <p:cNvPr id="7" name="TextBox 6"/>
          <p:cNvSpPr txBox="1"/>
          <p:nvPr/>
        </p:nvSpPr>
        <p:spPr>
          <a:xfrm>
            <a:off x="731520" y="2121408"/>
            <a:ext cx="5120640" cy="237744"/>
          </a:xfrm>
          <a:prstGeom prst="rect">
            <a:avLst/>
          </a:prstGeom>
          <a:noFill/>
        </p:spPr>
        <p:txBody>
          <a:bodyPr wrap="square" anchor="t" lIns="0" rIns="0" tIns="0" bIns="0">
            <a:noAutofit/>
          </a:bodyPr>
          <a:lstStyle/>
          <a:p>
            <a:r>
              <a:rPr sz="1100" b="1">
                <a:solidFill>
                  <a:srgbClr val="3C7D4D"/>
                </a:solidFill>
                <a:latin typeface="Arial"/>
              </a:rPr>
              <a:t>BY QUARTER  ·  PRE-FILLED</a:t>
            </a:r>
          </a:p>
        </p:txBody>
      </p:sp>
      <p:graphicFrame>
        <p:nvGraphicFramePr>
          <p:cNvPr id="8" name="Table 7"/>
          <p:cNvGraphicFramePr>
            <a:graphicFrameLocks noGrp="1"/>
          </p:cNvGraphicFramePr>
          <p:nvPr/>
        </p:nvGraphicFramePr>
        <p:xfrm>
          <a:off x="731520" y="2377440"/>
          <a:ext cx="5120640" cy="1335024"/>
        </p:xfrm>
        <a:graphic>
          <a:graphicData uri="http://schemas.openxmlformats.org/drawingml/2006/table">
            <a:tbl>
              <a:tblPr firstRow="0" bandRow="0"/>
              <a:tblGrid>
                <a:gridCol w="1005840"/>
                <a:gridCol w="1005840"/>
                <a:gridCol w="1005840"/>
                <a:gridCol w="868680"/>
                <a:gridCol w="1234440"/>
              </a:tblGrid>
              <a:tr h="274320">
                <a:tc>
                  <a:txBody>
                    <a:bodyPr/>
                    <a:lstStyle/>
                    <a:p>
                      <a:r>
                        <a:rPr sz="1000" b="1">
                          <a:solidFill>
                            <a:srgbClr val="FFFFFF"/>
                          </a:solidFill>
                          <a:latin typeface="Arial"/>
                        </a:rPr>
                        <a:t>Quarter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Bookings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Quotes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Hit rate</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Quoted lead time</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65176">
                <a:tc>
                  <a:txBody>
                    <a:bodyPr/>
                    <a:lstStyle/>
                    <a:p>
                      <a:r>
                        <a:rPr sz="1000" b="1">
                          <a:solidFill>
                            <a:srgbClr val="15181A"/>
                          </a:solidFill>
                          <a:latin typeface="Arial"/>
                        </a:rPr>
                        <a:t>Q4 2025</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Q1 2026</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Q2 2026</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Q3 2026</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9" name="TextBox 8"/>
          <p:cNvSpPr txBox="1"/>
          <p:nvPr/>
        </p:nvSpPr>
        <p:spPr>
          <a:xfrm>
            <a:off x="731520" y="3931920"/>
            <a:ext cx="5120640" cy="237744"/>
          </a:xfrm>
          <a:prstGeom prst="rect">
            <a:avLst/>
          </a:prstGeom>
          <a:noFill/>
        </p:spPr>
        <p:txBody>
          <a:bodyPr wrap="square" anchor="t" lIns="0" rIns="0" tIns="0" bIns="0">
            <a:noAutofit/>
          </a:bodyPr>
          <a:lstStyle/>
          <a:p>
            <a:r>
              <a:rPr sz="1100" b="1">
                <a:solidFill>
                  <a:srgbClr val="3C7D4D"/>
                </a:solidFill>
                <a:latin typeface="Arial"/>
              </a:rPr>
              <a:t>WHAT THE NUMBERS DON'T SHOW  ·  YOU FILL THIS IN</a:t>
            </a:r>
          </a:p>
        </p:txBody>
      </p:sp>
      <p:sp>
        <p:nvSpPr>
          <p:cNvPr id="10" name="TextBox 9"/>
          <p:cNvSpPr txBox="1"/>
          <p:nvPr/>
        </p:nvSpPr>
        <p:spPr>
          <a:xfrm>
            <a:off x="731520" y="4187952"/>
            <a:ext cx="5120640" cy="1847088"/>
          </a:xfrm>
          <a:prstGeom prst="rect">
            <a:avLst/>
          </a:prstGeom>
          <a:solidFill>
            <a:srgbClr val="F2F5F2"/>
          </a:solidFill>
        </p:spPr>
        <p:txBody>
          <a:bodyPr wrap="square" anchor="t" tIns="54864" bIns="54864">
            <a:noAutofit/>
          </a:bodyPr>
          <a:lstStyle/>
          <a:p>
            <a:r>
              <a:rPr sz="1200" b="0">
                <a:solidFill>
                  <a:srgbClr val="5B6670"/>
                </a:solidFill>
                <a:latin typeface="Arial"/>
              </a:rPr>
              <a:t>[Two or three sentences. What is happening in the territory that bookings and quotes don't capture. A dealer in transition, a job that slipped a quarter, a competitor that showed up, a plant issue that cost you.]</a:t>
            </a:r>
          </a:p>
        </p:txBody>
      </p:sp>
      <p:sp>
        <p:nvSpPr>
          <p:cNvPr id="11" name="TextBox 10"/>
          <p:cNvSpPr txBox="1"/>
          <p:nvPr/>
        </p:nvSpPr>
        <p:spPr>
          <a:xfrm>
            <a:off x="6519672" y="2121408"/>
            <a:ext cx="4937760" cy="237744"/>
          </a:xfrm>
          <a:prstGeom prst="rect">
            <a:avLst/>
          </a:prstGeom>
          <a:noFill/>
        </p:spPr>
        <p:txBody>
          <a:bodyPr wrap="square" anchor="t" lIns="0" rIns="0" tIns="0" bIns="0">
            <a:noAutofit/>
          </a:bodyPr>
          <a:lstStyle/>
          <a:p>
            <a:r>
              <a:rPr sz="1100" b="1">
                <a:solidFill>
                  <a:srgbClr val="3C7D4D"/>
                </a:solidFill>
                <a:latin typeface="Arial"/>
              </a:rPr>
              <a:t>TOP ACCOUNTS, YTD BOOKINGS  ·  PRE-FILLED</a:t>
            </a:r>
          </a:p>
        </p:txBody>
      </p:sp>
      <p:graphicFrame>
        <p:nvGraphicFramePr>
          <p:cNvPr id="12" name="Table 11"/>
          <p:cNvGraphicFramePr>
            <a:graphicFrameLocks noGrp="1"/>
          </p:cNvGraphicFramePr>
          <p:nvPr/>
        </p:nvGraphicFramePr>
        <p:xfrm>
          <a:off x="6519672" y="2377440"/>
          <a:ext cx="4937760" cy="1591056"/>
        </p:xfrm>
        <a:graphic>
          <a:graphicData uri="http://schemas.openxmlformats.org/drawingml/2006/table">
            <a:tbl>
              <a:tblPr firstRow="0" bandRow="0"/>
              <a:tblGrid>
                <a:gridCol w="3108960"/>
                <a:gridCol w="1828800"/>
              </a:tblGrid>
              <a:tr h="265176">
                <a:tc>
                  <a:txBody>
                    <a:bodyPr/>
                    <a:lstStyle/>
                    <a:p>
                      <a:r>
                        <a:rPr sz="1000" b="1">
                          <a:solidFill>
                            <a:srgbClr val="FFFFFF"/>
                          </a:solidFill>
                          <a:latin typeface="Arial"/>
                        </a:rPr>
                        <a:t>Account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YTD bookings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65176">
                <a:tc>
                  <a:txBody>
                    <a:bodyPr/>
                    <a:lstStyle/>
                    <a:p>
                      <a:r>
                        <a:rPr sz="1000" b="1">
                          <a:solidFill>
                            <a:srgbClr val="15181A"/>
                          </a:solidFill>
                          <a:latin typeface="Arial"/>
                        </a:rPr>
                        <a:t>1.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2.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3.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4.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5.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
        <p:nvSpPr>
          <p:cNvPr id="13" name="TextBox 12"/>
          <p:cNvSpPr txBox="1"/>
          <p:nvPr/>
        </p:nvSpPr>
        <p:spPr>
          <a:xfrm>
            <a:off x="6519672" y="4096512"/>
            <a:ext cx="4937760" cy="237744"/>
          </a:xfrm>
          <a:prstGeom prst="rect">
            <a:avLst/>
          </a:prstGeom>
          <a:noFill/>
        </p:spPr>
        <p:txBody>
          <a:bodyPr wrap="square" anchor="t" lIns="0" rIns="0" tIns="0" bIns="0">
            <a:noAutofit/>
          </a:bodyPr>
          <a:lstStyle/>
          <a:p>
            <a:r>
              <a:rPr sz="1100" b="1">
                <a:solidFill>
                  <a:srgbClr val="3C7D4D"/>
                </a:solidFill>
                <a:latin typeface="Arial"/>
              </a:rPr>
              <a:t>EXCALIBUR DEALERS, YTD BOOKINGS  ·  PRE-FILLED</a:t>
            </a:r>
          </a:p>
        </p:txBody>
      </p:sp>
      <p:graphicFrame>
        <p:nvGraphicFramePr>
          <p:cNvPr id="14" name="Table 13"/>
          <p:cNvGraphicFramePr>
            <a:graphicFrameLocks noGrp="1"/>
          </p:cNvGraphicFramePr>
          <p:nvPr/>
        </p:nvGraphicFramePr>
        <p:xfrm>
          <a:off x="6519672" y="4352544"/>
          <a:ext cx="4937760" cy="1060704"/>
        </p:xfrm>
        <a:graphic>
          <a:graphicData uri="http://schemas.openxmlformats.org/drawingml/2006/table">
            <a:tbl>
              <a:tblPr firstRow="0" bandRow="0"/>
              <a:tblGrid>
                <a:gridCol w="3108960"/>
                <a:gridCol w="1828800"/>
              </a:tblGrid>
              <a:tr h="265176">
                <a:tc>
                  <a:txBody>
                    <a:bodyPr/>
                    <a:lstStyle/>
                    <a:p>
                      <a:r>
                        <a:rPr sz="1000" b="1">
                          <a:solidFill>
                            <a:srgbClr val="FFFFFF"/>
                          </a:solidFill>
                          <a:latin typeface="Arial"/>
                        </a:rPr>
                        <a:t>Dealer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000" b="1">
                          <a:solidFill>
                            <a:srgbClr val="FFFFFF"/>
                          </a:solidFill>
                          <a:latin typeface="Arial"/>
                        </a:rPr>
                        <a:t>YTD bookings</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265176">
                <a:tc>
                  <a:txBody>
                    <a:bodyPr/>
                    <a:lstStyle/>
                    <a:p>
                      <a:r>
                        <a:rPr sz="1000" b="1">
                          <a:solidFill>
                            <a:srgbClr val="15181A"/>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265176">
                <a:tc>
                  <a:txBody>
                    <a:bodyPr/>
                    <a:lstStyle/>
                    <a:p>
                      <a:r>
                        <a:rPr sz="1000" b="1">
                          <a:solidFill>
                            <a:srgbClr val="15181A"/>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0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2 OF 6  ·  DEALERS</a:t>
            </a:r>
          </a:p>
        </p:txBody>
      </p:sp>
      <p:sp>
        <p:nvSpPr>
          <p:cNvPr id="3" name="Title 2"/>
          <p:cNvSpPr>
            <a:spLocks noGrp="1"/>
          </p:cNvSpPr>
          <p:nvPr>
            <p:ph type="title" idx="101"/>
          </p:nvPr>
        </p:nvSpPr>
        <p:spPr/>
        <p:txBody>
          <a:bodyPr/>
          <a:lstStyle/>
          <a:p>
            <a:r>
              <a:t>The five dealers that matter</a:t>
            </a:r>
          </a:p>
        </p:txBody>
      </p:sp>
      <p:sp>
        <p:nvSpPr>
          <p:cNvPr id="4" name="Text Placeholder 3"/>
          <p:cNvSpPr>
            <a:spLocks noGrp="1"/>
          </p:cNvSpPr>
          <p:nvPr>
            <p:ph type="body" idx="102"/>
          </p:nvPr>
        </p:nvSpPr>
        <p:spPr/>
        <p:txBody>
          <a:bodyPr/>
          <a:lstStyle/>
          <a:p>
            <a:r>
              <a:t>[One line. What the five have in common, or the one thing they all want from us.]</a:t>
            </a:r>
          </a:p>
        </p:txBody>
      </p:sp>
      <p:graphicFrame>
        <p:nvGraphicFramePr>
          <p:cNvPr id="5" name="Table 4"/>
          <p:cNvGraphicFramePr>
            <a:graphicFrameLocks noGrp="1"/>
          </p:cNvGraphicFramePr>
          <p:nvPr/>
        </p:nvGraphicFramePr>
        <p:xfrm>
          <a:off x="731520" y="2121408"/>
          <a:ext cx="10725912" cy="3913630"/>
        </p:xfrm>
        <a:graphic>
          <a:graphicData uri="http://schemas.openxmlformats.org/drawingml/2006/table">
            <a:tbl>
              <a:tblPr firstRow="0" bandRow="0"/>
              <a:tblGrid>
                <a:gridCol w="2496312"/>
                <a:gridCol w="3931920"/>
                <a:gridCol w="4297680"/>
              </a:tblGrid>
              <a:tr h="365760">
                <a:tc>
                  <a:txBody>
                    <a:bodyPr/>
                    <a:lstStyle/>
                    <a:p>
                      <a:r>
                        <a:rPr sz="1100" b="1">
                          <a:solidFill>
                            <a:srgbClr val="FFFFFF"/>
                          </a:solidFill>
                          <a:latin typeface="Arial"/>
                        </a:rPr>
                        <a:t>Dealer</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What they're good at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What they want from us that they don't get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709574">
                <a:tc>
                  <a:txBody>
                    <a:bodyPr/>
                    <a:lstStyle/>
                    <a:p>
                      <a:r>
                        <a:rPr sz="1100" b="1">
                          <a:solidFill>
                            <a:srgbClr val="15181A"/>
                          </a:solidFill>
                          <a:latin typeface="Arial"/>
                        </a:rPr>
                        <a:t>1.  [Dealer]</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09574">
                <a:tc>
                  <a:txBody>
                    <a:bodyPr/>
                    <a:lstStyle/>
                    <a:p>
                      <a:r>
                        <a:rPr sz="1100" b="1">
                          <a:solidFill>
                            <a:srgbClr val="15181A"/>
                          </a:solidFill>
                          <a:latin typeface="Arial"/>
                        </a:rPr>
                        <a:t>2.  [Dealer]</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09574">
                <a:tc>
                  <a:txBody>
                    <a:bodyPr/>
                    <a:lstStyle/>
                    <a:p>
                      <a:r>
                        <a:rPr sz="1100" b="1">
                          <a:solidFill>
                            <a:srgbClr val="15181A"/>
                          </a:solidFill>
                          <a:latin typeface="Arial"/>
                        </a:rPr>
                        <a:t>3.  [Dealer]</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09574">
                <a:tc>
                  <a:txBody>
                    <a:bodyPr/>
                    <a:lstStyle/>
                    <a:p>
                      <a:r>
                        <a:rPr sz="1100" b="1">
                          <a:solidFill>
                            <a:srgbClr val="15181A"/>
                          </a:solidFill>
                          <a:latin typeface="Arial"/>
                        </a:rPr>
                        <a:t>4.  [Dealer]</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709574">
                <a:tc>
                  <a:txBody>
                    <a:bodyPr/>
                    <a:lstStyle/>
                    <a:p>
                      <a:r>
                        <a:rPr sz="1100" b="1">
                          <a:solidFill>
                            <a:srgbClr val="15181A"/>
                          </a:solidFill>
                          <a:latin typeface="Arial"/>
                        </a:rPr>
                        <a:t>5.  [Dealer]</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100" b="0">
                          <a:solidFill>
                            <a:srgbClr val="5B6670"/>
                          </a:solidFill>
                          <a:latin typeface="Arial"/>
                        </a:rPr>
                        <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3 OF 6  ·  WINS</a:t>
            </a:r>
          </a:p>
        </p:txBody>
      </p:sp>
      <p:sp>
        <p:nvSpPr>
          <p:cNvPr id="3" name="Title 2"/>
          <p:cNvSpPr>
            <a:spLocks noGrp="1"/>
          </p:cNvSpPr>
          <p:nvPr>
            <p:ph type="title" idx="101"/>
          </p:nvPr>
        </p:nvSpPr>
        <p:spPr/>
        <p:txBody>
          <a:bodyPr/>
          <a:lstStyle/>
          <a:p>
            <a:r>
              <a:t>Three wins</a:t>
            </a:r>
          </a:p>
        </p:txBody>
      </p:sp>
      <p:sp>
        <p:nvSpPr>
          <p:cNvPr id="4" name="Text Placeholder 3"/>
          <p:cNvSpPr>
            <a:spLocks noGrp="1"/>
          </p:cNvSpPr>
          <p:nvPr>
            <p:ph type="body" idx="102"/>
          </p:nvPr>
        </p:nvSpPr>
        <p:spPr/>
        <p:txBody>
          <a:bodyPr/>
          <a:lstStyle/>
          <a:p>
            <a:r>
              <a:t>[One line. The pattern across the three, or the one we should be copying.]</a:t>
            </a:r>
          </a:p>
        </p:txBody>
      </p:sp>
      <p:sp>
        <p:nvSpPr>
          <p:cNvPr id="5" name="Text Placeholder 4"/>
          <p:cNvSpPr>
            <a:spLocks noGrp="1"/>
          </p:cNvSpPr>
          <p:nvPr>
            <p:ph type="body" idx="106"/>
          </p:nvPr>
        </p:nvSpPr>
        <p:spPr/>
        <p:txBody>
          <a:bodyPr/>
          <a:lstStyle/>
          <a:p>
            <a:r>
              <a:t>Price</a:t>
            </a:r>
          </a:p>
        </p:txBody>
      </p:sp>
      <p:sp>
        <p:nvSpPr>
          <p:cNvPr id="6" name="Text Placeholder 5"/>
          <p:cNvSpPr>
            <a:spLocks noGrp="1"/>
          </p:cNvSpPr>
          <p:nvPr>
            <p:ph type="body" idx="107"/>
          </p:nvPr>
        </p:nvSpPr>
        <p:spPr/>
        <p:txBody>
          <a:bodyPr/>
          <a:lstStyle/>
          <a:p>
            <a:r>
              <a:t>Job: [dealer, account, job name]</a:t>
            </a:r>
          </a:p>
          <a:p>
            <a:r>
              <a:t>Size: [$ and product]</a:t>
            </a:r>
          </a:p>
          <a:p>
            <a:r>
              <a:t>Why we won on price: [ ]</a:t>
            </a:r>
          </a:p>
          <a:p>
            <a:r>
              <a:t>Repeatable: [yes or no, and why]</a:t>
            </a:r>
          </a:p>
        </p:txBody>
      </p:sp>
      <p:sp>
        <p:nvSpPr>
          <p:cNvPr id="7" name="Text Placeholder 6"/>
          <p:cNvSpPr>
            <a:spLocks noGrp="1"/>
          </p:cNvSpPr>
          <p:nvPr>
            <p:ph type="body" idx="111"/>
          </p:nvPr>
        </p:nvSpPr>
        <p:spPr/>
        <p:txBody>
          <a:bodyPr/>
          <a:lstStyle/>
          <a:p>
            <a:r>
              <a:t>Product</a:t>
            </a:r>
          </a:p>
        </p:txBody>
      </p:sp>
      <p:sp>
        <p:nvSpPr>
          <p:cNvPr id="8" name="Text Placeholder 7"/>
          <p:cNvSpPr>
            <a:spLocks noGrp="1"/>
          </p:cNvSpPr>
          <p:nvPr>
            <p:ph type="body" idx="112"/>
          </p:nvPr>
        </p:nvSpPr>
        <p:spPr/>
        <p:txBody>
          <a:bodyPr/>
          <a:lstStyle/>
          <a:p>
            <a:r>
              <a:t>Job: [dealer, account, job name]</a:t>
            </a:r>
          </a:p>
          <a:p>
            <a:r>
              <a:t>Size: [$ and product]</a:t>
            </a:r>
          </a:p>
          <a:p>
            <a:r>
              <a:t>Why we won on product: [ ]</a:t>
            </a:r>
          </a:p>
          <a:p>
            <a:r>
              <a:t>Repeatable: [yes or no, and why]</a:t>
            </a:r>
          </a:p>
        </p:txBody>
      </p:sp>
      <p:sp>
        <p:nvSpPr>
          <p:cNvPr id="9" name="Text Placeholder 8"/>
          <p:cNvSpPr>
            <a:spLocks noGrp="1"/>
          </p:cNvSpPr>
          <p:nvPr>
            <p:ph type="body" idx="116"/>
          </p:nvPr>
        </p:nvSpPr>
        <p:spPr/>
        <p:txBody>
          <a:bodyPr/>
          <a:lstStyle/>
          <a:p>
            <a:r>
              <a:t>Speed and support</a:t>
            </a:r>
          </a:p>
        </p:txBody>
      </p:sp>
      <p:sp>
        <p:nvSpPr>
          <p:cNvPr id="10" name="Text Placeholder 9"/>
          <p:cNvSpPr>
            <a:spLocks noGrp="1"/>
          </p:cNvSpPr>
          <p:nvPr>
            <p:ph type="body" idx="117"/>
          </p:nvPr>
        </p:nvSpPr>
        <p:spPr/>
        <p:txBody>
          <a:bodyPr/>
          <a:lstStyle/>
          <a:p>
            <a:r>
              <a:t>Job: [dealer, account, job name]</a:t>
            </a:r>
          </a:p>
          <a:p>
            <a:r>
              <a:t>Size: [$ and product]</a:t>
            </a:r>
          </a:p>
          <a:p>
            <a:r>
              <a:t>Why we won on speed or support: [ ]</a:t>
            </a:r>
          </a:p>
          <a:p>
            <a:r>
              <a:t>Repeatable: [yes or no, and why]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4 OF 6  ·  LOSSES</a:t>
            </a:r>
          </a:p>
        </p:txBody>
      </p:sp>
      <p:sp>
        <p:nvSpPr>
          <p:cNvPr id="3" name="Title 2"/>
          <p:cNvSpPr>
            <a:spLocks noGrp="1"/>
          </p:cNvSpPr>
          <p:nvPr>
            <p:ph type="title" idx="101"/>
          </p:nvPr>
        </p:nvSpPr>
        <p:spPr/>
        <p:txBody>
          <a:bodyPr/>
          <a:lstStyle/>
          <a:p>
            <a:r>
              <a:t>Three losses</a:t>
            </a:r>
          </a:p>
        </p:txBody>
      </p:sp>
      <p:sp>
        <p:nvSpPr>
          <p:cNvPr id="4" name="Text Placeholder 3"/>
          <p:cNvSpPr>
            <a:spLocks noGrp="1"/>
          </p:cNvSpPr>
          <p:nvPr>
            <p:ph type="body" idx="102"/>
          </p:nvPr>
        </p:nvSpPr>
        <p:spPr/>
        <p:txBody>
          <a:bodyPr/>
          <a:lstStyle/>
          <a:p>
            <a:r>
              <a:t>[One line. Which loss hurt most and whether we'd lose it again today.]</a:t>
            </a:r>
          </a:p>
        </p:txBody>
      </p:sp>
      <p:sp>
        <p:nvSpPr>
          <p:cNvPr id="5" name="Text Placeholder 4"/>
          <p:cNvSpPr>
            <a:spLocks noGrp="1"/>
          </p:cNvSpPr>
          <p:nvPr>
            <p:ph type="body" idx="106"/>
          </p:nvPr>
        </p:nvSpPr>
        <p:spPr/>
        <p:txBody>
          <a:bodyPr/>
          <a:lstStyle/>
          <a:p>
            <a:r>
              <a:t>Price</a:t>
            </a:r>
          </a:p>
        </p:txBody>
      </p:sp>
      <p:sp>
        <p:nvSpPr>
          <p:cNvPr id="6" name="Text Placeholder 5"/>
          <p:cNvSpPr>
            <a:spLocks noGrp="1"/>
          </p:cNvSpPr>
          <p:nvPr>
            <p:ph type="body" idx="107"/>
          </p:nvPr>
        </p:nvSpPr>
        <p:spPr/>
        <p:txBody>
          <a:bodyPr/>
          <a:lstStyle/>
          <a:p>
            <a:r>
              <a:rPr sz="1400"/>
              <a:t>Job: [dealer, account, job]</a:t>
            </a:r>
          </a:p>
          <a:p>
            <a:r>
              <a:rPr sz="1400"/>
              <a:t>Who won: [competitor]</a:t>
            </a:r>
          </a:p>
          <a:p>
            <a:r>
              <a:rPr sz="1400"/>
              <a:t>Their price: [$ or unknown]</a:t>
            </a:r>
          </a:p>
          <a:p>
            <a:r>
              <a:rPr sz="1400"/>
              <a:t>Lead time: ours / theirs [wks]</a:t>
            </a:r>
          </a:p>
          <a:p>
            <a:r>
              <a:rPr sz="1400"/>
              <a:t>Why: [ ]</a:t>
            </a:r>
          </a:p>
          <a:p>
            <a:r>
              <a:rPr sz="1400"/>
              <a:t>Lose it again today: [yes/no]</a:t>
            </a:r>
          </a:p>
        </p:txBody>
      </p:sp>
      <p:sp>
        <p:nvSpPr>
          <p:cNvPr id="7" name="Text Placeholder 6"/>
          <p:cNvSpPr>
            <a:spLocks noGrp="1"/>
          </p:cNvSpPr>
          <p:nvPr>
            <p:ph type="body" idx="111"/>
          </p:nvPr>
        </p:nvSpPr>
        <p:spPr/>
        <p:txBody>
          <a:bodyPr/>
          <a:lstStyle/>
          <a:p>
            <a:r>
              <a:t>Product</a:t>
            </a:r>
          </a:p>
        </p:txBody>
      </p:sp>
      <p:sp>
        <p:nvSpPr>
          <p:cNvPr id="8" name="Text Placeholder 7"/>
          <p:cNvSpPr>
            <a:spLocks noGrp="1"/>
          </p:cNvSpPr>
          <p:nvPr>
            <p:ph type="body" idx="112"/>
          </p:nvPr>
        </p:nvSpPr>
        <p:spPr/>
        <p:txBody>
          <a:bodyPr/>
          <a:lstStyle/>
          <a:p>
            <a:r>
              <a:rPr sz="1400"/>
              <a:t>Job: [dealer, account, job]</a:t>
            </a:r>
          </a:p>
          <a:p>
            <a:r>
              <a:rPr sz="1400"/>
              <a:t>Who won: [competitor]</a:t>
            </a:r>
          </a:p>
          <a:p>
            <a:r>
              <a:rPr sz="1400"/>
              <a:t>Why: [what they had, we didn't]</a:t>
            </a:r>
          </a:p>
          <a:p>
            <a:r>
              <a:rPr sz="1400"/>
              <a:t>Lead time: ours / theirs [wks]</a:t>
            </a:r>
          </a:p>
          <a:p>
            <a:r>
              <a:rPr sz="1400"/>
              <a:t>Lose it again today: [yes/no]</a:t>
            </a:r>
          </a:p>
          <a:p>
            <a:r>
              <a:rPr sz="1400"/>
              <a:t>No product loss? Say so here.</a:t>
            </a:r>
          </a:p>
        </p:txBody>
      </p:sp>
      <p:sp>
        <p:nvSpPr>
          <p:cNvPr id="9" name="Text Placeholder 8"/>
          <p:cNvSpPr>
            <a:spLocks noGrp="1"/>
          </p:cNvSpPr>
          <p:nvPr>
            <p:ph type="body" idx="116"/>
          </p:nvPr>
        </p:nvSpPr>
        <p:spPr/>
        <p:txBody>
          <a:bodyPr/>
          <a:lstStyle/>
          <a:p>
            <a:r>
              <a:t>Speed and support</a:t>
            </a:r>
          </a:p>
        </p:txBody>
      </p:sp>
      <p:sp>
        <p:nvSpPr>
          <p:cNvPr id="10" name="Text Placeholder 9"/>
          <p:cNvSpPr>
            <a:spLocks noGrp="1"/>
          </p:cNvSpPr>
          <p:nvPr>
            <p:ph type="body" idx="117"/>
          </p:nvPr>
        </p:nvSpPr>
        <p:spPr/>
        <p:txBody>
          <a:bodyPr/>
          <a:lstStyle/>
          <a:p>
            <a:r>
              <a:rPr sz="1400"/>
              <a:t>Job: [dealer, account, job]</a:t>
            </a:r>
          </a:p>
          <a:p>
            <a:r>
              <a:rPr sz="1400"/>
              <a:t>Who won: [competitor]</a:t>
            </a:r>
          </a:p>
          <a:p>
            <a:r>
              <a:rPr sz="1400"/>
              <a:t>Lead time: ours / theirs [wks]</a:t>
            </a:r>
          </a:p>
          <a:p>
            <a:r>
              <a:rPr sz="1400"/>
              <a:t>Why: [quoting or service]</a:t>
            </a:r>
          </a:p>
          <a:p>
            <a:r>
              <a:rPr sz="1400"/>
              <a:t>Lose it again today: [yes/no]</a:t>
            </a:r>
          </a:p>
          <a:p>
            <a:r>
              <a:rPr sz="1400"/>
              <a:t>No speed loss? Say so here.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5 OF 6  ·  STRAIGHT TALK</a:t>
            </a:r>
          </a:p>
        </p:txBody>
      </p:sp>
      <p:sp>
        <p:nvSpPr>
          <p:cNvPr id="3" name="Title 2"/>
          <p:cNvSpPr>
            <a:spLocks noGrp="1"/>
          </p:cNvSpPr>
          <p:nvPr>
            <p:ph type="title" idx="101"/>
          </p:nvPr>
        </p:nvSpPr>
        <p:spPr/>
        <p:txBody>
          <a:bodyPr/>
          <a:lstStyle/>
          <a:p>
            <a:r>
              <a:t>What we do well and what we don't</a:t>
            </a:r>
          </a:p>
        </p:txBody>
      </p:sp>
      <p:sp>
        <p:nvSpPr>
          <p:cNvPr id="4" name="Text Placeholder 3"/>
          <p:cNvSpPr>
            <a:spLocks noGrp="1"/>
          </p:cNvSpPr>
          <p:nvPr>
            <p:ph type="body" idx="102"/>
          </p:nvPr>
        </p:nvSpPr>
        <p:spPr/>
        <p:txBody>
          <a:bodyPr/>
          <a:lstStyle/>
          <a:p>
            <a:r>
              <a:t>[One line. The one thing you'd change first.]</a:t>
            </a:r>
          </a:p>
        </p:txBody>
      </p:sp>
      <p:graphicFrame>
        <p:nvGraphicFramePr>
          <p:cNvPr id="5" name="Table 4"/>
          <p:cNvGraphicFramePr>
            <a:graphicFrameLocks noGrp="1"/>
          </p:cNvGraphicFramePr>
          <p:nvPr/>
        </p:nvGraphicFramePr>
        <p:xfrm>
          <a:off x="731520" y="2121408"/>
          <a:ext cx="10725912" cy="3912717"/>
        </p:xfrm>
        <a:graphic>
          <a:graphicData uri="http://schemas.openxmlformats.org/drawingml/2006/table">
            <a:tbl>
              <a:tblPr firstRow="0" bandRow="0"/>
              <a:tblGrid>
                <a:gridCol w="2130552"/>
                <a:gridCol w="4297680"/>
                <a:gridCol w="4297680"/>
              </a:tblGrid>
              <a:tr h="365760">
                <a:tc>
                  <a:txBody>
                    <a:bodyPr/>
                    <a:lstStyle/>
                    <a:p>
                      <a:r>
                        <a:rPr sz="1100" b="1">
                          <a:solidFill>
                            <a:srgbClr val="FFFFFF"/>
                          </a:solidFill>
                          <a:latin typeface="Arial"/>
                        </a:rPr>
                        <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What we do well</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c>
                  <a:txBody>
                    <a:bodyPr/>
                    <a:lstStyle/>
                    <a:p>
                      <a:r>
                        <a:rPr sz="1100" b="1">
                          <a:solidFill>
                            <a:srgbClr val="FFFFFF"/>
                          </a:solidFill>
                          <a:latin typeface="Arial"/>
                        </a:rPr>
                        <a:t>What we don't</a:t>
                      </a:r>
                    </a:p>
                  </a:txBody>
                  <a:tcPr marL="73152" marR="73152" marT="27432" marB="27432" anchor="ctr">
                    <a:solidFill>
                      <a:srgbClr val="3C7D4D"/>
                    </a:solidFill>
                    <a:lnL w="6350" cap="flat" cmpd="sng" algn="ctr">
                      <a:solidFill>
                        <a:srgbClr val="3C7D4D"/>
                      </a:solidFill>
                      <a:prstDash val="solid"/>
                    </a:lnL>
                    <a:lnR w="6350" cap="flat" cmpd="sng" algn="ctr">
                      <a:solidFill>
                        <a:srgbClr val="3C7D4D"/>
                      </a:solidFill>
                      <a:prstDash val="solid"/>
                    </a:lnR>
                    <a:lnT w="6350" cap="flat" cmpd="sng" algn="ctr">
                      <a:solidFill>
                        <a:srgbClr val="3C7D4D"/>
                      </a:solidFill>
                      <a:prstDash val="solid"/>
                    </a:lnT>
                    <a:lnB w="6350" cap="flat" cmpd="sng" algn="ctr">
                      <a:solidFill>
                        <a:srgbClr val="3C7D4D"/>
                      </a:solidFill>
                      <a:prstDash val="solid"/>
                    </a:lnB>
                  </a:tcPr>
                </a:tc>
              </a:tr>
              <a:tr h="1182319">
                <a:tc>
                  <a:txBody>
                    <a:bodyPr/>
                    <a:lstStyle/>
                    <a:p>
                      <a:r>
                        <a:rPr sz="1200" b="1">
                          <a:solidFill>
                            <a:srgbClr val="15181A"/>
                          </a:solidFill>
                          <a:latin typeface="Arial"/>
                        </a:rPr>
                        <a:t>Company</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182319">
                <a:tc>
                  <a:txBody>
                    <a:bodyPr/>
                    <a:lstStyle/>
                    <a:p>
                      <a:r>
                        <a:rPr sz="1200" b="1">
                          <a:solidFill>
                            <a:srgbClr val="15181A"/>
                          </a:solidFill>
                          <a:latin typeface="Arial"/>
                        </a:rPr>
                        <a:t>Marketing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r h="1182319">
                <a:tc>
                  <a:txBody>
                    <a:bodyPr/>
                    <a:lstStyle/>
                    <a:p>
                      <a:r>
                        <a:rPr sz="1200" b="1">
                          <a:solidFill>
                            <a:srgbClr val="15181A"/>
                          </a:solidFill>
                          <a:latin typeface="Arial"/>
                        </a:rPr>
                        <a:t>Sales direction</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c>
                  <a:txBody>
                    <a:bodyPr/>
                    <a:lstStyle/>
                    <a:p>
                      <a:r>
                        <a:rPr sz="1200" b="0">
                          <a:solidFill>
                            <a:srgbClr val="5B6670"/>
                          </a:solidFill>
                          <a:latin typeface="Arial"/>
                        </a:rPr>
                        <a:t>[One thing]</a:t>
                      </a:r>
                    </a:p>
                  </a:txBody>
                  <a:tcPr marL="73152" marR="73152" marT="27432" marB="27432" anchor="t">
                    <a:solidFill>
                      <a:srgbClr val="FFFFFF"/>
                    </a:solidFill>
                    <a:lnL w="6350" cap="flat" cmpd="sng" algn="ctr">
                      <a:solidFill>
                        <a:srgbClr val="E2E6E3"/>
                      </a:solidFill>
                      <a:prstDash val="solid"/>
                    </a:lnL>
                    <a:lnR w="6350" cap="flat" cmpd="sng" algn="ctr">
                      <a:solidFill>
                        <a:srgbClr val="E2E6E3"/>
                      </a:solidFill>
                      <a:prstDash val="solid"/>
                    </a:lnR>
                    <a:lnT w="6350" cap="flat" cmpd="sng" algn="ctr">
                      <a:solidFill>
                        <a:srgbClr val="E2E6E3"/>
                      </a:solidFill>
                      <a:prstDash val="solid"/>
                    </a:lnT>
                    <a:lnB w="6350" cap="flat" cmpd="sng" algn="ctr">
                      <a:solidFill>
                        <a:srgbClr val="E2E6E3"/>
                      </a:solidFill>
                      <a:prstDash val="solid"/>
                    </a:lnB>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0"/>
          </p:nvPr>
        </p:nvSpPr>
        <p:spPr/>
        <p:txBody>
          <a:bodyPr/>
          <a:lstStyle/>
          <a:p>
            <a:r>
              <a:t>TERRITORY REVIEW  ·  6 OF 6  ·  Q4</a:t>
            </a:r>
          </a:p>
        </p:txBody>
      </p:sp>
      <p:sp>
        <p:nvSpPr>
          <p:cNvPr id="3" name="Title 2"/>
          <p:cNvSpPr>
            <a:spLocks noGrp="1"/>
          </p:cNvSpPr>
          <p:nvPr>
            <p:ph type="title" idx="101"/>
          </p:nvPr>
        </p:nvSpPr>
        <p:spPr/>
        <p:txBody>
          <a:bodyPr/>
          <a:lstStyle/>
          <a:p>
            <a:r>
              <a:t>Q4 plan</a:t>
            </a:r>
          </a:p>
        </p:txBody>
      </p:sp>
      <p:sp>
        <p:nvSpPr>
          <p:cNvPr id="4" name="Text Placeholder 3"/>
          <p:cNvSpPr>
            <a:spLocks noGrp="1"/>
          </p:cNvSpPr>
          <p:nvPr>
            <p:ph type="body" idx="102"/>
          </p:nvPr>
        </p:nvSpPr>
        <p:spPr/>
        <p:txBody>
          <a:bodyPr/>
          <a:lstStyle/>
          <a:p>
            <a:r>
              <a:t>[One line. What Q4 looks like if these land.]</a:t>
            </a:r>
          </a:p>
        </p:txBody>
      </p:sp>
      <p:sp>
        <p:nvSpPr>
          <p:cNvPr id="5" name="Text Placeholder 4"/>
          <p:cNvSpPr>
            <a:spLocks noGrp="1"/>
          </p:cNvSpPr>
          <p:nvPr>
            <p:ph type="body" idx="106"/>
          </p:nvPr>
        </p:nvSpPr>
        <p:spPr/>
        <p:txBody>
          <a:bodyPr/>
          <a:lstStyle/>
          <a:p>
            <a:r>
              <a:t>Three projects I'm going after</a:t>
            </a:r>
          </a:p>
        </p:txBody>
      </p:sp>
      <p:sp>
        <p:nvSpPr>
          <p:cNvPr id="6" name="Text Placeholder 5"/>
          <p:cNvSpPr>
            <a:spLocks noGrp="1"/>
          </p:cNvSpPr>
          <p:nvPr>
            <p:ph type="body" idx="107"/>
          </p:nvPr>
        </p:nvSpPr>
        <p:spPr/>
        <p:txBody>
          <a:bodyPr/>
          <a:lstStyle/>
          <a:p>
            <a:r>
              <a:t>1. [Job, dealer, $, close date]</a:t>
            </a:r>
          </a:p>
          <a:p>
            <a:r>
              <a:t>2. [Job, dealer, $, close date]</a:t>
            </a:r>
          </a:p>
          <a:p>
            <a:r>
              <a:t>3. [Job, dealer, $, close date]</a:t>
            </a:r>
          </a:p>
        </p:txBody>
      </p:sp>
      <p:sp>
        <p:nvSpPr>
          <p:cNvPr id="7" name="Text Placeholder 6"/>
          <p:cNvSpPr>
            <a:spLocks noGrp="1"/>
          </p:cNvSpPr>
          <p:nvPr>
            <p:ph type="body" idx="111"/>
          </p:nvPr>
        </p:nvSpPr>
        <p:spPr/>
        <p:txBody>
          <a:bodyPr/>
          <a:lstStyle/>
          <a:p>
            <a:r>
              <a:t>One dealer I'm going to grow</a:t>
            </a:r>
          </a:p>
        </p:txBody>
      </p:sp>
      <p:sp>
        <p:nvSpPr>
          <p:cNvPr id="8" name="Text Placeholder 7"/>
          <p:cNvSpPr>
            <a:spLocks noGrp="1"/>
          </p:cNvSpPr>
          <p:nvPr>
            <p:ph type="body" idx="112"/>
          </p:nvPr>
        </p:nvSpPr>
        <p:spPr/>
        <p:txBody>
          <a:bodyPr/>
          <a:lstStyle/>
          <a:p>
            <a:r>
              <a:t>Dealer: [name]</a:t>
            </a:r>
          </a:p>
          <a:p>
            <a:r>
              <a:t>From: [today's run rate]</a:t>
            </a:r>
          </a:p>
          <a:p>
            <a:r>
              <a:t>To: [target]</a:t>
            </a:r>
          </a:p>
          <a:p>
            <a:r>
              <a:t>How: [the specific move]</a:t>
            </a:r>
          </a:p>
        </p:txBody>
      </p:sp>
      <p:sp>
        <p:nvSpPr>
          <p:cNvPr id="9" name="Text Placeholder 8"/>
          <p:cNvSpPr>
            <a:spLocks noGrp="1"/>
          </p:cNvSpPr>
          <p:nvPr>
            <p:ph type="body" idx="116"/>
          </p:nvPr>
        </p:nvSpPr>
        <p:spPr/>
        <p:txBody>
          <a:bodyPr/>
          <a:lstStyle/>
          <a:p>
            <a:r>
              <a:t>One thing I'll do differently</a:t>
            </a:r>
          </a:p>
        </p:txBody>
      </p:sp>
      <p:sp>
        <p:nvSpPr>
          <p:cNvPr id="10" name="Text Placeholder 9"/>
          <p:cNvSpPr>
            <a:spLocks noGrp="1"/>
          </p:cNvSpPr>
          <p:nvPr>
            <p:ph type="body" idx="117"/>
          </p:nvPr>
        </p:nvSpPr>
        <p:spPr/>
        <p:txBody>
          <a:bodyPr/>
          <a:lstStyle/>
          <a:p>
            <a:r>
              <a:t>What: [ ]</a:t>
            </a:r>
          </a:p>
          <a:p>
            <a:r>
              <a:t>Why: [what the wins and losses told you]</a:t>
            </a:r>
          </a:p>
          <a:p>
            <a:r>
              <a:t>What I need from Steel King: [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Steel King Industries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Steel King Presentation System</dc:title>
  <dc:subject>PptxGenJS Presentation</dc:subject>
  <dc:creator>Steel King Industries</dc:creator>
  <cp:lastModifiedBy>Steel King Industries</cp:lastModifiedBy>
  <cp:revision>1</cp:revision>
  <dcterms:created xsi:type="dcterms:W3CDTF">2026-09-11T23:28:37Z</dcterms:created>
  <dcterms:modified xsi:type="dcterms:W3CDTF">2026-09-11T23:28:37Z</dcterms:modified>
</cp:coreProperties>
</file>