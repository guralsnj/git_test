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 this once at the top. Then the reps present. Numbers are from the Aug 31 EC L10, the Sept 2 conversation with Don, and the Aug 31 1:1 with Brian. Verify before showing.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Company-wide bookings by month with the lead time that month. Pre-fill from Don's monthly activity report.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COVER-image-2.jpeg"/><Relationship Id="rId3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image" Target="../media/SECTION-image-2.jpeg"/><Relationship Id="rId3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image" Target="../media/AGENDA-image-2.jpeg"/><Relationship Id="rId3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image" Target="../media/TITLE_CONTENT-image-2.jpeg"/><Relationship Id="rId3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6-1.png"/><Relationship Id="rId2" Type="http://schemas.openxmlformats.org/officeDocument/2006/relationships/image" Target="../media/TWO_CONTENT-image-2.jpeg"/><Relationship Id="rId3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7-1.png"/><Relationship Id="rId2" Type="http://schemas.openxmlformats.org/officeDocument/2006/relationships/image" Target="../media/THREE_CARDS-image-2.jpeg"/><Relationship Id="rId3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8-1.png"/><Relationship Id="rId2" Type="http://schemas.openxmlformats.org/officeDocument/2006/relationships/image" Target="../media/BIG_NUMBERS-image-2.jpeg"/><Relationship Id="rId3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9-1.png"/><Relationship Id="rId2" Type="http://schemas.openxmlformats.org/officeDocument/2006/relationships/image" Target="../media/CONTENT_VISUAL-image-2.jpeg"/><Relationship Id="rId3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10-1.png"/><Relationship Id="rId2" Type="http://schemas.openxmlformats.org/officeDocument/2006/relationships/image" Target="../media/FULL_VISUAL-image-2.jpeg"/><Relationship Id="rId3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11-1.png"/><Relationship Id="rId2" Type="http://schemas.openxmlformats.org/officeDocument/2006/relationships/image" Target="../media/COMPARISON-image-2.jpeg"/><Relationship Id="rId3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12-1.png"/><Relationship Id="rId2" Type="http://schemas.openxmlformats.org/officeDocument/2006/relationships/image" Target="../media/TIMELINE-image-2.jpeg"/><Relationship Id="rId3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13-1.png"/><Relationship Id="rId2" Type="http://schemas.openxmlformats.org/officeDocument/2006/relationships/image" Target="../media/KEY_MESSAGE-image-2.jpeg"/><Relationship Id="rId3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14-1.png"/><Relationship Id="rId2" Type="http://schemas.openxmlformats.org/officeDocument/2006/relationships/image" Target="../media/NEXT_STEPS-image-2.jpeg"/><Relationship Id="rId3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15-1.png"/><Relationship Id="rId2" Type="http://schemas.openxmlformats.org/officeDocument/2006/relationships/image" Target="../media/CLOSING-image-2.jpeg"/><Relationship Id="rId3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16-1.png"/><Relationship Id="rId2" Type="http://schemas.openxmlformats.org/officeDocument/2006/relationships/image" Target="../media/image-1016-2.png"/><Relationship Id="rId3" Type="http://schemas.openxmlformats.org/officeDocument/2006/relationships/image" Target="../media/COVER_MASCOT-image-3.jpe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rand/logo_h_rev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658368"/>
            <a:ext cx="2377440" cy="803189"/>
          </a:xfrm>
          <a:prstGeom prst="rect">
            <a:avLst/>
          </a:prstGeom>
        </p:spPr>
      </p:pic>
      <p:sp>
        <p:nvSpPr>
          <p:cNvPr id="3" name="Text 0"/>
          <p:cNvSpPr txBox="1"/>
          <p:nvPr>
            <p:ph idx="101" type="body" hasCustomPrompt="1"/>
          </p:nvPr>
        </p:nvSpPr>
        <p:spPr>
          <a:xfrm>
            <a:off x="731520" y="2212848"/>
            <a:ext cx="694944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b="1" spc="340" kern="0" dirty="0">
                <a:solidFill>
                  <a:srgbClr val="A9D9B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100" b="1" spc="340" kern="0" dirty="0">
                <a:solidFill>
                  <a:srgbClr val="A9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BRIEFING</a:t>
            </a:r>
            <a:endParaRPr lang="en-US" sz="1100" dirty="0"/>
          </a:p>
        </p:txBody>
      </p:sp>
      <p:sp>
        <p:nvSpPr>
          <p:cNvPr id="4" name="Shape 0"/>
          <p:cNvSpPr/>
          <p:nvPr/>
        </p:nvSpPr>
        <p:spPr>
          <a:xfrm>
            <a:off x="731520" y="2688336"/>
            <a:ext cx="777240" cy="50292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5" name="Text 1"/>
          <p:cNvSpPr txBox="1"/>
          <p:nvPr>
            <p:ph idx="103" type="title" hasCustomPrompt="1"/>
          </p:nvPr>
        </p:nvSpPr>
        <p:spPr>
          <a:xfrm>
            <a:off x="731520" y="2907792"/>
            <a:ext cx="6949440" cy="16276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spc="-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4600" b="1" spc="-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 title</a:t>
            </a:r>
            <a:endParaRPr lang="en-US" sz="4600" dirty="0"/>
          </a:p>
        </p:txBody>
      </p:sp>
      <p:sp>
        <p:nvSpPr>
          <p:cNvPr id="6" name="Text 1"/>
          <p:cNvSpPr txBox="1"/>
          <p:nvPr>
            <p:ph idx="104" type="body" hasCustomPrompt="1"/>
          </p:nvPr>
        </p:nvSpPr>
        <p:spPr>
          <a:xfrm>
            <a:off x="731520" y="4663440"/>
            <a:ext cx="694944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700" dirty="0">
                <a:solidFill>
                  <a:srgbClr val="E4EFE8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700" dirty="0">
                <a:solidFill>
                  <a:srgbClr val="E4E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line on what this deck argues</a:t>
            </a:r>
            <a:endParaRPr lang="en-US" sz="1700" dirty="0"/>
          </a:p>
        </p:txBody>
      </p:sp>
      <p:sp>
        <p:nvSpPr>
          <p:cNvPr id="7" name="Text 1"/>
          <p:cNvSpPr txBox="1"/>
          <p:nvPr>
            <p:ph idx="105" type="body" hasCustomPrompt="1"/>
          </p:nvPr>
        </p:nvSpPr>
        <p:spPr>
          <a:xfrm>
            <a:off x="731520" y="5998464"/>
            <a:ext cx="6949440" cy="310896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50" spc="80" kern="0" dirty="0">
                <a:solidFill>
                  <a:srgbClr val="C3DACB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150" spc="80" kern="0" dirty="0">
                <a:solidFill>
                  <a:srgbClr val="C3DA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Presenter  |  Audience  |  Month Year</a:t>
            </a:r>
            <a:endParaRPr lang="en-US" sz="11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rand/logo_h_rev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25328" y="6272784"/>
            <a:ext cx="1325880" cy="447932"/>
          </a:xfrm>
          <a:prstGeom prst="rect">
            <a:avLst/>
          </a:prstGeom>
        </p:spPr>
      </p:pic>
      <p:sp>
        <p:nvSpPr>
          <p:cNvPr id="3" name="Text 0"/>
          <p:cNvSpPr txBox="1"/>
          <p:nvPr>
            <p:ph idx="101" type="body" hasCustomPrompt="1"/>
          </p:nvPr>
        </p:nvSpPr>
        <p:spPr>
          <a:xfrm>
            <a:off x="731520" y="2212848"/>
            <a:ext cx="2926080" cy="13258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8600" b="1" spc="-200" kern="0" dirty="0">
                <a:solidFill>
                  <a:srgbClr val="A9D9B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8600" b="1" spc="-200" kern="0" dirty="0">
                <a:solidFill>
                  <a:srgbClr val="A9D9B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8600" dirty="0"/>
          </a:p>
        </p:txBody>
      </p:sp>
      <p:sp>
        <p:nvSpPr>
          <p:cNvPr id="4" name="Shape 0"/>
          <p:cNvSpPr/>
          <p:nvPr/>
        </p:nvSpPr>
        <p:spPr>
          <a:xfrm>
            <a:off x="731520" y="3712464"/>
            <a:ext cx="777240" cy="50292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5" name="Text 1"/>
          <p:cNvSpPr txBox="1"/>
          <p:nvPr>
            <p:ph idx="103" type="title" hasCustomPrompt="1"/>
          </p:nvPr>
        </p:nvSpPr>
        <p:spPr>
          <a:xfrm>
            <a:off x="731520" y="3986784"/>
            <a:ext cx="6949440" cy="84124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spc="-8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800" b="1" spc="-8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name</a:t>
            </a:r>
            <a:endParaRPr lang="en-US" sz="3800" dirty="0"/>
          </a:p>
        </p:txBody>
      </p:sp>
      <p:sp>
        <p:nvSpPr>
          <p:cNvPr id="6" name="Text 1"/>
          <p:cNvSpPr txBox="1"/>
          <p:nvPr>
            <p:ph idx="104" type="body" hasCustomPrompt="1"/>
          </p:nvPr>
        </p:nvSpPr>
        <p:spPr>
          <a:xfrm>
            <a:off x="731520" y="4956048"/>
            <a:ext cx="694944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500" dirty="0">
                <a:solidFill>
                  <a:srgbClr val="E4EFE8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500" dirty="0">
                <a:solidFill>
                  <a:srgbClr val="E4E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section settles.</a:t>
            </a:r>
            <a:endParaRPr lang="en-US" sz="15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idx="100" type="body" hasCustomPrompt="1"/>
          </p:nvPr>
        </p:nvSpPr>
        <p:spPr>
          <a:xfrm>
            <a:off x="731520" y="548640"/>
            <a:ext cx="10728655" cy="23774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b="1" spc="300" kern="0" dirty="0">
                <a:solidFill>
                  <a:srgbClr val="3C7D4D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100" b="1" spc="300" kern="0" dirty="0">
                <a:solidFill>
                  <a:srgbClr val="3C7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</a:t>
            </a:r>
            <a:endParaRPr lang="en-US" sz="1100" dirty="0"/>
          </a:p>
        </p:txBody>
      </p:sp>
      <p:sp>
        <p:nvSpPr>
          <p:cNvPr id="3" name="Text 0"/>
          <p:cNvSpPr txBox="1"/>
          <p:nvPr>
            <p:ph idx="101" type="title" hasCustomPrompt="1"/>
          </p:nvPr>
        </p:nvSpPr>
        <p:spPr>
          <a:xfrm>
            <a:off x="731520" y="822960"/>
            <a:ext cx="10058400" cy="7132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spc="-60" kern="0" dirty="0">
                <a:solidFill>
                  <a:srgbClr val="15181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400" b="1" spc="-60" kern="0" dirty="0">
                <a:solidFill>
                  <a:srgbClr val="15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3400" dirty="0"/>
          </a:p>
        </p:txBody>
      </p:sp>
      <p:sp>
        <p:nvSpPr>
          <p:cNvPr id="4" name="Text 0"/>
          <p:cNvSpPr txBox="1"/>
          <p:nvPr>
            <p:ph idx="102" type="body" hasCustomPrompt="1"/>
          </p:nvPr>
        </p:nvSpPr>
        <p:spPr>
          <a:xfrm>
            <a:off x="731520" y="1591056"/>
            <a:ext cx="10728655" cy="42062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b="1" dirty="0">
                <a:solidFill>
                  <a:srgbClr val="3C7D4D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600" b="1" dirty="0">
                <a:solidFill>
                  <a:srgbClr val="3C7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cover and what we decide.</a:t>
            </a:r>
            <a:endParaRPr lang="en-US" sz="1600" dirty="0"/>
          </a:p>
        </p:txBody>
      </p:sp>
      <p:sp>
        <p:nvSpPr>
          <p:cNvPr id="5" name="Text 0"/>
          <p:cNvSpPr txBox="1"/>
          <p:nvPr/>
        </p:nvSpPr>
        <p:spPr>
          <a:xfrm>
            <a:off x="731520" y="2167128"/>
            <a:ext cx="658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3C7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1"/>
          <p:cNvSpPr txBox="1"/>
          <p:nvPr>
            <p:ph idx="104" type="body" hasCustomPrompt="1"/>
          </p:nvPr>
        </p:nvSpPr>
        <p:spPr>
          <a:xfrm>
            <a:off x="1508760" y="2167128"/>
            <a:ext cx="786384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700" b="1" dirty="0">
                <a:solidFill>
                  <a:srgbClr val="15181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700" b="1" dirty="0">
                <a:solidFill>
                  <a:srgbClr val="15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 item</a:t>
            </a:r>
            <a:endParaRPr lang="en-US" sz="1700" dirty="0"/>
          </a:p>
        </p:txBody>
      </p:sp>
      <p:sp>
        <p:nvSpPr>
          <p:cNvPr id="7" name="Text 1"/>
          <p:cNvSpPr txBox="1"/>
          <p:nvPr>
            <p:ph idx="105" type="body" hasCustomPrompt="1"/>
          </p:nvPr>
        </p:nvSpPr>
        <p:spPr>
          <a:xfrm>
            <a:off x="8869680" y="2167128"/>
            <a:ext cx="2587752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120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r" indent="0" marL="0">
              <a:buNone/>
            </a:pPr>
            <a:r>
              <a:rPr lang="en-US" sz="120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min</a:t>
            </a:r>
            <a:endParaRPr lang="en-US" sz="1200" dirty="0"/>
          </a:p>
        </p:txBody>
      </p:sp>
      <p:sp>
        <p:nvSpPr>
          <p:cNvPr id="8" name="Shape 1"/>
          <p:cNvSpPr/>
          <p:nvPr/>
        </p:nvSpPr>
        <p:spPr>
          <a:xfrm>
            <a:off x="731520" y="2770632"/>
            <a:ext cx="10728655" cy="0"/>
          </a:xfrm>
          <a:prstGeom prst="line">
            <a:avLst/>
          </a:prstGeom>
          <a:noFill/>
          <a:ln w="12700">
            <a:solidFill>
              <a:srgbClr val="E2E6E3"/>
            </a:solidFill>
            <a:prstDash val="solid"/>
          </a:ln>
        </p:spPr>
      </p:sp>
      <p:sp>
        <p:nvSpPr>
          <p:cNvPr id="9" name="Text 2"/>
          <p:cNvSpPr txBox="1"/>
          <p:nvPr/>
        </p:nvSpPr>
        <p:spPr>
          <a:xfrm>
            <a:off x="731520" y="2916936"/>
            <a:ext cx="658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3C7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000" dirty="0"/>
          </a:p>
        </p:txBody>
      </p:sp>
      <p:sp>
        <p:nvSpPr>
          <p:cNvPr id="10" name="Text 3"/>
          <p:cNvSpPr txBox="1"/>
          <p:nvPr>
            <p:ph idx="108" type="body" hasCustomPrompt="1"/>
          </p:nvPr>
        </p:nvSpPr>
        <p:spPr>
          <a:xfrm>
            <a:off x="1508760" y="2916936"/>
            <a:ext cx="786384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700" b="1" dirty="0">
                <a:solidFill>
                  <a:srgbClr val="15181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700" b="1" dirty="0">
                <a:solidFill>
                  <a:srgbClr val="15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 item</a:t>
            </a:r>
            <a:endParaRPr lang="en-US" sz="1700" dirty="0"/>
          </a:p>
        </p:txBody>
      </p:sp>
      <p:sp>
        <p:nvSpPr>
          <p:cNvPr id="11" name="Text 3"/>
          <p:cNvSpPr txBox="1"/>
          <p:nvPr>
            <p:ph idx="109" type="body" hasCustomPrompt="1"/>
          </p:nvPr>
        </p:nvSpPr>
        <p:spPr>
          <a:xfrm>
            <a:off x="8869680" y="2916936"/>
            <a:ext cx="2587752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120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r" indent="0" marL="0">
              <a:buNone/>
            </a:pPr>
            <a:r>
              <a:rPr lang="en-US" sz="120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min</a:t>
            </a:r>
            <a:endParaRPr lang="en-US" sz="1200" dirty="0"/>
          </a:p>
        </p:txBody>
      </p:sp>
      <p:sp>
        <p:nvSpPr>
          <p:cNvPr id="12" name="Shape 3"/>
          <p:cNvSpPr/>
          <p:nvPr/>
        </p:nvSpPr>
        <p:spPr>
          <a:xfrm>
            <a:off x="731520" y="3520440"/>
            <a:ext cx="10728655" cy="0"/>
          </a:xfrm>
          <a:prstGeom prst="line">
            <a:avLst/>
          </a:prstGeom>
          <a:noFill/>
          <a:ln w="12700">
            <a:solidFill>
              <a:srgbClr val="E2E6E3"/>
            </a:solidFill>
            <a:prstDash val="solid"/>
          </a:ln>
        </p:spPr>
      </p:sp>
      <p:sp>
        <p:nvSpPr>
          <p:cNvPr id="13" name="Text 4"/>
          <p:cNvSpPr txBox="1"/>
          <p:nvPr/>
        </p:nvSpPr>
        <p:spPr>
          <a:xfrm>
            <a:off x="731520" y="3666744"/>
            <a:ext cx="658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3C7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000" dirty="0"/>
          </a:p>
        </p:txBody>
      </p:sp>
      <p:sp>
        <p:nvSpPr>
          <p:cNvPr id="14" name="Text 5"/>
          <p:cNvSpPr txBox="1"/>
          <p:nvPr>
            <p:ph idx="112" type="body" hasCustomPrompt="1"/>
          </p:nvPr>
        </p:nvSpPr>
        <p:spPr>
          <a:xfrm>
            <a:off x="1508760" y="3666744"/>
            <a:ext cx="786384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700" b="1" dirty="0">
                <a:solidFill>
                  <a:srgbClr val="15181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700" b="1" dirty="0">
                <a:solidFill>
                  <a:srgbClr val="15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 item</a:t>
            </a:r>
            <a:endParaRPr lang="en-US" sz="1700" dirty="0"/>
          </a:p>
        </p:txBody>
      </p:sp>
      <p:sp>
        <p:nvSpPr>
          <p:cNvPr id="15" name="Text 5"/>
          <p:cNvSpPr txBox="1"/>
          <p:nvPr>
            <p:ph idx="113" type="body" hasCustomPrompt="1"/>
          </p:nvPr>
        </p:nvSpPr>
        <p:spPr>
          <a:xfrm>
            <a:off x="8869680" y="3666744"/>
            <a:ext cx="2587752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120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r" indent="0" marL="0">
              <a:buNone/>
            </a:pPr>
            <a:r>
              <a:rPr lang="en-US" sz="120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min</a:t>
            </a:r>
            <a:endParaRPr lang="en-US" sz="1200" dirty="0"/>
          </a:p>
        </p:txBody>
      </p:sp>
      <p:sp>
        <p:nvSpPr>
          <p:cNvPr id="16" name="Shape 5"/>
          <p:cNvSpPr/>
          <p:nvPr/>
        </p:nvSpPr>
        <p:spPr>
          <a:xfrm>
            <a:off x="731520" y="4270248"/>
            <a:ext cx="10728655" cy="0"/>
          </a:xfrm>
          <a:prstGeom prst="line">
            <a:avLst/>
          </a:prstGeom>
          <a:noFill/>
          <a:ln w="12700">
            <a:solidFill>
              <a:srgbClr val="E2E6E3"/>
            </a:solidFill>
            <a:prstDash val="solid"/>
          </a:ln>
        </p:spPr>
      </p:sp>
      <p:sp>
        <p:nvSpPr>
          <p:cNvPr id="17" name="Text 6"/>
          <p:cNvSpPr txBox="1"/>
          <p:nvPr/>
        </p:nvSpPr>
        <p:spPr>
          <a:xfrm>
            <a:off x="731520" y="4416552"/>
            <a:ext cx="658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3C7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000" dirty="0"/>
          </a:p>
        </p:txBody>
      </p:sp>
      <p:sp>
        <p:nvSpPr>
          <p:cNvPr id="18" name="Text 7"/>
          <p:cNvSpPr txBox="1"/>
          <p:nvPr>
            <p:ph idx="116" type="body" hasCustomPrompt="1"/>
          </p:nvPr>
        </p:nvSpPr>
        <p:spPr>
          <a:xfrm>
            <a:off x="1508760" y="4416552"/>
            <a:ext cx="786384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700" b="1" dirty="0">
                <a:solidFill>
                  <a:srgbClr val="15181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700" b="1" dirty="0">
                <a:solidFill>
                  <a:srgbClr val="15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 item</a:t>
            </a:r>
            <a:endParaRPr lang="en-US" sz="1700" dirty="0"/>
          </a:p>
        </p:txBody>
      </p:sp>
      <p:sp>
        <p:nvSpPr>
          <p:cNvPr id="19" name="Text 7"/>
          <p:cNvSpPr txBox="1"/>
          <p:nvPr>
            <p:ph idx="117" type="body" hasCustomPrompt="1"/>
          </p:nvPr>
        </p:nvSpPr>
        <p:spPr>
          <a:xfrm>
            <a:off x="8869680" y="4416552"/>
            <a:ext cx="2587752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120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r" indent="0" marL="0">
              <a:buNone/>
            </a:pPr>
            <a:r>
              <a:rPr lang="en-US" sz="120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min</a:t>
            </a:r>
            <a:endParaRPr lang="en-US" sz="1200" dirty="0"/>
          </a:p>
        </p:txBody>
      </p:sp>
      <p:sp>
        <p:nvSpPr>
          <p:cNvPr id="20" name="Shape 7"/>
          <p:cNvSpPr/>
          <p:nvPr/>
        </p:nvSpPr>
        <p:spPr>
          <a:xfrm>
            <a:off x="731520" y="5020056"/>
            <a:ext cx="10728655" cy="0"/>
          </a:xfrm>
          <a:prstGeom prst="line">
            <a:avLst/>
          </a:prstGeom>
          <a:noFill/>
          <a:ln w="12700">
            <a:solidFill>
              <a:srgbClr val="E2E6E3"/>
            </a:solidFill>
            <a:prstDash val="solid"/>
          </a:ln>
        </p:spPr>
      </p:sp>
      <p:sp>
        <p:nvSpPr>
          <p:cNvPr id="21" name="Text 8"/>
          <p:cNvSpPr txBox="1"/>
          <p:nvPr/>
        </p:nvSpPr>
        <p:spPr>
          <a:xfrm>
            <a:off x="731520" y="5166360"/>
            <a:ext cx="658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3C7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000" dirty="0"/>
          </a:p>
        </p:txBody>
      </p:sp>
      <p:sp>
        <p:nvSpPr>
          <p:cNvPr id="22" name="Text 9"/>
          <p:cNvSpPr txBox="1"/>
          <p:nvPr>
            <p:ph idx="120" type="body" hasCustomPrompt="1"/>
          </p:nvPr>
        </p:nvSpPr>
        <p:spPr>
          <a:xfrm>
            <a:off x="1508760" y="5166360"/>
            <a:ext cx="786384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700" b="1" dirty="0">
                <a:solidFill>
                  <a:srgbClr val="15181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700" b="1" dirty="0">
                <a:solidFill>
                  <a:srgbClr val="15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 item</a:t>
            </a:r>
            <a:endParaRPr lang="en-US" sz="1700" dirty="0"/>
          </a:p>
        </p:txBody>
      </p:sp>
      <p:sp>
        <p:nvSpPr>
          <p:cNvPr id="23" name="Text 9"/>
          <p:cNvSpPr txBox="1"/>
          <p:nvPr>
            <p:ph idx="121" type="body" hasCustomPrompt="1"/>
          </p:nvPr>
        </p:nvSpPr>
        <p:spPr>
          <a:xfrm>
            <a:off x="8869680" y="5166360"/>
            <a:ext cx="2587752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120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r" indent="0" marL="0">
              <a:buNone/>
            </a:pPr>
            <a:r>
              <a:rPr lang="en-US" sz="120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min</a:t>
            </a:r>
            <a:endParaRPr lang="en-US" sz="1200" dirty="0"/>
          </a:p>
        </p:txBody>
      </p:sp>
      <p:sp>
        <p:nvSpPr>
          <p:cNvPr id="24" name="Shape 9"/>
          <p:cNvSpPr/>
          <p:nvPr/>
        </p:nvSpPr>
        <p:spPr>
          <a:xfrm>
            <a:off x="731520" y="5769864"/>
            <a:ext cx="10728655" cy="0"/>
          </a:xfrm>
          <a:prstGeom prst="line">
            <a:avLst/>
          </a:prstGeom>
          <a:noFill/>
          <a:ln w="12700">
            <a:solidFill>
              <a:srgbClr val="E2E6E3"/>
            </a:solidFill>
            <a:prstDash val="solid"/>
          </a:ln>
        </p:spPr>
      </p:sp>
      <p:pic>
        <p:nvPicPr>
          <p:cNvPr id="25" name="Image 0" descr="brand/logo_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25328" y="6272784"/>
            <a:ext cx="1325880" cy="44793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555480" y="6364224"/>
            <a:ext cx="8229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67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idx="100" type="body" hasCustomPrompt="1"/>
          </p:nvPr>
        </p:nvSpPr>
        <p:spPr>
          <a:xfrm>
            <a:off x="731520" y="548640"/>
            <a:ext cx="10728655" cy="23774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b="1" spc="300" kern="0" dirty="0">
                <a:solidFill>
                  <a:srgbClr val="3C7D4D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100" b="1" spc="300" kern="0" dirty="0">
                <a:solidFill>
                  <a:srgbClr val="3C7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</a:t>
            </a:r>
            <a:endParaRPr lang="en-US" sz="1100" dirty="0"/>
          </a:p>
        </p:txBody>
      </p:sp>
      <p:sp>
        <p:nvSpPr>
          <p:cNvPr id="3" name="Text 0"/>
          <p:cNvSpPr txBox="1"/>
          <p:nvPr>
            <p:ph idx="101" type="title" hasCustomPrompt="1"/>
          </p:nvPr>
        </p:nvSpPr>
        <p:spPr>
          <a:xfrm>
            <a:off x="731520" y="822960"/>
            <a:ext cx="10058400" cy="7132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spc="-60" kern="0" dirty="0">
                <a:solidFill>
                  <a:srgbClr val="15181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400" b="1" spc="-60" kern="0" dirty="0">
                <a:solidFill>
                  <a:srgbClr val="15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title</a:t>
            </a:r>
            <a:endParaRPr lang="en-US" sz="3400" dirty="0"/>
          </a:p>
        </p:txBody>
      </p:sp>
      <p:sp>
        <p:nvSpPr>
          <p:cNvPr id="4" name="Text 0"/>
          <p:cNvSpPr txBox="1"/>
          <p:nvPr>
            <p:ph idx="102" type="body" hasCustomPrompt="1"/>
          </p:nvPr>
        </p:nvSpPr>
        <p:spPr>
          <a:xfrm>
            <a:off x="731520" y="1591056"/>
            <a:ext cx="10728655" cy="42062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b="1" dirty="0">
                <a:solidFill>
                  <a:srgbClr val="3C7D4D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600" b="1" dirty="0">
                <a:solidFill>
                  <a:srgbClr val="3C7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one thing this slide proves.</a:t>
            </a:r>
            <a:endParaRPr lang="en-US" sz="1600" dirty="0"/>
          </a:p>
        </p:txBody>
      </p:sp>
      <p:sp>
        <p:nvSpPr>
          <p:cNvPr id="5" name="Text 0"/>
          <p:cNvSpPr txBox="1"/>
          <p:nvPr>
            <p:ph idx="103" type="body" hasCustomPrompt="1"/>
          </p:nvPr>
        </p:nvSpPr>
        <p:spPr>
          <a:xfrm>
            <a:off x="731520" y="2121408"/>
            <a:ext cx="10728655" cy="39136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rgbClr val="15181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600" dirty="0">
                <a:solidFill>
                  <a:srgbClr val="15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Supporting content</a:t>
            </a:r>
            <a:endParaRPr lang="en-US" sz="1600" dirty="0"/>
          </a:p>
        </p:txBody>
      </p:sp>
      <p:sp>
        <p:nvSpPr>
          <p:cNvPr id="6" name="Text 0"/>
          <p:cNvSpPr txBox="1"/>
          <p:nvPr>
            <p:ph idx="104" type="body" hasCustomPrompt="1"/>
          </p:nvPr>
        </p:nvSpPr>
        <p:spPr>
          <a:xfrm>
            <a:off x="731520" y="6364224"/>
            <a:ext cx="7863840" cy="23774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90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90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</a:t>
            </a:r>
            <a:endParaRPr lang="en-US" sz="900" dirty="0"/>
          </a:p>
        </p:txBody>
      </p:sp>
      <p:pic>
        <p:nvPicPr>
          <p:cNvPr id="7" name="Image 0" descr="brand/logo_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25328" y="6272784"/>
            <a:ext cx="1325880" cy="44793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555480" y="6364224"/>
            <a:ext cx="8229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67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_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idx="100" type="body" hasCustomPrompt="1"/>
          </p:nvPr>
        </p:nvSpPr>
        <p:spPr>
          <a:xfrm>
            <a:off x="731520" y="548640"/>
            <a:ext cx="10728655" cy="23774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b="1" spc="300" kern="0" dirty="0">
                <a:solidFill>
                  <a:srgbClr val="3C7D4D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100" b="1" spc="300" kern="0" dirty="0">
                <a:solidFill>
                  <a:srgbClr val="3C7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</a:t>
            </a:r>
            <a:endParaRPr lang="en-US" sz="1100" dirty="0"/>
          </a:p>
        </p:txBody>
      </p:sp>
      <p:sp>
        <p:nvSpPr>
          <p:cNvPr id="3" name="Text 0"/>
          <p:cNvSpPr txBox="1"/>
          <p:nvPr>
            <p:ph idx="101" type="title" hasCustomPrompt="1"/>
          </p:nvPr>
        </p:nvSpPr>
        <p:spPr>
          <a:xfrm>
            <a:off x="731520" y="822960"/>
            <a:ext cx="10058400" cy="7132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spc="-60" kern="0" dirty="0">
                <a:solidFill>
                  <a:srgbClr val="15181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400" b="1" spc="-60" kern="0" dirty="0">
                <a:solidFill>
                  <a:srgbClr val="15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title</a:t>
            </a:r>
            <a:endParaRPr lang="en-US" sz="3400" dirty="0"/>
          </a:p>
        </p:txBody>
      </p:sp>
      <p:sp>
        <p:nvSpPr>
          <p:cNvPr id="4" name="Text 0"/>
          <p:cNvSpPr txBox="1"/>
          <p:nvPr>
            <p:ph idx="102" type="body" hasCustomPrompt="1"/>
          </p:nvPr>
        </p:nvSpPr>
        <p:spPr>
          <a:xfrm>
            <a:off x="731520" y="1591056"/>
            <a:ext cx="10728655" cy="42062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b="1" dirty="0">
                <a:solidFill>
                  <a:srgbClr val="3C7D4D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600" b="1" dirty="0">
                <a:solidFill>
                  <a:srgbClr val="3C7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one thing this slide proves.</a:t>
            </a:r>
            <a:endParaRPr lang="en-US" sz="1600" dirty="0"/>
          </a:p>
        </p:txBody>
      </p:sp>
      <p:sp>
        <p:nvSpPr>
          <p:cNvPr id="5" name="Text 0"/>
          <p:cNvSpPr txBox="1"/>
          <p:nvPr>
            <p:ph idx="103" type="body" hasCustomPrompt="1"/>
          </p:nvPr>
        </p:nvSpPr>
        <p:spPr>
          <a:xfrm>
            <a:off x="731520" y="2121408"/>
            <a:ext cx="5120640" cy="310896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b="1" spc="240" kern="0" dirty="0">
                <a:solidFill>
                  <a:srgbClr val="3C7D4D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100" b="1" spc="240" kern="0" dirty="0">
                <a:solidFill>
                  <a:srgbClr val="3C7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LEFT HEADING</a:t>
            </a:r>
            <a:endParaRPr lang="en-US" sz="1100" dirty="0"/>
          </a:p>
        </p:txBody>
      </p:sp>
      <p:sp>
        <p:nvSpPr>
          <p:cNvPr id="6" name="Shape 0"/>
          <p:cNvSpPr/>
          <p:nvPr/>
        </p:nvSpPr>
        <p:spPr>
          <a:xfrm>
            <a:off x="731520" y="2505456"/>
            <a:ext cx="5120640" cy="0"/>
          </a:xfrm>
          <a:prstGeom prst="line">
            <a:avLst/>
          </a:prstGeom>
          <a:noFill/>
          <a:ln w="12700">
            <a:solidFill>
              <a:srgbClr val="E2E6E3"/>
            </a:solidFill>
            <a:prstDash val="solid"/>
          </a:ln>
        </p:spPr>
      </p:sp>
      <p:sp>
        <p:nvSpPr>
          <p:cNvPr id="7" name="Text 1"/>
          <p:cNvSpPr txBox="1"/>
          <p:nvPr>
            <p:ph idx="105" type="body" hasCustomPrompt="1"/>
          </p:nvPr>
        </p:nvSpPr>
        <p:spPr>
          <a:xfrm>
            <a:off x="731520" y="2651760"/>
            <a:ext cx="5120640" cy="3383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500" dirty="0">
                <a:solidFill>
                  <a:srgbClr val="15181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500" dirty="0">
                <a:solidFill>
                  <a:srgbClr val="15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Left content</a:t>
            </a:r>
            <a:endParaRPr lang="en-US" sz="1500" dirty="0"/>
          </a:p>
        </p:txBody>
      </p:sp>
      <p:sp>
        <p:nvSpPr>
          <p:cNvPr id="8" name="Text 1"/>
          <p:cNvSpPr txBox="1"/>
          <p:nvPr>
            <p:ph idx="106" type="body" hasCustomPrompt="1"/>
          </p:nvPr>
        </p:nvSpPr>
        <p:spPr>
          <a:xfrm>
            <a:off x="6519672" y="2121408"/>
            <a:ext cx="4937760" cy="310896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b="1" spc="240" kern="0" dirty="0">
                <a:solidFill>
                  <a:srgbClr val="3C7D4D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100" b="1" spc="240" kern="0" dirty="0">
                <a:solidFill>
                  <a:srgbClr val="3C7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 HEADING</a:t>
            </a:r>
            <a:endParaRPr lang="en-US" sz="1100" dirty="0"/>
          </a:p>
        </p:txBody>
      </p:sp>
      <p:sp>
        <p:nvSpPr>
          <p:cNvPr id="9" name="Shape 1"/>
          <p:cNvSpPr/>
          <p:nvPr/>
        </p:nvSpPr>
        <p:spPr>
          <a:xfrm>
            <a:off x="6519672" y="2505456"/>
            <a:ext cx="4937760" cy="0"/>
          </a:xfrm>
          <a:prstGeom prst="line">
            <a:avLst/>
          </a:prstGeom>
          <a:noFill/>
          <a:ln w="12700">
            <a:solidFill>
              <a:srgbClr val="E2E6E3"/>
            </a:solidFill>
            <a:prstDash val="solid"/>
          </a:ln>
        </p:spPr>
      </p:sp>
      <p:sp>
        <p:nvSpPr>
          <p:cNvPr id="10" name="Text 2"/>
          <p:cNvSpPr txBox="1"/>
          <p:nvPr>
            <p:ph idx="108" type="body" hasCustomPrompt="1"/>
          </p:nvPr>
        </p:nvSpPr>
        <p:spPr>
          <a:xfrm>
            <a:off x="6519672" y="2651760"/>
            <a:ext cx="4937760" cy="3383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500" dirty="0">
                <a:solidFill>
                  <a:srgbClr val="15181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500" dirty="0">
                <a:solidFill>
                  <a:srgbClr val="15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 content</a:t>
            </a:r>
            <a:endParaRPr lang="en-US" sz="1500" dirty="0"/>
          </a:p>
        </p:txBody>
      </p:sp>
      <p:sp>
        <p:nvSpPr>
          <p:cNvPr id="11" name="Text 2"/>
          <p:cNvSpPr txBox="1"/>
          <p:nvPr>
            <p:ph idx="109" type="body" hasCustomPrompt="1"/>
          </p:nvPr>
        </p:nvSpPr>
        <p:spPr>
          <a:xfrm>
            <a:off x="731520" y="6364224"/>
            <a:ext cx="7863840" cy="23774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90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90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</a:t>
            </a:r>
            <a:endParaRPr lang="en-US" sz="900" dirty="0"/>
          </a:p>
        </p:txBody>
      </p:sp>
      <p:pic>
        <p:nvPicPr>
          <p:cNvPr id="12" name="Image 0" descr="brand/logo_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25328" y="6272784"/>
            <a:ext cx="1325880" cy="44793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555480" y="6364224"/>
            <a:ext cx="8229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67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_CARD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idx="100" type="body" hasCustomPrompt="1"/>
          </p:nvPr>
        </p:nvSpPr>
        <p:spPr>
          <a:xfrm>
            <a:off x="731520" y="548640"/>
            <a:ext cx="10728655" cy="23774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b="1" spc="300" kern="0" dirty="0">
                <a:solidFill>
                  <a:srgbClr val="3C7D4D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100" b="1" spc="300" kern="0" dirty="0">
                <a:solidFill>
                  <a:srgbClr val="3C7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</a:t>
            </a:r>
            <a:endParaRPr lang="en-US" sz="1100" dirty="0"/>
          </a:p>
        </p:txBody>
      </p:sp>
      <p:sp>
        <p:nvSpPr>
          <p:cNvPr id="3" name="Text 0"/>
          <p:cNvSpPr txBox="1"/>
          <p:nvPr>
            <p:ph idx="101" type="title" hasCustomPrompt="1"/>
          </p:nvPr>
        </p:nvSpPr>
        <p:spPr>
          <a:xfrm>
            <a:off x="731520" y="822960"/>
            <a:ext cx="10058400" cy="7132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spc="-60" kern="0" dirty="0">
                <a:solidFill>
                  <a:srgbClr val="15181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400" b="1" spc="-60" kern="0" dirty="0">
                <a:solidFill>
                  <a:srgbClr val="15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title</a:t>
            </a:r>
            <a:endParaRPr lang="en-US" sz="3400" dirty="0"/>
          </a:p>
        </p:txBody>
      </p:sp>
      <p:sp>
        <p:nvSpPr>
          <p:cNvPr id="4" name="Text 0"/>
          <p:cNvSpPr txBox="1"/>
          <p:nvPr>
            <p:ph idx="102" type="body" hasCustomPrompt="1"/>
          </p:nvPr>
        </p:nvSpPr>
        <p:spPr>
          <a:xfrm>
            <a:off x="731520" y="1591056"/>
            <a:ext cx="10728655" cy="42062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b="1" dirty="0">
                <a:solidFill>
                  <a:srgbClr val="3C7D4D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600" b="1" dirty="0">
                <a:solidFill>
                  <a:srgbClr val="3C7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one thing this slide proves.</a:t>
            </a:r>
            <a:endParaRPr lang="en-US" sz="1600" dirty="0"/>
          </a:p>
        </p:txBody>
      </p:sp>
      <p:sp>
        <p:nvSpPr>
          <p:cNvPr id="5" name="Shape 0"/>
          <p:cNvSpPr/>
          <p:nvPr/>
        </p:nvSpPr>
        <p:spPr>
          <a:xfrm>
            <a:off x="731520" y="2121408"/>
            <a:ext cx="3392424" cy="3584448"/>
          </a:xfrm>
          <a:prstGeom prst="rect">
            <a:avLst/>
          </a:prstGeom>
          <a:solidFill>
            <a:srgbClr val="F2F5F2"/>
          </a:solidFill>
          <a:ln/>
        </p:spPr>
      </p:sp>
      <p:sp>
        <p:nvSpPr>
          <p:cNvPr id="6" name="Text 1"/>
          <p:cNvSpPr txBox="1"/>
          <p:nvPr/>
        </p:nvSpPr>
        <p:spPr>
          <a:xfrm>
            <a:off x="1097280" y="2432304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C7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400" dirty="0"/>
          </a:p>
        </p:txBody>
      </p:sp>
      <p:sp>
        <p:nvSpPr>
          <p:cNvPr id="7" name="Shape 2"/>
          <p:cNvSpPr/>
          <p:nvPr/>
        </p:nvSpPr>
        <p:spPr>
          <a:xfrm>
            <a:off x="1097280" y="3017520"/>
            <a:ext cx="548640" cy="41148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8" name="Text 3"/>
          <p:cNvSpPr txBox="1"/>
          <p:nvPr>
            <p:ph idx="106" type="body" hasCustomPrompt="1"/>
          </p:nvPr>
        </p:nvSpPr>
        <p:spPr>
          <a:xfrm>
            <a:off x="1097280" y="3255264"/>
            <a:ext cx="2660904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b="1" spc="-30" kern="0" dirty="0">
                <a:solidFill>
                  <a:srgbClr val="15181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800" b="1" spc="-30" kern="0" dirty="0">
                <a:solidFill>
                  <a:srgbClr val="15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 heading</a:t>
            </a:r>
            <a:endParaRPr lang="en-US" sz="1800" dirty="0"/>
          </a:p>
        </p:txBody>
      </p:sp>
      <p:sp>
        <p:nvSpPr>
          <p:cNvPr id="9" name="Text 3"/>
          <p:cNvSpPr txBox="1"/>
          <p:nvPr>
            <p:ph idx="107" type="body" hasCustomPrompt="1"/>
          </p:nvPr>
        </p:nvSpPr>
        <p:spPr>
          <a:xfrm>
            <a:off x="1097280" y="3986784"/>
            <a:ext cx="2660904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5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35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three lines on what this is and why it matters.</a:t>
            </a:r>
            <a:endParaRPr lang="en-US" sz="1350" dirty="0"/>
          </a:p>
        </p:txBody>
      </p:sp>
      <p:sp>
        <p:nvSpPr>
          <p:cNvPr id="10" name="Shape 3"/>
          <p:cNvSpPr/>
          <p:nvPr/>
        </p:nvSpPr>
        <p:spPr>
          <a:xfrm>
            <a:off x="4407408" y="2121408"/>
            <a:ext cx="3392424" cy="3584448"/>
          </a:xfrm>
          <a:prstGeom prst="rect">
            <a:avLst/>
          </a:prstGeom>
          <a:solidFill>
            <a:srgbClr val="F2F5F2"/>
          </a:solidFill>
          <a:ln/>
        </p:spPr>
      </p:sp>
      <p:sp>
        <p:nvSpPr>
          <p:cNvPr id="11" name="Text 4"/>
          <p:cNvSpPr txBox="1"/>
          <p:nvPr/>
        </p:nvSpPr>
        <p:spPr>
          <a:xfrm>
            <a:off x="4773168" y="2432304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C7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400" dirty="0"/>
          </a:p>
        </p:txBody>
      </p:sp>
      <p:sp>
        <p:nvSpPr>
          <p:cNvPr id="12" name="Shape 5"/>
          <p:cNvSpPr/>
          <p:nvPr/>
        </p:nvSpPr>
        <p:spPr>
          <a:xfrm>
            <a:off x="4773168" y="3017520"/>
            <a:ext cx="548640" cy="41148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13" name="Text 6"/>
          <p:cNvSpPr txBox="1"/>
          <p:nvPr>
            <p:ph idx="111" type="body" hasCustomPrompt="1"/>
          </p:nvPr>
        </p:nvSpPr>
        <p:spPr>
          <a:xfrm>
            <a:off x="4773168" y="3255264"/>
            <a:ext cx="2660904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b="1" spc="-30" kern="0" dirty="0">
                <a:solidFill>
                  <a:srgbClr val="15181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800" b="1" spc="-30" kern="0" dirty="0">
                <a:solidFill>
                  <a:srgbClr val="15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 heading</a:t>
            </a:r>
            <a:endParaRPr lang="en-US" sz="1800" dirty="0"/>
          </a:p>
        </p:txBody>
      </p:sp>
      <p:sp>
        <p:nvSpPr>
          <p:cNvPr id="14" name="Text 6"/>
          <p:cNvSpPr txBox="1"/>
          <p:nvPr>
            <p:ph idx="112" type="body" hasCustomPrompt="1"/>
          </p:nvPr>
        </p:nvSpPr>
        <p:spPr>
          <a:xfrm>
            <a:off x="4773168" y="3986784"/>
            <a:ext cx="2660904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5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35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three lines on what this is and why it matters.</a:t>
            </a:r>
            <a:endParaRPr lang="en-US" sz="1350" dirty="0"/>
          </a:p>
        </p:txBody>
      </p:sp>
      <p:sp>
        <p:nvSpPr>
          <p:cNvPr id="15" name="Shape 6"/>
          <p:cNvSpPr/>
          <p:nvPr/>
        </p:nvSpPr>
        <p:spPr>
          <a:xfrm>
            <a:off x="8083296" y="2121408"/>
            <a:ext cx="3392424" cy="3584448"/>
          </a:xfrm>
          <a:prstGeom prst="rect">
            <a:avLst/>
          </a:prstGeom>
          <a:solidFill>
            <a:srgbClr val="F2F5F2"/>
          </a:solidFill>
          <a:ln/>
        </p:spPr>
      </p:sp>
      <p:sp>
        <p:nvSpPr>
          <p:cNvPr id="16" name="Text 7"/>
          <p:cNvSpPr txBox="1"/>
          <p:nvPr/>
        </p:nvSpPr>
        <p:spPr>
          <a:xfrm>
            <a:off x="8449056" y="2432304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C7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400" dirty="0"/>
          </a:p>
        </p:txBody>
      </p:sp>
      <p:sp>
        <p:nvSpPr>
          <p:cNvPr id="17" name="Shape 8"/>
          <p:cNvSpPr/>
          <p:nvPr/>
        </p:nvSpPr>
        <p:spPr>
          <a:xfrm>
            <a:off x="8449056" y="3017520"/>
            <a:ext cx="548640" cy="41148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18" name="Text 9"/>
          <p:cNvSpPr txBox="1"/>
          <p:nvPr>
            <p:ph idx="116" type="body" hasCustomPrompt="1"/>
          </p:nvPr>
        </p:nvSpPr>
        <p:spPr>
          <a:xfrm>
            <a:off x="8449056" y="3255264"/>
            <a:ext cx="2660904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b="1" spc="-30" kern="0" dirty="0">
                <a:solidFill>
                  <a:srgbClr val="15181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800" b="1" spc="-30" kern="0" dirty="0">
                <a:solidFill>
                  <a:srgbClr val="15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 heading</a:t>
            </a:r>
            <a:endParaRPr lang="en-US" sz="1800" dirty="0"/>
          </a:p>
        </p:txBody>
      </p:sp>
      <p:sp>
        <p:nvSpPr>
          <p:cNvPr id="19" name="Text 9"/>
          <p:cNvSpPr txBox="1"/>
          <p:nvPr>
            <p:ph idx="117" type="body" hasCustomPrompt="1"/>
          </p:nvPr>
        </p:nvSpPr>
        <p:spPr>
          <a:xfrm>
            <a:off x="8449056" y="3986784"/>
            <a:ext cx="2660904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5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35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three lines on what this is and why it matters.</a:t>
            </a:r>
            <a:endParaRPr lang="en-US" sz="1350" dirty="0"/>
          </a:p>
        </p:txBody>
      </p:sp>
      <p:sp>
        <p:nvSpPr>
          <p:cNvPr id="20" name="Text 9"/>
          <p:cNvSpPr txBox="1"/>
          <p:nvPr>
            <p:ph idx="118" type="body" hasCustomPrompt="1"/>
          </p:nvPr>
        </p:nvSpPr>
        <p:spPr>
          <a:xfrm>
            <a:off x="731520" y="6364224"/>
            <a:ext cx="7863840" cy="23774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90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90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</a:t>
            </a:r>
            <a:endParaRPr lang="en-US" sz="900" dirty="0"/>
          </a:p>
        </p:txBody>
      </p:sp>
      <p:pic>
        <p:nvPicPr>
          <p:cNvPr id="21" name="Image 0" descr="brand/logo_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25328" y="6272784"/>
            <a:ext cx="1325880" cy="44793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555480" y="6364224"/>
            <a:ext cx="8229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67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1007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_NUMBER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idx="100" type="body" hasCustomPrompt="1"/>
          </p:nvPr>
        </p:nvSpPr>
        <p:spPr>
          <a:xfrm>
            <a:off x="731520" y="548640"/>
            <a:ext cx="10728655" cy="23774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b="1" spc="300" kern="0" dirty="0">
                <a:solidFill>
                  <a:srgbClr val="3C7D4D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100" b="1" spc="300" kern="0" dirty="0">
                <a:solidFill>
                  <a:srgbClr val="3C7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</a:t>
            </a:r>
            <a:endParaRPr lang="en-US" sz="1100" dirty="0"/>
          </a:p>
        </p:txBody>
      </p:sp>
      <p:sp>
        <p:nvSpPr>
          <p:cNvPr id="3" name="Text 0"/>
          <p:cNvSpPr txBox="1"/>
          <p:nvPr>
            <p:ph idx="101" type="title" hasCustomPrompt="1"/>
          </p:nvPr>
        </p:nvSpPr>
        <p:spPr>
          <a:xfrm>
            <a:off x="731520" y="822960"/>
            <a:ext cx="10058400" cy="7132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spc="-60" kern="0" dirty="0">
                <a:solidFill>
                  <a:srgbClr val="15181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400" b="1" spc="-60" kern="0" dirty="0">
                <a:solidFill>
                  <a:srgbClr val="15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title</a:t>
            </a:r>
            <a:endParaRPr lang="en-US" sz="3400" dirty="0"/>
          </a:p>
        </p:txBody>
      </p:sp>
      <p:sp>
        <p:nvSpPr>
          <p:cNvPr id="4" name="Text 0"/>
          <p:cNvSpPr txBox="1"/>
          <p:nvPr>
            <p:ph idx="102" type="body" hasCustomPrompt="1"/>
          </p:nvPr>
        </p:nvSpPr>
        <p:spPr>
          <a:xfrm>
            <a:off x="731520" y="1591056"/>
            <a:ext cx="10728655" cy="42062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b="1" dirty="0">
                <a:solidFill>
                  <a:srgbClr val="3C7D4D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600" b="1" dirty="0">
                <a:solidFill>
                  <a:srgbClr val="3C7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one thing this slide proves.</a:t>
            </a:r>
            <a:endParaRPr lang="en-US" sz="1600" dirty="0"/>
          </a:p>
        </p:txBody>
      </p:sp>
      <p:sp>
        <p:nvSpPr>
          <p:cNvPr id="5" name="Shape 0"/>
          <p:cNvSpPr/>
          <p:nvPr/>
        </p:nvSpPr>
        <p:spPr>
          <a:xfrm>
            <a:off x="731520" y="2121408"/>
            <a:ext cx="3392424" cy="0"/>
          </a:xfrm>
          <a:prstGeom prst="line">
            <a:avLst/>
          </a:prstGeom>
          <a:noFill/>
          <a:ln w="31750">
            <a:solidFill>
              <a:srgbClr val="3C7D4D"/>
            </a:solidFill>
            <a:prstDash val="solid"/>
          </a:ln>
        </p:spPr>
      </p:sp>
      <p:sp>
        <p:nvSpPr>
          <p:cNvPr id="6" name="Text 1"/>
          <p:cNvSpPr txBox="1"/>
          <p:nvPr>
            <p:ph idx="104" type="body" hasCustomPrompt="1"/>
          </p:nvPr>
        </p:nvSpPr>
        <p:spPr>
          <a:xfrm>
            <a:off x="731520" y="2359152"/>
            <a:ext cx="3392424" cy="1051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spc="-150" kern="0" dirty="0">
                <a:solidFill>
                  <a:srgbClr val="3C7D4D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4800" b="1" spc="-150" kern="0" dirty="0">
                <a:solidFill>
                  <a:srgbClr val="3C7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00%</a:t>
            </a:r>
            <a:endParaRPr lang="en-US" sz="4800" dirty="0"/>
          </a:p>
        </p:txBody>
      </p:sp>
      <p:sp>
        <p:nvSpPr>
          <p:cNvPr id="7" name="Text 1"/>
          <p:cNvSpPr txBox="1"/>
          <p:nvPr>
            <p:ph idx="105" type="body" hasCustomPrompt="1"/>
          </p:nvPr>
        </p:nvSpPr>
        <p:spPr>
          <a:xfrm>
            <a:off x="731520" y="3493008"/>
            <a:ext cx="3118104" cy="32918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b="1" spc="160" kern="0" dirty="0">
                <a:solidFill>
                  <a:srgbClr val="15181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100" b="1" spc="160" kern="0" dirty="0">
                <a:solidFill>
                  <a:srgbClr val="15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MEASURES</a:t>
            </a:r>
            <a:endParaRPr lang="en-US" sz="1100" dirty="0"/>
          </a:p>
        </p:txBody>
      </p:sp>
      <p:sp>
        <p:nvSpPr>
          <p:cNvPr id="8" name="Text 1"/>
          <p:cNvSpPr txBox="1"/>
          <p:nvPr>
            <p:ph idx="106" type="body" hasCustomPrompt="1"/>
          </p:nvPr>
        </p:nvSpPr>
        <p:spPr>
          <a:xfrm>
            <a:off x="731520" y="3895344"/>
            <a:ext cx="3118104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30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line of context or the comparison.</a:t>
            </a:r>
            <a:endParaRPr lang="en-US" sz="1300" dirty="0"/>
          </a:p>
        </p:txBody>
      </p:sp>
      <p:sp>
        <p:nvSpPr>
          <p:cNvPr id="9" name="Shape 1"/>
          <p:cNvSpPr/>
          <p:nvPr/>
        </p:nvSpPr>
        <p:spPr>
          <a:xfrm>
            <a:off x="4407408" y="2121408"/>
            <a:ext cx="3392424" cy="0"/>
          </a:xfrm>
          <a:prstGeom prst="line">
            <a:avLst/>
          </a:prstGeom>
          <a:noFill/>
          <a:ln w="31750">
            <a:solidFill>
              <a:srgbClr val="3C7D4D"/>
            </a:solidFill>
            <a:prstDash val="solid"/>
          </a:ln>
        </p:spPr>
      </p:sp>
      <p:sp>
        <p:nvSpPr>
          <p:cNvPr id="10" name="Text 2"/>
          <p:cNvSpPr txBox="1"/>
          <p:nvPr>
            <p:ph idx="108" type="body" hasCustomPrompt="1"/>
          </p:nvPr>
        </p:nvSpPr>
        <p:spPr>
          <a:xfrm>
            <a:off x="4407408" y="2359152"/>
            <a:ext cx="3392424" cy="1051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spc="-150" kern="0" dirty="0">
                <a:solidFill>
                  <a:srgbClr val="3C7D4D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4800" b="1" spc="-150" kern="0" dirty="0">
                <a:solidFill>
                  <a:srgbClr val="3C7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00%</a:t>
            </a:r>
            <a:endParaRPr lang="en-US" sz="4800" dirty="0"/>
          </a:p>
        </p:txBody>
      </p:sp>
      <p:sp>
        <p:nvSpPr>
          <p:cNvPr id="11" name="Text 2"/>
          <p:cNvSpPr txBox="1"/>
          <p:nvPr>
            <p:ph idx="109" type="body" hasCustomPrompt="1"/>
          </p:nvPr>
        </p:nvSpPr>
        <p:spPr>
          <a:xfrm>
            <a:off x="4407408" y="3493008"/>
            <a:ext cx="3118104" cy="32918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b="1" spc="160" kern="0" dirty="0">
                <a:solidFill>
                  <a:srgbClr val="15181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100" b="1" spc="160" kern="0" dirty="0">
                <a:solidFill>
                  <a:srgbClr val="15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MEASURES</a:t>
            </a:r>
            <a:endParaRPr lang="en-US" sz="1100" dirty="0"/>
          </a:p>
        </p:txBody>
      </p:sp>
      <p:sp>
        <p:nvSpPr>
          <p:cNvPr id="12" name="Text 2"/>
          <p:cNvSpPr txBox="1"/>
          <p:nvPr>
            <p:ph idx="110" type="body" hasCustomPrompt="1"/>
          </p:nvPr>
        </p:nvSpPr>
        <p:spPr>
          <a:xfrm>
            <a:off x="4407408" y="3895344"/>
            <a:ext cx="3118104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30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line of context or the comparison.</a:t>
            </a:r>
            <a:endParaRPr lang="en-US" sz="1300" dirty="0"/>
          </a:p>
        </p:txBody>
      </p:sp>
      <p:sp>
        <p:nvSpPr>
          <p:cNvPr id="13" name="Shape 2"/>
          <p:cNvSpPr/>
          <p:nvPr/>
        </p:nvSpPr>
        <p:spPr>
          <a:xfrm>
            <a:off x="8083296" y="2121408"/>
            <a:ext cx="3392424" cy="0"/>
          </a:xfrm>
          <a:prstGeom prst="line">
            <a:avLst/>
          </a:prstGeom>
          <a:noFill/>
          <a:ln w="31750">
            <a:solidFill>
              <a:srgbClr val="3C7D4D"/>
            </a:solidFill>
            <a:prstDash val="solid"/>
          </a:ln>
        </p:spPr>
      </p:sp>
      <p:sp>
        <p:nvSpPr>
          <p:cNvPr id="14" name="Text 3"/>
          <p:cNvSpPr txBox="1"/>
          <p:nvPr>
            <p:ph idx="112" type="body" hasCustomPrompt="1"/>
          </p:nvPr>
        </p:nvSpPr>
        <p:spPr>
          <a:xfrm>
            <a:off x="8083296" y="2359152"/>
            <a:ext cx="3392424" cy="1051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spc="-150" kern="0" dirty="0">
                <a:solidFill>
                  <a:srgbClr val="3C7D4D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4800" b="1" spc="-150" kern="0" dirty="0">
                <a:solidFill>
                  <a:srgbClr val="3C7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00%</a:t>
            </a:r>
            <a:endParaRPr lang="en-US" sz="4800" dirty="0"/>
          </a:p>
        </p:txBody>
      </p:sp>
      <p:sp>
        <p:nvSpPr>
          <p:cNvPr id="15" name="Text 3"/>
          <p:cNvSpPr txBox="1"/>
          <p:nvPr>
            <p:ph idx="113" type="body" hasCustomPrompt="1"/>
          </p:nvPr>
        </p:nvSpPr>
        <p:spPr>
          <a:xfrm>
            <a:off x="8083296" y="3493008"/>
            <a:ext cx="3118104" cy="32918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b="1" spc="160" kern="0" dirty="0">
                <a:solidFill>
                  <a:srgbClr val="15181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100" b="1" spc="160" kern="0" dirty="0">
                <a:solidFill>
                  <a:srgbClr val="15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MEASURES</a:t>
            </a:r>
            <a:endParaRPr lang="en-US" sz="1100" dirty="0"/>
          </a:p>
        </p:txBody>
      </p:sp>
      <p:sp>
        <p:nvSpPr>
          <p:cNvPr id="16" name="Text 3"/>
          <p:cNvSpPr txBox="1"/>
          <p:nvPr>
            <p:ph idx="114" type="body" hasCustomPrompt="1"/>
          </p:nvPr>
        </p:nvSpPr>
        <p:spPr>
          <a:xfrm>
            <a:off x="8083296" y="3895344"/>
            <a:ext cx="3118104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30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line of context or the comparison.</a:t>
            </a:r>
            <a:endParaRPr lang="en-US" sz="1300" dirty="0"/>
          </a:p>
        </p:txBody>
      </p:sp>
      <p:sp>
        <p:nvSpPr>
          <p:cNvPr id="17" name="Text 3"/>
          <p:cNvSpPr txBox="1"/>
          <p:nvPr>
            <p:ph idx="115" type="body" hasCustomPrompt="1"/>
          </p:nvPr>
        </p:nvSpPr>
        <p:spPr>
          <a:xfrm>
            <a:off x="731520" y="5138928"/>
            <a:ext cx="1072865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500" dirty="0">
                <a:solidFill>
                  <a:srgbClr val="15181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500" dirty="0">
                <a:solidFill>
                  <a:srgbClr val="15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what, and what we do about it.</a:t>
            </a:r>
            <a:endParaRPr lang="en-US" sz="1500" dirty="0"/>
          </a:p>
        </p:txBody>
      </p:sp>
      <p:sp>
        <p:nvSpPr>
          <p:cNvPr id="18" name="Text 3"/>
          <p:cNvSpPr txBox="1"/>
          <p:nvPr>
            <p:ph idx="116" type="body" hasCustomPrompt="1"/>
          </p:nvPr>
        </p:nvSpPr>
        <p:spPr>
          <a:xfrm>
            <a:off x="731520" y="6364224"/>
            <a:ext cx="7863840" cy="23774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90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90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</a:t>
            </a:r>
            <a:endParaRPr lang="en-US" sz="900" dirty="0"/>
          </a:p>
        </p:txBody>
      </p:sp>
      <p:pic>
        <p:nvPicPr>
          <p:cNvPr id="19" name="Image 0" descr="brand/logo_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25328" y="6272784"/>
            <a:ext cx="1325880" cy="44793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555480" y="6364224"/>
            <a:ext cx="8229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67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1008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VISUA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idx="100" type="body" hasCustomPrompt="1"/>
          </p:nvPr>
        </p:nvSpPr>
        <p:spPr>
          <a:xfrm>
            <a:off x="731520" y="548640"/>
            <a:ext cx="10728655" cy="23774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b="1" spc="300" kern="0" dirty="0">
                <a:solidFill>
                  <a:srgbClr val="3C7D4D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100" b="1" spc="300" kern="0" dirty="0">
                <a:solidFill>
                  <a:srgbClr val="3C7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</a:t>
            </a:r>
            <a:endParaRPr lang="en-US" sz="1100" dirty="0"/>
          </a:p>
        </p:txBody>
      </p:sp>
      <p:sp>
        <p:nvSpPr>
          <p:cNvPr id="3" name="Text 0"/>
          <p:cNvSpPr txBox="1"/>
          <p:nvPr>
            <p:ph idx="101" type="title" hasCustomPrompt="1"/>
          </p:nvPr>
        </p:nvSpPr>
        <p:spPr>
          <a:xfrm>
            <a:off x="731520" y="822960"/>
            <a:ext cx="10058400" cy="7132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spc="-60" kern="0" dirty="0">
                <a:solidFill>
                  <a:srgbClr val="15181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400" b="1" spc="-60" kern="0" dirty="0">
                <a:solidFill>
                  <a:srgbClr val="15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title</a:t>
            </a:r>
            <a:endParaRPr lang="en-US" sz="3400" dirty="0"/>
          </a:p>
        </p:txBody>
      </p:sp>
      <p:sp>
        <p:nvSpPr>
          <p:cNvPr id="4" name="Text 0"/>
          <p:cNvSpPr txBox="1"/>
          <p:nvPr>
            <p:ph idx="102" type="body" hasCustomPrompt="1"/>
          </p:nvPr>
        </p:nvSpPr>
        <p:spPr>
          <a:xfrm>
            <a:off x="731520" y="1591056"/>
            <a:ext cx="10728655" cy="42062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b="1" dirty="0">
                <a:solidFill>
                  <a:srgbClr val="3C7D4D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600" b="1" dirty="0">
                <a:solidFill>
                  <a:srgbClr val="3C7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one thing this slide proves.</a:t>
            </a:r>
            <a:endParaRPr lang="en-US" sz="1600" dirty="0"/>
          </a:p>
        </p:txBody>
      </p:sp>
      <p:sp>
        <p:nvSpPr>
          <p:cNvPr id="5" name="Text 0"/>
          <p:cNvSpPr txBox="1"/>
          <p:nvPr>
            <p:ph idx="103" type="body" hasCustomPrompt="1"/>
          </p:nvPr>
        </p:nvSpPr>
        <p:spPr>
          <a:xfrm>
            <a:off x="731520" y="2121408"/>
            <a:ext cx="4572000" cy="39136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500" dirty="0">
                <a:solidFill>
                  <a:srgbClr val="15181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500" dirty="0">
                <a:solidFill>
                  <a:srgbClr val="15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Supporting points</a:t>
            </a:r>
            <a:endParaRPr lang="en-US" sz="1500" dirty="0"/>
          </a:p>
        </p:txBody>
      </p:sp>
      <p:sp>
        <p:nvSpPr>
          <p:cNvPr id="6" name="Text 0"/>
          <p:cNvSpPr/>
          <p:nvPr>
            <p:ph idx="104" hasCustomPrompt="1"/>
          </p:nvPr>
        </p:nvSpPr>
        <p:spPr>
          <a:xfrm>
            <a:off x="5943600" y="2121408"/>
            <a:ext cx="5513832" cy="3913632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 </a:t>
            </a:r>
            <a:endParaRPr lang="en-US" dirty="0"/>
          </a:p>
        </p:txBody>
      </p:sp>
      <p:sp>
        <p:nvSpPr>
          <p:cNvPr id="7" name="Text 0"/>
          <p:cNvSpPr txBox="1"/>
          <p:nvPr>
            <p:ph idx="105" type="body" hasCustomPrompt="1"/>
          </p:nvPr>
        </p:nvSpPr>
        <p:spPr>
          <a:xfrm>
            <a:off x="731520" y="6364224"/>
            <a:ext cx="7863840" cy="23774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90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90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</a:t>
            </a:r>
            <a:endParaRPr lang="en-US" sz="900" dirty="0"/>
          </a:p>
        </p:txBody>
      </p:sp>
      <p:pic>
        <p:nvPicPr>
          <p:cNvPr id="8" name="Image 0" descr="brand/logo_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25328" y="6272784"/>
            <a:ext cx="1325880" cy="44793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555480" y="6364224"/>
            <a:ext cx="8229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67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1009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_VISUA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idx="100" type="body" hasCustomPrompt="1"/>
          </p:nvPr>
        </p:nvSpPr>
        <p:spPr>
          <a:xfrm>
            <a:off x="731520" y="548640"/>
            <a:ext cx="10728655" cy="23774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b="1" spc="300" kern="0" dirty="0">
                <a:solidFill>
                  <a:srgbClr val="3C7D4D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100" b="1" spc="300" kern="0" dirty="0">
                <a:solidFill>
                  <a:srgbClr val="3C7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</a:t>
            </a:r>
            <a:endParaRPr lang="en-US" sz="1100" dirty="0"/>
          </a:p>
        </p:txBody>
      </p:sp>
      <p:sp>
        <p:nvSpPr>
          <p:cNvPr id="3" name="Text 0"/>
          <p:cNvSpPr txBox="1"/>
          <p:nvPr>
            <p:ph idx="101" type="title" hasCustomPrompt="1"/>
          </p:nvPr>
        </p:nvSpPr>
        <p:spPr>
          <a:xfrm>
            <a:off x="731520" y="822960"/>
            <a:ext cx="10058400" cy="7132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spc="-60" kern="0" dirty="0">
                <a:solidFill>
                  <a:srgbClr val="15181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400" b="1" spc="-60" kern="0" dirty="0">
                <a:solidFill>
                  <a:srgbClr val="15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title</a:t>
            </a:r>
            <a:endParaRPr lang="en-US" sz="3400" dirty="0"/>
          </a:p>
        </p:txBody>
      </p:sp>
      <p:sp>
        <p:nvSpPr>
          <p:cNvPr id="4" name="Text 0"/>
          <p:cNvSpPr txBox="1"/>
          <p:nvPr>
            <p:ph idx="102" type="body" hasCustomPrompt="1"/>
          </p:nvPr>
        </p:nvSpPr>
        <p:spPr>
          <a:xfrm>
            <a:off x="731520" y="1591056"/>
            <a:ext cx="10728655" cy="42062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b="1" dirty="0">
                <a:solidFill>
                  <a:srgbClr val="3C7D4D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600" b="1" dirty="0">
                <a:solidFill>
                  <a:srgbClr val="3C7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one thing this slide proves.</a:t>
            </a:r>
            <a:endParaRPr lang="en-US" sz="1600" dirty="0"/>
          </a:p>
        </p:txBody>
      </p:sp>
      <p:sp>
        <p:nvSpPr>
          <p:cNvPr id="5" name="Text 0"/>
          <p:cNvSpPr/>
          <p:nvPr>
            <p:ph idx="103" hasCustomPrompt="1"/>
          </p:nvPr>
        </p:nvSpPr>
        <p:spPr>
          <a:xfrm>
            <a:off x="731520" y="2121408"/>
            <a:ext cx="10728655" cy="3913632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 </a:t>
            </a:r>
            <a:endParaRPr lang="en-US" dirty="0"/>
          </a:p>
        </p:txBody>
      </p:sp>
      <p:sp>
        <p:nvSpPr>
          <p:cNvPr id="6" name="Text 0"/>
          <p:cNvSpPr txBox="1"/>
          <p:nvPr>
            <p:ph idx="104" type="body" hasCustomPrompt="1"/>
          </p:nvPr>
        </p:nvSpPr>
        <p:spPr>
          <a:xfrm>
            <a:off x="731520" y="6364224"/>
            <a:ext cx="7863840" cy="23774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90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90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</a:t>
            </a:r>
            <a:endParaRPr lang="en-US" sz="900" dirty="0"/>
          </a:p>
        </p:txBody>
      </p:sp>
      <p:pic>
        <p:nvPicPr>
          <p:cNvPr id="7" name="Image 0" descr="brand/logo_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25328" y="6272784"/>
            <a:ext cx="1325880" cy="44793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555480" y="6364224"/>
            <a:ext cx="8229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67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1010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idx="100" type="body" hasCustomPrompt="1"/>
          </p:nvPr>
        </p:nvSpPr>
        <p:spPr>
          <a:xfrm>
            <a:off x="731520" y="548640"/>
            <a:ext cx="10728655" cy="23774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b="1" spc="300" kern="0" dirty="0">
                <a:solidFill>
                  <a:srgbClr val="3C7D4D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100" b="1" spc="300" kern="0" dirty="0">
                <a:solidFill>
                  <a:srgbClr val="3C7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</a:t>
            </a:r>
            <a:endParaRPr lang="en-US" sz="1100" dirty="0"/>
          </a:p>
        </p:txBody>
      </p:sp>
      <p:sp>
        <p:nvSpPr>
          <p:cNvPr id="3" name="Text 0"/>
          <p:cNvSpPr txBox="1"/>
          <p:nvPr>
            <p:ph idx="101" type="title" hasCustomPrompt="1"/>
          </p:nvPr>
        </p:nvSpPr>
        <p:spPr>
          <a:xfrm>
            <a:off x="731520" y="822960"/>
            <a:ext cx="10058400" cy="7132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spc="-60" kern="0" dirty="0">
                <a:solidFill>
                  <a:srgbClr val="15181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400" b="1" spc="-60" kern="0" dirty="0">
                <a:solidFill>
                  <a:srgbClr val="15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title</a:t>
            </a:r>
            <a:endParaRPr lang="en-US" sz="3400" dirty="0"/>
          </a:p>
        </p:txBody>
      </p:sp>
      <p:sp>
        <p:nvSpPr>
          <p:cNvPr id="4" name="Text 0"/>
          <p:cNvSpPr txBox="1"/>
          <p:nvPr>
            <p:ph idx="102" type="body" hasCustomPrompt="1"/>
          </p:nvPr>
        </p:nvSpPr>
        <p:spPr>
          <a:xfrm>
            <a:off x="731520" y="1591056"/>
            <a:ext cx="10728655" cy="42062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b="1" dirty="0">
                <a:solidFill>
                  <a:srgbClr val="3C7D4D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600" b="1" dirty="0">
                <a:solidFill>
                  <a:srgbClr val="3C7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one thing this slide proves.</a:t>
            </a:r>
            <a:endParaRPr lang="en-US" sz="1600" dirty="0"/>
          </a:p>
        </p:txBody>
      </p:sp>
      <p:sp>
        <p:nvSpPr>
          <p:cNvPr id="5" name="Shape 0"/>
          <p:cNvSpPr/>
          <p:nvPr/>
        </p:nvSpPr>
        <p:spPr>
          <a:xfrm>
            <a:off x="731520" y="2121408"/>
            <a:ext cx="5230368" cy="475488"/>
          </a:xfrm>
          <a:prstGeom prst="rect">
            <a:avLst/>
          </a:prstGeom>
          <a:solidFill>
            <a:srgbClr val="3C7D4D"/>
          </a:solidFill>
          <a:ln/>
        </p:spPr>
      </p:sp>
      <p:sp>
        <p:nvSpPr>
          <p:cNvPr id="6" name="Text 1"/>
          <p:cNvSpPr txBox="1"/>
          <p:nvPr>
            <p:ph idx="104" type="body" hasCustomPrompt="1"/>
          </p:nvPr>
        </p:nvSpPr>
        <p:spPr>
          <a:xfrm>
            <a:off x="987552" y="2121408"/>
            <a:ext cx="4718304" cy="47548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 A</a:t>
            </a:r>
            <a:endParaRPr lang="en-US" sz="1300" dirty="0"/>
          </a:p>
        </p:txBody>
      </p:sp>
      <p:sp>
        <p:nvSpPr>
          <p:cNvPr id="7" name="Shape 1"/>
          <p:cNvSpPr/>
          <p:nvPr/>
        </p:nvSpPr>
        <p:spPr>
          <a:xfrm>
            <a:off x="731520" y="2596896"/>
            <a:ext cx="5230368" cy="2980944"/>
          </a:xfrm>
          <a:prstGeom prst="rect">
            <a:avLst/>
          </a:prstGeom>
          <a:solidFill>
            <a:srgbClr val="F2F5F2"/>
          </a:solidFill>
          <a:ln/>
        </p:spPr>
      </p:sp>
      <p:sp>
        <p:nvSpPr>
          <p:cNvPr id="8" name="Text 2"/>
          <p:cNvSpPr txBox="1"/>
          <p:nvPr>
            <p:ph idx="106" type="body" hasCustomPrompt="1"/>
          </p:nvPr>
        </p:nvSpPr>
        <p:spPr>
          <a:xfrm>
            <a:off x="987552" y="2834640"/>
            <a:ext cx="4718304" cy="2560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50" dirty="0">
                <a:solidFill>
                  <a:srgbClr val="15181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450" dirty="0">
                <a:solidFill>
                  <a:srgbClr val="15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gets us, what it costs, what breaks.</a:t>
            </a:r>
            <a:endParaRPr lang="en-US" sz="1450" dirty="0"/>
          </a:p>
        </p:txBody>
      </p:sp>
      <p:sp>
        <p:nvSpPr>
          <p:cNvPr id="9" name="Shape 2"/>
          <p:cNvSpPr/>
          <p:nvPr/>
        </p:nvSpPr>
        <p:spPr>
          <a:xfrm>
            <a:off x="6227064" y="2121408"/>
            <a:ext cx="5230368" cy="475488"/>
          </a:xfrm>
          <a:prstGeom prst="rect">
            <a:avLst/>
          </a:prstGeom>
          <a:solidFill>
            <a:srgbClr val="5B6670"/>
          </a:solidFill>
          <a:ln/>
        </p:spPr>
      </p:sp>
      <p:sp>
        <p:nvSpPr>
          <p:cNvPr id="10" name="Text 3"/>
          <p:cNvSpPr txBox="1"/>
          <p:nvPr>
            <p:ph idx="108" type="body" hasCustomPrompt="1"/>
          </p:nvPr>
        </p:nvSpPr>
        <p:spPr>
          <a:xfrm>
            <a:off x="6483096" y="2121408"/>
            <a:ext cx="4718304" cy="47548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 B</a:t>
            </a:r>
            <a:endParaRPr lang="en-US" sz="1300" dirty="0"/>
          </a:p>
        </p:txBody>
      </p:sp>
      <p:sp>
        <p:nvSpPr>
          <p:cNvPr id="11" name="Shape 3"/>
          <p:cNvSpPr/>
          <p:nvPr/>
        </p:nvSpPr>
        <p:spPr>
          <a:xfrm>
            <a:off x="6227064" y="2596896"/>
            <a:ext cx="5230368" cy="2980944"/>
          </a:xfrm>
          <a:prstGeom prst="rect">
            <a:avLst/>
          </a:prstGeom>
          <a:solidFill>
            <a:srgbClr val="F2F5F2"/>
          </a:solidFill>
          <a:ln/>
        </p:spPr>
      </p:sp>
      <p:sp>
        <p:nvSpPr>
          <p:cNvPr id="12" name="Text 4"/>
          <p:cNvSpPr txBox="1"/>
          <p:nvPr>
            <p:ph idx="110" type="body" hasCustomPrompt="1"/>
          </p:nvPr>
        </p:nvSpPr>
        <p:spPr>
          <a:xfrm>
            <a:off x="6483096" y="2834640"/>
            <a:ext cx="4718304" cy="2560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50" dirty="0">
                <a:solidFill>
                  <a:srgbClr val="15181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450" dirty="0">
                <a:solidFill>
                  <a:srgbClr val="15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gets us, what it costs, what breaks.</a:t>
            </a:r>
            <a:endParaRPr lang="en-US" sz="1450" dirty="0"/>
          </a:p>
        </p:txBody>
      </p:sp>
      <p:sp>
        <p:nvSpPr>
          <p:cNvPr id="13" name="Text 4"/>
          <p:cNvSpPr txBox="1"/>
          <p:nvPr>
            <p:ph idx="111" type="body" hasCustomPrompt="1"/>
          </p:nvPr>
        </p:nvSpPr>
        <p:spPr>
          <a:xfrm>
            <a:off x="731520" y="5742432"/>
            <a:ext cx="10728655" cy="38404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500" b="1" dirty="0">
                <a:solidFill>
                  <a:srgbClr val="3C7D4D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500" b="1" dirty="0">
                <a:solidFill>
                  <a:srgbClr val="3C7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Recommendation: </a:t>
            </a:r>
            <a:endParaRPr lang="en-US" sz="1500" dirty="0"/>
          </a:p>
        </p:txBody>
      </p:sp>
      <p:sp>
        <p:nvSpPr>
          <p:cNvPr id="14" name="Text 4"/>
          <p:cNvSpPr txBox="1"/>
          <p:nvPr>
            <p:ph idx="112" type="body" hasCustomPrompt="1"/>
          </p:nvPr>
        </p:nvSpPr>
        <p:spPr>
          <a:xfrm>
            <a:off x="731520" y="6364224"/>
            <a:ext cx="7863840" cy="23774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90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90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</a:t>
            </a:r>
            <a:endParaRPr lang="en-US" sz="900" dirty="0"/>
          </a:p>
        </p:txBody>
      </p:sp>
      <p:pic>
        <p:nvPicPr>
          <p:cNvPr id="15" name="Image 0" descr="brand/logo_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25328" y="6272784"/>
            <a:ext cx="1325880" cy="44793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555480" y="6364224"/>
            <a:ext cx="8229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67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1011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MELIN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idx="100" type="body" hasCustomPrompt="1"/>
          </p:nvPr>
        </p:nvSpPr>
        <p:spPr>
          <a:xfrm>
            <a:off x="731520" y="548640"/>
            <a:ext cx="10728655" cy="23774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b="1" spc="300" kern="0" dirty="0">
                <a:solidFill>
                  <a:srgbClr val="3C7D4D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100" b="1" spc="300" kern="0" dirty="0">
                <a:solidFill>
                  <a:srgbClr val="3C7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</a:t>
            </a:r>
            <a:endParaRPr lang="en-US" sz="1100" dirty="0"/>
          </a:p>
        </p:txBody>
      </p:sp>
      <p:sp>
        <p:nvSpPr>
          <p:cNvPr id="3" name="Text 0"/>
          <p:cNvSpPr txBox="1"/>
          <p:nvPr>
            <p:ph idx="101" type="title" hasCustomPrompt="1"/>
          </p:nvPr>
        </p:nvSpPr>
        <p:spPr>
          <a:xfrm>
            <a:off x="731520" y="822960"/>
            <a:ext cx="10058400" cy="7132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spc="-60" kern="0" dirty="0">
                <a:solidFill>
                  <a:srgbClr val="15181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400" b="1" spc="-60" kern="0" dirty="0">
                <a:solidFill>
                  <a:srgbClr val="15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title</a:t>
            </a:r>
            <a:endParaRPr lang="en-US" sz="3400" dirty="0"/>
          </a:p>
        </p:txBody>
      </p:sp>
      <p:sp>
        <p:nvSpPr>
          <p:cNvPr id="4" name="Text 0"/>
          <p:cNvSpPr txBox="1"/>
          <p:nvPr>
            <p:ph idx="102" type="body" hasCustomPrompt="1"/>
          </p:nvPr>
        </p:nvSpPr>
        <p:spPr>
          <a:xfrm>
            <a:off x="731520" y="1591056"/>
            <a:ext cx="10728655" cy="42062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b="1" dirty="0">
                <a:solidFill>
                  <a:srgbClr val="3C7D4D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600" b="1" dirty="0">
                <a:solidFill>
                  <a:srgbClr val="3C7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one thing this slide proves.</a:t>
            </a:r>
            <a:endParaRPr lang="en-US" sz="1600" dirty="0"/>
          </a:p>
        </p:txBody>
      </p:sp>
      <p:sp>
        <p:nvSpPr>
          <p:cNvPr id="5" name="Shape 0"/>
          <p:cNvSpPr/>
          <p:nvPr/>
        </p:nvSpPr>
        <p:spPr>
          <a:xfrm>
            <a:off x="1005840" y="2706624"/>
            <a:ext cx="10180015" cy="0"/>
          </a:xfrm>
          <a:prstGeom prst="line">
            <a:avLst/>
          </a:prstGeom>
          <a:noFill/>
          <a:ln w="25400">
            <a:solidFill>
              <a:srgbClr val="E2E6E3"/>
            </a:solidFill>
            <a:prstDash val="solid"/>
          </a:ln>
        </p:spPr>
      </p:sp>
      <p:sp>
        <p:nvSpPr>
          <p:cNvPr id="6" name="Shape 1"/>
          <p:cNvSpPr/>
          <p:nvPr/>
        </p:nvSpPr>
        <p:spPr>
          <a:xfrm>
            <a:off x="749808" y="2450592"/>
            <a:ext cx="512064" cy="512064"/>
          </a:xfrm>
          <a:prstGeom prst="rect">
            <a:avLst/>
          </a:prstGeom>
          <a:solidFill>
            <a:srgbClr val="3C7D4D"/>
          </a:solidFill>
          <a:ln/>
        </p:spPr>
      </p:sp>
      <p:sp>
        <p:nvSpPr>
          <p:cNvPr id="7" name="Text 2"/>
          <p:cNvSpPr txBox="1"/>
          <p:nvPr/>
        </p:nvSpPr>
        <p:spPr>
          <a:xfrm>
            <a:off x="749808" y="245059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3"/>
          <p:cNvSpPr txBox="1"/>
          <p:nvPr>
            <p:ph idx="106" type="body" hasCustomPrompt="1"/>
          </p:nvPr>
        </p:nvSpPr>
        <p:spPr>
          <a:xfrm>
            <a:off x="731520" y="2121408"/>
            <a:ext cx="2624328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50" b="1" spc="180" kern="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050" b="1" spc="180" kern="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</a:t>
            </a:r>
            <a:endParaRPr lang="en-US" sz="1050" dirty="0"/>
          </a:p>
        </p:txBody>
      </p:sp>
      <p:sp>
        <p:nvSpPr>
          <p:cNvPr id="9" name="Text 3"/>
          <p:cNvSpPr txBox="1"/>
          <p:nvPr>
            <p:ph idx="107" type="body" hasCustomPrompt="1"/>
          </p:nvPr>
        </p:nvSpPr>
        <p:spPr>
          <a:xfrm>
            <a:off x="731520" y="3145536"/>
            <a:ext cx="2487168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b="1" spc="-30" kern="0" dirty="0">
                <a:solidFill>
                  <a:srgbClr val="15181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600" b="1" spc="-30" kern="0" dirty="0">
                <a:solidFill>
                  <a:srgbClr val="15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Milestone</a:t>
            </a:r>
            <a:endParaRPr lang="en-US" sz="1600" dirty="0"/>
          </a:p>
        </p:txBody>
      </p:sp>
      <p:sp>
        <p:nvSpPr>
          <p:cNvPr id="10" name="Text 3"/>
          <p:cNvSpPr txBox="1"/>
          <p:nvPr>
            <p:ph idx="108" type="body" hasCustomPrompt="1"/>
          </p:nvPr>
        </p:nvSpPr>
        <p:spPr>
          <a:xfrm>
            <a:off x="731520" y="3767328"/>
            <a:ext cx="2487168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30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happens and who owns it.</a:t>
            </a:r>
            <a:endParaRPr lang="en-US" sz="1300" dirty="0"/>
          </a:p>
        </p:txBody>
      </p:sp>
      <p:sp>
        <p:nvSpPr>
          <p:cNvPr id="11" name="Shape 3"/>
          <p:cNvSpPr/>
          <p:nvPr/>
        </p:nvSpPr>
        <p:spPr>
          <a:xfrm>
            <a:off x="3639312" y="2450592"/>
            <a:ext cx="512064" cy="512064"/>
          </a:xfrm>
          <a:prstGeom prst="rect">
            <a:avLst/>
          </a:prstGeom>
          <a:solidFill>
            <a:srgbClr val="3C7D4D"/>
          </a:solidFill>
          <a:ln/>
        </p:spPr>
      </p:sp>
      <p:sp>
        <p:nvSpPr>
          <p:cNvPr id="12" name="Text 4"/>
          <p:cNvSpPr txBox="1"/>
          <p:nvPr/>
        </p:nvSpPr>
        <p:spPr>
          <a:xfrm>
            <a:off x="3639312" y="245059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5"/>
          <p:cNvSpPr txBox="1"/>
          <p:nvPr>
            <p:ph idx="111" type="body" hasCustomPrompt="1"/>
          </p:nvPr>
        </p:nvSpPr>
        <p:spPr>
          <a:xfrm>
            <a:off x="3621024" y="2121408"/>
            <a:ext cx="2624328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50" b="1" spc="180" kern="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050" b="1" spc="180" kern="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</a:t>
            </a:r>
            <a:endParaRPr lang="en-US" sz="1050" dirty="0"/>
          </a:p>
        </p:txBody>
      </p:sp>
      <p:sp>
        <p:nvSpPr>
          <p:cNvPr id="14" name="Text 5"/>
          <p:cNvSpPr txBox="1"/>
          <p:nvPr>
            <p:ph idx="112" type="body" hasCustomPrompt="1"/>
          </p:nvPr>
        </p:nvSpPr>
        <p:spPr>
          <a:xfrm>
            <a:off x="3621024" y="3145536"/>
            <a:ext cx="2487168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b="1" spc="-30" kern="0" dirty="0">
                <a:solidFill>
                  <a:srgbClr val="15181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600" b="1" spc="-30" kern="0" dirty="0">
                <a:solidFill>
                  <a:srgbClr val="15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Milestone</a:t>
            </a:r>
            <a:endParaRPr lang="en-US" sz="1600" dirty="0"/>
          </a:p>
        </p:txBody>
      </p:sp>
      <p:sp>
        <p:nvSpPr>
          <p:cNvPr id="15" name="Text 5"/>
          <p:cNvSpPr txBox="1"/>
          <p:nvPr>
            <p:ph idx="113" type="body" hasCustomPrompt="1"/>
          </p:nvPr>
        </p:nvSpPr>
        <p:spPr>
          <a:xfrm>
            <a:off x="3621024" y="3767328"/>
            <a:ext cx="2487168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30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happens and who owns it.</a:t>
            </a:r>
            <a:endParaRPr lang="en-US" sz="1300" dirty="0"/>
          </a:p>
        </p:txBody>
      </p:sp>
      <p:sp>
        <p:nvSpPr>
          <p:cNvPr id="16" name="Shape 5"/>
          <p:cNvSpPr/>
          <p:nvPr/>
        </p:nvSpPr>
        <p:spPr>
          <a:xfrm>
            <a:off x="6528816" y="2450592"/>
            <a:ext cx="512064" cy="512064"/>
          </a:xfrm>
          <a:prstGeom prst="rect">
            <a:avLst/>
          </a:prstGeom>
          <a:solidFill>
            <a:srgbClr val="3C7D4D"/>
          </a:solidFill>
          <a:ln/>
        </p:spPr>
      </p:sp>
      <p:sp>
        <p:nvSpPr>
          <p:cNvPr id="17" name="Text 6"/>
          <p:cNvSpPr txBox="1"/>
          <p:nvPr/>
        </p:nvSpPr>
        <p:spPr>
          <a:xfrm>
            <a:off x="6528816" y="245059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7"/>
          <p:cNvSpPr txBox="1"/>
          <p:nvPr>
            <p:ph idx="116" type="body" hasCustomPrompt="1"/>
          </p:nvPr>
        </p:nvSpPr>
        <p:spPr>
          <a:xfrm>
            <a:off x="6510528" y="2121408"/>
            <a:ext cx="2624328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50" b="1" spc="180" kern="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050" b="1" spc="180" kern="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</a:t>
            </a:r>
            <a:endParaRPr lang="en-US" sz="1050" dirty="0"/>
          </a:p>
        </p:txBody>
      </p:sp>
      <p:sp>
        <p:nvSpPr>
          <p:cNvPr id="19" name="Text 7"/>
          <p:cNvSpPr txBox="1"/>
          <p:nvPr>
            <p:ph idx="117" type="body" hasCustomPrompt="1"/>
          </p:nvPr>
        </p:nvSpPr>
        <p:spPr>
          <a:xfrm>
            <a:off x="6510528" y="3145536"/>
            <a:ext cx="2487168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b="1" spc="-30" kern="0" dirty="0">
                <a:solidFill>
                  <a:srgbClr val="15181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600" b="1" spc="-30" kern="0" dirty="0">
                <a:solidFill>
                  <a:srgbClr val="15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Milestone</a:t>
            </a:r>
            <a:endParaRPr lang="en-US" sz="1600" dirty="0"/>
          </a:p>
        </p:txBody>
      </p:sp>
      <p:sp>
        <p:nvSpPr>
          <p:cNvPr id="20" name="Text 7"/>
          <p:cNvSpPr txBox="1"/>
          <p:nvPr>
            <p:ph idx="118" type="body" hasCustomPrompt="1"/>
          </p:nvPr>
        </p:nvSpPr>
        <p:spPr>
          <a:xfrm>
            <a:off x="6510528" y="3767328"/>
            <a:ext cx="2487168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30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happens and who owns it.</a:t>
            </a:r>
            <a:endParaRPr lang="en-US" sz="1300" dirty="0"/>
          </a:p>
        </p:txBody>
      </p:sp>
      <p:sp>
        <p:nvSpPr>
          <p:cNvPr id="21" name="Shape 7"/>
          <p:cNvSpPr/>
          <p:nvPr/>
        </p:nvSpPr>
        <p:spPr>
          <a:xfrm>
            <a:off x="9418320" y="2450592"/>
            <a:ext cx="512064" cy="512064"/>
          </a:xfrm>
          <a:prstGeom prst="rect">
            <a:avLst/>
          </a:prstGeom>
          <a:solidFill>
            <a:srgbClr val="3C7D4D"/>
          </a:solidFill>
          <a:ln/>
        </p:spPr>
      </p:sp>
      <p:sp>
        <p:nvSpPr>
          <p:cNvPr id="22" name="Text 8"/>
          <p:cNvSpPr txBox="1"/>
          <p:nvPr/>
        </p:nvSpPr>
        <p:spPr>
          <a:xfrm>
            <a:off x="9418320" y="245059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9"/>
          <p:cNvSpPr txBox="1"/>
          <p:nvPr>
            <p:ph idx="121" type="body" hasCustomPrompt="1"/>
          </p:nvPr>
        </p:nvSpPr>
        <p:spPr>
          <a:xfrm>
            <a:off x="9400032" y="2121408"/>
            <a:ext cx="2624328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50" b="1" spc="180" kern="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050" b="1" spc="180" kern="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</a:t>
            </a:r>
            <a:endParaRPr lang="en-US" sz="1050" dirty="0"/>
          </a:p>
        </p:txBody>
      </p:sp>
      <p:sp>
        <p:nvSpPr>
          <p:cNvPr id="24" name="Text 9"/>
          <p:cNvSpPr txBox="1"/>
          <p:nvPr>
            <p:ph idx="122" type="body" hasCustomPrompt="1"/>
          </p:nvPr>
        </p:nvSpPr>
        <p:spPr>
          <a:xfrm>
            <a:off x="9400032" y="3145536"/>
            <a:ext cx="2487168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b="1" spc="-30" kern="0" dirty="0">
                <a:solidFill>
                  <a:srgbClr val="15181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600" b="1" spc="-30" kern="0" dirty="0">
                <a:solidFill>
                  <a:srgbClr val="15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Milestone</a:t>
            </a:r>
            <a:endParaRPr lang="en-US" sz="1600" dirty="0"/>
          </a:p>
        </p:txBody>
      </p:sp>
      <p:sp>
        <p:nvSpPr>
          <p:cNvPr id="25" name="Text 9"/>
          <p:cNvSpPr txBox="1"/>
          <p:nvPr>
            <p:ph idx="123" type="body" hasCustomPrompt="1"/>
          </p:nvPr>
        </p:nvSpPr>
        <p:spPr>
          <a:xfrm>
            <a:off x="9400032" y="3767328"/>
            <a:ext cx="2487168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30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happens and who owns it.</a:t>
            </a:r>
            <a:endParaRPr lang="en-US" sz="1300" dirty="0"/>
          </a:p>
        </p:txBody>
      </p:sp>
      <p:sp>
        <p:nvSpPr>
          <p:cNvPr id="26" name="Text 9"/>
          <p:cNvSpPr txBox="1"/>
          <p:nvPr>
            <p:ph idx="124" type="body" hasCustomPrompt="1"/>
          </p:nvPr>
        </p:nvSpPr>
        <p:spPr>
          <a:xfrm>
            <a:off x="731520" y="6364224"/>
            <a:ext cx="7863840" cy="23774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90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90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</a:t>
            </a:r>
            <a:endParaRPr lang="en-US" sz="900" dirty="0"/>
          </a:p>
        </p:txBody>
      </p:sp>
      <p:pic>
        <p:nvPicPr>
          <p:cNvPr id="27" name="Image 0" descr="brand/logo_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25328" y="6272784"/>
            <a:ext cx="1325880" cy="44793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555480" y="6364224"/>
            <a:ext cx="8229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67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1012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EY_MESS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rand/logo_h_rev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25328" y="6272784"/>
            <a:ext cx="1325880" cy="447932"/>
          </a:xfrm>
          <a:prstGeom prst="rect">
            <a:avLst/>
          </a:prstGeom>
        </p:spPr>
      </p:pic>
      <p:sp>
        <p:nvSpPr>
          <p:cNvPr id="3" name="Text 0"/>
          <p:cNvSpPr txBox="1"/>
          <p:nvPr>
            <p:ph idx="101" type="body" hasCustomPrompt="1"/>
          </p:nvPr>
        </p:nvSpPr>
        <p:spPr>
          <a:xfrm>
            <a:off x="1051560" y="2139696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b="1" spc="340" kern="0" dirty="0">
                <a:solidFill>
                  <a:srgbClr val="A9D9B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100" b="1" spc="340" kern="0" dirty="0">
                <a:solidFill>
                  <a:srgbClr val="A9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POINT</a:t>
            </a:r>
            <a:endParaRPr lang="en-US" sz="1100" dirty="0"/>
          </a:p>
        </p:txBody>
      </p:sp>
      <p:sp>
        <p:nvSpPr>
          <p:cNvPr id="4" name="Shape 0"/>
          <p:cNvSpPr/>
          <p:nvPr/>
        </p:nvSpPr>
        <p:spPr>
          <a:xfrm>
            <a:off x="1051560" y="2615184"/>
            <a:ext cx="777240" cy="50292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5" name="Text 1"/>
          <p:cNvSpPr txBox="1"/>
          <p:nvPr>
            <p:ph idx="103" type="title" hasCustomPrompt="1"/>
          </p:nvPr>
        </p:nvSpPr>
        <p:spPr>
          <a:xfrm>
            <a:off x="1051560" y="2944368"/>
            <a:ext cx="9966960" cy="1691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spc="-7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600" b="1" spc="-7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sentence that carries the whole argument.</a:t>
            </a:r>
            <a:endParaRPr lang="en-US" sz="3600" dirty="0"/>
          </a:p>
        </p:txBody>
      </p:sp>
      <p:sp>
        <p:nvSpPr>
          <p:cNvPr id="6" name="Text 1"/>
          <p:cNvSpPr txBox="1"/>
          <p:nvPr>
            <p:ph idx="104" type="body" hasCustomPrompt="1"/>
          </p:nvPr>
        </p:nvSpPr>
        <p:spPr>
          <a:xfrm>
            <a:off x="1051560" y="4809744"/>
            <a:ext cx="859536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500" dirty="0">
                <a:solidFill>
                  <a:srgbClr val="E4EFE8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500" dirty="0">
                <a:solidFill>
                  <a:srgbClr val="E4E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 support, or the ask.</a:t>
            </a:r>
            <a:endParaRPr lang="en-US" sz="1500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EXT_STEP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idx="100" type="body" hasCustomPrompt="1"/>
          </p:nvPr>
        </p:nvSpPr>
        <p:spPr>
          <a:xfrm>
            <a:off x="731520" y="548640"/>
            <a:ext cx="10728655" cy="23774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b="1" spc="300" kern="0" dirty="0">
                <a:solidFill>
                  <a:srgbClr val="3C7D4D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100" b="1" spc="300" kern="0" dirty="0">
                <a:solidFill>
                  <a:srgbClr val="3C7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</a:t>
            </a:r>
            <a:endParaRPr lang="en-US" sz="1100" dirty="0"/>
          </a:p>
        </p:txBody>
      </p:sp>
      <p:sp>
        <p:nvSpPr>
          <p:cNvPr id="3" name="Text 0"/>
          <p:cNvSpPr txBox="1"/>
          <p:nvPr>
            <p:ph idx="101" type="title" hasCustomPrompt="1"/>
          </p:nvPr>
        </p:nvSpPr>
        <p:spPr>
          <a:xfrm>
            <a:off x="731520" y="822960"/>
            <a:ext cx="10058400" cy="7132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spc="-60" kern="0" dirty="0">
                <a:solidFill>
                  <a:srgbClr val="15181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400" b="1" spc="-60" kern="0" dirty="0">
                <a:solidFill>
                  <a:srgbClr val="15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</a:t>
            </a:r>
            <a:endParaRPr lang="en-US" sz="3400" dirty="0"/>
          </a:p>
        </p:txBody>
      </p:sp>
      <p:sp>
        <p:nvSpPr>
          <p:cNvPr id="4" name="Text 0"/>
          <p:cNvSpPr txBox="1"/>
          <p:nvPr>
            <p:ph idx="102" type="body" hasCustomPrompt="1"/>
          </p:nvPr>
        </p:nvSpPr>
        <p:spPr>
          <a:xfrm>
            <a:off x="731520" y="1591056"/>
            <a:ext cx="10728655" cy="42062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b="1" dirty="0">
                <a:solidFill>
                  <a:srgbClr val="3C7D4D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600" b="1" dirty="0">
                <a:solidFill>
                  <a:srgbClr val="3C7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need decided today.</a:t>
            </a:r>
            <a:endParaRPr lang="en-US" sz="16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731520" y="2121408"/>
            <a:ext cx="10728655" cy="3913632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 </a:t>
            </a:r>
            <a:endParaRPr lang="en-US" dirty="0"/>
          </a:p>
        </p:txBody>
      </p:sp>
      <p:sp>
        <p:nvSpPr>
          <p:cNvPr id="6" name="Text 0"/>
          <p:cNvSpPr txBox="1"/>
          <p:nvPr>
            <p:ph idx="104" type="body" hasCustomPrompt="1"/>
          </p:nvPr>
        </p:nvSpPr>
        <p:spPr>
          <a:xfrm>
            <a:off x="731520" y="6364224"/>
            <a:ext cx="7863840" cy="23774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90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90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</a:t>
            </a:r>
            <a:endParaRPr lang="en-US" sz="900" dirty="0"/>
          </a:p>
        </p:txBody>
      </p:sp>
      <p:pic>
        <p:nvPicPr>
          <p:cNvPr id="7" name="Image 0" descr="brand/logo_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25328" y="6272784"/>
            <a:ext cx="1325880" cy="44793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555480" y="6364224"/>
            <a:ext cx="8229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67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1014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rand/logo_h_rev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694944"/>
            <a:ext cx="2377440" cy="803189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31520" y="3054096"/>
            <a:ext cx="777240" cy="50292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4" name="Text 1"/>
          <p:cNvSpPr txBox="1"/>
          <p:nvPr>
            <p:ph idx="102" type="title" hasCustomPrompt="1"/>
          </p:nvPr>
        </p:nvSpPr>
        <p:spPr>
          <a:xfrm>
            <a:off x="731520" y="3364992"/>
            <a:ext cx="6949440" cy="89611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spc="-7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600" b="1" spc="-7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decided</a:t>
            </a:r>
            <a:endParaRPr lang="en-US" sz="3600" dirty="0"/>
          </a:p>
        </p:txBody>
      </p:sp>
      <p:sp>
        <p:nvSpPr>
          <p:cNvPr id="5" name="Text 1"/>
          <p:cNvSpPr txBox="1"/>
          <p:nvPr>
            <p:ph idx="103" type="body" hasCustomPrompt="1"/>
          </p:nvPr>
        </p:nvSpPr>
        <p:spPr>
          <a:xfrm>
            <a:off x="731520" y="4334256"/>
            <a:ext cx="694944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500" dirty="0">
                <a:solidFill>
                  <a:srgbClr val="E4EFE8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500" dirty="0">
                <a:solidFill>
                  <a:srgbClr val="E4E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Decision, owner, and date.</a:t>
            </a:r>
            <a:endParaRPr lang="en-US" sz="1500" dirty="0"/>
          </a:p>
        </p:txBody>
      </p:sp>
      <p:sp>
        <p:nvSpPr>
          <p:cNvPr id="6" name="Text 1"/>
          <p:cNvSpPr txBox="1"/>
          <p:nvPr>
            <p:ph idx="104" type="body" hasCustomPrompt="1"/>
          </p:nvPr>
        </p:nvSpPr>
        <p:spPr>
          <a:xfrm>
            <a:off x="731520" y="5961888"/>
            <a:ext cx="6949440" cy="310896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50" spc="80" kern="0" dirty="0">
                <a:solidFill>
                  <a:srgbClr val="C3DACB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150" spc="80" kern="0" dirty="0">
                <a:solidFill>
                  <a:srgbClr val="C3DA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 |  Title  |  email@steelking.com</a:t>
            </a:r>
            <a:endParaRPr lang="en-US" sz="1150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_MASCOT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rand/logo_kn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0" y="1481328"/>
            <a:ext cx="3658880" cy="5212080"/>
          </a:xfrm>
          <a:prstGeom prst="rect">
            <a:avLst/>
          </a:prstGeom>
        </p:spPr>
      </p:pic>
      <p:pic>
        <p:nvPicPr>
          <p:cNvPr id="3" name="Image 1" descr="brand/logo_h_rev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658368"/>
            <a:ext cx="2377440" cy="803189"/>
          </a:xfrm>
          <a:prstGeom prst="rect">
            <a:avLst/>
          </a:prstGeom>
        </p:spPr>
      </p:pic>
      <p:sp>
        <p:nvSpPr>
          <p:cNvPr id="4" name="Text 0"/>
          <p:cNvSpPr txBox="1"/>
          <p:nvPr>
            <p:ph idx="102" type="body" hasCustomPrompt="1"/>
          </p:nvPr>
        </p:nvSpPr>
        <p:spPr>
          <a:xfrm>
            <a:off x="731520" y="2395728"/>
            <a:ext cx="658368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b="1" spc="340" kern="0" dirty="0">
                <a:solidFill>
                  <a:srgbClr val="A9D9B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100" b="1" spc="340" kern="0" dirty="0">
                <a:solidFill>
                  <a:srgbClr val="A9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DEALER MEETING</a:t>
            </a:r>
            <a:endParaRPr lang="en-US" sz="1100" dirty="0"/>
          </a:p>
        </p:txBody>
      </p:sp>
      <p:sp>
        <p:nvSpPr>
          <p:cNvPr id="5" name="Shape 0"/>
          <p:cNvSpPr/>
          <p:nvPr/>
        </p:nvSpPr>
        <p:spPr>
          <a:xfrm>
            <a:off x="731520" y="2871216"/>
            <a:ext cx="777240" cy="50292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6" name="Text 1"/>
          <p:cNvSpPr txBox="1"/>
          <p:nvPr>
            <p:ph idx="104" type="title" hasCustomPrompt="1"/>
          </p:nvPr>
        </p:nvSpPr>
        <p:spPr>
          <a:xfrm>
            <a:off x="731520" y="3200400"/>
            <a:ext cx="6583680" cy="16276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spc="-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4400" b="1" spc="-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 title</a:t>
            </a:r>
            <a:endParaRPr lang="en-US" sz="4400" dirty="0"/>
          </a:p>
        </p:txBody>
      </p:sp>
      <p:sp>
        <p:nvSpPr>
          <p:cNvPr id="7" name="Text 1"/>
          <p:cNvSpPr txBox="1"/>
          <p:nvPr>
            <p:ph idx="105" type="body" hasCustomPrompt="1"/>
          </p:nvPr>
        </p:nvSpPr>
        <p:spPr>
          <a:xfrm>
            <a:off x="731520" y="4956048"/>
            <a:ext cx="658368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700" dirty="0">
                <a:solidFill>
                  <a:srgbClr val="E4EFE8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700" dirty="0">
                <a:solidFill>
                  <a:srgbClr val="E4E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line on what this deck argues</a:t>
            </a:r>
            <a:endParaRPr lang="en-US" sz="1700" dirty="0"/>
          </a:p>
        </p:txBody>
      </p:sp>
      <p:sp>
        <p:nvSpPr>
          <p:cNvPr id="8" name="Text 1"/>
          <p:cNvSpPr txBox="1"/>
          <p:nvPr>
            <p:ph idx="106" type="body" hasCustomPrompt="1"/>
          </p:nvPr>
        </p:nvSpPr>
        <p:spPr>
          <a:xfrm>
            <a:off x="731520" y="5998464"/>
            <a:ext cx="6583680" cy="310896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50" spc="80" kern="0" dirty="0">
                <a:solidFill>
                  <a:srgbClr val="C3DACB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150" spc="80" kern="0" dirty="0">
                <a:solidFill>
                  <a:srgbClr val="C3DA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Presenter  |  Audience  |  Month Year</a:t>
            </a:r>
            <a:endParaRPr lang="en-US" sz="1150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555480" y="6364224"/>
            <a:ext cx="8229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67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t>SALES MEETING  ·  BEFORE THE TERRITORY REVIEWS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Lead time cost us the first half, not the second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r>
              <a:t>The plants weren't full before Walmart. Lead times have been back since summer.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r>
              <a:t>30+ to 6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05"/>
          </p:nvPr>
        </p:nvSpPr>
        <p:spPr/>
        <p:txBody>
          <a:bodyPr/>
          <a:lstStyle/>
          <a:p>
            <a:r>
              <a:t>WEEKS LEAD TIME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06"/>
          </p:nvPr>
        </p:nvSpPr>
        <p:spPr/>
        <p:txBody>
          <a:bodyPr/>
          <a:lstStyle/>
          <a:p>
            <a:r>
              <a:t>First half of 2026 versus today. New London full through October.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08"/>
          </p:nvPr>
        </p:nvSpPr>
        <p:spPr/>
        <p:txBody>
          <a:bodyPr/>
          <a:lstStyle/>
          <a:p>
            <a:r>
              <a:t>19%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109"/>
          </p:nvPr>
        </p:nvSpPr>
        <p:spPr/>
        <p:txBody>
          <a:bodyPr/>
          <a:lstStyle/>
          <a:p>
            <a:r>
              <a:t>EXCALIBUR SHARE OF 2025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110"/>
          </p:nvPr>
        </p:nvSpPr>
        <p:spPr/>
        <p:txBody>
          <a:bodyPr/>
          <a:lstStyle/>
          <a:p>
            <a:r>
              <a:t>Historically a third of the business.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112"/>
          </p:nvPr>
        </p:nvSpPr>
        <p:spPr/>
        <p:txBody>
          <a:bodyPr/>
          <a:lstStyle/>
          <a:p>
            <a:r>
              <a:t>-50%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113"/>
          </p:nvPr>
        </p:nvSpPr>
        <p:spPr/>
        <p:txBody>
          <a:bodyPr/>
          <a:lstStyle/>
          <a:p>
            <a:r>
              <a:t>EXCALIBUR SALES, 2025 VS 2024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14"/>
          </p:nvPr>
        </p:nvSpPr>
        <p:spPr/>
        <p:txBody>
          <a:bodyPr/>
          <a:lstStyle/>
          <a:p>
            <a:r>
              <a:t>Some Excaliburs at zero bookings and quotes in Q3.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115"/>
          </p:nvPr>
        </p:nvSpPr>
        <p:spPr/>
        <p:txBody>
          <a:bodyPr/>
          <a:lstStyle/>
          <a:p>
            <a:r>
              <a:t>Today is about what each territory did when lead time came back, and which dealers are carrying us.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116"/>
          </p:nvPr>
        </p:nvSpPr>
        <p:spPr/>
        <p:txBody>
          <a:bodyPr/>
          <a:lstStyle/>
          <a:p>
            <a:r>
              <a:t>Source: figures from September leadership meetings. Verify against Don's report and the ranked customer data before presenting.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t>SALES MEETING  ·  BEFORE THE TERRITORY REVIEWS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Bookings by month against lead time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r>
              <a:t>[One line. Where bookings went when lead time went out, and what they did when it came back.]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r>
              <a:t>Source: [system], pulled [date]. Company-wide, manufactured bookings.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2121408"/>
          <a:ext cx="10725912" cy="2926080"/>
        </p:xfrm>
        <a:graphic>
          <a:graphicData uri="http://schemas.openxmlformats.org/drawingml/2006/table">
            <a:tbl>
              <a:tblPr firstRow="0" bandRow="0"/>
              <a:tblGrid>
                <a:gridCol w="2011680"/>
                <a:gridCol w="2194560"/>
                <a:gridCol w="2194560"/>
                <a:gridCol w="1828800"/>
                <a:gridCol w="2496312"/>
              </a:tblGrid>
              <a:tr h="2743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Month</a:t>
                      </a:r>
                    </a:p>
                  </a:txBody>
                  <a:tcPr marL="73152" marR="73152" marT="27432" marB="27432" anchor="ctr">
                    <a:solidFill>
                      <a:srgbClr val="3C7D4D"/>
                    </a:solidFill>
                    <a:lnL w="6350" cap="flat" cmpd="sng" algn="ctr">
                      <a:solidFill>
                        <a:srgbClr val="3C7D4D"/>
                      </a:solidFill>
                      <a:prstDash val="solid"/>
                    </a:lnL>
                    <a:lnR w="6350" cap="flat" cmpd="sng" algn="ctr">
                      <a:solidFill>
                        <a:srgbClr val="3C7D4D"/>
                      </a:solidFill>
                      <a:prstDash val="solid"/>
                    </a:lnR>
                    <a:lnT w="6350" cap="flat" cmpd="sng" algn="ctr">
                      <a:solidFill>
                        <a:srgbClr val="3C7D4D"/>
                      </a:solidFill>
                      <a:prstDash val="solid"/>
                    </a:lnT>
                    <a:lnB w="6350" cap="flat" cmpd="sng" algn="ctr">
                      <a:solidFill>
                        <a:srgbClr val="3C7D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Bookings 2025</a:t>
                      </a:r>
                    </a:p>
                  </a:txBody>
                  <a:tcPr marL="73152" marR="73152" marT="27432" marB="27432" anchor="ctr">
                    <a:solidFill>
                      <a:srgbClr val="3C7D4D"/>
                    </a:solidFill>
                    <a:lnL w="6350" cap="flat" cmpd="sng" algn="ctr">
                      <a:solidFill>
                        <a:srgbClr val="3C7D4D"/>
                      </a:solidFill>
                      <a:prstDash val="solid"/>
                    </a:lnL>
                    <a:lnR w="6350" cap="flat" cmpd="sng" algn="ctr">
                      <a:solidFill>
                        <a:srgbClr val="3C7D4D"/>
                      </a:solidFill>
                      <a:prstDash val="solid"/>
                    </a:lnR>
                    <a:lnT w="6350" cap="flat" cmpd="sng" algn="ctr">
                      <a:solidFill>
                        <a:srgbClr val="3C7D4D"/>
                      </a:solidFill>
                      <a:prstDash val="solid"/>
                    </a:lnT>
                    <a:lnB w="6350" cap="flat" cmpd="sng" algn="ctr">
                      <a:solidFill>
                        <a:srgbClr val="3C7D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Bookings 2026</a:t>
                      </a:r>
                    </a:p>
                  </a:txBody>
                  <a:tcPr marL="73152" marR="73152" marT="27432" marB="27432" anchor="ctr">
                    <a:solidFill>
                      <a:srgbClr val="3C7D4D"/>
                    </a:solidFill>
                    <a:lnL w="6350" cap="flat" cmpd="sng" algn="ctr">
                      <a:solidFill>
                        <a:srgbClr val="3C7D4D"/>
                      </a:solidFill>
                      <a:prstDash val="solid"/>
                    </a:lnL>
                    <a:lnR w="6350" cap="flat" cmpd="sng" algn="ctr">
                      <a:solidFill>
                        <a:srgbClr val="3C7D4D"/>
                      </a:solidFill>
                      <a:prstDash val="solid"/>
                    </a:lnR>
                    <a:lnT w="6350" cap="flat" cmpd="sng" algn="ctr">
                      <a:solidFill>
                        <a:srgbClr val="3C7D4D"/>
                      </a:solidFill>
                      <a:prstDash val="solid"/>
                    </a:lnT>
                    <a:lnB w="6350" cap="flat" cmpd="sng" algn="ctr">
                      <a:solidFill>
                        <a:srgbClr val="3C7D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Change</a:t>
                      </a:r>
                    </a:p>
                  </a:txBody>
                  <a:tcPr marL="73152" marR="73152" marT="27432" marB="27432" anchor="ctr">
                    <a:solidFill>
                      <a:srgbClr val="3C7D4D"/>
                    </a:solidFill>
                    <a:lnL w="6350" cap="flat" cmpd="sng" algn="ctr">
                      <a:solidFill>
                        <a:srgbClr val="3C7D4D"/>
                      </a:solidFill>
                      <a:prstDash val="solid"/>
                    </a:lnL>
                    <a:lnR w="6350" cap="flat" cmpd="sng" algn="ctr">
                      <a:solidFill>
                        <a:srgbClr val="3C7D4D"/>
                      </a:solidFill>
                      <a:prstDash val="solid"/>
                    </a:lnR>
                    <a:lnT w="6350" cap="flat" cmpd="sng" algn="ctr">
                      <a:solidFill>
                        <a:srgbClr val="3C7D4D"/>
                      </a:solidFill>
                      <a:prstDash val="solid"/>
                    </a:lnT>
                    <a:lnB w="6350" cap="flat" cmpd="sng" algn="ctr">
                      <a:solidFill>
                        <a:srgbClr val="3C7D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Lead time (wks)</a:t>
                      </a:r>
                    </a:p>
                  </a:txBody>
                  <a:tcPr marL="73152" marR="73152" marT="27432" marB="27432" anchor="ctr">
                    <a:solidFill>
                      <a:srgbClr val="3C7D4D"/>
                    </a:solidFill>
                    <a:lnL w="6350" cap="flat" cmpd="sng" algn="ctr">
                      <a:solidFill>
                        <a:srgbClr val="3C7D4D"/>
                      </a:solidFill>
                      <a:prstDash val="solid"/>
                    </a:lnL>
                    <a:lnR w="6350" cap="flat" cmpd="sng" algn="ctr">
                      <a:solidFill>
                        <a:srgbClr val="3C7D4D"/>
                      </a:solidFill>
                      <a:prstDash val="solid"/>
                    </a:lnR>
                    <a:lnT w="6350" cap="flat" cmpd="sng" algn="ctr">
                      <a:solidFill>
                        <a:srgbClr val="3C7D4D"/>
                      </a:solidFill>
                      <a:prstDash val="solid"/>
                    </a:lnT>
                    <a:lnB w="6350" cap="flat" cmpd="sng" algn="ctr">
                      <a:solidFill>
                        <a:srgbClr val="3C7D4D"/>
                      </a:solidFill>
                      <a:prstDash val="soli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5181A"/>
                          </a:solidFill>
                          <a:latin typeface="Arial"/>
                        </a:rPr>
                        <a:t>Jan</a:t>
                      </a:r>
                    </a:p>
                  </a:txBody>
                  <a:tcPr marL="73152" marR="73152" marT="27432" marB="27432" anchor="t">
                    <a:solidFill>
                      <a:srgbClr val="FFFFFF"/>
                    </a:solidFill>
                    <a:lnL w="6350" cap="flat" cmpd="sng" algn="ctr">
                      <a:solidFill>
                        <a:srgbClr val="E2E6E3"/>
                      </a:solidFill>
                      <a:prstDash val="solid"/>
                    </a:lnL>
                    <a:lnR w="6350" cap="flat" cmpd="sng" algn="ctr">
                      <a:solidFill>
                        <a:srgbClr val="E2E6E3"/>
                      </a:solidFill>
                      <a:prstDash val="solid"/>
                    </a:lnR>
                    <a:lnT w="6350" cap="flat" cmpd="sng" algn="ctr">
                      <a:solidFill>
                        <a:srgbClr val="E2E6E3"/>
                      </a:solidFill>
                      <a:prstDash val="solid"/>
                    </a:lnT>
                    <a:lnB w="6350" cap="flat" cmpd="sng" algn="ctr">
                      <a:solidFill>
                        <a:srgbClr val="E2E6E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B667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27432" marB="27432" anchor="t">
                    <a:solidFill>
                      <a:srgbClr val="FFFFFF"/>
                    </a:solidFill>
                    <a:lnL w="6350" cap="flat" cmpd="sng" algn="ctr">
                      <a:solidFill>
                        <a:srgbClr val="E2E6E3"/>
                      </a:solidFill>
                      <a:prstDash val="solid"/>
                    </a:lnL>
                    <a:lnR w="6350" cap="flat" cmpd="sng" algn="ctr">
                      <a:solidFill>
                        <a:srgbClr val="E2E6E3"/>
                      </a:solidFill>
                      <a:prstDash val="solid"/>
                    </a:lnR>
                    <a:lnT w="6350" cap="flat" cmpd="sng" algn="ctr">
                      <a:solidFill>
                        <a:srgbClr val="E2E6E3"/>
                      </a:solidFill>
                      <a:prstDash val="solid"/>
                    </a:lnT>
                    <a:lnB w="6350" cap="flat" cmpd="sng" algn="ctr">
                      <a:solidFill>
                        <a:srgbClr val="E2E6E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B667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27432" marB="27432" anchor="t">
                    <a:solidFill>
                      <a:srgbClr val="FFFFFF"/>
                    </a:solidFill>
                    <a:lnL w="6350" cap="flat" cmpd="sng" algn="ctr">
                      <a:solidFill>
                        <a:srgbClr val="E2E6E3"/>
                      </a:solidFill>
                      <a:prstDash val="solid"/>
                    </a:lnL>
                    <a:lnR w="6350" cap="flat" cmpd="sng" algn="ctr">
                      <a:solidFill>
                        <a:srgbClr val="E2E6E3"/>
                      </a:solidFill>
                      <a:prstDash val="solid"/>
                    </a:lnR>
                    <a:lnT w="6350" cap="flat" cmpd="sng" algn="ctr">
                      <a:solidFill>
                        <a:srgbClr val="E2E6E3"/>
                      </a:solidFill>
                      <a:prstDash val="solid"/>
                    </a:lnT>
                    <a:lnB w="6350" cap="flat" cmpd="sng" algn="ctr">
                      <a:solidFill>
                        <a:srgbClr val="E2E6E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B667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27432" marB="27432" anchor="t">
                    <a:solidFill>
                      <a:srgbClr val="FFFFFF"/>
                    </a:solidFill>
                    <a:lnL w="6350" cap="flat" cmpd="sng" algn="ctr">
                      <a:solidFill>
                        <a:srgbClr val="E2E6E3"/>
                      </a:solidFill>
                      <a:prstDash val="solid"/>
                    </a:lnL>
                    <a:lnR w="6350" cap="flat" cmpd="sng" algn="ctr">
                      <a:solidFill>
                        <a:srgbClr val="E2E6E3"/>
                      </a:solidFill>
                      <a:prstDash val="solid"/>
                    </a:lnR>
                    <a:lnT w="6350" cap="flat" cmpd="sng" algn="ctr">
                      <a:solidFill>
                        <a:srgbClr val="E2E6E3"/>
                      </a:solidFill>
                      <a:prstDash val="solid"/>
                    </a:lnT>
                    <a:lnB w="6350" cap="flat" cmpd="sng" algn="ctr">
                      <a:solidFill>
                        <a:srgbClr val="E2E6E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B667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27432" marB="27432" anchor="t">
                    <a:solidFill>
                      <a:srgbClr val="FFFFFF"/>
                    </a:solidFill>
                    <a:lnL w="6350" cap="flat" cmpd="sng" algn="ctr">
                      <a:solidFill>
                        <a:srgbClr val="E2E6E3"/>
                      </a:solidFill>
                      <a:prstDash val="solid"/>
                    </a:lnL>
                    <a:lnR w="6350" cap="flat" cmpd="sng" algn="ctr">
                      <a:solidFill>
                        <a:srgbClr val="E2E6E3"/>
                      </a:solidFill>
                      <a:prstDash val="solid"/>
                    </a:lnR>
                    <a:lnT w="6350" cap="flat" cmpd="sng" algn="ctr">
                      <a:solidFill>
                        <a:srgbClr val="E2E6E3"/>
                      </a:solidFill>
                      <a:prstDash val="solid"/>
                    </a:lnT>
                    <a:lnB w="6350" cap="flat" cmpd="sng" algn="ctr">
                      <a:solidFill>
                        <a:srgbClr val="E2E6E3"/>
                      </a:solidFill>
                      <a:prstDash val="soli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5181A"/>
                          </a:solidFill>
                          <a:latin typeface="Arial"/>
                        </a:rPr>
                        <a:t>Feb</a:t>
                      </a:r>
                    </a:p>
                  </a:txBody>
                  <a:tcPr marL="73152" marR="73152" marT="27432" marB="27432" anchor="t">
                    <a:solidFill>
                      <a:srgbClr val="FFFFFF"/>
                    </a:solidFill>
                    <a:lnL w="6350" cap="flat" cmpd="sng" algn="ctr">
                      <a:solidFill>
                        <a:srgbClr val="E2E6E3"/>
                      </a:solidFill>
                      <a:prstDash val="solid"/>
                    </a:lnL>
                    <a:lnR w="6350" cap="flat" cmpd="sng" algn="ctr">
                      <a:solidFill>
                        <a:srgbClr val="E2E6E3"/>
                      </a:solidFill>
                      <a:prstDash val="solid"/>
                    </a:lnR>
                    <a:lnT w="6350" cap="flat" cmpd="sng" algn="ctr">
                      <a:solidFill>
                        <a:srgbClr val="E2E6E3"/>
                      </a:solidFill>
                      <a:prstDash val="solid"/>
                    </a:lnT>
                    <a:lnB w="6350" cap="flat" cmpd="sng" algn="ctr">
                      <a:solidFill>
                        <a:srgbClr val="E2E6E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B667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27432" marB="27432" anchor="t">
                    <a:solidFill>
                      <a:srgbClr val="FFFFFF"/>
                    </a:solidFill>
                    <a:lnL w="6350" cap="flat" cmpd="sng" algn="ctr">
                      <a:solidFill>
                        <a:srgbClr val="E2E6E3"/>
                      </a:solidFill>
                      <a:prstDash val="solid"/>
                    </a:lnL>
                    <a:lnR w="6350" cap="flat" cmpd="sng" algn="ctr">
                      <a:solidFill>
                        <a:srgbClr val="E2E6E3"/>
                      </a:solidFill>
                      <a:prstDash val="solid"/>
                    </a:lnR>
                    <a:lnT w="6350" cap="flat" cmpd="sng" algn="ctr">
                      <a:solidFill>
                        <a:srgbClr val="E2E6E3"/>
                      </a:solidFill>
                      <a:prstDash val="solid"/>
                    </a:lnT>
                    <a:lnB w="6350" cap="flat" cmpd="sng" algn="ctr">
                      <a:solidFill>
                        <a:srgbClr val="E2E6E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B667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27432" marB="27432" anchor="t">
                    <a:solidFill>
                      <a:srgbClr val="FFFFFF"/>
                    </a:solidFill>
                    <a:lnL w="6350" cap="flat" cmpd="sng" algn="ctr">
                      <a:solidFill>
                        <a:srgbClr val="E2E6E3"/>
                      </a:solidFill>
                      <a:prstDash val="solid"/>
                    </a:lnL>
                    <a:lnR w="6350" cap="flat" cmpd="sng" algn="ctr">
                      <a:solidFill>
                        <a:srgbClr val="E2E6E3"/>
                      </a:solidFill>
                      <a:prstDash val="solid"/>
                    </a:lnR>
                    <a:lnT w="6350" cap="flat" cmpd="sng" algn="ctr">
                      <a:solidFill>
                        <a:srgbClr val="E2E6E3"/>
                      </a:solidFill>
                      <a:prstDash val="solid"/>
                    </a:lnT>
                    <a:lnB w="6350" cap="flat" cmpd="sng" algn="ctr">
                      <a:solidFill>
                        <a:srgbClr val="E2E6E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B667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27432" marB="27432" anchor="t">
                    <a:solidFill>
                      <a:srgbClr val="FFFFFF"/>
                    </a:solidFill>
                    <a:lnL w="6350" cap="flat" cmpd="sng" algn="ctr">
                      <a:solidFill>
                        <a:srgbClr val="E2E6E3"/>
                      </a:solidFill>
                      <a:prstDash val="solid"/>
                    </a:lnL>
                    <a:lnR w="6350" cap="flat" cmpd="sng" algn="ctr">
                      <a:solidFill>
                        <a:srgbClr val="E2E6E3"/>
                      </a:solidFill>
                      <a:prstDash val="solid"/>
                    </a:lnR>
                    <a:lnT w="6350" cap="flat" cmpd="sng" algn="ctr">
                      <a:solidFill>
                        <a:srgbClr val="E2E6E3"/>
                      </a:solidFill>
                      <a:prstDash val="solid"/>
                    </a:lnT>
                    <a:lnB w="6350" cap="flat" cmpd="sng" algn="ctr">
                      <a:solidFill>
                        <a:srgbClr val="E2E6E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B667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27432" marB="27432" anchor="t">
                    <a:solidFill>
                      <a:srgbClr val="FFFFFF"/>
                    </a:solidFill>
                    <a:lnL w="6350" cap="flat" cmpd="sng" algn="ctr">
                      <a:solidFill>
                        <a:srgbClr val="E2E6E3"/>
                      </a:solidFill>
                      <a:prstDash val="solid"/>
                    </a:lnL>
                    <a:lnR w="6350" cap="flat" cmpd="sng" algn="ctr">
                      <a:solidFill>
                        <a:srgbClr val="E2E6E3"/>
                      </a:solidFill>
                      <a:prstDash val="solid"/>
                    </a:lnR>
                    <a:lnT w="6350" cap="flat" cmpd="sng" algn="ctr">
                      <a:solidFill>
                        <a:srgbClr val="E2E6E3"/>
                      </a:solidFill>
                      <a:prstDash val="solid"/>
                    </a:lnT>
                    <a:lnB w="6350" cap="flat" cmpd="sng" algn="ctr">
                      <a:solidFill>
                        <a:srgbClr val="E2E6E3"/>
                      </a:solidFill>
                      <a:prstDash val="soli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5181A"/>
                          </a:solidFill>
                          <a:latin typeface="Arial"/>
                        </a:rPr>
                        <a:t>Mar</a:t>
                      </a:r>
                    </a:p>
                  </a:txBody>
                  <a:tcPr marL="73152" marR="73152" marT="27432" marB="27432" anchor="t">
                    <a:solidFill>
                      <a:srgbClr val="FFFFFF"/>
                    </a:solidFill>
                    <a:lnL w="6350" cap="flat" cmpd="sng" algn="ctr">
                      <a:solidFill>
                        <a:srgbClr val="E2E6E3"/>
                      </a:solidFill>
                      <a:prstDash val="solid"/>
                    </a:lnL>
                    <a:lnR w="6350" cap="flat" cmpd="sng" algn="ctr">
                      <a:solidFill>
                        <a:srgbClr val="E2E6E3"/>
                      </a:solidFill>
                      <a:prstDash val="solid"/>
                    </a:lnR>
                    <a:lnT w="6350" cap="flat" cmpd="sng" algn="ctr">
                      <a:solidFill>
                        <a:srgbClr val="E2E6E3"/>
                      </a:solidFill>
                      <a:prstDash val="solid"/>
                    </a:lnT>
                    <a:lnB w="6350" cap="flat" cmpd="sng" algn="ctr">
                      <a:solidFill>
                        <a:srgbClr val="E2E6E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B667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27432" marB="27432" anchor="t">
                    <a:solidFill>
                      <a:srgbClr val="FFFFFF"/>
                    </a:solidFill>
                    <a:lnL w="6350" cap="flat" cmpd="sng" algn="ctr">
                      <a:solidFill>
                        <a:srgbClr val="E2E6E3"/>
                      </a:solidFill>
                      <a:prstDash val="solid"/>
                    </a:lnL>
                    <a:lnR w="6350" cap="flat" cmpd="sng" algn="ctr">
                      <a:solidFill>
                        <a:srgbClr val="E2E6E3"/>
                      </a:solidFill>
                      <a:prstDash val="solid"/>
                    </a:lnR>
                    <a:lnT w="6350" cap="flat" cmpd="sng" algn="ctr">
                      <a:solidFill>
                        <a:srgbClr val="E2E6E3"/>
                      </a:solidFill>
                      <a:prstDash val="solid"/>
                    </a:lnT>
                    <a:lnB w="6350" cap="flat" cmpd="sng" algn="ctr">
                      <a:solidFill>
                        <a:srgbClr val="E2E6E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B667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27432" marB="27432" anchor="t">
                    <a:solidFill>
                      <a:srgbClr val="FFFFFF"/>
                    </a:solidFill>
                    <a:lnL w="6350" cap="flat" cmpd="sng" algn="ctr">
                      <a:solidFill>
                        <a:srgbClr val="E2E6E3"/>
                      </a:solidFill>
                      <a:prstDash val="solid"/>
                    </a:lnL>
                    <a:lnR w="6350" cap="flat" cmpd="sng" algn="ctr">
                      <a:solidFill>
                        <a:srgbClr val="E2E6E3"/>
                      </a:solidFill>
                      <a:prstDash val="solid"/>
                    </a:lnR>
                    <a:lnT w="6350" cap="flat" cmpd="sng" algn="ctr">
                      <a:solidFill>
                        <a:srgbClr val="E2E6E3"/>
                      </a:solidFill>
                      <a:prstDash val="solid"/>
                    </a:lnT>
                    <a:lnB w="6350" cap="flat" cmpd="sng" algn="ctr">
                      <a:solidFill>
                        <a:srgbClr val="E2E6E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B667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27432" marB="27432" anchor="t">
                    <a:solidFill>
                      <a:srgbClr val="FFFFFF"/>
                    </a:solidFill>
                    <a:lnL w="6350" cap="flat" cmpd="sng" algn="ctr">
                      <a:solidFill>
                        <a:srgbClr val="E2E6E3"/>
                      </a:solidFill>
                      <a:prstDash val="solid"/>
                    </a:lnL>
                    <a:lnR w="6350" cap="flat" cmpd="sng" algn="ctr">
                      <a:solidFill>
                        <a:srgbClr val="E2E6E3"/>
                      </a:solidFill>
                      <a:prstDash val="solid"/>
                    </a:lnR>
                    <a:lnT w="6350" cap="flat" cmpd="sng" algn="ctr">
                      <a:solidFill>
                        <a:srgbClr val="E2E6E3"/>
                      </a:solidFill>
                      <a:prstDash val="solid"/>
                    </a:lnT>
                    <a:lnB w="6350" cap="flat" cmpd="sng" algn="ctr">
                      <a:solidFill>
                        <a:srgbClr val="E2E6E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B667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27432" marB="27432" anchor="t">
                    <a:solidFill>
                      <a:srgbClr val="FFFFFF"/>
                    </a:solidFill>
                    <a:lnL w="6350" cap="flat" cmpd="sng" algn="ctr">
                      <a:solidFill>
                        <a:srgbClr val="E2E6E3"/>
                      </a:solidFill>
                      <a:prstDash val="solid"/>
                    </a:lnL>
                    <a:lnR w="6350" cap="flat" cmpd="sng" algn="ctr">
                      <a:solidFill>
                        <a:srgbClr val="E2E6E3"/>
                      </a:solidFill>
                      <a:prstDash val="solid"/>
                    </a:lnR>
                    <a:lnT w="6350" cap="flat" cmpd="sng" algn="ctr">
                      <a:solidFill>
                        <a:srgbClr val="E2E6E3"/>
                      </a:solidFill>
                      <a:prstDash val="solid"/>
                    </a:lnT>
                    <a:lnB w="6350" cap="flat" cmpd="sng" algn="ctr">
                      <a:solidFill>
                        <a:srgbClr val="E2E6E3"/>
                      </a:solidFill>
                      <a:prstDash val="soli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5181A"/>
                          </a:solidFill>
                          <a:latin typeface="Arial"/>
                        </a:rPr>
                        <a:t>Apr</a:t>
                      </a:r>
                    </a:p>
                  </a:txBody>
                  <a:tcPr marL="73152" marR="73152" marT="27432" marB="27432" anchor="t">
                    <a:solidFill>
                      <a:srgbClr val="FFFFFF"/>
                    </a:solidFill>
                    <a:lnL w="6350" cap="flat" cmpd="sng" algn="ctr">
                      <a:solidFill>
                        <a:srgbClr val="E2E6E3"/>
                      </a:solidFill>
                      <a:prstDash val="solid"/>
                    </a:lnL>
                    <a:lnR w="6350" cap="flat" cmpd="sng" algn="ctr">
                      <a:solidFill>
                        <a:srgbClr val="E2E6E3"/>
                      </a:solidFill>
                      <a:prstDash val="solid"/>
                    </a:lnR>
                    <a:lnT w="6350" cap="flat" cmpd="sng" algn="ctr">
                      <a:solidFill>
                        <a:srgbClr val="E2E6E3"/>
                      </a:solidFill>
                      <a:prstDash val="solid"/>
                    </a:lnT>
                    <a:lnB w="6350" cap="flat" cmpd="sng" algn="ctr">
                      <a:solidFill>
                        <a:srgbClr val="E2E6E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B667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27432" marB="27432" anchor="t">
                    <a:solidFill>
                      <a:srgbClr val="FFFFFF"/>
                    </a:solidFill>
                    <a:lnL w="6350" cap="flat" cmpd="sng" algn="ctr">
                      <a:solidFill>
                        <a:srgbClr val="E2E6E3"/>
                      </a:solidFill>
                      <a:prstDash val="solid"/>
                    </a:lnL>
                    <a:lnR w="6350" cap="flat" cmpd="sng" algn="ctr">
                      <a:solidFill>
                        <a:srgbClr val="E2E6E3"/>
                      </a:solidFill>
                      <a:prstDash val="solid"/>
                    </a:lnR>
                    <a:lnT w="6350" cap="flat" cmpd="sng" algn="ctr">
                      <a:solidFill>
                        <a:srgbClr val="E2E6E3"/>
                      </a:solidFill>
                      <a:prstDash val="solid"/>
                    </a:lnT>
                    <a:lnB w="6350" cap="flat" cmpd="sng" algn="ctr">
                      <a:solidFill>
                        <a:srgbClr val="E2E6E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B667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27432" marB="27432" anchor="t">
                    <a:solidFill>
                      <a:srgbClr val="FFFFFF"/>
                    </a:solidFill>
                    <a:lnL w="6350" cap="flat" cmpd="sng" algn="ctr">
                      <a:solidFill>
                        <a:srgbClr val="E2E6E3"/>
                      </a:solidFill>
                      <a:prstDash val="solid"/>
                    </a:lnL>
                    <a:lnR w="6350" cap="flat" cmpd="sng" algn="ctr">
                      <a:solidFill>
                        <a:srgbClr val="E2E6E3"/>
                      </a:solidFill>
                      <a:prstDash val="solid"/>
                    </a:lnR>
                    <a:lnT w="6350" cap="flat" cmpd="sng" algn="ctr">
                      <a:solidFill>
                        <a:srgbClr val="E2E6E3"/>
                      </a:solidFill>
                      <a:prstDash val="solid"/>
                    </a:lnT>
                    <a:lnB w="6350" cap="flat" cmpd="sng" algn="ctr">
                      <a:solidFill>
                        <a:srgbClr val="E2E6E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B667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27432" marB="27432" anchor="t">
                    <a:solidFill>
                      <a:srgbClr val="FFFFFF"/>
                    </a:solidFill>
                    <a:lnL w="6350" cap="flat" cmpd="sng" algn="ctr">
                      <a:solidFill>
                        <a:srgbClr val="E2E6E3"/>
                      </a:solidFill>
                      <a:prstDash val="solid"/>
                    </a:lnL>
                    <a:lnR w="6350" cap="flat" cmpd="sng" algn="ctr">
                      <a:solidFill>
                        <a:srgbClr val="E2E6E3"/>
                      </a:solidFill>
                      <a:prstDash val="solid"/>
                    </a:lnR>
                    <a:lnT w="6350" cap="flat" cmpd="sng" algn="ctr">
                      <a:solidFill>
                        <a:srgbClr val="E2E6E3"/>
                      </a:solidFill>
                      <a:prstDash val="solid"/>
                    </a:lnT>
                    <a:lnB w="6350" cap="flat" cmpd="sng" algn="ctr">
                      <a:solidFill>
                        <a:srgbClr val="E2E6E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B667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27432" marB="27432" anchor="t">
                    <a:solidFill>
                      <a:srgbClr val="FFFFFF"/>
                    </a:solidFill>
                    <a:lnL w="6350" cap="flat" cmpd="sng" algn="ctr">
                      <a:solidFill>
                        <a:srgbClr val="E2E6E3"/>
                      </a:solidFill>
                      <a:prstDash val="solid"/>
                    </a:lnL>
                    <a:lnR w="6350" cap="flat" cmpd="sng" algn="ctr">
                      <a:solidFill>
                        <a:srgbClr val="E2E6E3"/>
                      </a:solidFill>
                      <a:prstDash val="solid"/>
                    </a:lnR>
                    <a:lnT w="6350" cap="flat" cmpd="sng" algn="ctr">
                      <a:solidFill>
                        <a:srgbClr val="E2E6E3"/>
                      </a:solidFill>
                      <a:prstDash val="solid"/>
                    </a:lnT>
                    <a:lnB w="6350" cap="flat" cmpd="sng" algn="ctr">
                      <a:solidFill>
                        <a:srgbClr val="E2E6E3"/>
                      </a:solidFill>
                      <a:prstDash val="soli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5181A"/>
                          </a:solidFill>
                          <a:latin typeface="Arial"/>
                        </a:rPr>
                        <a:t>May</a:t>
                      </a:r>
                    </a:p>
                  </a:txBody>
                  <a:tcPr marL="73152" marR="73152" marT="27432" marB="27432" anchor="t">
                    <a:solidFill>
                      <a:srgbClr val="FFFFFF"/>
                    </a:solidFill>
                    <a:lnL w="6350" cap="flat" cmpd="sng" algn="ctr">
                      <a:solidFill>
                        <a:srgbClr val="E2E6E3"/>
                      </a:solidFill>
                      <a:prstDash val="solid"/>
                    </a:lnL>
                    <a:lnR w="6350" cap="flat" cmpd="sng" algn="ctr">
                      <a:solidFill>
                        <a:srgbClr val="E2E6E3"/>
                      </a:solidFill>
                      <a:prstDash val="solid"/>
                    </a:lnR>
                    <a:lnT w="6350" cap="flat" cmpd="sng" algn="ctr">
                      <a:solidFill>
                        <a:srgbClr val="E2E6E3"/>
                      </a:solidFill>
                      <a:prstDash val="solid"/>
                    </a:lnT>
                    <a:lnB w="6350" cap="flat" cmpd="sng" algn="ctr">
                      <a:solidFill>
                        <a:srgbClr val="E2E6E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B667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27432" marB="27432" anchor="t">
                    <a:solidFill>
                      <a:srgbClr val="FFFFFF"/>
                    </a:solidFill>
                    <a:lnL w="6350" cap="flat" cmpd="sng" algn="ctr">
                      <a:solidFill>
                        <a:srgbClr val="E2E6E3"/>
                      </a:solidFill>
                      <a:prstDash val="solid"/>
                    </a:lnL>
                    <a:lnR w="6350" cap="flat" cmpd="sng" algn="ctr">
                      <a:solidFill>
                        <a:srgbClr val="E2E6E3"/>
                      </a:solidFill>
                      <a:prstDash val="solid"/>
                    </a:lnR>
                    <a:lnT w="6350" cap="flat" cmpd="sng" algn="ctr">
                      <a:solidFill>
                        <a:srgbClr val="E2E6E3"/>
                      </a:solidFill>
                      <a:prstDash val="solid"/>
                    </a:lnT>
                    <a:lnB w="6350" cap="flat" cmpd="sng" algn="ctr">
                      <a:solidFill>
                        <a:srgbClr val="E2E6E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B667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27432" marB="27432" anchor="t">
                    <a:solidFill>
                      <a:srgbClr val="FFFFFF"/>
                    </a:solidFill>
                    <a:lnL w="6350" cap="flat" cmpd="sng" algn="ctr">
                      <a:solidFill>
                        <a:srgbClr val="E2E6E3"/>
                      </a:solidFill>
                      <a:prstDash val="solid"/>
                    </a:lnL>
                    <a:lnR w="6350" cap="flat" cmpd="sng" algn="ctr">
                      <a:solidFill>
                        <a:srgbClr val="E2E6E3"/>
                      </a:solidFill>
                      <a:prstDash val="solid"/>
                    </a:lnR>
                    <a:lnT w="6350" cap="flat" cmpd="sng" algn="ctr">
                      <a:solidFill>
                        <a:srgbClr val="E2E6E3"/>
                      </a:solidFill>
                      <a:prstDash val="solid"/>
                    </a:lnT>
                    <a:lnB w="6350" cap="flat" cmpd="sng" algn="ctr">
                      <a:solidFill>
                        <a:srgbClr val="E2E6E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B667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27432" marB="27432" anchor="t">
                    <a:solidFill>
                      <a:srgbClr val="FFFFFF"/>
                    </a:solidFill>
                    <a:lnL w="6350" cap="flat" cmpd="sng" algn="ctr">
                      <a:solidFill>
                        <a:srgbClr val="E2E6E3"/>
                      </a:solidFill>
                      <a:prstDash val="solid"/>
                    </a:lnL>
                    <a:lnR w="6350" cap="flat" cmpd="sng" algn="ctr">
                      <a:solidFill>
                        <a:srgbClr val="E2E6E3"/>
                      </a:solidFill>
                      <a:prstDash val="solid"/>
                    </a:lnR>
                    <a:lnT w="6350" cap="flat" cmpd="sng" algn="ctr">
                      <a:solidFill>
                        <a:srgbClr val="E2E6E3"/>
                      </a:solidFill>
                      <a:prstDash val="solid"/>
                    </a:lnT>
                    <a:lnB w="6350" cap="flat" cmpd="sng" algn="ctr">
                      <a:solidFill>
                        <a:srgbClr val="E2E6E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B667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27432" marB="27432" anchor="t">
                    <a:solidFill>
                      <a:srgbClr val="FFFFFF"/>
                    </a:solidFill>
                    <a:lnL w="6350" cap="flat" cmpd="sng" algn="ctr">
                      <a:solidFill>
                        <a:srgbClr val="E2E6E3"/>
                      </a:solidFill>
                      <a:prstDash val="solid"/>
                    </a:lnL>
                    <a:lnR w="6350" cap="flat" cmpd="sng" algn="ctr">
                      <a:solidFill>
                        <a:srgbClr val="E2E6E3"/>
                      </a:solidFill>
                      <a:prstDash val="solid"/>
                    </a:lnR>
                    <a:lnT w="6350" cap="flat" cmpd="sng" algn="ctr">
                      <a:solidFill>
                        <a:srgbClr val="E2E6E3"/>
                      </a:solidFill>
                      <a:prstDash val="solid"/>
                    </a:lnT>
                    <a:lnB w="6350" cap="flat" cmpd="sng" algn="ctr">
                      <a:solidFill>
                        <a:srgbClr val="E2E6E3"/>
                      </a:solidFill>
                      <a:prstDash val="soli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5181A"/>
                          </a:solidFill>
                          <a:latin typeface="Arial"/>
                        </a:rPr>
                        <a:t>Jun</a:t>
                      </a:r>
                    </a:p>
                  </a:txBody>
                  <a:tcPr marL="73152" marR="73152" marT="27432" marB="27432" anchor="t">
                    <a:solidFill>
                      <a:srgbClr val="FFFFFF"/>
                    </a:solidFill>
                    <a:lnL w="6350" cap="flat" cmpd="sng" algn="ctr">
                      <a:solidFill>
                        <a:srgbClr val="E2E6E3"/>
                      </a:solidFill>
                      <a:prstDash val="solid"/>
                    </a:lnL>
                    <a:lnR w="6350" cap="flat" cmpd="sng" algn="ctr">
                      <a:solidFill>
                        <a:srgbClr val="E2E6E3"/>
                      </a:solidFill>
                      <a:prstDash val="solid"/>
                    </a:lnR>
                    <a:lnT w="6350" cap="flat" cmpd="sng" algn="ctr">
                      <a:solidFill>
                        <a:srgbClr val="E2E6E3"/>
                      </a:solidFill>
                      <a:prstDash val="solid"/>
                    </a:lnT>
                    <a:lnB w="6350" cap="flat" cmpd="sng" algn="ctr">
                      <a:solidFill>
                        <a:srgbClr val="E2E6E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B667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27432" marB="27432" anchor="t">
                    <a:solidFill>
                      <a:srgbClr val="FFFFFF"/>
                    </a:solidFill>
                    <a:lnL w="6350" cap="flat" cmpd="sng" algn="ctr">
                      <a:solidFill>
                        <a:srgbClr val="E2E6E3"/>
                      </a:solidFill>
                      <a:prstDash val="solid"/>
                    </a:lnL>
                    <a:lnR w="6350" cap="flat" cmpd="sng" algn="ctr">
                      <a:solidFill>
                        <a:srgbClr val="E2E6E3"/>
                      </a:solidFill>
                      <a:prstDash val="solid"/>
                    </a:lnR>
                    <a:lnT w="6350" cap="flat" cmpd="sng" algn="ctr">
                      <a:solidFill>
                        <a:srgbClr val="E2E6E3"/>
                      </a:solidFill>
                      <a:prstDash val="solid"/>
                    </a:lnT>
                    <a:lnB w="6350" cap="flat" cmpd="sng" algn="ctr">
                      <a:solidFill>
                        <a:srgbClr val="E2E6E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B667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27432" marB="27432" anchor="t">
                    <a:solidFill>
                      <a:srgbClr val="FFFFFF"/>
                    </a:solidFill>
                    <a:lnL w="6350" cap="flat" cmpd="sng" algn="ctr">
                      <a:solidFill>
                        <a:srgbClr val="E2E6E3"/>
                      </a:solidFill>
                      <a:prstDash val="solid"/>
                    </a:lnL>
                    <a:lnR w="6350" cap="flat" cmpd="sng" algn="ctr">
                      <a:solidFill>
                        <a:srgbClr val="E2E6E3"/>
                      </a:solidFill>
                      <a:prstDash val="solid"/>
                    </a:lnR>
                    <a:lnT w="6350" cap="flat" cmpd="sng" algn="ctr">
                      <a:solidFill>
                        <a:srgbClr val="E2E6E3"/>
                      </a:solidFill>
                      <a:prstDash val="solid"/>
                    </a:lnT>
                    <a:lnB w="6350" cap="flat" cmpd="sng" algn="ctr">
                      <a:solidFill>
                        <a:srgbClr val="E2E6E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B667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27432" marB="27432" anchor="t">
                    <a:solidFill>
                      <a:srgbClr val="FFFFFF"/>
                    </a:solidFill>
                    <a:lnL w="6350" cap="flat" cmpd="sng" algn="ctr">
                      <a:solidFill>
                        <a:srgbClr val="E2E6E3"/>
                      </a:solidFill>
                      <a:prstDash val="solid"/>
                    </a:lnL>
                    <a:lnR w="6350" cap="flat" cmpd="sng" algn="ctr">
                      <a:solidFill>
                        <a:srgbClr val="E2E6E3"/>
                      </a:solidFill>
                      <a:prstDash val="solid"/>
                    </a:lnR>
                    <a:lnT w="6350" cap="flat" cmpd="sng" algn="ctr">
                      <a:solidFill>
                        <a:srgbClr val="E2E6E3"/>
                      </a:solidFill>
                      <a:prstDash val="solid"/>
                    </a:lnT>
                    <a:lnB w="6350" cap="flat" cmpd="sng" algn="ctr">
                      <a:solidFill>
                        <a:srgbClr val="E2E6E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B667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27432" marB="27432" anchor="t">
                    <a:solidFill>
                      <a:srgbClr val="FFFFFF"/>
                    </a:solidFill>
                    <a:lnL w="6350" cap="flat" cmpd="sng" algn="ctr">
                      <a:solidFill>
                        <a:srgbClr val="E2E6E3"/>
                      </a:solidFill>
                      <a:prstDash val="solid"/>
                    </a:lnL>
                    <a:lnR w="6350" cap="flat" cmpd="sng" algn="ctr">
                      <a:solidFill>
                        <a:srgbClr val="E2E6E3"/>
                      </a:solidFill>
                      <a:prstDash val="solid"/>
                    </a:lnR>
                    <a:lnT w="6350" cap="flat" cmpd="sng" algn="ctr">
                      <a:solidFill>
                        <a:srgbClr val="E2E6E3"/>
                      </a:solidFill>
                      <a:prstDash val="solid"/>
                    </a:lnT>
                    <a:lnB w="6350" cap="flat" cmpd="sng" algn="ctr">
                      <a:solidFill>
                        <a:srgbClr val="E2E6E3"/>
                      </a:solidFill>
                      <a:prstDash val="soli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5181A"/>
                          </a:solidFill>
                          <a:latin typeface="Arial"/>
                        </a:rPr>
                        <a:t>Jul</a:t>
                      </a:r>
                    </a:p>
                  </a:txBody>
                  <a:tcPr marL="73152" marR="73152" marT="27432" marB="27432" anchor="t">
                    <a:solidFill>
                      <a:srgbClr val="FFFFFF"/>
                    </a:solidFill>
                    <a:lnL w="6350" cap="flat" cmpd="sng" algn="ctr">
                      <a:solidFill>
                        <a:srgbClr val="E2E6E3"/>
                      </a:solidFill>
                      <a:prstDash val="solid"/>
                    </a:lnL>
                    <a:lnR w="6350" cap="flat" cmpd="sng" algn="ctr">
                      <a:solidFill>
                        <a:srgbClr val="E2E6E3"/>
                      </a:solidFill>
                      <a:prstDash val="solid"/>
                    </a:lnR>
                    <a:lnT w="6350" cap="flat" cmpd="sng" algn="ctr">
                      <a:solidFill>
                        <a:srgbClr val="E2E6E3"/>
                      </a:solidFill>
                      <a:prstDash val="solid"/>
                    </a:lnT>
                    <a:lnB w="6350" cap="flat" cmpd="sng" algn="ctr">
                      <a:solidFill>
                        <a:srgbClr val="E2E6E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B667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27432" marB="27432" anchor="t">
                    <a:solidFill>
                      <a:srgbClr val="FFFFFF"/>
                    </a:solidFill>
                    <a:lnL w="6350" cap="flat" cmpd="sng" algn="ctr">
                      <a:solidFill>
                        <a:srgbClr val="E2E6E3"/>
                      </a:solidFill>
                      <a:prstDash val="solid"/>
                    </a:lnL>
                    <a:lnR w="6350" cap="flat" cmpd="sng" algn="ctr">
                      <a:solidFill>
                        <a:srgbClr val="E2E6E3"/>
                      </a:solidFill>
                      <a:prstDash val="solid"/>
                    </a:lnR>
                    <a:lnT w="6350" cap="flat" cmpd="sng" algn="ctr">
                      <a:solidFill>
                        <a:srgbClr val="E2E6E3"/>
                      </a:solidFill>
                      <a:prstDash val="solid"/>
                    </a:lnT>
                    <a:lnB w="6350" cap="flat" cmpd="sng" algn="ctr">
                      <a:solidFill>
                        <a:srgbClr val="E2E6E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B667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27432" marB="27432" anchor="t">
                    <a:solidFill>
                      <a:srgbClr val="FFFFFF"/>
                    </a:solidFill>
                    <a:lnL w="6350" cap="flat" cmpd="sng" algn="ctr">
                      <a:solidFill>
                        <a:srgbClr val="E2E6E3"/>
                      </a:solidFill>
                      <a:prstDash val="solid"/>
                    </a:lnL>
                    <a:lnR w="6350" cap="flat" cmpd="sng" algn="ctr">
                      <a:solidFill>
                        <a:srgbClr val="E2E6E3"/>
                      </a:solidFill>
                      <a:prstDash val="solid"/>
                    </a:lnR>
                    <a:lnT w="6350" cap="flat" cmpd="sng" algn="ctr">
                      <a:solidFill>
                        <a:srgbClr val="E2E6E3"/>
                      </a:solidFill>
                      <a:prstDash val="solid"/>
                    </a:lnT>
                    <a:lnB w="6350" cap="flat" cmpd="sng" algn="ctr">
                      <a:solidFill>
                        <a:srgbClr val="E2E6E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B667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27432" marB="27432" anchor="t">
                    <a:solidFill>
                      <a:srgbClr val="FFFFFF"/>
                    </a:solidFill>
                    <a:lnL w="6350" cap="flat" cmpd="sng" algn="ctr">
                      <a:solidFill>
                        <a:srgbClr val="E2E6E3"/>
                      </a:solidFill>
                      <a:prstDash val="solid"/>
                    </a:lnL>
                    <a:lnR w="6350" cap="flat" cmpd="sng" algn="ctr">
                      <a:solidFill>
                        <a:srgbClr val="E2E6E3"/>
                      </a:solidFill>
                      <a:prstDash val="solid"/>
                    </a:lnR>
                    <a:lnT w="6350" cap="flat" cmpd="sng" algn="ctr">
                      <a:solidFill>
                        <a:srgbClr val="E2E6E3"/>
                      </a:solidFill>
                      <a:prstDash val="solid"/>
                    </a:lnT>
                    <a:lnB w="6350" cap="flat" cmpd="sng" algn="ctr">
                      <a:solidFill>
                        <a:srgbClr val="E2E6E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B667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27432" marB="27432" anchor="t">
                    <a:solidFill>
                      <a:srgbClr val="FFFFFF"/>
                    </a:solidFill>
                    <a:lnL w="6350" cap="flat" cmpd="sng" algn="ctr">
                      <a:solidFill>
                        <a:srgbClr val="E2E6E3"/>
                      </a:solidFill>
                      <a:prstDash val="solid"/>
                    </a:lnL>
                    <a:lnR w="6350" cap="flat" cmpd="sng" algn="ctr">
                      <a:solidFill>
                        <a:srgbClr val="E2E6E3"/>
                      </a:solidFill>
                      <a:prstDash val="solid"/>
                    </a:lnR>
                    <a:lnT w="6350" cap="flat" cmpd="sng" algn="ctr">
                      <a:solidFill>
                        <a:srgbClr val="E2E6E3"/>
                      </a:solidFill>
                      <a:prstDash val="solid"/>
                    </a:lnT>
                    <a:lnB w="6350" cap="flat" cmpd="sng" algn="ctr">
                      <a:solidFill>
                        <a:srgbClr val="E2E6E3"/>
                      </a:solidFill>
                      <a:prstDash val="soli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5181A"/>
                          </a:solidFill>
                          <a:latin typeface="Arial"/>
                        </a:rPr>
                        <a:t>Aug</a:t>
                      </a:r>
                    </a:p>
                  </a:txBody>
                  <a:tcPr marL="73152" marR="73152" marT="27432" marB="27432" anchor="t">
                    <a:solidFill>
                      <a:srgbClr val="FFFFFF"/>
                    </a:solidFill>
                    <a:lnL w="6350" cap="flat" cmpd="sng" algn="ctr">
                      <a:solidFill>
                        <a:srgbClr val="E2E6E3"/>
                      </a:solidFill>
                      <a:prstDash val="solid"/>
                    </a:lnL>
                    <a:lnR w="6350" cap="flat" cmpd="sng" algn="ctr">
                      <a:solidFill>
                        <a:srgbClr val="E2E6E3"/>
                      </a:solidFill>
                      <a:prstDash val="solid"/>
                    </a:lnR>
                    <a:lnT w="6350" cap="flat" cmpd="sng" algn="ctr">
                      <a:solidFill>
                        <a:srgbClr val="E2E6E3"/>
                      </a:solidFill>
                      <a:prstDash val="solid"/>
                    </a:lnT>
                    <a:lnB w="6350" cap="flat" cmpd="sng" algn="ctr">
                      <a:solidFill>
                        <a:srgbClr val="E2E6E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B667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27432" marB="27432" anchor="t">
                    <a:solidFill>
                      <a:srgbClr val="FFFFFF"/>
                    </a:solidFill>
                    <a:lnL w="6350" cap="flat" cmpd="sng" algn="ctr">
                      <a:solidFill>
                        <a:srgbClr val="E2E6E3"/>
                      </a:solidFill>
                      <a:prstDash val="solid"/>
                    </a:lnL>
                    <a:lnR w="6350" cap="flat" cmpd="sng" algn="ctr">
                      <a:solidFill>
                        <a:srgbClr val="E2E6E3"/>
                      </a:solidFill>
                      <a:prstDash val="solid"/>
                    </a:lnR>
                    <a:lnT w="6350" cap="flat" cmpd="sng" algn="ctr">
                      <a:solidFill>
                        <a:srgbClr val="E2E6E3"/>
                      </a:solidFill>
                      <a:prstDash val="solid"/>
                    </a:lnT>
                    <a:lnB w="6350" cap="flat" cmpd="sng" algn="ctr">
                      <a:solidFill>
                        <a:srgbClr val="E2E6E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B667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27432" marB="27432" anchor="t">
                    <a:solidFill>
                      <a:srgbClr val="FFFFFF"/>
                    </a:solidFill>
                    <a:lnL w="6350" cap="flat" cmpd="sng" algn="ctr">
                      <a:solidFill>
                        <a:srgbClr val="E2E6E3"/>
                      </a:solidFill>
                      <a:prstDash val="solid"/>
                    </a:lnL>
                    <a:lnR w="6350" cap="flat" cmpd="sng" algn="ctr">
                      <a:solidFill>
                        <a:srgbClr val="E2E6E3"/>
                      </a:solidFill>
                      <a:prstDash val="solid"/>
                    </a:lnR>
                    <a:lnT w="6350" cap="flat" cmpd="sng" algn="ctr">
                      <a:solidFill>
                        <a:srgbClr val="E2E6E3"/>
                      </a:solidFill>
                      <a:prstDash val="solid"/>
                    </a:lnT>
                    <a:lnB w="6350" cap="flat" cmpd="sng" algn="ctr">
                      <a:solidFill>
                        <a:srgbClr val="E2E6E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B667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27432" marB="27432" anchor="t">
                    <a:solidFill>
                      <a:srgbClr val="FFFFFF"/>
                    </a:solidFill>
                    <a:lnL w="6350" cap="flat" cmpd="sng" algn="ctr">
                      <a:solidFill>
                        <a:srgbClr val="E2E6E3"/>
                      </a:solidFill>
                      <a:prstDash val="solid"/>
                    </a:lnL>
                    <a:lnR w="6350" cap="flat" cmpd="sng" algn="ctr">
                      <a:solidFill>
                        <a:srgbClr val="E2E6E3"/>
                      </a:solidFill>
                      <a:prstDash val="solid"/>
                    </a:lnR>
                    <a:lnT w="6350" cap="flat" cmpd="sng" algn="ctr">
                      <a:solidFill>
                        <a:srgbClr val="E2E6E3"/>
                      </a:solidFill>
                      <a:prstDash val="solid"/>
                    </a:lnT>
                    <a:lnB w="6350" cap="flat" cmpd="sng" algn="ctr">
                      <a:solidFill>
                        <a:srgbClr val="E2E6E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B667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27432" marB="27432" anchor="t">
                    <a:solidFill>
                      <a:srgbClr val="FFFFFF"/>
                    </a:solidFill>
                    <a:lnL w="6350" cap="flat" cmpd="sng" algn="ctr">
                      <a:solidFill>
                        <a:srgbClr val="E2E6E3"/>
                      </a:solidFill>
                      <a:prstDash val="solid"/>
                    </a:lnL>
                    <a:lnR w="6350" cap="flat" cmpd="sng" algn="ctr">
                      <a:solidFill>
                        <a:srgbClr val="E2E6E3"/>
                      </a:solidFill>
                      <a:prstDash val="solid"/>
                    </a:lnR>
                    <a:lnT w="6350" cap="flat" cmpd="sng" algn="ctr">
                      <a:solidFill>
                        <a:srgbClr val="E2E6E3"/>
                      </a:solidFill>
                      <a:prstDash val="solid"/>
                    </a:lnT>
                    <a:lnB w="6350" cap="flat" cmpd="sng" algn="ctr">
                      <a:solidFill>
                        <a:srgbClr val="E2E6E3"/>
                      </a:solidFill>
                      <a:prstDash val="soli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5181A"/>
                          </a:solidFill>
                          <a:latin typeface="Arial"/>
                        </a:rPr>
                        <a:t>Sep</a:t>
                      </a:r>
                    </a:p>
                  </a:txBody>
                  <a:tcPr marL="73152" marR="73152" marT="27432" marB="27432" anchor="t">
                    <a:solidFill>
                      <a:srgbClr val="FFFFFF"/>
                    </a:solidFill>
                    <a:lnL w="6350" cap="flat" cmpd="sng" algn="ctr">
                      <a:solidFill>
                        <a:srgbClr val="E2E6E3"/>
                      </a:solidFill>
                      <a:prstDash val="solid"/>
                    </a:lnL>
                    <a:lnR w="6350" cap="flat" cmpd="sng" algn="ctr">
                      <a:solidFill>
                        <a:srgbClr val="E2E6E3"/>
                      </a:solidFill>
                      <a:prstDash val="solid"/>
                    </a:lnR>
                    <a:lnT w="6350" cap="flat" cmpd="sng" algn="ctr">
                      <a:solidFill>
                        <a:srgbClr val="E2E6E3"/>
                      </a:solidFill>
                      <a:prstDash val="solid"/>
                    </a:lnT>
                    <a:lnB w="6350" cap="flat" cmpd="sng" algn="ctr">
                      <a:solidFill>
                        <a:srgbClr val="E2E6E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B667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27432" marB="27432" anchor="t">
                    <a:solidFill>
                      <a:srgbClr val="FFFFFF"/>
                    </a:solidFill>
                    <a:lnL w="6350" cap="flat" cmpd="sng" algn="ctr">
                      <a:solidFill>
                        <a:srgbClr val="E2E6E3"/>
                      </a:solidFill>
                      <a:prstDash val="solid"/>
                    </a:lnL>
                    <a:lnR w="6350" cap="flat" cmpd="sng" algn="ctr">
                      <a:solidFill>
                        <a:srgbClr val="E2E6E3"/>
                      </a:solidFill>
                      <a:prstDash val="solid"/>
                    </a:lnR>
                    <a:lnT w="6350" cap="flat" cmpd="sng" algn="ctr">
                      <a:solidFill>
                        <a:srgbClr val="E2E6E3"/>
                      </a:solidFill>
                      <a:prstDash val="solid"/>
                    </a:lnT>
                    <a:lnB w="6350" cap="flat" cmpd="sng" algn="ctr">
                      <a:solidFill>
                        <a:srgbClr val="E2E6E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B667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27432" marB="27432" anchor="t">
                    <a:solidFill>
                      <a:srgbClr val="FFFFFF"/>
                    </a:solidFill>
                    <a:lnL w="6350" cap="flat" cmpd="sng" algn="ctr">
                      <a:solidFill>
                        <a:srgbClr val="E2E6E3"/>
                      </a:solidFill>
                      <a:prstDash val="solid"/>
                    </a:lnL>
                    <a:lnR w="6350" cap="flat" cmpd="sng" algn="ctr">
                      <a:solidFill>
                        <a:srgbClr val="E2E6E3"/>
                      </a:solidFill>
                      <a:prstDash val="solid"/>
                    </a:lnR>
                    <a:lnT w="6350" cap="flat" cmpd="sng" algn="ctr">
                      <a:solidFill>
                        <a:srgbClr val="E2E6E3"/>
                      </a:solidFill>
                      <a:prstDash val="solid"/>
                    </a:lnT>
                    <a:lnB w="6350" cap="flat" cmpd="sng" algn="ctr">
                      <a:solidFill>
                        <a:srgbClr val="E2E6E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B667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27432" marB="27432" anchor="t">
                    <a:solidFill>
                      <a:srgbClr val="FFFFFF"/>
                    </a:solidFill>
                    <a:lnL w="6350" cap="flat" cmpd="sng" algn="ctr">
                      <a:solidFill>
                        <a:srgbClr val="E2E6E3"/>
                      </a:solidFill>
                      <a:prstDash val="solid"/>
                    </a:lnL>
                    <a:lnR w="6350" cap="flat" cmpd="sng" algn="ctr">
                      <a:solidFill>
                        <a:srgbClr val="E2E6E3"/>
                      </a:solidFill>
                      <a:prstDash val="solid"/>
                    </a:lnR>
                    <a:lnT w="6350" cap="flat" cmpd="sng" algn="ctr">
                      <a:solidFill>
                        <a:srgbClr val="E2E6E3"/>
                      </a:solidFill>
                      <a:prstDash val="solid"/>
                    </a:lnT>
                    <a:lnB w="6350" cap="flat" cmpd="sng" algn="ctr">
                      <a:solidFill>
                        <a:srgbClr val="E2E6E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B667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27432" marB="27432" anchor="t">
                    <a:solidFill>
                      <a:srgbClr val="FFFFFF"/>
                    </a:solidFill>
                    <a:lnL w="6350" cap="flat" cmpd="sng" algn="ctr">
                      <a:solidFill>
                        <a:srgbClr val="E2E6E3"/>
                      </a:solidFill>
                      <a:prstDash val="solid"/>
                    </a:lnL>
                    <a:lnR w="6350" cap="flat" cmpd="sng" algn="ctr">
                      <a:solidFill>
                        <a:srgbClr val="E2E6E3"/>
                      </a:solidFill>
                      <a:prstDash val="solid"/>
                    </a:lnR>
                    <a:lnT w="6350" cap="flat" cmpd="sng" algn="ctr">
                      <a:solidFill>
                        <a:srgbClr val="E2E6E3"/>
                      </a:solidFill>
                      <a:prstDash val="solid"/>
                    </a:lnT>
                    <a:lnB w="6350" cap="flat" cmpd="sng" algn="ctr">
                      <a:solidFill>
                        <a:srgbClr val="E2E6E3"/>
                      </a:solidFill>
                      <a:prstDash val="soli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5181A"/>
                          </a:solidFill>
                          <a:latin typeface="Arial"/>
                        </a:rPr>
                        <a:t>YTD</a:t>
                      </a:r>
                    </a:p>
                  </a:txBody>
                  <a:tcPr marL="73152" marR="73152" marT="27432" marB="27432" anchor="t">
                    <a:solidFill>
                      <a:srgbClr val="FFFFFF"/>
                    </a:solidFill>
                    <a:lnL w="6350" cap="flat" cmpd="sng" algn="ctr">
                      <a:solidFill>
                        <a:srgbClr val="E2E6E3"/>
                      </a:solidFill>
                      <a:prstDash val="solid"/>
                    </a:lnL>
                    <a:lnR w="6350" cap="flat" cmpd="sng" algn="ctr">
                      <a:solidFill>
                        <a:srgbClr val="E2E6E3"/>
                      </a:solidFill>
                      <a:prstDash val="solid"/>
                    </a:lnR>
                    <a:lnT w="6350" cap="flat" cmpd="sng" algn="ctr">
                      <a:solidFill>
                        <a:srgbClr val="E2E6E3"/>
                      </a:solidFill>
                      <a:prstDash val="solid"/>
                    </a:lnT>
                    <a:lnB w="6350" cap="flat" cmpd="sng" algn="ctr">
                      <a:solidFill>
                        <a:srgbClr val="E2E6E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B667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27432" marB="27432" anchor="t">
                    <a:solidFill>
                      <a:srgbClr val="FFFFFF"/>
                    </a:solidFill>
                    <a:lnL w="6350" cap="flat" cmpd="sng" algn="ctr">
                      <a:solidFill>
                        <a:srgbClr val="E2E6E3"/>
                      </a:solidFill>
                      <a:prstDash val="solid"/>
                    </a:lnL>
                    <a:lnR w="6350" cap="flat" cmpd="sng" algn="ctr">
                      <a:solidFill>
                        <a:srgbClr val="E2E6E3"/>
                      </a:solidFill>
                      <a:prstDash val="solid"/>
                    </a:lnR>
                    <a:lnT w="6350" cap="flat" cmpd="sng" algn="ctr">
                      <a:solidFill>
                        <a:srgbClr val="E2E6E3"/>
                      </a:solidFill>
                      <a:prstDash val="solid"/>
                    </a:lnT>
                    <a:lnB w="6350" cap="flat" cmpd="sng" algn="ctr">
                      <a:solidFill>
                        <a:srgbClr val="E2E6E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B667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27432" marB="27432" anchor="t">
                    <a:solidFill>
                      <a:srgbClr val="FFFFFF"/>
                    </a:solidFill>
                    <a:lnL w="6350" cap="flat" cmpd="sng" algn="ctr">
                      <a:solidFill>
                        <a:srgbClr val="E2E6E3"/>
                      </a:solidFill>
                      <a:prstDash val="solid"/>
                    </a:lnL>
                    <a:lnR w="6350" cap="flat" cmpd="sng" algn="ctr">
                      <a:solidFill>
                        <a:srgbClr val="E2E6E3"/>
                      </a:solidFill>
                      <a:prstDash val="solid"/>
                    </a:lnR>
                    <a:lnT w="6350" cap="flat" cmpd="sng" algn="ctr">
                      <a:solidFill>
                        <a:srgbClr val="E2E6E3"/>
                      </a:solidFill>
                      <a:prstDash val="solid"/>
                    </a:lnT>
                    <a:lnB w="6350" cap="flat" cmpd="sng" algn="ctr">
                      <a:solidFill>
                        <a:srgbClr val="E2E6E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B667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27432" marB="27432" anchor="t">
                    <a:solidFill>
                      <a:srgbClr val="FFFFFF"/>
                    </a:solidFill>
                    <a:lnL w="6350" cap="flat" cmpd="sng" algn="ctr">
                      <a:solidFill>
                        <a:srgbClr val="E2E6E3"/>
                      </a:solidFill>
                      <a:prstDash val="solid"/>
                    </a:lnL>
                    <a:lnR w="6350" cap="flat" cmpd="sng" algn="ctr">
                      <a:solidFill>
                        <a:srgbClr val="E2E6E3"/>
                      </a:solidFill>
                      <a:prstDash val="solid"/>
                    </a:lnR>
                    <a:lnT w="6350" cap="flat" cmpd="sng" algn="ctr">
                      <a:solidFill>
                        <a:srgbClr val="E2E6E3"/>
                      </a:solidFill>
                      <a:prstDash val="solid"/>
                    </a:lnT>
                    <a:lnB w="6350" cap="flat" cmpd="sng" algn="ctr">
                      <a:solidFill>
                        <a:srgbClr val="E2E6E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B667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27432" marB="27432" anchor="t">
                    <a:solidFill>
                      <a:srgbClr val="FFFFFF"/>
                    </a:solidFill>
                    <a:lnL w="6350" cap="flat" cmpd="sng" algn="ctr">
                      <a:solidFill>
                        <a:srgbClr val="E2E6E3"/>
                      </a:solidFill>
                      <a:prstDash val="solid"/>
                    </a:lnL>
                    <a:lnR w="6350" cap="flat" cmpd="sng" algn="ctr">
                      <a:solidFill>
                        <a:srgbClr val="E2E6E3"/>
                      </a:solidFill>
                      <a:prstDash val="solid"/>
                    </a:lnR>
                    <a:lnT w="6350" cap="flat" cmpd="sng" algn="ctr">
                      <a:solidFill>
                        <a:srgbClr val="E2E6E3"/>
                      </a:solidFill>
                      <a:prstDash val="solid"/>
                    </a:lnT>
                    <a:lnB w="6350" cap="flat" cmpd="sng" algn="ctr">
                      <a:solidFill>
                        <a:srgbClr val="E2E6E3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Steel King Industries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Steel King Presentation System</dc:title>
  <dc:subject>PptxGenJS Presentation</dc:subject>
  <dc:creator>Steel King Industries</dc:creator>
  <cp:lastModifiedBy>Steel King Industries</cp:lastModifiedBy>
  <cp:revision>1</cp:revision>
  <dcterms:created xsi:type="dcterms:W3CDTF">2026-09-11T23:28:37Z</dcterms:created>
  <dcterms:modified xsi:type="dcterms:W3CDTF">2026-09-11T23:28:37Z</dcterms:modified>
</cp:coreProperties>
</file>