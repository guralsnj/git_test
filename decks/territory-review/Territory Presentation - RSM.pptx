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Six slides. Real dealer, account, and job names. No new data pulls. Pricing gets its own block on Day 2, leave it out of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Pre-filled. Add two sentences on what the numbers don't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Your top dealers, Excalibur and non-Excalibur, the products each one performs with, and why they pick Steel King over the other guys. In their words if you have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The two or three things dealers count on us for. Then the one product or resource gap that costs you the most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How you get and keep mindshare with your dealers. How new dealer reps get up to speed on us. What's working, what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Three wins, one loss. For each win: the job, the competitor, and what won it. For the loss: what decided it, and what we could have done differently. Real jobs, real names. If the loss came down to the number, say what else was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Three projects you're going after, one you're going to grow, one thing you'd change about how we run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AGENDA-image-2.jpe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TITLE_CONTENT-image-2.jpe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TWO_CONTENT-image-2.jpe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THREE_CARDS-image-2.jpeg"/><Relationship Id="rId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BIG_NUMBERS-image-2.jpeg"/><Relationship Id="rI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CONTENT_VISUAL-image-2.jpeg"/><Relationship Id="rId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FULL_VISUAL-image-2.jpeg"/><Relationship Id="rId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COMPARISON-image-2.jpeg"/><Relationship Id="rId3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TIMELINE-image-2.jpeg"/><Relationship Id="rId3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KEY_MESSAGE-image-2.jpeg"/><Relationship Id="rId3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NEXT_STEPS-image-2.jpeg"/><Relationship Id="rId3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image-1016-2.png"/><Relationship Id="rId3" Type="http://schemas.openxmlformats.org/officeDocument/2006/relationships/image" Target="../media/COVER_MASCOT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58368"/>
            <a:ext cx="2377440" cy="803189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731520" y="2212848"/>
            <a:ext cx="69494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BRIEFING</a:t>
            </a:r>
            <a:endParaRPr lang="en-US" sz="1100" dirty="0"/>
          </a:p>
        </p:txBody>
      </p:sp>
      <p:sp>
        <p:nvSpPr>
          <p:cNvPr id="4" name="Shape 0"/>
          <p:cNvSpPr/>
          <p:nvPr/>
        </p:nvSpPr>
        <p:spPr>
          <a:xfrm>
            <a:off x="731520" y="268833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731520" y="2907792"/>
            <a:ext cx="6949440" cy="1627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46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46634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on what this deck argues</a:t>
            </a:r>
            <a:endParaRPr lang="en-US" sz="17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5998464"/>
            <a:ext cx="69494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|  Audience  |  Month Year</a:t>
            </a:r>
            <a:endParaRPr lang="en-US" sz="11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731520" y="2212848"/>
            <a:ext cx="292608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600" b="1" spc="-200" kern="0" dirty="0">
                <a:solidFill>
                  <a:srgbClr val="A9D9B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8600" b="1" spc="-200" kern="0" dirty="0">
                <a:solidFill>
                  <a:srgbClr val="A9D9B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4" name="Shape 0"/>
          <p:cNvSpPr/>
          <p:nvPr/>
        </p:nvSpPr>
        <p:spPr>
          <a:xfrm>
            <a:off x="731520" y="3712464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731520" y="3986784"/>
            <a:ext cx="694944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name</a:t>
            </a:r>
            <a:endParaRPr lang="en-US" sz="38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4956048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section settles.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cover and what we decide.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2167128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1508760" y="2167128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8869680" y="2167128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731520" y="2770632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731520" y="2916936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1508760" y="2916936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1" name="Text 3"/>
          <p:cNvSpPr txBox="1"/>
          <p:nvPr>
            <p:ph idx="109" type="body" hasCustomPrompt="1"/>
          </p:nvPr>
        </p:nvSpPr>
        <p:spPr>
          <a:xfrm>
            <a:off x="8869680" y="2916936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731520" y="3520440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3" name="Text 4"/>
          <p:cNvSpPr txBox="1"/>
          <p:nvPr/>
        </p:nvSpPr>
        <p:spPr>
          <a:xfrm>
            <a:off x="731520" y="3666744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1508760" y="3666744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5" name="Text 5"/>
          <p:cNvSpPr txBox="1"/>
          <p:nvPr>
            <p:ph idx="113" type="body" hasCustomPrompt="1"/>
          </p:nvPr>
        </p:nvSpPr>
        <p:spPr>
          <a:xfrm>
            <a:off x="8869680" y="3666744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16" name="Shape 5"/>
          <p:cNvSpPr/>
          <p:nvPr/>
        </p:nvSpPr>
        <p:spPr>
          <a:xfrm>
            <a:off x="731520" y="4270248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7" name="Text 6"/>
          <p:cNvSpPr txBox="1"/>
          <p:nvPr/>
        </p:nvSpPr>
        <p:spPr>
          <a:xfrm>
            <a:off x="731520" y="4416552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1508760" y="4416552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869680" y="4416552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20" name="Shape 7"/>
          <p:cNvSpPr/>
          <p:nvPr/>
        </p:nvSpPr>
        <p:spPr>
          <a:xfrm>
            <a:off x="731520" y="5020056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21" name="Text 8"/>
          <p:cNvSpPr txBox="1"/>
          <p:nvPr/>
        </p:nvSpPr>
        <p:spPr>
          <a:xfrm>
            <a:off x="731520" y="51663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9"/>
          <p:cNvSpPr txBox="1"/>
          <p:nvPr>
            <p:ph idx="120" type="body" hasCustomPrompt="1"/>
          </p:nvPr>
        </p:nvSpPr>
        <p:spPr>
          <a:xfrm>
            <a:off x="1508760" y="5166360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23" name="Text 9"/>
          <p:cNvSpPr txBox="1"/>
          <p:nvPr>
            <p:ph idx="121" type="body" hasCustomPrompt="1"/>
          </p:nvPr>
        </p:nvSpPr>
        <p:spPr>
          <a:xfrm>
            <a:off x="8869680" y="5166360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24" name="Shape 9"/>
          <p:cNvSpPr/>
          <p:nvPr/>
        </p:nvSpPr>
        <p:spPr>
          <a:xfrm>
            <a:off x="731520" y="5769864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pic>
        <p:nvPicPr>
          <p:cNvPr id="25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content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51206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HEADING</a:t>
            </a:r>
            <a:endParaRPr lang="en-US" sz="1100" dirty="0"/>
          </a:p>
        </p:txBody>
      </p:sp>
      <p:sp>
        <p:nvSpPr>
          <p:cNvPr id="6" name="Shape 0"/>
          <p:cNvSpPr/>
          <p:nvPr/>
        </p:nvSpPr>
        <p:spPr>
          <a:xfrm>
            <a:off x="731520" y="2505456"/>
            <a:ext cx="5120640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2651760"/>
            <a:ext cx="512064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content</a:t>
            </a:r>
            <a:endParaRPr lang="en-US" sz="15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6519672" y="2121408"/>
            <a:ext cx="49377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HEADING</a:t>
            </a:r>
            <a:endParaRPr lang="en-US" sz="1100" dirty="0"/>
          </a:p>
        </p:txBody>
      </p:sp>
      <p:sp>
        <p:nvSpPr>
          <p:cNvPr id="9" name="Shape 1"/>
          <p:cNvSpPr/>
          <p:nvPr/>
        </p:nvSpPr>
        <p:spPr>
          <a:xfrm>
            <a:off x="6519672" y="2505456"/>
            <a:ext cx="4937760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0" name="Text 2"/>
          <p:cNvSpPr txBox="1"/>
          <p:nvPr>
            <p:ph idx="108" type="body" hasCustomPrompt="1"/>
          </p:nvPr>
        </p:nvSpPr>
        <p:spPr>
          <a:xfrm>
            <a:off x="6519672" y="2651760"/>
            <a:ext cx="493776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content</a:t>
            </a:r>
            <a:endParaRPr lang="en-US" sz="1500" dirty="0"/>
          </a:p>
        </p:txBody>
      </p:sp>
      <p:sp>
        <p:nvSpPr>
          <p:cNvPr id="11" name="Text 2"/>
          <p:cNvSpPr txBox="1"/>
          <p:nvPr>
            <p:ph idx="109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2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_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6" name="Text 1"/>
          <p:cNvSpPr txBox="1"/>
          <p:nvPr/>
        </p:nvSpPr>
        <p:spPr>
          <a:xfrm>
            <a:off x="1097280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Shape 2"/>
          <p:cNvSpPr/>
          <p:nvPr/>
        </p:nvSpPr>
        <p:spPr>
          <a:xfrm>
            <a:off x="1097280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1097280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9" name="Text 3"/>
          <p:cNvSpPr txBox="1"/>
          <p:nvPr>
            <p:ph idx="107" type="body" hasCustomPrompt="1"/>
          </p:nvPr>
        </p:nvSpPr>
        <p:spPr>
          <a:xfrm>
            <a:off x="1097280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10" name="Shape 3"/>
          <p:cNvSpPr/>
          <p:nvPr/>
        </p:nvSpPr>
        <p:spPr>
          <a:xfrm>
            <a:off x="4407408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1" name="Text 4"/>
          <p:cNvSpPr txBox="1"/>
          <p:nvPr/>
        </p:nvSpPr>
        <p:spPr>
          <a:xfrm>
            <a:off x="4773168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Shape 5"/>
          <p:cNvSpPr/>
          <p:nvPr/>
        </p:nvSpPr>
        <p:spPr>
          <a:xfrm>
            <a:off x="4773168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4773168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773168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15" name="Shape 6"/>
          <p:cNvSpPr/>
          <p:nvPr/>
        </p:nvSpPr>
        <p:spPr>
          <a:xfrm>
            <a:off x="8083296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6" name="Text 7"/>
          <p:cNvSpPr txBox="1"/>
          <p:nvPr/>
        </p:nvSpPr>
        <p:spPr>
          <a:xfrm>
            <a:off x="8449056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Shape 8"/>
          <p:cNvSpPr/>
          <p:nvPr/>
        </p:nvSpPr>
        <p:spPr>
          <a:xfrm>
            <a:off x="8449056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8449056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19" name="Text 9"/>
          <p:cNvSpPr txBox="1"/>
          <p:nvPr>
            <p:ph idx="117" type="body" hasCustomPrompt="1"/>
          </p:nvPr>
        </p:nvSpPr>
        <p:spPr>
          <a:xfrm>
            <a:off x="8449056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20" name="Text 9"/>
          <p:cNvSpPr txBox="1"/>
          <p:nvPr>
            <p:ph idx="118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21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_NUMBER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731520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9" name="Shape 1"/>
          <p:cNvSpPr/>
          <p:nvPr/>
        </p:nvSpPr>
        <p:spPr>
          <a:xfrm>
            <a:off x="4407408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10" name="Text 2"/>
          <p:cNvSpPr txBox="1"/>
          <p:nvPr>
            <p:ph idx="108" type="body" hasCustomPrompt="1"/>
          </p:nvPr>
        </p:nvSpPr>
        <p:spPr>
          <a:xfrm>
            <a:off x="4407408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11" name="Text 2"/>
          <p:cNvSpPr txBox="1"/>
          <p:nvPr>
            <p:ph idx="109" type="body" hasCustomPrompt="1"/>
          </p:nvPr>
        </p:nvSpPr>
        <p:spPr>
          <a:xfrm>
            <a:off x="4407408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12" name="Text 2"/>
          <p:cNvSpPr txBox="1"/>
          <p:nvPr>
            <p:ph idx="110" type="body" hasCustomPrompt="1"/>
          </p:nvPr>
        </p:nvSpPr>
        <p:spPr>
          <a:xfrm>
            <a:off x="4407408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13" name="Shape 2"/>
          <p:cNvSpPr/>
          <p:nvPr/>
        </p:nvSpPr>
        <p:spPr>
          <a:xfrm>
            <a:off x="8083296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14" name="Text 3"/>
          <p:cNvSpPr txBox="1"/>
          <p:nvPr>
            <p:ph idx="112" type="body" hasCustomPrompt="1"/>
          </p:nvPr>
        </p:nvSpPr>
        <p:spPr>
          <a:xfrm>
            <a:off x="8083296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15" name="Text 3"/>
          <p:cNvSpPr txBox="1"/>
          <p:nvPr>
            <p:ph idx="113" type="body" hasCustomPrompt="1"/>
          </p:nvPr>
        </p:nvSpPr>
        <p:spPr>
          <a:xfrm>
            <a:off x="8083296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16" name="Text 3"/>
          <p:cNvSpPr txBox="1"/>
          <p:nvPr>
            <p:ph idx="114" type="body" hasCustomPrompt="1"/>
          </p:nvPr>
        </p:nvSpPr>
        <p:spPr>
          <a:xfrm>
            <a:off x="8083296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17" name="Text 3"/>
          <p:cNvSpPr txBox="1"/>
          <p:nvPr>
            <p:ph idx="115" type="body" hasCustomPrompt="1"/>
          </p:nvPr>
        </p:nvSpPr>
        <p:spPr>
          <a:xfrm>
            <a:off x="731520" y="5138928"/>
            <a:ext cx="107286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what, and what we do about it.</a:t>
            </a:r>
            <a:endParaRPr lang="en-US" sz="1500" dirty="0"/>
          </a:p>
        </p:txBody>
      </p:sp>
      <p:sp>
        <p:nvSpPr>
          <p:cNvPr id="18" name="Text 3"/>
          <p:cNvSpPr txBox="1"/>
          <p:nvPr>
            <p:ph idx="116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9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VISU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4572000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points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hasCustomPrompt="1"/>
          </p:nvPr>
        </p:nvSpPr>
        <p:spPr>
          <a:xfrm>
            <a:off x="5943600" y="2121408"/>
            <a:ext cx="5513832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0"/>
          <p:cNvSpPr txBox="1"/>
          <p:nvPr>
            <p:ph idx="105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8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_VISU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5230368" cy="475488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987552" y="2121408"/>
            <a:ext cx="4718304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300" dirty="0"/>
          </a:p>
        </p:txBody>
      </p:sp>
      <p:sp>
        <p:nvSpPr>
          <p:cNvPr id="7" name="Shape 1"/>
          <p:cNvSpPr/>
          <p:nvPr/>
        </p:nvSpPr>
        <p:spPr>
          <a:xfrm>
            <a:off x="731520" y="2596896"/>
            <a:ext cx="5230368" cy="2980944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8" name="Text 2"/>
          <p:cNvSpPr txBox="1"/>
          <p:nvPr>
            <p:ph idx="106" type="body" hasCustomPrompt="1"/>
          </p:nvPr>
        </p:nvSpPr>
        <p:spPr>
          <a:xfrm>
            <a:off x="987552" y="2834640"/>
            <a:ext cx="4718304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gets us, what it costs, what breaks.</a:t>
            </a:r>
            <a:endParaRPr lang="en-US" sz="1450" dirty="0"/>
          </a:p>
        </p:txBody>
      </p:sp>
      <p:sp>
        <p:nvSpPr>
          <p:cNvPr id="9" name="Shape 2"/>
          <p:cNvSpPr/>
          <p:nvPr/>
        </p:nvSpPr>
        <p:spPr>
          <a:xfrm>
            <a:off x="6227064" y="2121408"/>
            <a:ext cx="5230368" cy="475488"/>
          </a:xfrm>
          <a:prstGeom prst="rect">
            <a:avLst/>
          </a:prstGeom>
          <a:solidFill>
            <a:srgbClr val="5B6670"/>
          </a:solidFill>
          <a:ln/>
        </p:spPr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6483096" y="2121408"/>
            <a:ext cx="4718304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300" dirty="0"/>
          </a:p>
        </p:txBody>
      </p:sp>
      <p:sp>
        <p:nvSpPr>
          <p:cNvPr id="11" name="Shape 3"/>
          <p:cNvSpPr/>
          <p:nvPr/>
        </p:nvSpPr>
        <p:spPr>
          <a:xfrm>
            <a:off x="6227064" y="2596896"/>
            <a:ext cx="5230368" cy="2980944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2" name="Text 4"/>
          <p:cNvSpPr txBox="1"/>
          <p:nvPr>
            <p:ph idx="110" type="body" hasCustomPrompt="1"/>
          </p:nvPr>
        </p:nvSpPr>
        <p:spPr>
          <a:xfrm>
            <a:off x="6483096" y="2834640"/>
            <a:ext cx="4718304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gets us, what it costs, what breaks.</a:t>
            </a:r>
            <a:endParaRPr lang="en-US" sz="1450" dirty="0"/>
          </a:p>
        </p:txBody>
      </p:sp>
      <p:sp>
        <p:nvSpPr>
          <p:cNvPr id="13" name="Text 4"/>
          <p:cNvSpPr txBox="1"/>
          <p:nvPr>
            <p:ph idx="111" type="body" hasCustomPrompt="1"/>
          </p:nvPr>
        </p:nvSpPr>
        <p:spPr>
          <a:xfrm>
            <a:off x="731520" y="5742432"/>
            <a:ext cx="1072865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endParaRPr lang="en-US" sz="1500" dirty="0"/>
          </a:p>
        </p:txBody>
      </p:sp>
      <p:sp>
        <p:nvSpPr>
          <p:cNvPr id="14" name="Text 4"/>
          <p:cNvSpPr txBox="1"/>
          <p:nvPr>
            <p:ph idx="112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5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005840" y="2706624"/>
            <a:ext cx="10180015" cy="0"/>
          </a:xfrm>
          <a:prstGeom prst="line">
            <a:avLst/>
          </a:prstGeom>
          <a:noFill/>
          <a:ln w="25400">
            <a:solidFill>
              <a:srgbClr val="E2E6E3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749808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749808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731520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9" name="Text 3"/>
          <p:cNvSpPr txBox="1"/>
          <p:nvPr>
            <p:ph idx="107" type="body" hasCustomPrompt="1"/>
          </p:nvPr>
        </p:nvSpPr>
        <p:spPr>
          <a:xfrm>
            <a:off x="731520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731520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11" name="Shape 3"/>
          <p:cNvSpPr/>
          <p:nvPr/>
        </p:nvSpPr>
        <p:spPr>
          <a:xfrm>
            <a:off x="3639312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12" name="Text 4"/>
          <p:cNvSpPr txBox="1"/>
          <p:nvPr/>
        </p:nvSpPr>
        <p:spPr>
          <a:xfrm>
            <a:off x="3639312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3621024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3621024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15" name="Text 5"/>
          <p:cNvSpPr txBox="1"/>
          <p:nvPr>
            <p:ph idx="113" type="body" hasCustomPrompt="1"/>
          </p:nvPr>
        </p:nvSpPr>
        <p:spPr>
          <a:xfrm>
            <a:off x="3621024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16" name="Shape 5"/>
          <p:cNvSpPr/>
          <p:nvPr/>
        </p:nvSpPr>
        <p:spPr>
          <a:xfrm>
            <a:off x="6528816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17" name="Text 6"/>
          <p:cNvSpPr txBox="1"/>
          <p:nvPr/>
        </p:nvSpPr>
        <p:spPr>
          <a:xfrm>
            <a:off x="6528816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6510528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6510528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20" name="Text 7"/>
          <p:cNvSpPr txBox="1"/>
          <p:nvPr>
            <p:ph idx="118" type="body" hasCustomPrompt="1"/>
          </p:nvPr>
        </p:nvSpPr>
        <p:spPr>
          <a:xfrm>
            <a:off x="6510528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21" name="Shape 7"/>
          <p:cNvSpPr/>
          <p:nvPr/>
        </p:nvSpPr>
        <p:spPr>
          <a:xfrm>
            <a:off x="9418320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22" name="Text 8"/>
          <p:cNvSpPr txBox="1"/>
          <p:nvPr/>
        </p:nvSpPr>
        <p:spPr>
          <a:xfrm>
            <a:off x="9418320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9"/>
          <p:cNvSpPr txBox="1"/>
          <p:nvPr>
            <p:ph idx="121" type="body" hasCustomPrompt="1"/>
          </p:nvPr>
        </p:nvSpPr>
        <p:spPr>
          <a:xfrm>
            <a:off x="9400032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24" name="Text 9"/>
          <p:cNvSpPr txBox="1"/>
          <p:nvPr>
            <p:ph idx="122" type="body" hasCustomPrompt="1"/>
          </p:nvPr>
        </p:nvSpPr>
        <p:spPr>
          <a:xfrm>
            <a:off x="9400032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25" name="Text 9"/>
          <p:cNvSpPr txBox="1"/>
          <p:nvPr>
            <p:ph idx="123" type="body" hasCustomPrompt="1"/>
          </p:nvPr>
        </p:nvSpPr>
        <p:spPr>
          <a:xfrm>
            <a:off x="9400032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26" name="Text 9"/>
          <p:cNvSpPr txBox="1"/>
          <p:nvPr>
            <p:ph idx="12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2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_MESS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1051560" y="2139696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</a:t>
            </a:r>
            <a:endParaRPr lang="en-US" sz="1100" dirty="0"/>
          </a:p>
        </p:txBody>
      </p:sp>
      <p:sp>
        <p:nvSpPr>
          <p:cNvPr id="4" name="Shape 0"/>
          <p:cNvSpPr/>
          <p:nvPr/>
        </p:nvSpPr>
        <p:spPr>
          <a:xfrm>
            <a:off x="1051560" y="2615184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1051560" y="2944368"/>
            <a:ext cx="996696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that carries the whole argument.</a:t>
            </a:r>
            <a:endParaRPr lang="en-US" sz="36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1051560" y="4809744"/>
            <a:ext cx="8595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support, or the ask.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XT_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decided today.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94944"/>
            <a:ext cx="2377440" cy="80318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305409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" name="Text 1"/>
          <p:cNvSpPr txBox="1"/>
          <p:nvPr>
            <p:ph idx="102" type="title" hasCustomPrompt="1"/>
          </p:nvPr>
        </p:nvSpPr>
        <p:spPr>
          <a:xfrm>
            <a:off x="731520" y="3364992"/>
            <a:ext cx="6949440" cy="8961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decided</a:t>
            </a:r>
            <a:endParaRPr lang="en-US" sz="3600" dirty="0"/>
          </a:p>
        </p:txBody>
      </p:sp>
      <p:sp>
        <p:nvSpPr>
          <p:cNvPr id="5" name="Text 1"/>
          <p:cNvSpPr txBox="1"/>
          <p:nvPr>
            <p:ph idx="103" type="body" hasCustomPrompt="1"/>
          </p:nvPr>
        </p:nvSpPr>
        <p:spPr>
          <a:xfrm>
            <a:off x="731520" y="4334256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Decision, owner, and date.</a:t>
            </a:r>
            <a:endParaRPr lang="en-US" sz="15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5961888"/>
            <a:ext cx="69494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 |  Title  |  email@steelking.com</a:t>
            </a:r>
            <a:endParaRPr lang="en-US" sz="115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MASCO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k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481328"/>
            <a:ext cx="3658880" cy="5212080"/>
          </a:xfrm>
          <a:prstGeom prst="rect">
            <a:avLst/>
          </a:prstGeom>
        </p:spPr>
      </p:pic>
      <p:pic>
        <p:nvPicPr>
          <p:cNvPr id="3" name="Image 1" descr="brand/logo_h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58368"/>
            <a:ext cx="2377440" cy="803189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2395728"/>
            <a:ext cx="65836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MEETING</a:t>
            </a:r>
            <a:endParaRPr lang="en-US" sz="1100" dirty="0"/>
          </a:p>
        </p:txBody>
      </p:sp>
      <p:sp>
        <p:nvSpPr>
          <p:cNvPr id="5" name="Shape 0"/>
          <p:cNvSpPr/>
          <p:nvPr/>
        </p:nvSpPr>
        <p:spPr>
          <a:xfrm>
            <a:off x="731520" y="287121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6" name="Text 1"/>
          <p:cNvSpPr txBox="1"/>
          <p:nvPr>
            <p:ph idx="104" type="title" hasCustomPrompt="1"/>
          </p:nvPr>
        </p:nvSpPr>
        <p:spPr>
          <a:xfrm>
            <a:off x="731520" y="3200400"/>
            <a:ext cx="6583680" cy="1627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44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4956048"/>
            <a:ext cx="6583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on what this deck argues</a:t>
            </a:r>
            <a:endParaRPr lang="en-US" sz="17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731520" y="5998464"/>
            <a:ext cx="658368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|  Audience  |  Month Year</a:t>
            </a:r>
            <a:endParaRPr lang="en-US" sz="11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SALES MEETING  ·  TERRITORY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[Territory name]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Where we're winning, who's winning with what, and why they choose us.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[Your name]  |  Sales Meeting  |  [Month]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TERRITORY REVIEW  ·  1 OF 6  ·  BY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[Territory] in numbers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 on what the numbers say.]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Source: [system], pulled [date]. Quotes are a count. Pre-filled by 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BOOKINGS AND QUOTES BY QUARTER  ·  PRE-FILLED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377440"/>
          <a:ext cx="5120640" cy="160020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Quarter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Bookings 2025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Bookings 2026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Quotes 2026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Q4 to date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389120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WHAT THE NUMBERS DON'T SHOW  ·  TWO SENTENCES, YOURS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45152"/>
            <a:ext cx="5120640" cy="1389888"/>
          </a:xfrm>
          <a:prstGeom prst="rect">
            <a:avLst/>
          </a:prstGeom>
          <a:solidFill>
            <a:srgbClr val="F2F5F2"/>
          </a:solidFill>
        </p:spPr>
        <p:txBody>
          <a:bodyPr wrap="square" anchor="t" tIns="54864" bIns="54864">
            <a:noAutofit/>
          </a:bodyPr>
          <a:lstStyle/>
          <a:p>
            <a:r>
              <a:rPr sz="1200" b="0">
                <a:solidFill>
                  <a:srgbClr val="5B6670"/>
                </a:solidFill>
                <a:latin typeface="Arial"/>
              </a:rPr>
              <a:t>[Two sentences.]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12140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TOP ACCOUNTS, YTD BOOKINGS  ·  PRE-FILLED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19672" y="2377440"/>
          <a:ext cx="4937760" cy="16002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 accounts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YTD bookings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1.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2.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3.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4.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5.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19672" y="4370832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EXCALIBUR DEALERS, YTD BOOKINGS  ·  PRE-FILLED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19672" y="4626864"/>
          <a:ext cx="4937760" cy="1069848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Excalibur dealer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YTD bookings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TERRITORY REVIEW  ·  2 OF 6  ·  WHO'S WINNING WITH WHAT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Who's winning with what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Why they pick us, in their words if you have them.]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21408"/>
          <a:ext cx="10725912" cy="391363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1005840"/>
                <a:gridCol w="3017520"/>
                <a:gridCol w="441655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Dealer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Excalibur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Products they perform with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they pick Steel King over the other guys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1.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2.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3.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4.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5.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TERRITORY REVIEW  ·  3 OF 6  ·  WHAT THEY BUY US FOR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What they buy us for, and what's missing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The thing they count on most, and the gap that costs the most.]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What dealers count on us for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1. [ ]</a:t>
            </a:r>
          </a:p>
          <a:p>
            <a:r>
              <a:t>2. [ ]</a:t>
            </a:r>
          </a:p>
          <a:p>
            <a:r>
              <a:t>3. [ 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The one gap that costs me the most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The gap: [product or resource]</a:t>
            </a:r>
          </a:p>
          <a:p>
            <a:r>
              <a:t>What it costs: [jobs, dealers, or $]</a:t>
            </a:r>
          </a:p>
          <a:p>
            <a:r>
              <a:t>What would fix it: [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TERRITORY REVIEW  ·  4 OF 6  ·  MINDSHARE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How I get and keep mindshare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The one thing that moves the needle with dealers.]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How I get and keep mindshare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[Visits, training, joint calls, quick ship, whatever it really is]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How new dealer reps get up to speed on us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[What happens today when a dealer hires a new rep]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What's working, what isn't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Working: [ ]</a:t>
            </a:r>
          </a:p>
          <a:p>
            <a:r>
              <a:t>Not working: [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TERRITORY REVIEW  ·  5 OF 6  ·  THREE WINS, ONE LOSS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Three wins, one loss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What the wins have in common.]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21408"/>
          <a:ext cx="10725912" cy="391363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2743200"/>
                <a:gridCol w="2011680"/>
                <a:gridCol w="2468880"/>
                <a:gridCol w="240487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Job: dealer, account, job name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Competitor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won it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Repeatable? How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Win 1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Win 2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Win 3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Loss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>What decided it, and what else was true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>What we could have done differently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TERRITORY REVIEW  ·  6 OF 6  ·  Q4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Q4 plan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What Q4 looks like if these land.]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Three projects I'm going after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1. [Job, $, close date]</a:t>
            </a:r>
          </a:p>
          <a:p>
            <a:r>
              <a:t>2. [Job, $, close date]</a:t>
            </a:r>
          </a:p>
          <a:p>
            <a:r>
              <a:t>3. [Job, $, close date]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One dealer I'm going to grow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Dealer: [name]</a:t>
            </a:r>
          </a:p>
          <a:p>
            <a:r>
              <a:t>From: [today]</a:t>
            </a:r>
          </a:p>
          <a:p>
            <a:r>
              <a:t>To: [target]</a:t>
            </a:r>
          </a:p>
          <a:p>
            <a:r>
              <a:t>How: [the specific move]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One thing I'd change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What: [about how we run sales]</a:t>
            </a:r>
          </a:p>
          <a:p>
            <a:r>
              <a:t>Why: [ ]</a:t>
            </a:r>
          </a:p>
          <a:p>
            <a:r>
              <a:t>What it would take: [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Steel King Industries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Steel King Presentation System</dc:title>
  <dc:subject>PptxGenJS Presentation</dc:subject>
  <dc:creator>Steel King Industries</dc:creator>
  <cp:lastModifiedBy>Steel King Industries</cp:lastModifiedBy>
  <cp:revision>1</cp:revision>
  <dcterms:created xsi:type="dcterms:W3CDTF">2026-09-11T23:28:37Z</dcterms:created>
  <dcterms:modified xsi:type="dcterms:W3CDTF">2026-09-11T23:28:37Z</dcterms:modified>
</cp:coreProperties>
</file>