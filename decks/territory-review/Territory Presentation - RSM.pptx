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Six slides. Real names, real jobs. No new data pulls. Pricing gets its own block on Day 2, leave it out of this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Pre-filled by Nate. Add two sentences on what the numbers don't show. Two minutes,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Your top dealers, Excalibur and non-Excalibur, the products each one performs with, and why they pick Steel King over the other guys. In their words if you have them. This is the slide the room should spend time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Lead with what dealers count on us for. Then the one gap that costs the most. One gap, not a list.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How you get and keep mindshare with your dealers. How new dealer reps get up to speed on us. What's working, what isn't.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Three wins, one loss. Real jobs, real names. Spend most of the time on the wins: what won it and whether the rest of the team can do the same thing. On the loss, what decided it and what we could have done differently. If it came down to the number, say what else was true.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Three projects you're going after, one you're going to grow, one thing you'd change about how we run sales.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VER-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ECTION-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AGENDA-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TITLE_CONTENT-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TWO_CONTENT-image-2.jpe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THREE_CARDS-image-2.jpe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image" Target="../media/BIG_NUMBERS-image-2.jpe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image" Target="../media/CONTENT_VISUAL-image-2.jpe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FULL_VISUAL-image-2.jpe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image" Target="../media/COMPARISON-image-2.jpe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image" Target="../media/TIMELINE-image-2.jpe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image" Target="../media/KEY_MESSAGE-image-2.jpe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image" Target="../media/NEXT_STEPS-image-2.jpe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image" Target="../media/CLOSING-image-2.jpe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image" Target="../media/image-1016-2.png"/><Relationship Id="rId3" Type="http://schemas.openxmlformats.org/officeDocument/2006/relationships/image" Target="../media/COVER_MASCOT-image-3.jpe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731520" y="658368"/>
            <a:ext cx="2377440" cy="803189"/>
          </a:xfrm>
          <a:prstGeom prst="rect">
            <a:avLst/>
          </a:prstGeom>
        </p:spPr>
      </p:pic>
      <p:sp>
        <p:nvSpPr>
          <p:cNvPr id="3" name="Text 0"/>
          <p:cNvSpPr txBox="1"/>
          <p:nvPr>
            <p:ph idx="101" type="body" hasCustomPrompt="1"/>
          </p:nvPr>
        </p:nvSpPr>
        <p:spPr>
          <a:xfrm>
            <a:off x="731520" y="2212848"/>
            <a:ext cx="694944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EXECUTIVE BRIEFING</a:t>
            </a:r>
            <a:endParaRPr lang="en-US" sz="1100" dirty="0"/>
          </a:p>
        </p:txBody>
      </p:sp>
      <p:sp>
        <p:nvSpPr>
          <p:cNvPr id="4" name="Shape 0"/>
          <p:cNvSpPr/>
          <p:nvPr/>
        </p:nvSpPr>
        <p:spPr>
          <a:xfrm>
            <a:off x="731520" y="2688336"/>
            <a:ext cx="777240" cy="50292"/>
          </a:xfrm>
          <a:prstGeom prst="rect">
            <a:avLst/>
          </a:prstGeom>
          <a:solidFill>
            <a:srgbClr val="F2A900"/>
          </a:solidFill>
          <a:ln/>
        </p:spPr>
      </p:sp>
      <p:sp>
        <p:nvSpPr>
          <p:cNvPr id="5" name="Text 1"/>
          <p:cNvSpPr txBox="1"/>
          <p:nvPr>
            <p:ph idx="103" type="title" hasCustomPrompt="1"/>
          </p:nvPr>
        </p:nvSpPr>
        <p:spPr>
          <a:xfrm>
            <a:off x="731520" y="2907792"/>
            <a:ext cx="6949440" cy="1627632"/>
          </a:xfrm>
          <a:prstGeom prst="rect">
            <a:avLst/>
          </a:prstGeom>
          <a:noFill/>
          <a:ln/>
        </p:spPr>
        <p:txBody>
          <a:bodyPr wrap="square" rtlCol="0"/>
          <a:lstStyle>
            <a:lvl1pPr algn="l" indent="0" marL="0">
              <a:buNone/>
              <a:defRPr lang="en-US" sz="4600" b="1" spc="-100" kern="0" dirty="0">
                <a:solidFill>
                  <a:srgbClr val="FFFFFF"/>
                </a:solidFill>
                <a:latin typeface="Arial" pitchFamily="34" charset="0"/>
                <a:ea typeface="Arial" pitchFamily="34" charset="-122"/>
                <a:cs typeface="Arial" pitchFamily="34" charset="-120"/>
              </a:defRPr>
            </a:lvl1pPr>
          </a:lstStyle>
          <a:p>
            <a:pPr algn="l" indent="0" marL="0">
              <a:buNone/>
            </a:pPr>
            <a:r>
              <a:rPr lang="en-US" sz="4600" b="1" spc="-100" kern="0" dirty="0">
                <a:solidFill>
                  <a:srgbClr val="FFFFFF"/>
                </a:solidFill>
                <a:latin typeface="Arial" pitchFamily="34" charset="0"/>
                <a:ea typeface="Arial" pitchFamily="34" charset="-122"/>
                <a:cs typeface="Arial" pitchFamily="34" charset="-120"/>
              </a:rPr>
              <a:t>Presentation title</a:t>
            </a:r>
            <a:endParaRPr lang="en-US" sz="4600" dirty="0"/>
          </a:p>
        </p:txBody>
      </p:sp>
      <p:sp>
        <p:nvSpPr>
          <p:cNvPr id="6" name="Text 1"/>
          <p:cNvSpPr txBox="1"/>
          <p:nvPr>
            <p:ph idx="104" type="body" hasCustomPrompt="1"/>
          </p:nvPr>
        </p:nvSpPr>
        <p:spPr>
          <a:xfrm>
            <a:off x="731520" y="4663440"/>
            <a:ext cx="6949440" cy="502920"/>
          </a:xfrm>
          <a:prstGeom prst="rect">
            <a:avLst/>
          </a:prstGeom>
          <a:noFill/>
          <a:ln/>
        </p:spPr>
        <p:txBody>
          <a:bodyPr wrap="square" rtlCol="0"/>
          <a:lstStyle>
            <a:lvl1pPr algn="l" indent="0" marL="0">
              <a:buNone/>
              <a:defRPr lang="en-US" sz="1700" dirty="0">
                <a:solidFill>
                  <a:srgbClr val="E4EFE8"/>
                </a:solidFill>
                <a:latin typeface="Arial" pitchFamily="34" charset="0"/>
                <a:ea typeface="Arial" pitchFamily="34" charset="-122"/>
                <a:cs typeface="Arial" pitchFamily="34" charset="-120"/>
              </a:defRPr>
            </a:lvl1pPr>
          </a:lstStyle>
          <a:p>
            <a:pPr algn="l" indent="0" marL="0">
              <a:buNone/>
            </a:pPr>
            <a:r>
              <a:rPr lang="en-US" sz="1700" dirty="0">
                <a:solidFill>
                  <a:srgbClr val="E4EFE8"/>
                </a:solidFill>
                <a:latin typeface="Arial" pitchFamily="34" charset="0"/>
                <a:ea typeface="Arial" pitchFamily="34" charset="-122"/>
                <a:cs typeface="Arial" pitchFamily="34" charset="-120"/>
              </a:rPr>
              <a:t>One line on what this deck argues</a:t>
            </a:r>
            <a:endParaRPr lang="en-US" sz="1700" dirty="0"/>
          </a:p>
        </p:txBody>
      </p:sp>
      <p:sp>
        <p:nvSpPr>
          <p:cNvPr id="7" name="Text 1"/>
          <p:cNvSpPr txBox="1"/>
          <p:nvPr>
            <p:ph idx="105" type="body" hasCustomPrompt="1"/>
          </p:nvPr>
        </p:nvSpPr>
        <p:spPr>
          <a:xfrm>
            <a:off x="731520" y="5998464"/>
            <a:ext cx="694944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Presenter  |  Audience  |  Month Year</a:t>
            </a:r>
            <a:endParaRPr lang="en-US" sz="11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10625328" y="6272784"/>
            <a:ext cx="1325880" cy="447932"/>
          </a:xfrm>
          <a:prstGeom prst="rect">
            <a:avLst/>
          </a:prstGeom>
        </p:spPr>
      </p:pic>
      <p:sp>
        <p:nvSpPr>
          <p:cNvPr id="3" name="Text 0"/>
          <p:cNvSpPr txBox="1"/>
          <p:nvPr>
            <p:ph idx="101" type="body" hasCustomPrompt="1"/>
          </p:nvPr>
        </p:nvSpPr>
        <p:spPr>
          <a:xfrm>
            <a:off x="731520" y="2212848"/>
            <a:ext cx="2926080" cy="1325880"/>
          </a:xfrm>
          <a:prstGeom prst="rect">
            <a:avLst/>
          </a:prstGeom>
          <a:noFill/>
          <a:ln/>
        </p:spPr>
        <p:txBody>
          <a:bodyPr wrap="square" rtlCol="0"/>
          <a:lstStyle>
            <a:lvl1pPr algn="l" indent="0" marL="0">
              <a:buNone/>
              <a:defRPr lang="en-US" sz="8600" b="1" spc="-200" kern="0" dirty="0">
                <a:solidFill>
                  <a:srgbClr val="A9D9BF">
                    <a:alpha val="55000"/>
                  </a:srgbClr>
                </a:solidFill>
                <a:latin typeface="Arial" pitchFamily="34" charset="0"/>
                <a:ea typeface="Arial" pitchFamily="34" charset="-122"/>
                <a:cs typeface="Arial" pitchFamily="34" charset="-120"/>
              </a:defRPr>
            </a:lvl1pPr>
          </a:lstStyle>
          <a:p>
            <a:pPr algn="l" indent="0" marL="0">
              <a:buNone/>
            </a:pPr>
            <a:r>
              <a:rPr lang="en-US" sz="8600" b="1" spc="-200" kern="0" dirty="0">
                <a:solidFill>
                  <a:srgbClr val="A9D9BF">
                    <a:alpha val="55000"/>
                  </a:srgbClr>
                </a:solidFill>
                <a:latin typeface="Arial" pitchFamily="34" charset="0"/>
                <a:ea typeface="Arial" pitchFamily="34" charset="-122"/>
                <a:cs typeface="Arial" pitchFamily="34" charset="-120"/>
              </a:rPr>
              <a:t>01</a:t>
            </a:r>
            <a:endParaRPr lang="en-US" sz="8600" dirty="0"/>
          </a:p>
        </p:txBody>
      </p:sp>
      <p:sp>
        <p:nvSpPr>
          <p:cNvPr id="4" name="Shape 0"/>
          <p:cNvSpPr/>
          <p:nvPr/>
        </p:nvSpPr>
        <p:spPr>
          <a:xfrm>
            <a:off x="731520" y="3712464"/>
            <a:ext cx="777240" cy="50292"/>
          </a:xfrm>
          <a:prstGeom prst="rect">
            <a:avLst/>
          </a:prstGeom>
          <a:solidFill>
            <a:srgbClr val="F2A900"/>
          </a:solidFill>
          <a:ln/>
        </p:spPr>
      </p:sp>
      <p:sp>
        <p:nvSpPr>
          <p:cNvPr id="5" name="Text 1"/>
          <p:cNvSpPr txBox="1"/>
          <p:nvPr>
            <p:ph idx="103" type="title" hasCustomPrompt="1"/>
          </p:nvPr>
        </p:nvSpPr>
        <p:spPr>
          <a:xfrm>
            <a:off x="731520" y="3986784"/>
            <a:ext cx="6949440" cy="841248"/>
          </a:xfrm>
          <a:prstGeom prst="rect">
            <a:avLst/>
          </a:prstGeom>
          <a:noFill/>
          <a:ln/>
        </p:spPr>
        <p:txBody>
          <a:bodyPr wrap="square" rtlCol="0"/>
          <a:lstStyle>
            <a:lvl1pPr algn="l" indent="0" marL="0">
              <a:buNone/>
              <a:defRPr lang="en-US" sz="3800" b="1" spc="-80" kern="0" dirty="0">
                <a:solidFill>
                  <a:srgbClr val="FFFFFF"/>
                </a:solidFill>
                <a:latin typeface="Arial" pitchFamily="34" charset="0"/>
                <a:ea typeface="Arial" pitchFamily="34" charset="-122"/>
                <a:cs typeface="Arial" pitchFamily="34" charset="-120"/>
              </a:defRPr>
            </a:lvl1pPr>
          </a:lstStyle>
          <a:p>
            <a:pPr algn="l" indent="0" marL="0">
              <a:buNone/>
            </a:pPr>
            <a:r>
              <a:rPr lang="en-US" sz="3800" b="1" spc="-80" kern="0" dirty="0">
                <a:solidFill>
                  <a:srgbClr val="FFFFFF"/>
                </a:solidFill>
                <a:latin typeface="Arial" pitchFamily="34" charset="0"/>
                <a:ea typeface="Arial" pitchFamily="34" charset="-122"/>
                <a:cs typeface="Arial" pitchFamily="34" charset="-120"/>
              </a:rPr>
              <a:t>Section name</a:t>
            </a:r>
            <a:endParaRPr lang="en-US" sz="3800" dirty="0"/>
          </a:p>
        </p:txBody>
      </p:sp>
      <p:sp>
        <p:nvSpPr>
          <p:cNvPr id="6" name="Text 1"/>
          <p:cNvSpPr txBox="1"/>
          <p:nvPr>
            <p:ph idx="104" type="body" hasCustomPrompt="1"/>
          </p:nvPr>
        </p:nvSpPr>
        <p:spPr>
          <a:xfrm>
            <a:off x="731520" y="4956048"/>
            <a:ext cx="6949440" cy="54864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What this section settles.</a:t>
            </a: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Agenda</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What we cover and what we decide.</a:t>
            </a:r>
            <a:endParaRPr lang="en-US" sz="1600" dirty="0"/>
          </a:p>
        </p:txBody>
      </p:sp>
      <p:sp>
        <p:nvSpPr>
          <p:cNvPr id="5" name="Text 0"/>
          <p:cNvSpPr txBox="1"/>
          <p:nvPr/>
        </p:nvSpPr>
        <p:spPr>
          <a:xfrm>
            <a:off x="731520" y="2167128"/>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01</a:t>
            </a:r>
            <a:endParaRPr lang="en-US" sz="2000" dirty="0"/>
          </a:p>
        </p:txBody>
      </p:sp>
      <p:sp>
        <p:nvSpPr>
          <p:cNvPr id="6" name="Text 1"/>
          <p:cNvSpPr txBox="1"/>
          <p:nvPr>
            <p:ph idx="104" type="body" hasCustomPrompt="1"/>
          </p:nvPr>
        </p:nvSpPr>
        <p:spPr>
          <a:xfrm>
            <a:off x="1508760" y="2167128"/>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7" name="Text 1"/>
          <p:cNvSpPr txBox="1"/>
          <p:nvPr>
            <p:ph idx="105" type="body" hasCustomPrompt="1"/>
          </p:nvPr>
        </p:nvSpPr>
        <p:spPr>
          <a:xfrm>
            <a:off x="8869680" y="2167128"/>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8" name="Shape 1"/>
          <p:cNvSpPr/>
          <p:nvPr/>
        </p:nvSpPr>
        <p:spPr>
          <a:xfrm>
            <a:off x="731520" y="2770632"/>
            <a:ext cx="10728655" cy="0"/>
          </a:xfrm>
          <a:prstGeom prst="line">
            <a:avLst/>
          </a:prstGeom>
          <a:noFill/>
          <a:ln w="12700">
            <a:solidFill>
              <a:srgbClr val="E2E6E3"/>
            </a:solidFill>
            <a:prstDash val="solid"/>
          </a:ln>
        </p:spPr>
      </p:sp>
      <p:sp>
        <p:nvSpPr>
          <p:cNvPr id="9" name="Text 2"/>
          <p:cNvSpPr txBox="1"/>
          <p:nvPr/>
        </p:nvSpPr>
        <p:spPr>
          <a:xfrm>
            <a:off x="731520" y="2916936"/>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02</a:t>
            </a:r>
            <a:endParaRPr lang="en-US" sz="2000" dirty="0"/>
          </a:p>
        </p:txBody>
      </p:sp>
      <p:sp>
        <p:nvSpPr>
          <p:cNvPr id="10" name="Text 3"/>
          <p:cNvSpPr txBox="1"/>
          <p:nvPr>
            <p:ph idx="108" type="body" hasCustomPrompt="1"/>
          </p:nvPr>
        </p:nvSpPr>
        <p:spPr>
          <a:xfrm>
            <a:off x="1508760" y="2916936"/>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1" name="Text 3"/>
          <p:cNvSpPr txBox="1"/>
          <p:nvPr>
            <p:ph idx="109" type="body" hasCustomPrompt="1"/>
          </p:nvPr>
        </p:nvSpPr>
        <p:spPr>
          <a:xfrm>
            <a:off x="8869680" y="2916936"/>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12" name="Shape 3"/>
          <p:cNvSpPr/>
          <p:nvPr/>
        </p:nvSpPr>
        <p:spPr>
          <a:xfrm>
            <a:off x="731520" y="3520440"/>
            <a:ext cx="10728655" cy="0"/>
          </a:xfrm>
          <a:prstGeom prst="line">
            <a:avLst/>
          </a:prstGeom>
          <a:noFill/>
          <a:ln w="12700">
            <a:solidFill>
              <a:srgbClr val="E2E6E3"/>
            </a:solidFill>
            <a:prstDash val="solid"/>
          </a:ln>
        </p:spPr>
      </p:sp>
      <p:sp>
        <p:nvSpPr>
          <p:cNvPr id="13" name="Text 4"/>
          <p:cNvSpPr txBox="1"/>
          <p:nvPr/>
        </p:nvSpPr>
        <p:spPr>
          <a:xfrm>
            <a:off x="731520" y="3666744"/>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03</a:t>
            </a:r>
            <a:endParaRPr lang="en-US" sz="2000" dirty="0"/>
          </a:p>
        </p:txBody>
      </p:sp>
      <p:sp>
        <p:nvSpPr>
          <p:cNvPr id="14" name="Text 5"/>
          <p:cNvSpPr txBox="1"/>
          <p:nvPr>
            <p:ph idx="112" type="body" hasCustomPrompt="1"/>
          </p:nvPr>
        </p:nvSpPr>
        <p:spPr>
          <a:xfrm>
            <a:off x="1508760" y="3666744"/>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5" name="Text 5"/>
          <p:cNvSpPr txBox="1"/>
          <p:nvPr>
            <p:ph idx="113" type="body" hasCustomPrompt="1"/>
          </p:nvPr>
        </p:nvSpPr>
        <p:spPr>
          <a:xfrm>
            <a:off x="8869680" y="3666744"/>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16" name="Shape 5"/>
          <p:cNvSpPr/>
          <p:nvPr/>
        </p:nvSpPr>
        <p:spPr>
          <a:xfrm>
            <a:off x="731520" y="4270248"/>
            <a:ext cx="10728655" cy="0"/>
          </a:xfrm>
          <a:prstGeom prst="line">
            <a:avLst/>
          </a:prstGeom>
          <a:noFill/>
          <a:ln w="12700">
            <a:solidFill>
              <a:srgbClr val="E2E6E3"/>
            </a:solidFill>
            <a:prstDash val="solid"/>
          </a:ln>
        </p:spPr>
      </p:sp>
      <p:sp>
        <p:nvSpPr>
          <p:cNvPr id="17" name="Text 6"/>
          <p:cNvSpPr txBox="1"/>
          <p:nvPr/>
        </p:nvSpPr>
        <p:spPr>
          <a:xfrm>
            <a:off x="731520" y="4416552"/>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04</a:t>
            </a:r>
            <a:endParaRPr lang="en-US" sz="2000" dirty="0"/>
          </a:p>
        </p:txBody>
      </p:sp>
      <p:sp>
        <p:nvSpPr>
          <p:cNvPr id="18" name="Text 7"/>
          <p:cNvSpPr txBox="1"/>
          <p:nvPr>
            <p:ph idx="116" type="body" hasCustomPrompt="1"/>
          </p:nvPr>
        </p:nvSpPr>
        <p:spPr>
          <a:xfrm>
            <a:off x="1508760" y="4416552"/>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9" name="Text 7"/>
          <p:cNvSpPr txBox="1"/>
          <p:nvPr>
            <p:ph idx="117" type="body" hasCustomPrompt="1"/>
          </p:nvPr>
        </p:nvSpPr>
        <p:spPr>
          <a:xfrm>
            <a:off x="8869680" y="4416552"/>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20" name="Shape 7"/>
          <p:cNvSpPr/>
          <p:nvPr/>
        </p:nvSpPr>
        <p:spPr>
          <a:xfrm>
            <a:off x="731520" y="5020056"/>
            <a:ext cx="10728655" cy="0"/>
          </a:xfrm>
          <a:prstGeom prst="line">
            <a:avLst/>
          </a:prstGeom>
          <a:noFill/>
          <a:ln w="12700">
            <a:solidFill>
              <a:srgbClr val="E2E6E3"/>
            </a:solidFill>
            <a:prstDash val="solid"/>
          </a:ln>
        </p:spPr>
      </p:sp>
      <p:sp>
        <p:nvSpPr>
          <p:cNvPr id="21" name="Text 8"/>
          <p:cNvSpPr txBox="1"/>
          <p:nvPr/>
        </p:nvSpPr>
        <p:spPr>
          <a:xfrm>
            <a:off x="731520" y="5166360"/>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05</a:t>
            </a:r>
            <a:endParaRPr lang="en-US" sz="2000" dirty="0"/>
          </a:p>
        </p:txBody>
      </p:sp>
      <p:sp>
        <p:nvSpPr>
          <p:cNvPr id="22" name="Text 9"/>
          <p:cNvSpPr txBox="1"/>
          <p:nvPr>
            <p:ph idx="120" type="body" hasCustomPrompt="1"/>
          </p:nvPr>
        </p:nvSpPr>
        <p:spPr>
          <a:xfrm>
            <a:off x="1508760" y="5166360"/>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23" name="Text 9"/>
          <p:cNvSpPr txBox="1"/>
          <p:nvPr>
            <p:ph idx="121" type="body" hasCustomPrompt="1"/>
          </p:nvPr>
        </p:nvSpPr>
        <p:spPr>
          <a:xfrm>
            <a:off x="8869680" y="5166360"/>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24" name="Shape 9"/>
          <p:cNvSpPr/>
          <p:nvPr/>
        </p:nvSpPr>
        <p:spPr>
          <a:xfrm>
            <a:off x="731520" y="5769864"/>
            <a:ext cx="10728655" cy="0"/>
          </a:xfrm>
          <a:prstGeom prst="line">
            <a:avLst/>
          </a:prstGeom>
          <a:noFill/>
          <a:ln w="12700">
            <a:solidFill>
              <a:srgbClr val="E2E6E3"/>
            </a:solidFill>
            <a:prstDash val="solid"/>
          </a:ln>
        </p:spPr>
      </p:sp>
      <p:pic>
        <p:nvPicPr>
          <p:cNvPr id="25"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CONTENT">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10728655" cy="3913632"/>
          </a:xfrm>
          <a:prstGeom prst="rect">
            <a:avLst/>
          </a:prstGeom>
          <a:noFill/>
          <a:ln/>
        </p:spPr>
        <p:txBody>
          <a:bodyPr wrap="square" rtlCol="0"/>
          <a:lstStyle>
            <a:lvl1pPr algn="l" indent="0" marL="0">
              <a:buNone/>
              <a:defRPr lang="en-US" sz="1600" dirty="0">
                <a:solidFill>
                  <a:srgbClr val="15181A"/>
                </a:solidFill>
                <a:latin typeface="Arial" pitchFamily="34" charset="0"/>
                <a:ea typeface="Arial" pitchFamily="34" charset="-122"/>
                <a:cs typeface="Arial" pitchFamily="34" charset="-120"/>
              </a:defRPr>
            </a:lvl1pPr>
          </a:lstStyle>
          <a:p>
            <a:pPr algn="l" indent="0" marL="0">
              <a:buNone/>
            </a:pPr>
            <a:r>
              <a:rPr lang="en-US" sz="1600" dirty="0">
                <a:solidFill>
                  <a:srgbClr val="15181A"/>
                </a:solidFill>
                <a:latin typeface="Arial" pitchFamily="34" charset="0"/>
                <a:ea typeface="Arial" pitchFamily="34" charset="-122"/>
                <a:cs typeface="Arial" pitchFamily="34" charset="-120"/>
              </a:rPr>
              <a:t>Supporting content</a:t>
            </a:r>
            <a:endParaRPr lang="en-US" sz="1600"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_CONTENT">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5120640" cy="310896"/>
          </a:xfrm>
          <a:prstGeom prst="rect">
            <a:avLst/>
          </a:prstGeom>
          <a:noFill/>
          <a:ln/>
        </p:spPr>
        <p:txBody>
          <a:bodyPr wrap="square" rtlCol="0"/>
          <a:lstStyle>
            <a:lvl1pPr algn="l" indent="0" marL="0">
              <a:buNone/>
              <a:defRPr lang="en-US" sz="1100" b="1" spc="24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240" kern="0" dirty="0">
                <a:solidFill>
                  <a:srgbClr val="3C7D4D"/>
                </a:solidFill>
                <a:latin typeface="Arial" pitchFamily="34" charset="0"/>
                <a:ea typeface="Arial" pitchFamily="34" charset="-122"/>
                <a:cs typeface="Arial" pitchFamily="34" charset="-120"/>
              </a:rPr>
              <a:t>LEFT HEADING</a:t>
            </a:r>
            <a:endParaRPr lang="en-US" sz="1100" dirty="0"/>
          </a:p>
        </p:txBody>
      </p:sp>
      <p:sp>
        <p:nvSpPr>
          <p:cNvPr id="6" name="Shape 0"/>
          <p:cNvSpPr/>
          <p:nvPr/>
        </p:nvSpPr>
        <p:spPr>
          <a:xfrm>
            <a:off x="731520" y="2505456"/>
            <a:ext cx="5120640" cy="0"/>
          </a:xfrm>
          <a:prstGeom prst="line">
            <a:avLst/>
          </a:prstGeom>
          <a:noFill/>
          <a:ln w="12700">
            <a:solidFill>
              <a:srgbClr val="E2E6E3"/>
            </a:solidFill>
            <a:prstDash val="solid"/>
          </a:ln>
        </p:spPr>
      </p:sp>
      <p:sp>
        <p:nvSpPr>
          <p:cNvPr id="7" name="Text 1"/>
          <p:cNvSpPr txBox="1"/>
          <p:nvPr>
            <p:ph idx="105" type="body" hasCustomPrompt="1"/>
          </p:nvPr>
        </p:nvSpPr>
        <p:spPr>
          <a:xfrm>
            <a:off x="731520" y="2651760"/>
            <a:ext cx="5120640" cy="33832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Left content</a:t>
            </a:r>
            <a:endParaRPr lang="en-US" sz="1500" dirty="0"/>
          </a:p>
        </p:txBody>
      </p:sp>
      <p:sp>
        <p:nvSpPr>
          <p:cNvPr id="8" name="Text 1"/>
          <p:cNvSpPr txBox="1"/>
          <p:nvPr>
            <p:ph idx="106" type="body" hasCustomPrompt="1"/>
          </p:nvPr>
        </p:nvSpPr>
        <p:spPr>
          <a:xfrm>
            <a:off x="6519672" y="2121408"/>
            <a:ext cx="4937760" cy="310896"/>
          </a:xfrm>
          <a:prstGeom prst="rect">
            <a:avLst/>
          </a:prstGeom>
          <a:noFill/>
          <a:ln/>
        </p:spPr>
        <p:txBody>
          <a:bodyPr wrap="square" rtlCol="0"/>
          <a:lstStyle>
            <a:lvl1pPr algn="l" indent="0" marL="0">
              <a:buNone/>
              <a:defRPr lang="en-US" sz="1100" b="1" spc="24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240" kern="0" dirty="0">
                <a:solidFill>
                  <a:srgbClr val="3C7D4D"/>
                </a:solidFill>
                <a:latin typeface="Arial" pitchFamily="34" charset="0"/>
                <a:ea typeface="Arial" pitchFamily="34" charset="-122"/>
                <a:cs typeface="Arial" pitchFamily="34" charset="-120"/>
              </a:rPr>
              <a:t>RIGHT HEADING</a:t>
            </a:r>
            <a:endParaRPr lang="en-US" sz="1100" dirty="0"/>
          </a:p>
        </p:txBody>
      </p:sp>
      <p:sp>
        <p:nvSpPr>
          <p:cNvPr id="9" name="Shape 1"/>
          <p:cNvSpPr/>
          <p:nvPr/>
        </p:nvSpPr>
        <p:spPr>
          <a:xfrm>
            <a:off x="6519672" y="2505456"/>
            <a:ext cx="4937760" cy="0"/>
          </a:xfrm>
          <a:prstGeom prst="line">
            <a:avLst/>
          </a:prstGeom>
          <a:noFill/>
          <a:ln w="12700">
            <a:solidFill>
              <a:srgbClr val="E2E6E3"/>
            </a:solidFill>
            <a:prstDash val="solid"/>
          </a:ln>
        </p:spPr>
      </p:sp>
      <p:sp>
        <p:nvSpPr>
          <p:cNvPr id="10" name="Text 2"/>
          <p:cNvSpPr txBox="1"/>
          <p:nvPr>
            <p:ph idx="108" type="body" hasCustomPrompt="1"/>
          </p:nvPr>
        </p:nvSpPr>
        <p:spPr>
          <a:xfrm>
            <a:off x="6519672" y="2651760"/>
            <a:ext cx="4937760" cy="33832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Right content</a:t>
            </a:r>
            <a:endParaRPr lang="en-US" sz="1500" dirty="0"/>
          </a:p>
        </p:txBody>
      </p:sp>
      <p:sp>
        <p:nvSpPr>
          <p:cNvPr id="11" name="Text 2"/>
          <p:cNvSpPr txBox="1"/>
          <p:nvPr>
            <p:ph idx="109"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2"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_CARDS">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3392424" cy="3584448"/>
          </a:xfrm>
          <a:prstGeom prst="rect">
            <a:avLst/>
          </a:prstGeom>
          <a:solidFill>
            <a:srgbClr val="F2F5F2"/>
          </a:solidFill>
          <a:ln/>
        </p:spPr>
      </p:sp>
      <p:sp>
        <p:nvSpPr>
          <p:cNvPr id="6" name="Text 1"/>
          <p:cNvSpPr txBox="1"/>
          <p:nvPr/>
        </p:nvSpPr>
        <p:spPr>
          <a:xfrm>
            <a:off x="1097280"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01</a:t>
            </a:r>
            <a:endParaRPr lang="en-US" sz="2400" dirty="0"/>
          </a:p>
        </p:txBody>
      </p:sp>
      <p:sp>
        <p:nvSpPr>
          <p:cNvPr id="7" name="Shape 2"/>
          <p:cNvSpPr/>
          <p:nvPr/>
        </p:nvSpPr>
        <p:spPr>
          <a:xfrm>
            <a:off x="1097280" y="3017520"/>
            <a:ext cx="548640" cy="41148"/>
          </a:xfrm>
          <a:prstGeom prst="rect">
            <a:avLst/>
          </a:prstGeom>
          <a:solidFill>
            <a:srgbClr val="F2A900"/>
          </a:solidFill>
          <a:ln/>
        </p:spPr>
      </p:sp>
      <p:sp>
        <p:nvSpPr>
          <p:cNvPr id="8" name="Text 3"/>
          <p:cNvSpPr txBox="1"/>
          <p:nvPr>
            <p:ph idx="106" type="body" hasCustomPrompt="1"/>
          </p:nvPr>
        </p:nvSpPr>
        <p:spPr>
          <a:xfrm>
            <a:off x="1097280"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9" name="Text 3"/>
          <p:cNvSpPr txBox="1"/>
          <p:nvPr>
            <p:ph idx="107" type="body" hasCustomPrompt="1"/>
          </p:nvPr>
        </p:nvSpPr>
        <p:spPr>
          <a:xfrm>
            <a:off x="1097280"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10" name="Shape 3"/>
          <p:cNvSpPr/>
          <p:nvPr/>
        </p:nvSpPr>
        <p:spPr>
          <a:xfrm>
            <a:off x="4407408" y="2121408"/>
            <a:ext cx="3392424" cy="3584448"/>
          </a:xfrm>
          <a:prstGeom prst="rect">
            <a:avLst/>
          </a:prstGeom>
          <a:solidFill>
            <a:srgbClr val="F2F5F2"/>
          </a:solidFill>
          <a:ln/>
        </p:spPr>
      </p:sp>
      <p:sp>
        <p:nvSpPr>
          <p:cNvPr id="11" name="Text 4"/>
          <p:cNvSpPr txBox="1"/>
          <p:nvPr/>
        </p:nvSpPr>
        <p:spPr>
          <a:xfrm>
            <a:off x="4773168"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02</a:t>
            </a:r>
            <a:endParaRPr lang="en-US" sz="2400" dirty="0"/>
          </a:p>
        </p:txBody>
      </p:sp>
      <p:sp>
        <p:nvSpPr>
          <p:cNvPr id="12" name="Shape 5"/>
          <p:cNvSpPr/>
          <p:nvPr/>
        </p:nvSpPr>
        <p:spPr>
          <a:xfrm>
            <a:off x="4773168" y="3017520"/>
            <a:ext cx="548640" cy="41148"/>
          </a:xfrm>
          <a:prstGeom prst="rect">
            <a:avLst/>
          </a:prstGeom>
          <a:solidFill>
            <a:srgbClr val="F2A900"/>
          </a:solidFill>
          <a:ln/>
        </p:spPr>
      </p:sp>
      <p:sp>
        <p:nvSpPr>
          <p:cNvPr id="13" name="Text 6"/>
          <p:cNvSpPr txBox="1"/>
          <p:nvPr>
            <p:ph idx="111" type="body" hasCustomPrompt="1"/>
          </p:nvPr>
        </p:nvSpPr>
        <p:spPr>
          <a:xfrm>
            <a:off x="4773168"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14" name="Text 6"/>
          <p:cNvSpPr txBox="1"/>
          <p:nvPr>
            <p:ph idx="112" type="body" hasCustomPrompt="1"/>
          </p:nvPr>
        </p:nvSpPr>
        <p:spPr>
          <a:xfrm>
            <a:off x="4773168"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15" name="Shape 6"/>
          <p:cNvSpPr/>
          <p:nvPr/>
        </p:nvSpPr>
        <p:spPr>
          <a:xfrm>
            <a:off x="8083296" y="2121408"/>
            <a:ext cx="3392424" cy="3584448"/>
          </a:xfrm>
          <a:prstGeom prst="rect">
            <a:avLst/>
          </a:prstGeom>
          <a:solidFill>
            <a:srgbClr val="F2F5F2"/>
          </a:solidFill>
          <a:ln/>
        </p:spPr>
      </p:sp>
      <p:sp>
        <p:nvSpPr>
          <p:cNvPr id="16" name="Text 7"/>
          <p:cNvSpPr txBox="1"/>
          <p:nvPr/>
        </p:nvSpPr>
        <p:spPr>
          <a:xfrm>
            <a:off x="8449056"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03</a:t>
            </a:r>
            <a:endParaRPr lang="en-US" sz="2400" dirty="0"/>
          </a:p>
        </p:txBody>
      </p:sp>
      <p:sp>
        <p:nvSpPr>
          <p:cNvPr id="17" name="Shape 8"/>
          <p:cNvSpPr/>
          <p:nvPr/>
        </p:nvSpPr>
        <p:spPr>
          <a:xfrm>
            <a:off x="8449056" y="3017520"/>
            <a:ext cx="548640" cy="41148"/>
          </a:xfrm>
          <a:prstGeom prst="rect">
            <a:avLst/>
          </a:prstGeom>
          <a:solidFill>
            <a:srgbClr val="F2A900"/>
          </a:solidFill>
          <a:ln/>
        </p:spPr>
      </p:sp>
      <p:sp>
        <p:nvSpPr>
          <p:cNvPr id="18" name="Text 9"/>
          <p:cNvSpPr txBox="1"/>
          <p:nvPr>
            <p:ph idx="116" type="body" hasCustomPrompt="1"/>
          </p:nvPr>
        </p:nvSpPr>
        <p:spPr>
          <a:xfrm>
            <a:off x="8449056"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19" name="Text 9"/>
          <p:cNvSpPr txBox="1"/>
          <p:nvPr>
            <p:ph idx="117" type="body" hasCustomPrompt="1"/>
          </p:nvPr>
        </p:nvSpPr>
        <p:spPr>
          <a:xfrm>
            <a:off x="8449056"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20" name="Text 9"/>
          <p:cNvSpPr txBox="1"/>
          <p:nvPr>
            <p:ph idx="118"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21"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IG_NUMBERS">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3392424" cy="0"/>
          </a:xfrm>
          <a:prstGeom prst="line">
            <a:avLst/>
          </a:prstGeom>
          <a:noFill/>
          <a:ln w="31750">
            <a:solidFill>
              <a:srgbClr val="3C7D4D"/>
            </a:solidFill>
            <a:prstDash val="solid"/>
          </a:ln>
        </p:spPr>
      </p:sp>
      <p:sp>
        <p:nvSpPr>
          <p:cNvPr id="6" name="Text 1"/>
          <p:cNvSpPr txBox="1"/>
          <p:nvPr>
            <p:ph idx="104" type="body" hasCustomPrompt="1"/>
          </p:nvPr>
        </p:nvSpPr>
        <p:spPr>
          <a:xfrm>
            <a:off x="731520"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7" name="Text 1"/>
          <p:cNvSpPr txBox="1"/>
          <p:nvPr>
            <p:ph idx="105" type="body" hasCustomPrompt="1"/>
          </p:nvPr>
        </p:nvSpPr>
        <p:spPr>
          <a:xfrm>
            <a:off x="731520"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8" name="Text 1"/>
          <p:cNvSpPr txBox="1"/>
          <p:nvPr>
            <p:ph idx="106" type="body" hasCustomPrompt="1"/>
          </p:nvPr>
        </p:nvSpPr>
        <p:spPr>
          <a:xfrm>
            <a:off x="731520"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9" name="Shape 1"/>
          <p:cNvSpPr/>
          <p:nvPr/>
        </p:nvSpPr>
        <p:spPr>
          <a:xfrm>
            <a:off x="4407408" y="2121408"/>
            <a:ext cx="3392424" cy="0"/>
          </a:xfrm>
          <a:prstGeom prst="line">
            <a:avLst/>
          </a:prstGeom>
          <a:noFill/>
          <a:ln w="31750">
            <a:solidFill>
              <a:srgbClr val="3C7D4D"/>
            </a:solidFill>
            <a:prstDash val="solid"/>
          </a:ln>
        </p:spPr>
      </p:sp>
      <p:sp>
        <p:nvSpPr>
          <p:cNvPr id="10" name="Text 2"/>
          <p:cNvSpPr txBox="1"/>
          <p:nvPr>
            <p:ph idx="108" type="body" hasCustomPrompt="1"/>
          </p:nvPr>
        </p:nvSpPr>
        <p:spPr>
          <a:xfrm>
            <a:off x="4407408"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11" name="Text 2"/>
          <p:cNvSpPr txBox="1"/>
          <p:nvPr>
            <p:ph idx="109" type="body" hasCustomPrompt="1"/>
          </p:nvPr>
        </p:nvSpPr>
        <p:spPr>
          <a:xfrm>
            <a:off x="4407408"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12" name="Text 2"/>
          <p:cNvSpPr txBox="1"/>
          <p:nvPr>
            <p:ph idx="110" type="body" hasCustomPrompt="1"/>
          </p:nvPr>
        </p:nvSpPr>
        <p:spPr>
          <a:xfrm>
            <a:off x="4407408"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13" name="Shape 2"/>
          <p:cNvSpPr/>
          <p:nvPr/>
        </p:nvSpPr>
        <p:spPr>
          <a:xfrm>
            <a:off x="8083296" y="2121408"/>
            <a:ext cx="3392424" cy="0"/>
          </a:xfrm>
          <a:prstGeom prst="line">
            <a:avLst/>
          </a:prstGeom>
          <a:noFill/>
          <a:ln w="31750">
            <a:solidFill>
              <a:srgbClr val="3C7D4D"/>
            </a:solidFill>
            <a:prstDash val="solid"/>
          </a:ln>
        </p:spPr>
      </p:sp>
      <p:sp>
        <p:nvSpPr>
          <p:cNvPr id="14" name="Text 3"/>
          <p:cNvSpPr txBox="1"/>
          <p:nvPr>
            <p:ph idx="112" type="body" hasCustomPrompt="1"/>
          </p:nvPr>
        </p:nvSpPr>
        <p:spPr>
          <a:xfrm>
            <a:off x="8083296"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15" name="Text 3"/>
          <p:cNvSpPr txBox="1"/>
          <p:nvPr>
            <p:ph idx="113" type="body" hasCustomPrompt="1"/>
          </p:nvPr>
        </p:nvSpPr>
        <p:spPr>
          <a:xfrm>
            <a:off x="8083296"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16" name="Text 3"/>
          <p:cNvSpPr txBox="1"/>
          <p:nvPr>
            <p:ph idx="114" type="body" hasCustomPrompt="1"/>
          </p:nvPr>
        </p:nvSpPr>
        <p:spPr>
          <a:xfrm>
            <a:off x="8083296"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17" name="Text 3"/>
          <p:cNvSpPr txBox="1"/>
          <p:nvPr>
            <p:ph idx="115" type="body" hasCustomPrompt="1"/>
          </p:nvPr>
        </p:nvSpPr>
        <p:spPr>
          <a:xfrm>
            <a:off x="731520" y="5138928"/>
            <a:ext cx="10728655" cy="8686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So what, and what we do about it.</a:t>
            </a:r>
            <a:endParaRPr lang="en-US" sz="1500" dirty="0"/>
          </a:p>
        </p:txBody>
      </p:sp>
      <p:sp>
        <p:nvSpPr>
          <p:cNvPr id="18" name="Text 3"/>
          <p:cNvSpPr txBox="1"/>
          <p:nvPr>
            <p:ph idx="116"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9"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_VISUAL">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4572000" cy="3913632"/>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Supporting points</a:t>
            </a:r>
            <a:endParaRPr lang="en-US" sz="1500" dirty="0"/>
          </a:p>
        </p:txBody>
      </p:sp>
      <p:sp>
        <p:nvSpPr>
          <p:cNvPr id="6" name="Text 0"/>
          <p:cNvSpPr/>
          <p:nvPr>
            <p:ph idx="104" hasCustomPrompt="1"/>
          </p:nvPr>
        </p:nvSpPr>
        <p:spPr>
          <a:xfrm>
            <a:off x="5943600" y="2121408"/>
            <a:ext cx="5513832"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7" name="Text 0"/>
          <p:cNvSpPr txBox="1"/>
          <p:nvPr>
            <p:ph idx="105"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8"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ULL_VISUAL">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p:nvPr>
            <p:ph idx="103" hasCustomPrompt="1"/>
          </p:nvPr>
        </p:nvSpPr>
        <p:spPr>
          <a:xfrm>
            <a:off x="731520" y="2121408"/>
            <a:ext cx="10728655"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ARISON">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5230368" cy="475488"/>
          </a:xfrm>
          <a:prstGeom prst="rect">
            <a:avLst/>
          </a:prstGeom>
          <a:solidFill>
            <a:srgbClr val="3C7D4D"/>
          </a:solidFill>
          <a:ln/>
        </p:spPr>
      </p:sp>
      <p:sp>
        <p:nvSpPr>
          <p:cNvPr id="6" name="Text 1"/>
          <p:cNvSpPr txBox="1"/>
          <p:nvPr>
            <p:ph idx="104" type="body" hasCustomPrompt="1"/>
          </p:nvPr>
        </p:nvSpPr>
        <p:spPr>
          <a:xfrm>
            <a:off x="987552" y="2121408"/>
            <a:ext cx="4718304" cy="475488"/>
          </a:xfrm>
          <a:prstGeom prst="rect">
            <a:avLst/>
          </a:prstGeom>
          <a:noFill/>
          <a:ln/>
        </p:spPr>
        <p:txBody>
          <a:bodyPr wrap="square" rtlCol="0"/>
          <a:lstStyle>
            <a:lvl1pPr algn="l" indent="0" marL="0">
              <a:buNone/>
              <a:defRPr lang="en-US" sz="1300" b="1" spc="200" kern="0" dirty="0">
                <a:solidFill>
                  <a:srgbClr val="FFFFFF"/>
                </a:solidFill>
                <a:latin typeface="Arial" pitchFamily="34" charset="0"/>
                <a:ea typeface="Arial" pitchFamily="34" charset="-122"/>
                <a:cs typeface="Arial" pitchFamily="34" charset="-120"/>
              </a:defRPr>
            </a:lvl1pPr>
          </a:lstStyle>
          <a:p>
            <a:pPr algn="l" indent="0" marL="0">
              <a:buNone/>
            </a:pPr>
            <a:r>
              <a:rPr lang="en-US" sz="1300" b="1" spc="200" kern="0" dirty="0">
                <a:solidFill>
                  <a:srgbClr val="FFFFFF"/>
                </a:solidFill>
                <a:latin typeface="Arial" pitchFamily="34" charset="0"/>
                <a:ea typeface="Arial" pitchFamily="34" charset="-122"/>
                <a:cs typeface="Arial" pitchFamily="34" charset="-120"/>
              </a:rPr>
              <a:t>OPTION A</a:t>
            </a:r>
            <a:endParaRPr lang="en-US" sz="1300" dirty="0"/>
          </a:p>
        </p:txBody>
      </p:sp>
      <p:sp>
        <p:nvSpPr>
          <p:cNvPr id="7" name="Shape 1"/>
          <p:cNvSpPr/>
          <p:nvPr/>
        </p:nvSpPr>
        <p:spPr>
          <a:xfrm>
            <a:off x="731520" y="2596896"/>
            <a:ext cx="5230368" cy="2980944"/>
          </a:xfrm>
          <a:prstGeom prst="rect">
            <a:avLst/>
          </a:prstGeom>
          <a:solidFill>
            <a:srgbClr val="F2F5F2"/>
          </a:solidFill>
          <a:ln/>
        </p:spPr>
      </p:sp>
      <p:sp>
        <p:nvSpPr>
          <p:cNvPr id="8" name="Text 2"/>
          <p:cNvSpPr txBox="1"/>
          <p:nvPr>
            <p:ph idx="106" type="body" hasCustomPrompt="1"/>
          </p:nvPr>
        </p:nvSpPr>
        <p:spPr>
          <a:xfrm>
            <a:off x="987552" y="2834640"/>
            <a:ext cx="4718304" cy="2560320"/>
          </a:xfrm>
          <a:prstGeom prst="rect">
            <a:avLst/>
          </a:prstGeom>
          <a:noFill/>
          <a:ln/>
        </p:spPr>
        <p:txBody>
          <a:bodyPr wrap="square" rtlCol="0"/>
          <a:lstStyle>
            <a:lvl1pPr algn="l" indent="0" marL="0">
              <a:buNone/>
              <a:defRPr lang="en-US" sz="1450" dirty="0">
                <a:solidFill>
                  <a:srgbClr val="15181A"/>
                </a:solidFill>
                <a:latin typeface="Arial" pitchFamily="34" charset="0"/>
                <a:ea typeface="Arial" pitchFamily="34" charset="-122"/>
                <a:cs typeface="Arial" pitchFamily="34" charset="-120"/>
              </a:defRPr>
            </a:lvl1pPr>
          </a:lstStyle>
          <a:p>
            <a:pPr algn="l" indent="0" marL="0">
              <a:buNone/>
            </a:pPr>
            <a:r>
              <a:rPr lang="en-US" sz="1450" dirty="0">
                <a:solidFill>
                  <a:srgbClr val="15181A"/>
                </a:solidFill>
                <a:latin typeface="Arial" pitchFamily="34" charset="0"/>
                <a:ea typeface="Arial" pitchFamily="34" charset="-122"/>
                <a:cs typeface="Arial" pitchFamily="34" charset="-120"/>
              </a:rPr>
              <a:t>What it gets us, what it costs, what breaks.</a:t>
            </a:r>
            <a:endParaRPr lang="en-US" sz="1450" dirty="0"/>
          </a:p>
        </p:txBody>
      </p:sp>
      <p:sp>
        <p:nvSpPr>
          <p:cNvPr id="9" name="Shape 2"/>
          <p:cNvSpPr/>
          <p:nvPr/>
        </p:nvSpPr>
        <p:spPr>
          <a:xfrm>
            <a:off x="6227064" y="2121408"/>
            <a:ext cx="5230368" cy="475488"/>
          </a:xfrm>
          <a:prstGeom prst="rect">
            <a:avLst/>
          </a:prstGeom>
          <a:solidFill>
            <a:srgbClr val="5B6670"/>
          </a:solidFill>
          <a:ln/>
        </p:spPr>
      </p:sp>
      <p:sp>
        <p:nvSpPr>
          <p:cNvPr id="10" name="Text 3"/>
          <p:cNvSpPr txBox="1"/>
          <p:nvPr>
            <p:ph idx="108" type="body" hasCustomPrompt="1"/>
          </p:nvPr>
        </p:nvSpPr>
        <p:spPr>
          <a:xfrm>
            <a:off x="6483096" y="2121408"/>
            <a:ext cx="4718304" cy="475488"/>
          </a:xfrm>
          <a:prstGeom prst="rect">
            <a:avLst/>
          </a:prstGeom>
          <a:noFill/>
          <a:ln/>
        </p:spPr>
        <p:txBody>
          <a:bodyPr wrap="square" rtlCol="0"/>
          <a:lstStyle>
            <a:lvl1pPr algn="l" indent="0" marL="0">
              <a:buNone/>
              <a:defRPr lang="en-US" sz="1300" b="1" spc="200" kern="0" dirty="0">
                <a:solidFill>
                  <a:srgbClr val="FFFFFF"/>
                </a:solidFill>
                <a:latin typeface="Arial" pitchFamily="34" charset="0"/>
                <a:ea typeface="Arial" pitchFamily="34" charset="-122"/>
                <a:cs typeface="Arial" pitchFamily="34" charset="-120"/>
              </a:defRPr>
            </a:lvl1pPr>
          </a:lstStyle>
          <a:p>
            <a:pPr algn="l" indent="0" marL="0">
              <a:buNone/>
            </a:pPr>
            <a:r>
              <a:rPr lang="en-US" sz="1300" b="1" spc="200" kern="0" dirty="0">
                <a:solidFill>
                  <a:srgbClr val="FFFFFF"/>
                </a:solidFill>
                <a:latin typeface="Arial" pitchFamily="34" charset="0"/>
                <a:ea typeface="Arial" pitchFamily="34" charset="-122"/>
                <a:cs typeface="Arial" pitchFamily="34" charset="-120"/>
              </a:rPr>
              <a:t>OPTION B</a:t>
            </a:r>
            <a:endParaRPr lang="en-US" sz="1300" dirty="0"/>
          </a:p>
        </p:txBody>
      </p:sp>
      <p:sp>
        <p:nvSpPr>
          <p:cNvPr id="11" name="Shape 3"/>
          <p:cNvSpPr/>
          <p:nvPr/>
        </p:nvSpPr>
        <p:spPr>
          <a:xfrm>
            <a:off x="6227064" y="2596896"/>
            <a:ext cx="5230368" cy="2980944"/>
          </a:xfrm>
          <a:prstGeom prst="rect">
            <a:avLst/>
          </a:prstGeom>
          <a:solidFill>
            <a:srgbClr val="F2F5F2"/>
          </a:solidFill>
          <a:ln/>
        </p:spPr>
      </p:sp>
      <p:sp>
        <p:nvSpPr>
          <p:cNvPr id="12" name="Text 4"/>
          <p:cNvSpPr txBox="1"/>
          <p:nvPr>
            <p:ph idx="110" type="body" hasCustomPrompt="1"/>
          </p:nvPr>
        </p:nvSpPr>
        <p:spPr>
          <a:xfrm>
            <a:off x="6483096" y="2834640"/>
            <a:ext cx="4718304" cy="2560320"/>
          </a:xfrm>
          <a:prstGeom prst="rect">
            <a:avLst/>
          </a:prstGeom>
          <a:noFill/>
          <a:ln/>
        </p:spPr>
        <p:txBody>
          <a:bodyPr wrap="square" rtlCol="0"/>
          <a:lstStyle>
            <a:lvl1pPr algn="l" indent="0" marL="0">
              <a:buNone/>
              <a:defRPr lang="en-US" sz="1450" dirty="0">
                <a:solidFill>
                  <a:srgbClr val="15181A"/>
                </a:solidFill>
                <a:latin typeface="Arial" pitchFamily="34" charset="0"/>
                <a:ea typeface="Arial" pitchFamily="34" charset="-122"/>
                <a:cs typeface="Arial" pitchFamily="34" charset="-120"/>
              </a:defRPr>
            </a:lvl1pPr>
          </a:lstStyle>
          <a:p>
            <a:pPr algn="l" indent="0" marL="0">
              <a:buNone/>
            </a:pPr>
            <a:r>
              <a:rPr lang="en-US" sz="1450" dirty="0">
                <a:solidFill>
                  <a:srgbClr val="15181A"/>
                </a:solidFill>
                <a:latin typeface="Arial" pitchFamily="34" charset="0"/>
                <a:ea typeface="Arial" pitchFamily="34" charset="-122"/>
                <a:cs typeface="Arial" pitchFamily="34" charset="-120"/>
              </a:rPr>
              <a:t>What it gets us, what it costs, what breaks.</a:t>
            </a:r>
            <a:endParaRPr lang="en-US" sz="1450" dirty="0"/>
          </a:p>
        </p:txBody>
      </p:sp>
      <p:sp>
        <p:nvSpPr>
          <p:cNvPr id="13" name="Text 4"/>
          <p:cNvSpPr txBox="1"/>
          <p:nvPr>
            <p:ph idx="111" type="body" hasCustomPrompt="1"/>
          </p:nvPr>
        </p:nvSpPr>
        <p:spPr>
          <a:xfrm>
            <a:off x="731520" y="5742432"/>
            <a:ext cx="10728655" cy="384048"/>
          </a:xfrm>
          <a:prstGeom prst="rect">
            <a:avLst/>
          </a:prstGeom>
          <a:noFill/>
          <a:ln/>
        </p:spPr>
        <p:txBody>
          <a:bodyPr wrap="square" rtlCol="0"/>
          <a:lstStyle>
            <a:lvl1pPr algn="l" indent="0" marL="0">
              <a:buNone/>
              <a:defRPr lang="en-US" sz="1500" b="1" dirty="0">
                <a:solidFill>
                  <a:srgbClr val="3C7D4D"/>
                </a:solidFill>
                <a:latin typeface="Arial" pitchFamily="34" charset="0"/>
                <a:ea typeface="Arial" pitchFamily="34" charset="-122"/>
                <a:cs typeface="Arial" pitchFamily="34" charset="-120"/>
              </a:defRPr>
            </a:lvl1pPr>
          </a:lstStyle>
          <a:p>
            <a:pPr algn="l" indent="0" marL="0">
              <a:buNone/>
            </a:pPr>
            <a:r>
              <a:rPr lang="en-US" sz="1500" b="1" dirty="0">
                <a:solidFill>
                  <a:srgbClr val="3C7D4D"/>
                </a:solidFill>
                <a:latin typeface="Arial" pitchFamily="34" charset="0"/>
                <a:ea typeface="Arial" pitchFamily="34" charset="-122"/>
                <a:cs typeface="Arial" pitchFamily="34" charset="-120"/>
              </a:rPr>
              <a:t>Recommendation: </a:t>
            </a:r>
            <a:endParaRPr lang="en-US" sz="1500" dirty="0"/>
          </a:p>
        </p:txBody>
      </p:sp>
      <p:sp>
        <p:nvSpPr>
          <p:cNvPr id="14" name="Text 4"/>
          <p:cNvSpPr txBox="1"/>
          <p:nvPr>
            <p:ph idx="112"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5"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MELINE">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1005840" y="2706624"/>
            <a:ext cx="10180015" cy="0"/>
          </a:xfrm>
          <a:prstGeom prst="line">
            <a:avLst/>
          </a:prstGeom>
          <a:noFill/>
          <a:ln w="25400">
            <a:solidFill>
              <a:srgbClr val="E2E6E3"/>
            </a:solidFill>
            <a:prstDash val="solid"/>
          </a:ln>
        </p:spPr>
      </p:sp>
      <p:sp>
        <p:nvSpPr>
          <p:cNvPr id="6" name="Shape 1"/>
          <p:cNvSpPr/>
          <p:nvPr/>
        </p:nvSpPr>
        <p:spPr>
          <a:xfrm>
            <a:off x="749808" y="2450592"/>
            <a:ext cx="512064" cy="512064"/>
          </a:xfrm>
          <a:prstGeom prst="rect">
            <a:avLst/>
          </a:prstGeom>
          <a:solidFill>
            <a:srgbClr val="3C7D4D"/>
          </a:solidFill>
          <a:ln/>
        </p:spPr>
      </p:sp>
      <p:sp>
        <p:nvSpPr>
          <p:cNvPr id="7" name="Text 2"/>
          <p:cNvSpPr txBox="1"/>
          <p:nvPr/>
        </p:nvSpPr>
        <p:spPr>
          <a:xfrm>
            <a:off x="749808"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3"/>
          <p:cNvSpPr txBox="1"/>
          <p:nvPr>
            <p:ph idx="106" type="body" hasCustomPrompt="1"/>
          </p:nvPr>
        </p:nvSpPr>
        <p:spPr>
          <a:xfrm>
            <a:off x="731520"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9" name="Text 3"/>
          <p:cNvSpPr txBox="1"/>
          <p:nvPr>
            <p:ph idx="107" type="body" hasCustomPrompt="1"/>
          </p:nvPr>
        </p:nvSpPr>
        <p:spPr>
          <a:xfrm>
            <a:off x="731520"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10" name="Text 3"/>
          <p:cNvSpPr txBox="1"/>
          <p:nvPr>
            <p:ph idx="108" type="body" hasCustomPrompt="1"/>
          </p:nvPr>
        </p:nvSpPr>
        <p:spPr>
          <a:xfrm>
            <a:off x="731520"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11" name="Shape 3"/>
          <p:cNvSpPr/>
          <p:nvPr/>
        </p:nvSpPr>
        <p:spPr>
          <a:xfrm>
            <a:off x="3639312" y="2450592"/>
            <a:ext cx="512064" cy="512064"/>
          </a:xfrm>
          <a:prstGeom prst="rect">
            <a:avLst/>
          </a:prstGeom>
          <a:solidFill>
            <a:srgbClr val="3C7D4D"/>
          </a:solidFill>
          <a:ln/>
        </p:spPr>
      </p:sp>
      <p:sp>
        <p:nvSpPr>
          <p:cNvPr id="12" name="Text 4"/>
          <p:cNvSpPr txBox="1"/>
          <p:nvPr/>
        </p:nvSpPr>
        <p:spPr>
          <a:xfrm>
            <a:off x="3639312"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5"/>
          <p:cNvSpPr txBox="1"/>
          <p:nvPr>
            <p:ph idx="111" type="body" hasCustomPrompt="1"/>
          </p:nvPr>
        </p:nvSpPr>
        <p:spPr>
          <a:xfrm>
            <a:off x="3621024"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14" name="Text 5"/>
          <p:cNvSpPr txBox="1"/>
          <p:nvPr>
            <p:ph idx="112" type="body" hasCustomPrompt="1"/>
          </p:nvPr>
        </p:nvSpPr>
        <p:spPr>
          <a:xfrm>
            <a:off x="3621024"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15" name="Text 5"/>
          <p:cNvSpPr txBox="1"/>
          <p:nvPr>
            <p:ph idx="113" type="body" hasCustomPrompt="1"/>
          </p:nvPr>
        </p:nvSpPr>
        <p:spPr>
          <a:xfrm>
            <a:off x="3621024"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16" name="Shape 5"/>
          <p:cNvSpPr/>
          <p:nvPr/>
        </p:nvSpPr>
        <p:spPr>
          <a:xfrm>
            <a:off x="6528816" y="2450592"/>
            <a:ext cx="512064" cy="512064"/>
          </a:xfrm>
          <a:prstGeom prst="rect">
            <a:avLst/>
          </a:prstGeom>
          <a:solidFill>
            <a:srgbClr val="3C7D4D"/>
          </a:solidFill>
          <a:ln/>
        </p:spPr>
      </p:sp>
      <p:sp>
        <p:nvSpPr>
          <p:cNvPr id="17" name="Text 6"/>
          <p:cNvSpPr txBox="1"/>
          <p:nvPr/>
        </p:nvSpPr>
        <p:spPr>
          <a:xfrm>
            <a:off x="6528816"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7"/>
          <p:cNvSpPr txBox="1"/>
          <p:nvPr>
            <p:ph idx="116" type="body" hasCustomPrompt="1"/>
          </p:nvPr>
        </p:nvSpPr>
        <p:spPr>
          <a:xfrm>
            <a:off x="6510528"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19" name="Text 7"/>
          <p:cNvSpPr txBox="1"/>
          <p:nvPr>
            <p:ph idx="117" type="body" hasCustomPrompt="1"/>
          </p:nvPr>
        </p:nvSpPr>
        <p:spPr>
          <a:xfrm>
            <a:off x="6510528"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20" name="Text 7"/>
          <p:cNvSpPr txBox="1"/>
          <p:nvPr>
            <p:ph idx="118" type="body" hasCustomPrompt="1"/>
          </p:nvPr>
        </p:nvSpPr>
        <p:spPr>
          <a:xfrm>
            <a:off x="6510528"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21" name="Shape 7"/>
          <p:cNvSpPr/>
          <p:nvPr/>
        </p:nvSpPr>
        <p:spPr>
          <a:xfrm>
            <a:off x="9418320" y="2450592"/>
            <a:ext cx="512064" cy="512064"/>
          </a:xfrm>
          <a:prstGeom prst="rect">
            <a:avLst/>
          </a:prstGeom>
          <a:solidFill>
            <a:srgbClr val="3C7D4D"/>
          </a:solidFill>
          <a:ln/>
        </p:spPr>
      </p:sp>
      <p:sp>
        <p:nvSpPr>
          <p:cNvPr id="22" name="Text 8"/>
          <p:cNvSpPr txBox="1"/>
          <p:nvPr/>
        </p:nvSpPr>
        <p:spPr>
          <a:xfrm>
            <a:off x="9418320"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9"/>
          <p:cNvSpPr txBox="1"/>
          <p:nvPr>
            <p:ph idx="121" type="body" hasCustomPrompt="1"/>
          </p:nvPr>
        </p:nvSpPr>
        <p:spPr>
          <a:xfrm>
            <a:off x="9400032"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24" name="Text 9"/>
          <p:cNvSpPr txBox="1"/>
          <p:nvPr>
            <p:ph idx="122" type="body" hasCustomPrompt="1"/>
          </p:nvPr>
        </p:nvSpPr>
        <p:spPr>
          <a:xfrm>
            <a:off x="9400032"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25" name="Text 9"/>
          <p:cNvSpPr txBox="1"/>
          <p:nvPr>
            <p:ph idx="123" type="body" hasCustomPrompt="1"/>
          </p:nvPr>
        </p:nvSpPr>
        <p:spPr>
          <a:xfrm>
            <a:off x="9400032"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26" name="Text 9"/>
          <p:cNvSpPr txBox="1"/>
          <p:nvPr>
            <p:ph idx="12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2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EY_MESS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10625328" y="6272784"/>
            <a:ext cx="1325880" cy="447932"/>
          </a:xfrm>
          <a:prstGeom prst="rect">
            <a:avLst/>
          </a:prstGeom>
        </p:spPr>
      </p:pic>
      <p:sp>
        <p:nvSpPr>
          <p:cNvPr id="3" name="Text 0"/>
          <p:cNvSpPr txBox="1"/>
          <p:nvPr>
            <p:ph idx="101" type="body" hasCustomPrompt="1"/>
          </p:nvPr>
        </p:nvSpPr>
        <p:spPr>
          <a:xfrm>
            <a:off x="1051560" y="2139696"/>
            <a:ext cx="822960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THE POINT</a:t>
            </a:r>
            <a:endParaRPr lang="en-US" sz="1100" dirty="0"/>
          </a:p>
        </p:txBody>
      </p:sp>
      <p:sp>
        <p:nvSpPr>
          <p:cNvPr id="4" name="Shape 0"/>
          <p:cNvSpPr/>
          <p:nvPr/>
        </p:nvSpPr>
        <p:spPr>
          <a:xfrm>
            <a:off x="1051560" y="2615184"/>
            <a:ext cx="777240" cy="50292"/>
          </a:xfrm>
          <a:prstGeom prst="rect">
            <a:avLst/>
          </a:prstGeom>
          <a:solidFill>
            <a:srgbClr val="F2A900"/>
          </a:solidFill>
          <a:ln/>
        </p:spPr>
      </p:sp>
      <p:sp>
        <p:nvSpPr>
          <p:cNvPr id="5" name="Text 1"/>
          <p:cNvSpPr txBox="1"/>
          <p:nvPr>
            <p:ph idx="103" type="title" hasCustomPrompt="1"/>
          </p:nvPr>
        </p:nvSpPr>
        <p:spPr>
          <a:xfrm>
            <a:off x="1051560" y="2944368"/>
            <a:ext cx="9966960" cy="1691640"/>
          </a:xfrm>
          <a:prstGeom prst="rect">
            <a:avLst/>
          </a:prstGeom>
          <a:noFill/>
          <a:ln/>
        </p:spPr>
        <p:txBody>
          <a:bodyPr wrap="square" rtlCol="0"/>
          <a:lstStyle>
            <a:lvl1pPr algn="l" indent="0" marL="0">
              <a:buNone/>
              <a:defRPr lang="en-US" sz="3600" b="1" spc="-70" kern="0" dirty="0">
                <a:solidFill>
                  <a:srgbClr val="FFFFFF"/>
                </a:solidFill>
                <a:latin typeface="Arial" pitchFamily="34" charset="0"/>
                <a:ea typeface="Arial" pitchFamily="34" charset="-122"/>
                <a:cs typeface="Arial" pitchFamily="34" charset="-120"/>
              </a:defRPr>
            </a:lvl1pPr>
          </a:lstStyle>
          <a:p>
            <a:pPr algn="l" indent="0" marL="0">
              <a:buNone/>
            </a:pPr>
            <a:r>
              <a:rPr lang="en-US" sz="3600" b="1" spc="-70" kern="0" dirty="0">
                <a:solidFill>
                  <a:srgbClr val="FFFFFF"/>
                </a:solidFill>
                <a:latin typeface="Arial" pitchFamily="34" charset="0"/>
                <a:ea typeface="Arial" pitchFamily="34" charset="-122"/>
                <a:cs typeface="Arial" pitchFamily="34" charset="-120"/>
              </a:rPr>
              <a:t>One sentence that carries the whole argument.</a:t>
            </a:r>
            <a:endParaRPr lang="en-US" sz="3600" dirty="0"/>
          </a:p>
        </p:txBody>
      </p:sp>
      <p:sp>
        <p:nvSpPr>
          <p:cNvPr id="6" name="Text 1"/>
          <p:cNvSpPr txBox="1"/>
          <p:nvPr>
            <p:ph idx="104" type="body" hasCustomPrompt="1"/>
          </p:nvPr>
        </p:nvSpPr>
        <p:spPr>
          <a:xfrm>
            <a:off x="1051560" y="4809744"/>
            <a:ext cx="8595360" cy="73152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Short support, or the ask.</a:t>
            </a:r>
            <a:endParaRPr lang="en-US" sz="15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EXT_STEPS">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Next steps</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What we need decided today.</a:t>
            </a:r>
            <a:endParaRPr lang="en-US" sz="1600" dirty="0"/>
          </a:p>
        </p:txBody>
      </p:sp>
      <p:sp>
        <p:nvSpPr>
          <p:cNvPr id="5" name="Text 0"/>
          <p:cNvSpPr/>
          <p:nvPr>
            <p:ph idx="103" type="body" hasCustomPrompt="1"/>
          </p:nvPr>
        </p:nvSpPr>
        <p:spPr>
          <a:xfrm>
            <a:off x="731520" y="2121408"/>
            <a:ext cx="10728655"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731520" y="694944"/>
            <a:ext cx="2377440" cy="803189"/>
          </a:xfrm>
          <a:prstGeom prst="rect">
            <a:avLst/>
          </a:prstGeom>
        </p:spPr>
      </p:pic>
      <p:sp>
        <p:nvSpPr>
          <p:cNvPr id="3" name="Shape 0"/>
          <p:cNvSpPr/>
          <p:nvPr/>
        </p:nvSpPr>
        <p:spPr>
          <a:xfrm>
            <a:off x="731520" y="3054096"/>
            <a:ext cx="777240" cy="50292"/>
          </a:xfrm>
          <a:prstGeom prst="rect">
            <a:avLst/>
          </a:prstGeom>
          <a:solidFill>
            <a:srgbClr val="F2A900"/>
          </a:solidFill>
          <a:ln/>
        </p:spPr>
      </p:sp>
      <p:sp>
        <p:nvSpPr>
          <p:cNvPr id="4" name="Text 1"/>
          <p:cNvSpPr txBox="1"/>
          <p:nvPr>
            <p:ph idx="102" type="title" hasCustomPrompt="1"/>
          </p:nvPr>
        </p:nvSpPr>
        <p:spPr>
          <a:xfrm>
            <a:off x="731520" y="3364992"/>
            <a:ext cx="6949440" cy="896112"/>
          </a:xfrm>
          <a:prstGeom prst="rect">
            <a:avLst/>
          </a:prstGeom>
          <a:noFill/>
          <a:ln/>
        </p:spPr>
        <p:txBody>
          <a:bodyPr wrap="square" rtlCol="0"/>
          <a:lstStyle>
            <a:lvl1pPr algn="l" indent="0" marL="0">
              <a:buNone/>
              <a:defRPr lang="en-US" sz="3600" b="1" spc="-70" kern="0" dirty="0">
                <a:solidFill>
                  <a:srgbClr val="FFFFFF"/>
                </a:solidFill>
                <a:latin typeface="Arial" pitchFamily="34" charset="0"/>
                <a:ea typeface="Arial" pitchFamily="34" charset="-122"/>
                <a:cs typeface="Arial" pitchFamily="34" charset="-120"/>
              </a:defRPr>
            </a:lvl1pPr>
          </a:lstStyle>
          <a:p>
            <a:pPr algn="l" indent="0" marL="0">
              <a:buNone/>
            </a:pPr>
            <a:r>
              <a:rPr lang="en-US" sz="3600" b="1" spc="-70" kern="0" dirty="0">
                <a:solidFill>
                  <a:srgbClr val="FFFFFF"/>
                </a:solidFill>
                <a:latin typeface="Arial" pitchFamily="34" charset="0"/>
                <a:ea typeface="Arial" pitchFamily="34" charset="-122"/>
                <a:cs typeface="Arial" pitchFamily="34" charset="-120"/>
              </a:rPr>
              <a:t>What we decided</a:t>
            </a:r>
            <a:endParaRPr lang="en-US" sz="3600" dirty="0"/>
          </a:p>
        </p:txBody>
      </p:sp>
      <p:sp>
        <p:nvSpPr>
          <p:cNvPr id="5" name="Text 1"/>
          <p:cNvSpPr txBox="1"/>
          <p:nvPr>
            <p:ph idx="103" type="body" hasCustomPrompt="1"/>
          </p:nvPr>
        </p:nvSpPr>
        <p:spPr>
          <a:xfrm>
            <a:off x="731520" y="4334256"/>
            <a:ext cx="6949440" cy="118872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Decision, owner, and date.</a:t>
            </a:r>
            <a:endParaRPr lang="en-US" sz="1500" dirty="0"/>
          </a:p>
        </p:txBody>
      </p:sp>
      <p:sp>
        <p:nvSpPr>
          <p:cNvPr id="6" name="Text 1"/>
          <p:cNvSpPr txBox="1"/>
          <p:nvPr>
            <p:ph idx="104" type="body" hasCustomPrompt="1"/>
          </p:nvPr>
        </p:nvSpPr>
        <p:spPr>
          <a:xfrm>
            <a:off x="731520" y="5961888"/>
            <a:ext cx="694944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Name  |  Title  |  email@steelking.com</a:t>
            </a:r>
            <a:endParaRPr lang="en-US" sz="115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VER_MASCO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brand/logo_knight.png">    </p:cNvPr>
          <p:cNvPicPr>
            <a:picLocks noChangeAspect="1"/>
          </p:cNvPicPr>
          <p:nvPr/>
        </p:nvPicPr>
        <p:blipFill>
          <a:blip r:embed="rId1"/>
          <a:stretch>
            <a:fillRect/>
          </a:stretch>
        </p:blipFill>
        <p:spPr>
          <a:xfrm>
            <a:off x="7863840" y="1481328"/>
            <a:ext cx="3658880" cy="5212080"/>
          </a:xfrm>
          <a:prstGeom prst="rect">
            <a:avLst/>
          </a:prstGeom>
        </p:spPr>
      </p:pic>
      <p:pic>
        <p:nvPicPr>
          <p:cNvPr id="3" name="Image 1" descr="brand/logo_h_rev.png">    </p:cNvPr>
          <p:cNvPicPr>
            <a:picLocks noChangeAspect="1"/>
          </p:cNvPicPr>
          <p:nvPr/>
        </p:nvPicPr>
        <p:blipFill>
          <a:blip r:embed="rId2"/>
          <a:stretch>
            <a:fillRect/>
          </a:stretch>
        </p:blipFill>
        <p:spPr>
          <a:xfrm>
            <a:off x="731520" y="658368"/>
            <a:ext cx="2377440" cy="803189"/>
          </a:xfrm>
          <a:prstGeom prst="rect">
            <a:avLst/>
          </a:prstGeom>
        </p:spPr>
      </p:pic>
      <p:sp>
        <p:nvSpPr>
          <p:cNvPr id="4" name="Text 0"/>
          <p:cNvSpPr txBox="1"/>
          <p:nvPr>
            <p:ph idx="102" type="body" hasCustomPrompt="1"/>
          </p:nvPr>
        </p:nvSpPr>
        <p:spPr>
          <a:xfrm>
            <a:off x="731520" y="2395728"/>
            <a:ext cx="658368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DEALER MEETING</a:t>
            </a:r>
            <a:endParaRPr lang="en-US" sz="1100" dirty="0"/>
          </a:p>
        </p:txBody>
      </p:sp>
      <p:sp>
        <p:nvSpPr>
          <p:cNvPr id="5" name="Shape 0"/>
          <p:cNvSpPr/>
          <p:nvPr/>
        </p:nvSpPr>
        <p:spPr>
          <a:xfrm>
            <a:off x="731520" y="2871216"/>
            <a:ext cx="777240" cy="50292"/>
          </a:xfrm>
          <a:prstGeom prst="rect">
            <a:avLst/>
          </a:prstGeom>
          <a:solidFill>
            <a:srgbClr val="F2A900"/>
          </a:solidFill>
          <a:ln/>
        </p:spPr>
      </p:sp>
      <p:sp>
        <p:nvSpPr>
          <p:cNvPr id="6" name="Text 1"/>
          <p:cNvSpPr txBox="1"/>
          <p:nvPr>
            <p:ph idx="104" type="title" hasCustomPrompt="1"/>
          </p:nvPr>
        </p:nvSpPr>
        <p:spPr>
          <a:xfrm>
            <a:off x="731520" y="3200400"/>
            <a:ext cx="6583680" cy="1627632"/>
          </a:xfrm>
          <a:prstGeom prst="rect">
            <a:avLst/>
          </a:prstGeom>
          <a:noFill/>
          <a:ln/>
        </p:spPr>
        <p:txBody>
          <a:bodyPr wrap="square" rtlCol="0"/>
          <a:lstStyle>
            <a:lvl1pPr algn="l" indent="0" marL="0">
              <a:buNone/>
              <a:defRPr lang="en-US" sz="4400" b="1" spc="-100" kern="0" dirty="0">
                <a:solidFill>
                  <a:srgbClr val="FFFFFF"/>
                </a:solidFill>
                <a:latin typeface="Arial" pitchFamily="34" charset="0"/>
                <a:ea typeface="Arial" pitchFamily="34" charset="-122"/>
                <a:cs typeface="Arial" pitchFamily="34" charset="-120"/>
              </a:defRPr>
            </a:lvl1pPr>
          </a:lstStyle>
          <a:p>
            <a:pPr algn="l" indent="0" marL="0">
              <a:buNone/>
            </a:pPr>
            <a:r>
              <a:rPr lang="en-US" sz="4400" b="1" spc="-100" kern="0" dirty="0">
                <a:solidFill>
                  <a:srgbClr val="FFFFFF"/>
                </a:solidFill>
                <a:latin typeface="Arial" pitchFamily="34" charset="0"/>
                <a:ea typeface="Arial" pitchFamily="34" charset="-122"/>
                <a:cs typeface="Arial" pitchFamily="34" charset="-120"/>
              </a:rPr>
              <a:t>Presentation title</a:t>
            </a:r>
            <a:endParaRPr lang="en-US" sz="4400" dirty="0"/>
          </a:p>
        </p:txBody>
      </p:sp>
      <p:sp>
        <p:nvSpPr>
          <p:cNvPr id="7" name="Text 1"/>
          <p:cNvSpPr txBox="1"/>
          <p:nvPr>
            <p:ph idx="105" type="body" hasCustomPrompt="1"/>
          </p:nvPr>
        </p:nvSpPr>
        <p:spPr>
          <a:xfrm>
            <a:off x="731520" y="4956048"/>
            <a:ext cx="6583680" cy="502920"/>
          </a:xfrm>
          <a:prstGeom prst="rect">
            <a:avLst/>
          </a:prstGeom>
          <a:noFill/>
          <a:ln/>
        </p:spPr>
        <p:txBody>
          <a:bodyPr wrap="square" rtlCol="0"/>
          <a:lstStyle>
            <a:lvl1pPr algn="l" indent="0" marL="0">
              <a:buNone/>
              <a:defRPr lang="en-US" sz="1700" dirty="0">
                <a:solidFill>
                  <a:srgbClr val="E4EFE8"/>
                </a:solidFill>
                <a:latin typeface="Arial" pitchFamily="34" charset="0"/>
                <a:ea typeface="Arial" pitchFamily="34" charset="-122"/>
                <a:cs typeface="Arial" pitchFamily="34" charset="-120"/>
              </a:defRPr>
            </a:lvl1pPr>
          </a:lstStyle>
          <a:p>
            <a:pPr algn="l" indent="0" marL="0">
              <a:buNone/>
            </a:pPr>
            <a:r>
              <a:rPr lang="en-US" sz="1700" dirty="0">
                <a:solidFill>
                  <a:srgbClr val="E4EFE8"/>
                </a:solidFill>
                <a:latin typeface="Arial" pitchFamily="34" charset="0"/>
                <a:ea typeface="Arial" pitchFamily="34" charset="-122"/>
                <a:cs typeface="Arial" pitchFamily="34" charset="-120"/>
              </a:rPr>
              <a:t>One line on what this deck argues</a:t>
            </a:r>
            <a:endParaRPr lang="en-US" sz="1700" dirty="0"/>
          </a:p>
        </p:txBody>
      </p:sp>
      <p:sp>
        <p:nvSpPr>
          <p:cNvPr id="8" name="Text 1"/>
          <p:cNvSpPr txBox="1"/>
          <p:nvPr>
            <p:ph idx="106" type="body" hasCustomPrompt="1"/>
          </p:nvPr>
        </p:nvSpPr>
        <p:spPr>
          <a:xfrm>
            <a:off x="731520" y="5998464"/>
            <a:ext cx="658368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Presenter  |  Audience  |  Month Year</a:t>
            </a:r>
            <a:endParaRPr lang="en-US" sz="11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t>SALES MEETING  ·  TERRITORY PRESENTATION</a:t>
            </a:r>
          </a:p>
        </p:txBody>
      </p:sp>
      <p:sp>
        <p:nvSpPr>
          <p:cNvPr id="3" name="Title 2"/>
          <p:cNvSpPr>
            <a:spLocks noGrp="1"/>
          </p:cNvSpPr>
          <p:nvPr>
            <p:ph type="title" idx="104"/>
          </p:nvPr>
        </p:nvSpPr>
        <p:spPr/>
        <p:txBody>
          <a:bodyPr/>
          <a:lstStyle/>
          <a:p>
            <a:r>
              <a:t>[Territory name]</a:t>
            </a:r>
          </a:p>
        </p:txBody>
      </p:sp>
      <p:sp>
        <p:nvSpPr>
          <p:cNvPr id="4" name="Text Placeholder 3"/>
          <p:cNvSpPr>
            <a:spLocks noGrp="1"/>
          </p:cNvSpPr>
          <p:nvPr>
            <p:ph type="body" idx="105"/>
          </p:nvPr>
        </p:nvSpPr>
        <p:spPr/>
        <p:txBody>
          <a:bodyPr/>
          <a:lstStyle/>
          <a:p>
            <a:r>
              <a:t>Where we're winning, who's winning with what, and why they choose us.</a:t>
            </a:r>
          </a:p>
        </p:txBody>
      </p:sp>
      <p:sp>
        <p:nvSpPr>
          <p:cNvPr id="5" name="Text Placeholder 4"/>
          <p:cNvSpPr>
            <a:spLocks noGrp="1"/>
          </p:cNvSpPr>
          <p:nvPr>
            <p:ph type="body" idx="106"/>
          </p:nvPr>
        </p:nvSpPr>
        <p:spPr/>
        <p:txBody>
          <a:bodyPr/>
          <a:lstStyle/>
          <a:p>
            <a:r>
              <a:t>[Your name]  |  Sales Meeting  |  [Month]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1 OF 6  ·  BY THE NUMBERS</a:t>
            </a:r>
          </a:p>
        </p:txBody>
      </p:sp>
      <p:sp>
        <p:nvSpPr>
          <p:cNvPr id="3" name="Title 2"/>
          <p:cNvSpPr>
            <a:spLocks noGrp="1"/>
          </p:cNvSpPr>
          <p:nvPr>
            <p:ph type="title" idx="101"/>
          </p:nvPr>
        </p:nvSpPr>
        <p:spPr/>
        <p:txBody>
          <a:bodyPr/>
          <a:lstStyle/>
          <a:p>
            <a:r>
              <a:t>[Territory] in numbers</a:t>
            </a:r>
          </a:p>
        </p:txBody>
      </p:sp>
      <p:sp>
        <p:nvSpPr>
          <p:cNvPr id="4" name="Text Placeholder 3"/>
          <p:cNvSpPr>
            <a:spLocks noGrp="1"/>
          </p:cNvSpPr>
          <p:nvPr>
            <p:ph type="body" idx="102"/>
          </p:nvPr>
        </p:nvSpPr>
        <p:spPr/>
        <p:txBody>
          <a:bodyPr/>
          <a:lstStyle/>
          <a:p>
            <a:r>
              <a:t>Numbers are pre-filled. Add two sentences on what they don't show.</a:t>
            </a:r>
          </a:p>
        </p:txBody>
      </p:sp>
      <p:sp>
        <p:nvSpPr>
          <p:cNvPr id="5" name="TextBox 4"/>
          <p:cNvSpPr txBox="1"/>
          <p:nvPr/>
        </p:nvSpPr>
        <p:spPr>
          <a:xfrm>
            <a:off x="731520" y="2121408"/>
            <a:ext cx="5120640" cy="237744"/>
          </a:xfrm>
          <a:prstGeom prst="rect">
            <a:avLst/>
          </a:prstGeom>
          <a:noFill/>
        </p:spPr>
        <p:txBody>
          <a:bodyPr wrap="square" lIns="0" rIns="0" tIns="0" bIns="0">
            <a:noAutofit/>
          </a:bodyPr>
          <a:lstStyle/>
          <a:p>
            <a:pPr algn="l"/>
            <a:r>
              <a:rPr sz="1100" b="1" i="0">
                <a:solidFill>
                  <a:srgbClr val="3C7D4D"/>
                </a:solidFill>
                <a:latin typeface="Arial"/>
              </a:rPr>
              <a:t>BOOKINGS AND QUOTES BY QUARTER</a:t>
            </a:r>
          </a:p>
        </p:txBody>
      </p:sp>
      <p:graphicFrame>
        <p:nvGraphicFramePr>
          <p:cNvPr id="6" name="Table 5"/>
          <p:cNvGraphicFramePr>
            <a:graphicFrameLocks noGrp="1"/>
          </p:cNvGraphicFramePr>
          <p:nvPr/>
        </p:nvGraphicFramePr>
        <p:xfrm>
          <a:off x="731520" y="2377440"/>
          <a:ext cx="5120640" cy="1664208"/>
        </p:xfrm>
        <a:graphic>
          <a:graphicData uri="http://schemas.openxmlformats.org/drawingml/2006/table">
            <a:tbl>
              <a:tblPr firstRow="0" bandRow="0"/>
              <a:tblGrid>
                <a:gridCol w="1280160"/>
                <a:gridCol w="1280160"/>
                <a:gridCol w="1280160"/>
                <a:gridCol w="1280160"/>
              </a:tblGrid>
              <a:tr h="292608">
                <a:tc>
                  <a:txBody>
                    <a:bodyPr/>
                    <a:lstStyle/>
                    <a:p>
                      <a:r>
                        <a:rPr sz="1000" b="1">
                          <a:solidFill>
                            <a:srgbClr val="FFFFFF"/>
                          </a:solidFill>
                          <a:latin typeface="Arial"/>
                        </a:rPr>
                        <a:t>Quarter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Bookings 2025</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Bookings 2026</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Quotes 2026</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274320">
                <a:tc>
                  <a:txBody>
                    <a:bodyPr/>
                    <a:lstStyle/>
                    <a:p>
                      <a:r>
                        <a:rPr sz="1000" b="1">
                          <a:solidFill>
                            <a:srgbClr val="5B6670"/>
                          </a:solidFill>
                          <a:latin typeface="Arial"/>
                        </a:rPr>
                        <a:t>Q1</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r>
                        <a:rPr sz="1000" b="1">
                          <a:solidFill>
                            <a:srgbClr val="5B6670"/>
                          </a:solidFill>
                          <a:latin typeface="Arial"/>
                        </a:rPr>
                        <a:t>Q2</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r>
                        <a:rPr sz="1000" b="1">
                          <a:solidFill>
                            <a:srgbClr val="5B6670"/>
                          </a:solidFill>
                          <a:latin typeface="Arial"/>
                        </a:rPr>
                        <a:t>Q3</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r>
                        <a:rPr sz="1000" b="1">
                          <a:solidFill>
                            <a:srgbClr val="5B6670"/>
                          </a:solidFill>
                          <a:latin typeface="Arial"/>
                        </a:rPr>
                        <a:t>Q4 to date</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r>
                        <a:rPr sz="1000" b="1">
                          <a:solidFill>
                            <a:srgbClr val="5B6670"/>
                          </a:solidFill>
                          <a:latin typeface="Arial"/>
                        </a:rPr>
                        <a:t>YTD</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7" name="TextBox 6"/>
          <p:cNvSpPr txBox="1"/>
          <p:nvPr/>
        </p:nvSpPr>
        <p:spPr>
          <a:xfrm>
            <a:off x="731520" y="4370832"/>
            <a:ext cx="5120640" cy="237744"/>
          </a:xfrm>
          <a:prstGeom prst="rect">
            <a:avLst/>
          </a:prstGeom>
          <a:noFill/>
        </p:spPr>
        <p:txBody>
          <a:bodyPr wrap="square" lIns="0" rIns="0" tIns="0" bIns="0">
            <a:noAutofit/>
          </a:bodyPr>
          <a:lstStyle/>
          <a:p>
            <a:pPr algn="l"/>
            <a:r>
              <a:rPr sz="1100" b="1" i="0">
                <a:solidFill>
                  <a:srgbClr val="3C7D4D"/>
                </a:solidFill>
                <a:latin typeface="Arial"/>
              </a:rPr>
              <a:t>WHAT THE NUMBERS DON'T SHOW</a:t>
            </a:r>
          </a:p>
        </p:txBody>
      </p:sp>
      <p:sp>
        <p:nvSpPr>
          <p:cNvPr id="8" name="TextBox 7"/>
          <p:cNvSpPr txBox="1"/>
          <p:nvPr/>
        </p:nvSpPr>
        <p:spPr>
          <a:xfrm>
            <a:off x="731520" y="4590288"/>
            <a:ext cx="5120640" cy="237744"/>
          </a:xfrm>
          <a:prstGeom prst="rect">
            <a:avLst/>
          </a:prstGeom>
          <a:noFill/>
        </p:spPr>
        <p:txBody>
          <a:bodyPr wrap="square" lIns="0" rIns="0" tIns="0" bIns="0">
            <a:noAutofit/>
          </a:bodyPr>
          <a:lstStyle/>
          <a:p>
            <a:pPr algn="l"/>
            <a:r>
              <a:rPr sz="1000" b="0" i="0">
                <a:solidFill>
                  <a:srgbClr val="5B6670"/>
                </a:solidFill>
                <a:latin typeface="Arial"/>
              </a:rPr>
              <a:t>Two sentences. Yours.</a:t>
            </a:r>
          </a:p>
        </p:txBody>
      </p:sp>
      <p:sp>
        <p:nvSpPr>
          <p:cNvPr id="9" name="TextBox 8"/>
          <p:cNvSpPr txBox="1"/>
          <p:nvPr/>
        </p:nvSpPr>
        <p:spPr>
          <a:xfrm>
            <a:off x="731520" y="4828032"/>
            <a:ext cx="5120640" cy="1207008"/>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
        <p:nvSpPr>
          <p:cNvPr id="10" name="TextBox 9"/>
          <p:cNvSpPr txBox="1"/>
          <p:nvPr/>
        </p:nvSpPr>
        <p:spPr>
          <a:xfrm>
            <a:off x="6519672" y="2121408"/>
            <a:ext cx="4937760" cy="237744"/>
          </a:xfrm>
          <a:prstGeom prst="rect">
            <a:avLst/>
          </a:prstGeom>
          <a:noFill/>
        </p:spPr>
        <p:txBody>
          <a:bodyPr wrap="square" lIns="0" rIns="0" tIns="0" bIns="0">
            <a:noAutofit/>
          </a:bodyPr>
          <a:lstStyle/>
          <a:p>
            <a:pPr algn="l"/>
            <a:r>
              <a:rPr sz="1100" b="1" i="0">
                <a:solidFill>
                  <a:srgbClr val="3C7D4D"/>
                </a:solidFill>
                <a:latin typeface="Arial"/>
              </a:rPr>
              <a:t>TOP ACCOUNTS, YTD BOOKINGS</a:t>
            </a:r>
          </a:p>
        </p:txBody>
      </p:sp>
      <p:graphicFrame>
        <p:nvGraphicFramePr>
          <p:cNvPr id="11" name="Table 10"/>
          <p:cNvGraphicFramePr>
            <a:graphicFrameLocks noGrp="1"/>
          </p:cNvGraphicFramePr>
          <p:nvPr/>
        </p:nvGraphicFramePr>
        <p:xfrm>
          <a:off x="6519672" y="2377440"/>
          <a:ext cx="4937760" cy="1664208"/>
        </p:xfrm>
        <a:graphic>
          <a:graphicData uri="http://schemas.openxmlformats.org/drawingml/2006/table">
            <a:tbl>
              <a:tblPr firstRow="0" bandRow="0"/>
              <a:tblGrid>
                <a:gridCol w="3108960"/>
                <a:gridCol w="1828800"/>
              </a:tblGrid>
              <a:tr h="292608">
                <a:tc>
                  <a:txBody>
                    <a:bodyPr/>
                    <a:lstStyle/>
                    <a:p>
                      <a:r>
                        <a:rPr sz="1000" b="1">
                          <a:solidFill>
                            <a:srgbClr val="FFFFFF"/>
                          </a:solidFill>
                          <a:latin typeface="Arial"/>
                        </a:rPr>
                        <a:t>Top accounts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YTD bookings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12" name="TextBox 11"/>
          <p:cNvSpPr txBox="1"/>
          <p:nvPr/>
        </p:nvSpPr>
        <p:spPr>
          <a:xfrm>
            <a:off x="6519672" y="4370832"/>
            <a:ext cx="4937760" cy="237744"/>
          </a:xfrm>
          <a:prstGeom prst="rect">
            <a:avLst/>
          </a:prstGeom>
          <a:noFill/>
        </p:spPr>
        <p:txBody>
          <a:bodyPr wrap="square" lIns="0" rIns="0" tIns="0" bIns="0">
            <a:noAutofit/>
          </a:bodyPr>
          <a:lstStyle/>
          <a:p>
            <a:pPr algn="l"/>
            <a:r>
              <a:rPr sz="1100" b="1" i="0">
                <a:solidFill>
                  <a:srgbClr val="3C7D4D"/>
                </a:solidFill>
                <a:latin typeface="Arial"/>
              </a:rPr>
              <a:t>EXCALIBUR DEALERS, YTD BOOKINGS</a:t>
            </a:r>
          </a:p>
        </p:txBody>
      </p:sp>
      <p:graphicFrame>
        <p:nvGraphicFramePr>
          <p:cNvPr id="13" name="Table 12"/>
          <p:cNvGraphicFramePr>
            <a:graphicFrameLocks noGrp="1"/>
          </p:cNvGraphicFramePr>
          <p:nvPr/>
        </p:nvGraphicFramePr>
        <p:xfrm>
          <a:off x="6519672" y="4626864"/>
          <a:ext cx="4937760" cy="1115568"/>
        </p:xfrm>
        <a:graphic>
          <a:graphicData uri="http://schemas.openxmlformats.org/drawingml/2006/table">
            <a:tbl>
              <a:tblPr firstRow="0" bandRow="0"/>
              <a:tblGrid>
                <a:gridCol w="3108960"/>
                <a:gridCol w="1828800"/>
              </a:tblGrid>
              <a:tr h="292608">
                <a:tc>
                  <a:txBody>
                    <a:bodyPr/>
                    <a:lstStyle/>
                    <a:p>
                      <a:r>
                        <a:rPr sz="1000" b="1">
                          <a:solidFill>
                            <a:srgbClr val="FFFFFF"/>
                          </a:solidFill>
                          <a:latin typeface="Arial"/>
                        </a:rPr>
                        <a:t>Excalibur dealer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YTD bookings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14" name="TextBox 13"/>
          <p:cNvSpPr txBox="1"/>
          <p:nvPr/>
        </p:nvSpPr>
        <p:spPr>
          <a:xfrm>
            <a:off x="731520" y="6364224"/>
            <a:ext cx="7863840" cy="237744"/>
          </a:xfrm>
          <a:prstGeom prst="rect">
            <a:avLst/>
          </a:prstGeom>
          <a:noFill/>
        </p:spPr>
        <p:txBody>
          <a:bodyPr wrap="square" lIns="0" rIns="0" tIns="0" bIns="0">
            <a:noAutofit/>
          </a:bodyPr>
          <a:lstStyle/>
          <a:p>
            <a:pPr algn="l"/>
            <a:r>
              <a:rPr sz="900" b="0" i="0">
                <a:solidFill>
                  <a:srgbClr val="5B6670"/>
                </a:solidFill>
                <a:latin typeface="Arial"/>
              </a:rPr>
              <a:t>Source: [system], pulled [date]. Quotes are a count. Pre-filled by Nate.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2 OF 6  ·  WHO'S WINNING WITH WHAT</a:t>
            </a:r>
          </a:p>
        </p:txBody>
      </p:sp>
      <p:sp>
        <p:nvSpPr>
          <p:cNvPr id="3" name="Title 2"/>
          <p:cNvSpPr>
            <a:spLocks noGrp="1"/>
          </p:cNvSpPr>
          <p:nvPr>
            <p:ph type="title" idx="101"/>
          </p:nvPr>
        </p:nvSpPr>
        <p:spPr/>
        <p:txBody>
          <a:bodyPr/>
          <a:lstStyle/>
          <a:p>
            <a:r>
              <a:t>Who's winning with what</a:t>
            </a:r>
          </a:p>
        </p:txBody>
      </p:sp>
      <p:sp>
        <p:nvSpPr>
          <p:cNvPr id="4" name="Text Placeholder 3"/>
          <p:cNvSpPr>
            <a:spLocks noGrp="1"/>
          </p:cNvSpPr>
          <p:nvPr>
            <p:ph type="body" idx="102"/>
          </p:nvPr>
        </p:nvSpPr>
        <p:spPr/>
        <p:txBody>
          <a:bodyPr/>
          <a:lstStyle/>
          <a:p>
            <a:r>
              <a:t>Your top dealers, the products they perform with, and why they pick Steel King, in their words.</a:t>
            </a:r>
          </a:p>
        </p:txBody>
      </p:sp>
      <p:graphicFrame>
        <p:nvGraphicFramePr>
          <p:cNvPr id="5" name="Table 4"/>
          <p:cNvGraphicFramePr>
            <a:graphicFrameLocks noGrp="1"/>
          </p:cNvGraphicFramePr>
          <p:nvPr/>
        </p:nvGraphicFramePr>
        <p:xfrm>
          <a:off x="731520" y="2121408"/>
          <a:ext cx="10725912" cy="3657600"/>
        </p:xfrm>
        <a:graphic>
          <a:graphicData uri="http://schemas.openxmlformats.org/drawingml/2006/table">
            <a:tbl>
              <a:tblPr firstRow="0" bandRow="0"/>
              <a:tblGrid>
                <a:gridCol w="2194560"/>
                <a:gridCol w="914400"/>
                <a:gridCol w="3017520"/>
                <a:gridCol w="4599432"/>
              </a:tblGrid>
              <a:tr h="365760">
                <a:tc>
                  <a:txBody>
                    <a:bodyPr/>
                    <a:lstStyle/>
                    <a:p>
                      <a:r>
                        <a:rPr sz="1000" b="1">
                          <a:solidFill>
                            <a:srgbClr val="FFFFFF"/>
                          </a:solidFill>
                          <a:latin typeface="Arial"/>
                        </a:rPr>
                        <a:t>Dealer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Excalibur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Products they perform with</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Why they pick Steel King, in their words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658368">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658368">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658368">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658368">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658368">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6" name="TextBox 5"/>
          <p:cNvSpPr txBox="1"/>
          <p:nvPr/>
        </p:nvSpPr>
        <p:spPr>
          <a:xfrm>
            <a:off x="731520" y="5797296"/>
            <a:ext cx="10725912" cy="237744"/>
          </a:xfrm>
          <a:prstGeom prst="rect">
            <a:avLst/>
          </a:prstGeom>
          <a:noFill/>
        </p:spPr>
        <p:txBody>
          <a:bodyPr wrap="square" lIns="0" rIns="0" tIns="0" bIns="0">
            <a:noAutofit/>
          </a:bodyPr>
          <a:lstStyle/>
          <a:p>
            <a:pPr algn="l"/>
            <a:r>
              <a:rPr sz="1100" b="1" i="0">
                <a:solidFill>
                  <a:srgbClr val="3C7D4D"/>
                </a:solidFill>
                <a:latin typeface="Arial"/>
              </a:rPr>
              <a:t>For the room:  Are we hearing the same reasons across territories?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3 OF 6  ·  WHAT THEY BUY US FOR</a:t>
            </a:r>
          </a:p>
        </p:txBody>
      </p:sp>
      <p:sp>
        <p:nvSpPr>
          <p:cNvPr id="3" name="Title 2"/>
          <p:cNvSpPr>
            <a:spLocks noGrp="1"/>
          </p:cNvSpPr>
          <p:nvPr>
            <p:ph type="title" idx="101"/>
          </p:nvPr>
        </p:nvSpPr>
        <p:spPr/>
        <p:txBody>
          <a:bodyPr/>
          <a:lstStyle/>
          <a:p>
            <a:r>
              <a:t>What they buy us for, and what's missing</a:t>
            </a:r>
          </a:p>
        </p:txBody>
      </p:sp>
      <p:sp>
        <p:nvSpPr>
          <p:cNvPr id="4" name="Text Placeholder 3"/>
          <p:cNvSpPr>
            <a:spLocks noGrp="1"/>
          </p:cNvSpPr>
          <p:nvPr>
            <p:ph type="body" idx="102"/>
          </p:nvPr>
        </p:nvSpPr>
        <p:spPr/>
        <p:txBody>
          <a:bodyPr/>
          <a:lstStyle/>
          <a:p>
            <a:r>
              <a:t>Two or three things dealers count on us for, then the one gap that costs you the most business.</a:t>
            </a:r>
          </a:p>
        </p:txBody>
      </p:sp>
      <p:sp>
        <p:nvSpPr>
          <p:cNvPr id="5" name="TextBox 4"/>
          <p:cNvSpPr txBox="1"/>
          <p:nvPr/>
        </p:nvSpPr>
        <p:spPr>
          <a:xfrm>
            <a:off x="731520" y="2121408"/>
            <a:ext cx="5120640" cy="237744"/>
          </a:xfrm>
          <a:prstGeom prst="rect">
            <a:avLst/>
          </a:prstGeom>
          <a:noFill/>
        </p:spPr>
        <p:txBody>
          <a:bodyPr wrap="square" lIns="0" rIns="0" tIns="0" bIns="0">
            <a:noAutofit/>
          </a:bodyPr>
          <a:lstStyle/>
          <a:p>
            <a:pPr algn="l"/>
            <a:r>
              <a:rPr sz="1100" b="1" i="0">
                <a:solidFill>
                  <a:srgbClr val="3C7D4D"/>
                </a:solidFill>
                <a:latin typeface="Arial"/>
              </a:rPr>
              <a:t>WHAT DEALERS COUNT ON US FOR</a:t>
            </a:r>
          </a:p>
        </p:txBody>
      </p:sp>
      <p:graphicFrame>
        <p:nvGraphicFramePr>
          <p:cNvPr id="6" name="Table 5"/>
          <p:cNvGraphicFramePr>
            <a:graphicFrameLocks noGrp="1"/>
          </p:cNvGraphicFramePr>
          <p:nvPr/>
        </p:nvGraphicFramePr>
        <p:xfrm>
          <a:off x="731520" y="2377440"/>
          <a:ext cx="5120640" cy="3346704"/>
        </p:xfrm>
        <a:graphic>
          <a:graphicData uri="http://schemas.openxmlformats.org/drawingml/2006/table">
            <a:tbl>
              <a:tblPr firstRow="0" bandRow="0"/>
              <a:tblGrid>
                <a:gridCol w="457200"/>
                <a:gridCol w="4663440"/>
              </a:tblGrid>
              <a:tr h="329184">
                <a:tc>
                  <a:txBody>
                    <a:bodyPr/>
                    <a:lstStyle/>
                    <a:p>
                      <a:r>
                        <a:rPr sz="1000" b="1">
                          <a:solidFill>
                            <a:srgbClr val="FFFFFF"/>
                          </a:solidFill>
                          <a:latin typeface="Arial"/>
                        </a:rPr>
                        <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In their words if you have them</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1005840">
                <a:tc>
                  <a:txBody>
                    <a:bodyPr/>
                    <a:lstStyle/>
                    <a:p>
                      <a:r>
                        <a:rPr sz="1000" b="1">
                          <a:solidFill>
                            <a:srgbClr val="5B6670"/>
                          </a:solidFill>
                          <a:latin typeface="Arial"/>
                        </a:rPr>
                        <a:t>1</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005840">
                <a:tc>
                  <a:txBody>
                    <a:bodyPr/>
                    <a:lstStyle/>
                    <a:p>
                      <a:r>
                        <a:rPr sz="1000" b="1">
                          <a:solidFill>
                            <a:srgbClr val="5B6670"/>
                          </a:solidFill>
                          <a:latin typeface="Arial"/>
                        </a:rPr>
                        <a:t>2</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005840">
                <a:tc>
                  <a:txBody>
                    <a:bodyPr/>
                    <a:lstStyle/>
                    <a:p>
                      <a:r>
                        <a:rPr sz="1000" b="1">
                          <a:solidFill>
                            <a:srgbClr val="5B6670"/>
                          </a:solidFill>
                          <a:latin typeface="Arial"/>
                        </a:rPr>
                        <a:t>3</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7" name="TextBox 6"/>
          <p:cNvSpPr txBox="1"/>
          <p:nvPr/>
        </p:nvSpPr>
        <p:spPr>
          <a:xfrm>
            <a:off x="6519672" y="2121408"/>
            <a:ext cx="4937760" cy="237744"/>
          </a:xfrm>
          <a:prstGeom prst="rect">
            <a:avLst/>
          </a:prstGeom>
          <a:noFill/>
        </p:spPr>
        <p:txBody>
          <a:bodyPr wrap="square" lIns="0" rIns="0" tIns="0" bIns="0">
            <a:noAutofit/>
          </a:bodyPr>
          <a:lstStyle/>
          <a:p>
            <a:pPr algn="l"/>
            <a:r>
              <a:rPr sz="1100" b="1" i="0">
                <a:solidFill>
                  <a:srgbClr val="3C7D4D"/>
                </a:solidFill>
                <a:latin typeface="Arial"/>
              </a:rPr>
              <a:t>THE ONE GAP THAT COSTS ME THE MOST</a:t>
            </a:r>
          </a:p>
        </p:txBody>
      </p:sp>
      <p:graphicFrame>
        <p:nvGraphicFramePr>
          <p:cNvPr id="8" name="Table 7"/>
          <p:cNvGraphicFramePr>
            <a:graphicFrameLocks noGrp="1"/>
          </p:cNvGraphicFramePr>
          <p:nvPr/>
        </p:nvGraphicFramePr>
        <p:xfrm>
          <a:off x="6519672" y="2377440"/>
          <a:ext cx="4937760" cy="3346704"/>
        </p:xfrm>
        <a:graphic>
          <a:graphicData uri="http://schemas.openxmlformats.org/drawingml/2006/table">
            <a:tbl>
              <a:tblPr firstRow="0" bandRow="0"/>
              <a:tblGrid>
                <a:gridCol w="1554480"/>
                <a:gridCol w="3383280"/>
              </a:tblGrid>
              <a:tr h="329184">
                <a:tc>
                  <a:txBody>
                    <a:bodyPr/>
                    <a:lstStyle/>
                    <a:p>
                      <a:r>
                        <a:rPr sz="1000" b="1">
                          <a:solidFill>
                            <a:srgbClr val="FFFFFF"/>
                          </a:solidFill>
                          <a:latin typeface="Arial"/>
                        </a:rPr>
                        <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One gap. The one that costs the most.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1005840">
                <a:tc>
                  <a:txBody>
                    <a:bodyPr/>
                    <a:lstStyle/>
                    <a:p>
                      <a:r>
                        <a:rPr sz="1000" b="1">
                          <a:solidFill>
                            <a:srgbClr val="5B6670"/>
                          </a:solidFill>
                          <a:latin typeface="Arial"/>
                        </a:rPr>
                        <a:t>The gap</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005840">
                <a:tc>
                  <a:txBody>
                    <a:bodyPr/>
                    <a:lstStyle/>
                    <a:p>
                      <a:r>
                        <a:rPr sz="1000" b="1">
                          <a:solidFill>
                            <a:srgbClr val="5B6670"/>
                          </a:solidFill>
                          <a:latin typeface="Arial"/>
                        </a:rPr>
                        <a:t>What it costs us</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005840">
                <a:tc>
                  <a:txBody>
                    <a:bodyPr/>
                    <a:lstStyle/>
                    <a:p>
                      <a:r>
                        <a:rPr sz="1000" b="1">
                          <a:solidFill>
                            <a:srgbClr val="5B6670"/>
                          </a:solidFill>
                          <a:latin typeface="Arial"/>
                        </a:rPr>
                        <a:t>What would fix it</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9" name="TextBox 8"/>
          <p:cNvSpPr txBox="1"/>
          <p:nvPr/>
        </p:nvSpPr>
        <p:spPr>
          <a:xfrm>
            <a:off x="731520" y="5797296"/>
            <a:ext cx="10725912" cy="237744"/>
          </a:xfrm>
          <a:prstGeom prst="rect">
            <a:avLst/>
          </a:prstGeom>
          <a:noFill/>
        </p:spPr>
        <p:txBody>
          <a:bodyPr wrap="square" lIns="0" rIns="0" tIns="0" bIns="0">
            <a:noAutofit/>
          </a:bodyPr>
          <a:lstStyle/>
          <a:p>
            <a:pPr algn="l"/>
            <a:r>
              <a:rPr sz="1100" b="1" i="0">
                <a:solidFill>
                  <a:srgbClr val="3C7D4D"/>
                </a:solidFill>
                <a:latin typeface="Arial"/>
              </a:rPr>
              <a:t>For the room:  Which of these do we all hear?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4 OF 6  ·  MINDSHARE</a:t>
            </a:r>
          </a:p>
        </p:txBody>
      </p:sp>
      <p:sp>
        <p:nvSpPr>
          <p:cNvPr id="3" name="Title 2"/>
          <p:cNvSpPr>
            <a:spLocks noGrp="1"/>
          </p:cNvSpPr>
          <p:nvPr>
            <p:ph type="title" idx="101"/>
          </p:nvPr>
        </p:nvSpPr>
        <p:spPr/>
        <p:txBody>
          <a:bodyPr/>
          <a:lstStyle/>
          <a:p>
            <a:r>
              <a:t>Mindshare</a:t>
            </a:r>
          </a:p>
        </p:txBody>
      </p:sp>
      <p:sp>
        <p:nvSpPr>
          <p:cNvPr id="4" name="Text Placeholder 3"/>
          <p:cNvSpPr>
            <a:spLocks noGrp="1"/>
          </p:cNvSpPr>
          <p:nvPr>
            <p:ph type="body" idx="102"/>
          </p:nvPr>
        </p:nvSpPr>
        <p:spPr/>
        <p:txBody>
          <a:bodyPr/>
          <a:lstStyle/>
          <a:p>
            <a:r>
              <a:t>How you get and keep mindshare, how new dealer reps learn us, and what's working.</a:t>
            </a:r>
          </a:p>
        </p:txBody>
      </p:sp>
      <p:sp>
        <p:nvSpPr>
          <p:cNvPr id="5" name="Text Placeholder 4"/>
          <p:cNvSpPr>
            <a:spLocks noGrp="1"/>
          </p:cNvSpPr>
          <p:nvPr>
            <p:ph type="body" idx="106"/>
          </p:nvPr>
        </p:nvSpPr>
        <p:spPr/>
        <p:txBody>
          <a:bodyPr/>
          <a:lstStyle/>
          <a:p>
            <a:r>
              <a:t>How I get and keep mindshare</a:t>
            </a:r>
          </a:p>
        </p:txBody>
      </p:sp>
      <p:sp>
        <p:nvSpPr>
          <p:cNvPr id="7" name="Text Placeholder 6"/>
          <p:cNvSpPr>
            <a:spLocks noGrp="1"/>
          </p:cNvSpPr>
          <p:nvPr>
            <p:ph type="body" idx="111"/>
          </p:nvPr>
        </p:nvSpPr>
        <p:spPr/>
        <p:txBody>
          <a:bodyPr/>
          <a:lstStyle/>
          <a:p>
            <a:r>
              <a:t>How new dealer reps get up to speed on us</a:t>
            </a:r>
          </a:p>
        </p:txBody>
      </p:sp>
      <p:sp>
        <p:nvSpPr>
          <p:cNvPr id="9" name="Text Placeholder 8"/>
          <p:cNvSpPr>
            <a:spLocks noGrp="1"/>
          </p:cNvSpPr>
          <p:nvPr>
            <p:ph type="body" idx="116"/>
          </p:nvPr>
        </p:nvSpPr>
        <p:spPr/>
        <p:txBody>
          <a:bodyPr/>
          <a:lstStyle/>
          <a:p>
            <a:r>
              <a:t>What's working, what isn't</a:t>
            </a:r>
          </a:p>
        </p:txBody>
      </p:sp>
      <p:sp>
        <p:nvSpPr>
          <p:cNvPr id="12" name="TextBox 11"/>
          <p:cNvSpPr txBox="1"/>
          <p:nvPr/>
        </p:nvSpPr>
        <p:spPr>
          <a:xfrm>
            <a:off x="1097280" y="3931920"/>
            <a:ext cx="2660904" cy="237744"/>
          </a:xfrm>
          <a:prstGeom prst="rect">
            <a:avLst/>
          </a:prstGeom>
          <a:noFill/>
        </p:spPr>
        <p:txBody>
          <a:bodyPr wrap="square" lIns="0" rIns="0" tIns="0" bIns="0">
            <a:noAutofit/>
          </a:bodyPr>
          <a:lstStyle/>
          <a:p>
            <a:pPr algn="l"/>
            <a:r>
              <a:rPr sz="1000" b="0" i="0">
                <a:solidFill>
                  <a:srgbClr val="5B6670"/>
                </a:solidFill>
                <a:latin typeface="Arial"/>
              </a:rPr>
              <a:t>Visits, training, joint calls, quick ship</a:t>
            </a:r>
          </a:p>
        </p:txBody>
      </p:sp>
      <p:sp>
        <p:nvSpPr>
          <p:cNvPr id="13" name="TextBox 12"/>
          <p:cNvSpPr txBox="1"/>
          <p:nvPr/>
        </p:nvSpPr>
        <p:spPr>
          <a:xfrm>
            <a:off x="1097280" y="4206240"/>
            <a:ext cx="2660904" cy="1316736"/>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
        <p:nvSpPr>
          <p:cNvPr id="14" name="TextBox 13"/>
          <p:cNvSpPr txBox="1"/>
          <p:nvPr/>
        </p:nvSpPr>
        <p:spPr>
          <a:xfrm>
            <a:off x="4773168" y="3931920"/>
            <a:ext cx="2660904" cy="237744"/>
          </a:xfrm>
          <a:prstGeom prst="rect">
            <a:avLst/>
          </a:prstGeom>
          <a:noFill/>
        </p:spPr>
        <p:txBody>
          <a:bodyPr wrap="square" lIns="0" rIns="0" tIns="0" bIns="0">
            <a:noAutofit/>
          </a:bodyPr>
          <a:lstStyle/>
          <a:p>
            <a:pPr algn="l"/>
            <a:r>
              <a:rPr sz="1000" b="0" i="0">
                <a:solidFill>
                  <a:srgbClr val="5B6670"/>
                </a:solidFill>
                <a:latin typeface="Arial"/>
              </a:rPr>
              <a:t>When a dealer hires someone new</a:t>
            </a:r>
          </a:p>
        </p:txBody>
      </p:sp>
      <p:sp>
        <p:nvSpPr>
          <p:cNvPr id="15" name="TextBox 14"/>
          <p:cNvSpPr txBox="1"/>
          <p:nvPr/>
        </p:nvSpPr>
        <p:spPr>
          <a:xfrm>
            <a:off x="4773168" y="4206240"/>
            <a:ext cx="2660904" cy="1316736"/>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
        <p:nvSpPr>
          <p:cNvPr id="16" name="TextBox 15"/>
          <p:cNvSpPr txBox="1"/>
          <p:nvPr/>
        </p:nvSpPr>
        <p:spPr>
          <a:xfrm>
            <a:off x="8449056" y="3931920"/>
            <a:ext cx="2660904" cy="237744"/>
          </a:xfrm>
          <a:prstGeom prst="rect">
            <a:avLst/>
          </a:prstGeom>
          <a:noFill/>
        </p:spPr>
        <p:txBody>
          <a:bodyPr wrap="square" lIns="0" rIns="0" tIns="0" bIns="0">
            <a:noAutofit/>
          </a:bodyPr>
          <a:lstStyle/>
          <a:p>
            <a:pPr algn="l"/>
            <a:r>
              <a:rPr sz="1000" b="0" i="0">
                <a:solidFill>
                  <a:srgbClr val="5B6670"/>
                </a:solidFill>
                <a:latin typeface="Arial"/>
              </a:rPr>
              <a:t>One of each</a:t>
            </a:r>
          </a:p>
        </p:txBody>
      </p:sp>
      <p:sp>
        <p:nvSpPr>
          <p:cNvPr id="17" name="TextBox 16"/>
          <p:cNvSpPr txBox="1"/>
          <p:nvPr/>
        </p:nvSpPr>
        <p:spPr>
          <a:xfrm>
            <a:off x="8449056" y="4206240"/>
            <a:ext cx="2660904" cy="1316736"/>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5 OF 6  ·  THREE WINS, ONE LOSS</a:t>
            </a:r>
          </a:p>
        </p:txBody>
      </p:sp>
      <p:sp>
        <p:nvSpPr>
          <p:cNvPr id="3" name="Title 2"/>
          <p:cNvSpPr>
            <a:spLocks noGrp="1"/>
          </p:cNvSpPr>
          <p:nvPr>
            <p:ph type="title" idx="101"/>
          </p:nvPr>
        </p:nvSpPr>
        <p:spPr/>
        <p:txBody>
          <a:bodyPr/>
          <a:lstStyle/>
          <a:p>
            <a:r>
              <a:t>Three wins, one loss</a:t>
            </a:r>
          </a:p>
        </p:txBody>
      </p:sp>
      <p:sp>
        <p:nvSpPr>
          <p:cNvPr id="4" name="Text Placeholder 3"/>
          <p:cNvSpPr>
            <a:spLocks noGrp="1"/>
          </p:cNvSpPr>
          <p:nvPr>
            <p:ph type="body" idx="102"/>
          </p:nvPr>
        </p:nvSpPr>
        <p:spPr/>
        <p:txBody>
          <a:bodyPr/>
          <a:lstStyle/>
          <a:p>
            <a:r>
              <a:t>Three wins: job, competitor, what won it. One loss: what decided it, what we'd do differently.</a:t>
            </a:r>
          </a:p>
        </p:txBody>
      </p:sp>
      <p:graphicFrame>
        <p:nvGraphicFramePr>
          <p:cNvPr id="5" name="Table 4"/>
          <p:cNvGraphicFramePr>
            <a:graphicFrameLocks noGrp="1"/>
          </p:cNvGraphicFramePr>
          <p:nvPr/>
        </p:nvGraphicFramePr>
        <p:xfrm>
          <a:off x="731520" y="2121408"/>
          <a:ext cx="10725912" cy="3621024"/>
        </p:xfrm>
        <a:graphic>
          <a:graphicData uri="http://schemas.openxmlformats.org/drawingml/2006/table">
            <a:tbl>
              <a:tblPr firstRow="0" bandRow="0"/>
              <a:tblGrid>
                <a:gridCol w="822960"/>
                <a:gridCol w="2651760"/>
                <a:gridCol w="1737360"/>
                <a:gridCol w="2926080"/>
                <a:gridCol w="2587752"/>
              </a:tblGrid>
              <a:tr h="365760">
                <a:tc>
                  <a:txBody>
                    <a:bodyPr/>
                    <a:lstStyle/>
                    <a:p>
                      <a:r>
                        <a:rPr sz="1000" b="1">
                          <a:solidFill>
                            <a:srgbClr val="FFFFFF"/>
                          </a:solidFill>
                          <a:latin typeface="Arial"/>
                        </a:rPr>
                        <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Job: dealer, account, job name</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Competitor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What won it  (loss: what decided it)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Can we do it again?  (loss: what we'd change)</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841248">
                <a:tc>
                  <a:txBody>
                    <a:bodyPr/>
                    <a:lstStyle/>
                    <a:p>
                      <a:r>
                        <a:rPr sz="1000" b="1">
                          <a:solidFill>
                            <a:srgbClr val="5B6670"/>
                          </a:solidFill>
                          <a:latin typeface="Arial"/>
                        </a:rPr>
                        <a:t>Win 1</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841248">
                <a:tc>
                  <a:txBody>
                    <a:bodyPr/>
                    <a:lstStyle/>
                    <a:p>
                      <a:r>
                        <a:rPr sz="1000" b="1">
                          <a:solidFill>
                            <a:srgbClr val="5B6670"/>
                          </a:solidFill>
                          <a:latin typeface="Arial"/>
                        </a:rPr>
                        <a:t>Win 2</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841248">
                <a:tc>
                  <a:txBody>
                    <a:bodyPr/>
                    <a:lstStyle/>
                    <a:p>
                      <a:r>
                        <a:rPr sz="1000" b="1">
                          <a:solidFill>
                            <a:srgbClr val="5B6670"/>
                          </a:solidFill>
                          <a:latin typeface="Arial"/>
                        </a:rPr>
                        <a:t>Win 3</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31520">
                <a:tc>
                  <a:txBody>
                    <a:bodyPr/>
                    <a:lstStyle/>
                    <a:p>
                      <a:r>
                        <a:rPr sz="1000" b="1">
                          <a:solidFill>
                            <a:srgbClr val="5B6670"/>
                          </a:solidFill>
                          <a:latin typeface="Arial"/>
                        </a:rPr>
                        <a:t>Loss</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6" name="TextBox 5"/>
          <p:cNvSpPr txBox="1"/>
          <p:nvPr/>
        </p:nvSpPr>
        <p:spPr>
          <a:xfrm>
            <a:off x="731520" y="5797296"/>
            <a:ext cx="10725912" cy="237744"/>
          </a:xfrm>
          <a:prstGeom prst="rect">
            <a:avLst/>
          </a:prstGeom>
          <a:noFill/>
        </p:spPr>
        <p:txBody>
          <a:bodyPr wrap="square" lIns="0" rIns="0" tIns="0" bIns="0">
            <a:noAutofit/>
          </a:bodyPr>
          <a:lstStyle/>
          <a:p>
            <a:pPr algn="l"/>
            <a:r>
              <a:rPr sz="1100" b="1" i="0">
                <a:solidFill>
                  <a:srgbClr val="3C7D4D"/>
                </a:solidFill>
                <a:latin typeface="Arial"/>
              </a:rPr>
              <a:t>For the room:  What won it, and can the rest of us do the same 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6 OF 6  ·  Q4</a:t>
            </a:r>
          </a:p>
        </p:txBody>
      </p:sp>
      <p:sp>
        <p:nvSpPr>
          <p:cNvPr id="3" name="Title 2"/>
          <p:cNvSpPr>
            <a:spLocks noGrp="1"/>
          </p:cNvSpPr>
          <p:nvPr>
            <p:ph type="title" idx="101"/>
          </p:nvPr>
        </p:nvSpPr>
        <p:spPr/>
        <p:txBody>
          <a:bodyPr/>
          <a:lstStyle/>
          <a:p>
            <a:r>
              <a:t>Q4 plan</a:t>
            </a:r>
          </a:p>
        </p:txBody>
      </p:sp>
      <p:sp>
        <p:nvSpPr>
          <p:cNvPr id="4" name="Text Placeholder 3"/>
          <p:cNvSpPr>
            <a:spLocks noGrp="1"/>
          </p:cNvSpPr>
          <p:nvPr>
            <p:ph type="body" idx="102"/>
          </p:nvPr>
        </p:nvSpPr>
        <p:spPr/>
        <p:txBody>
          <a:bodyPr/>
          <a:lstStyle/>
          <a:p>
            <a:r>
              <a:t>Three projects, one you'll grow, and one thing you'd change about how we run sales.</a:t>
            </a:r>
          </a:p>
        </p:txBody>
      </p:sp>
      <p:sp>
        <p:nvSpPr>
          <p:cNvPr id="5" name="Text Placeholder 4"/>
          <p:cNvSpPr>
            <a:spLocks noGrp="1"/>
          </p:cNvSpPr>
          <p:nvPr>
            <p:ph type="body" idx="106"/>
          </p:nvPr>
        </p:nvSpPr>
        <p:spPr/>
        <p:txBody>
          <a:bodyPr/>
          <a:lstStyle/>
          <a:p>
            <a:r>
              <a:t>Three projects I'm going after</a:t>
            </a:r>
          </a:p>
        </p:txBody>
      </p:sp>
      <p:sp>
        <p:nvSpPr>
          <p:cNvPr id="7" name="Text Placeholder 6"/>
          <p:cNvSpPr>
            <a:spLocks noGrp="1"/>
          </p:cNvSpPr>
          <p:nvPr>
            <p:ph type="body" idx="111"/>
          </p:nvPr>
        </p:nvSpPr>
        <p:spPr/>
        <p:txBody>
          <a:bodyPr/>
          <a:lstStyle/>
          <a:p>
            <a:r>
              <a:t>One dealer I'm going to grow</a:t>
            </a:r>
          </a:p>
        </p:txBody>
      </p:sp>
      <p:sp>
        <p:nvSpPr>
          <p:cNvPr id="9" name="Text Placeholder 8"/>
          <p:cNvSpPr>
            <a:spLocks noGrp="1"/>
          </p:cNvSpPr>
          <p:nvPr>
            <p:ph type="body" idx="116"/>
          </p:nvPr>
        </p:nvSpPr>
        <p:spPr/>
        <p:txBody>
          <a:bodyPr/>
          <a:lstStyle/>
          <a:p>
            <a:r>
              <a:t>One thing I'd change</a:t>
            </a:r>
          </a:p>
        </p:txBody>
      </p:sp>
      <p:sp>
        <p:nvSpPr>
          <p:cNvPr id="12" name="TextBox 11"/>
          <p:cNvSpPr txBox="1"/>
          <p:nvPr/>
        </p:nvSpPr>
        <p:spPr>
          <a:xfrm>
            <a:off x="1097280" y="3931920"/>
            <a:ext cx="2660904" cy="237744"/>
          </a:xfrm>
          <a:prstGeom prst="rect">
            <a:avLst/>
          </a:prstGeom>
          <a:noFill/>
        </p:spPr>
        <p:txBody>
          <a:bodyPr wrap="square" lIns="0" rIns="0" tIns="0" bIns="0">
            <a:noAutofit/>
          </a:bodyPr>
          <a:lstStyle/>
          <a:p>
            <a:pPr algn="l"/>
            <a:r>
              <a:rPr sz="1000" b="0" i="0">
                <a:solidFill>
                  <a:srgbClr val="5B6670"/>
                </a:solidFill>
                <a:latin typeface="Arial"/>
              </a:rPr>
              <a:t>Job, dollars, close date</a:t>
            </a:r>
          </a:p>
        </p:txBody>
      </p:sp>
      <p:sp>
        <p:nvSpPr>
          <p:cNvPr id="13" name="TextBox 12"/>
          <p:cNvSpPr txBox="1"/>
          <p:nvPr/>
        </p:nvSpPr>
        <p:spPr>
          <a:xfrm>
            <a:off x="1097280" y="4206240"/>
            <a:ext cx="2660904" cy="1316736"/>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
        <p:nvSpPr>
          <p:cNvPr id="14" name="TextBox 13"/>
          <p:cNvSpPr txBox="1"/>
          <p:nvPr/>
        </p:nvSpPr>
        <p:spPr>
          <a:xfrm>
            <a:off x="4773168" y="3931920"/>
            <a:ext cx="2660904" cy="237744"/>
          </a:xfrm>
          <a:prstGeom prst="rect">
            <a:avLst/>
          </a:prstGeom>
          <a:noFill/>
        </p:spPr>
        <p:txBody>
          <a:bodyPr wrap="square" lIns="0" rIns="0" tIns="0" bIns="0">
            <a:noAutofit/>
          </a:bodyPr>
          <a:lstStyle/>
          <a:p>
            <a:pPr algn="l"/>
            <a:r>
              <a:rPr sz="1000" b="0" i="0">
                <a:solidFill>
                  <a:srgbClr val="5B6670"/>
                </a:solidFill>
                <a:latin typeface="Arial"/>
              </a:rPr>
              <a:t>Dealer, from, to, how</a:t>
            </a:r>
          </a:p>
        </p:txBody>
      </p:sp>
      <p:sp>
        <p:nvSpPr>
          <p:cNvPr id="15" name="TextBox 14"/>
          <p:cNvSpPr txBox="1"/>
          <p:nvPr/>
        </p:nvSpPr>
        <p:spPr>
          <a:xfrm>
            <a:off x="4773168" y="4206240"/>
            <a:ext cx="2660904" cy="1316736"/>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
        <p:nvSpPr>
          <p:cNvPr id="16" name="TextBox 15"/>
          <p:cNvSpPr txBox="1"/>
          <p:nvPr/>
        </p:nvSpPr>
        <p:spPr>
          <a:xfrm>
            <a:off x="8449056" y="3931920"/>
            <a:ext cx="2660904" cy="237744"/>
          </a:xfrm>
          <a:prstGeom prst="rect">
            <a:avLst/>
          </a:prstGeom>
          <a:noFill/>
        </p:spPr>
        <p:txBody>
          <a:bodyPr wrap="square" lIns="0" rIns="0" tIns="0" bIns="0">
            <a:noAutofit/>
          </a:bodyPr>
          <a:lstStyle/>
          <a:p>
            <a:pPr algn="l"/>
            <a:r>
              <a:rPr sz="1000" b="0" i="0">
                <a:solidFill>
                  <a:srgbClr val="5B6670"/>
                </a:solidFill>
                <a:latin typeface="Arial"/>
              </a:rPr>
              <a:t>About how we run sales. What, and why.</a:t>
            </a:r>
          </a:p>
        </p:txBody>
      </p:sp>
      <p:sp>
        <p:nvSpPr>
          <p:cNvPr id="17" name="TextBox 16"/>
          <p:cNvSpPr txBox="1"/>
          <p:nvPr/>
        </p:nvSpPr>
        <p:spPr>
          <a:xfrm>
            <a:off x="8449056" y="4206240"/>
            <a:ext cx="2660904" cy="1316736"/>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Steel King Industries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Steel King Presentation System</dc:title>
  <dc:subject>PptxGenJS Presentation</dc:subject>
  <dc:creator>Steel King Industries</dc:creator>
  <cp:lastModifiedBy>Steel King Industries</cp:lastModifiedBy>
  <cp:revision>1</cp:revision>
  <dcterms:created xsi:type="dcterms:W3CDTF">2026-09-11T23:28:37Z</dcterms:created>
  <dcterms:modified xsi:type="dcterms:W3CDTF">2026-09-11T23:28:37Z</dcterms:modified>
</cp:coreProperties>
</file>