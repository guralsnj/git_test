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minutes, hard stop, then questions. Seven slides. Real dealer, account, and job names. Slides 1 and 2 are pre-filled by Nate. You bring the 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Pre-filled. Bookings by quarter this year against last year, quote count, and the company lead time that quarter. Lead times were 30-plus weeks in the first half and have been back to 5 to 10 weeks since summer. Add a couple of sentences on what the numbers don't show.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for Chad. Who the decision makers are at Walmart and what they want from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for Chad. Estimated share of Walmart rack spend by program against Unarco, Frazier, and Interlake, and the large projects in the pipe with timing.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Three wins. One on price, one on product, one on speed and support. Why we won, and whether it's repeatable.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Three losses. One on price, one on product, one on speed and support. Who won, why, and whether we'd lose it again today. On the price loss, include the competitor's number if you have it. If you don't, say unknown. On every loss, the lead time we quoted and the lead time the winner delivered. If you don't have a loss in one of the three buckets, say so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What we do well and what we don't. One of each for the company, for marketing, and for sales direction. Nate: I mean that last one. I'd rather hear it in the room than not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for Chad. Where Walmart grows in 2027.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GENDA-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TITLE_CONTENT-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TWO_CONTENT-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THREE_CARDS-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BIG_NUMBERS-image-2.jpe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image" Target="../media/CONTENT_VISUAL-image-2.jpe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FULL_VISUAL-image-2.jpe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COMPARISON-image-2.jpe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TIMELINE-image-2.jpe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image" Target="../media/KEY_MESSAGE-image-2.jpe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image" Target="../media/NEXT_STEPS-image-2.jpe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image" Target="../media/CLOSING-image-2.jpe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image" Target="../media/image-1016-2.png"/><Relationship Id="rId3" Type="http://schemas.openxmlformats.org/officeDocument/2006/relationships/image" Target="../media/COVER_MASCOT-image-3.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58368"/>
            <a:ext cx="2377440" cy="803189"/>
          </a:xfrm>
          <a:prstGeom prst="rect">
            <a:avLst/>
          </a:prstGeom>
        </p:spPr>
      </p:pic>
      <p:sp>
        <p:nvSpPr>
          <p:cNvPr id="3" name="Text 0"/>
          <p:cNvSpPr txBox="1"/>
          <p:nvPr>
            <p:ph idx="101" type="body" hasCustomPrompt="1"/>
          </p:nvPr>
        </p:nvSpPr>
        <p:spPr>
          <a:xfrm>
            <a:off x="731520" y="2212848"/>
            <a:ext cx="694944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EXECUTIVE BRIEFING</a:t>
            </a:r>
            <a:endParaRPr lang="en-US" sz="1100" dirty="0"/>
          </a:p>
        </p:txBody>
      </p:sp>
      <p:sp>
        <p:nvSpPr>
          <p:cNvPr id="4" name="Shape 0"/>
          <p:cNvSpPr/>
          <p:nvPr/>
        </p:nvSpPr>
        <p:spPr>
          <a:xfrm>
            <a:off x="731520" y="2688336"/>
            <a:ext cx="777240" cy="50292"/>
          </a:xfrm>
          <a:prstGeom prst="rect">
            <a:avLst/>
          </a:prstGeom>
          <a:solidFill>
            <a:srgbClr val="F2A900"/>
          </a:solidFill>
          <a:ln/>
        </p:spPr>
      </p:sp>
      <p:sp>
        <p:nvSpPr>
          <p:cNvPr id="5" name="Text 1"/>
          <p:cNvSpPr txBox="1"/>
          <p:nvPr>
            <p:ph idx="103" type="title" hasCustomPrompt="1"/>
          </p:nvPr>
        </p:nvSpPr>
        <p:spPr>
          <a:xfrm>
            <a:off x="731520" y="2907792"/>
            <a:ext cx="6949440" cy="1627632"/>
          </a:xfrm>
          <a:prstGeom prst="rect">
            <a:avLst/>
          </a:prstGeom>
          <a:noFill/>
          <a:ln/>
        </p:spPr>
        <p:txBody>
          <a:bodyPr wrap="square" rtlCol="0"/>
          <a:lstStyle>
            <a:lvl1pPr algn="l" indent="0" marL="0">
              <a:buNone/>
              <a:defRPr lang="en-US" sz="46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600" b="1" spc="-100" kern="0" dirty="0">
                <a:solidFill>
                  <a:srgbClr val="FFFFFF"/>
                </a:solidFill>
                <a:latin typeface="Arial" pitchFamily="34" charset="0"/>
                <a:ea typeface="Arial" pitchFamily="34" charset="-122"/>
                <a:cs typeface="Arial" pitchFamily="34" charset="-120"/>
              </a:rPr>
              <a:t>Presentation title</a:t>
            </a:r>
            <a:endParaRPr lang="en-US" sz="4600" dirty="0"/>
          </a:p>
        </p:txBody>
      </p:sp>
      <p:sp>
        <p:nvSpPr>
          <p:cNvPr id="6" name="Text 1"/>
          <p:cNvSpPr txBox="1"/>
          <p:nvPr>
            <p:ph idx="104" type="body" hasCustomPrompt="1"/>
          </p:nvPr>
        </p:nvSpPr>
        <p:spPr>
          <a:xfrm>
            <a:off x="731520" y="4663440"/>
            <a:ext cx="694944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7" name="Text 1"/>
          <p:cNvSpPr txBox="1"/>
          <p:nvPr>
            <p:ph idx="105" type="body" hasCustomPrompt="1"/>
          </p:nvPr>
        </p:nvSpPr>
        <p:spPr>
          <a:xfrm>
            <a:off x="731520" y="5998464"/>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731520" y="2212848"/>
            <a:ext cx="2926080" cy="1325880"/>
          </a:xfrm>
          <a:prstGeom prst="rect">
            <a:avLst/>
          </a:prstGeom>
          <a:noFill/>
          <a:ln/>
        </p:spPr>
        <p:txBody>
          <a:bodyPr wrap="square" rtlCol="0"/>
          <a:lstStyle>
            <a:lvl1pPr algn="l" indent="0" marL="0">
              <a:buNone/>
              <a:defRPr lang="en-US" sz="8600" b="1" spc="-200" kern="0" dirty="0">
                <a:solidFill>
                  <a:srgbClr val="A9D9BF">
                    <a:alpha val="55000"/>
                  </a:srgbClr>
                </a:solidFill>
                <a:latin typeface="Arial" pitchFamily="34" charset="0"/>
                <a:ea typeface="Arial" pitchFamily="34" charset="-122"/>
                <a:cs typeface="Arial" pitchFamily="34" charset="-120"/>
              </a:defRPr>
            </a:lvl1pPr>
          </a:lstStyle>
          <a:p>
            <a:pPr algn="l" indent="0" marL="0">
              <a:buNone/>
            </a:pPr>
            <a:r>
              <a:rPr lang="en-US" sz="8600" b="1" spc="-200" kern="0" dirty="0">
                <a:solidFill>
                  <a:srgbClr val="A9D9BF">
                    <a:alpha val="55000"/>
                  </a:srgbClr>
                </a:solidFill>
                <a:latin typeface="Arial" pitchFamily="34" charset="0"/>
                <a:ea typeface="Arial" pitchFamily="34" charset="-122"/>
                <a:cs typeface="Arial" pitchFamily="34" charset="-120"/>
              </a:rPr>
              <a:t>01</a:t>
            </a:r>
            <a:endParaRPr lang="en-US" sz="8600" dirty="0"/>
          </a:p>
        </p:txBody>
      </p:sp>
      <p:sp>
        <p:nvSpPr>
          <p:cNvPr id="4" name="Shape 0"/>
          <p:cNvSpPr/>
          <p:nvPr/>
        </p:nvSpPr>
        <p:spPr>
          <a:xfrm>
            <a:off x="731520" y="3712464"/>
            <a:ext cx="777240" cy="50292"/>
          </a:xfrm>
          <a:prstGeom prst="rect">
            <a:avLst/>
          </a:prstGeom>
          <a:solidFill>
            <a:srgbClr val="F2A900"/>
          </a:solidFill>
          <a:ln/>
        </p:spPr>
      </p:sp>
      <p:sp>
        <p:nvSpPr>
          <p:cNvPr id="5" name="Text 1"/>
          <p:cNvSpPr txBox="1"/>
          <p:nvPr>
            <p:ph idx="103" type="title" hasCustomPrompt="1"/>
          </p:nvPr>
        </p:nvSpPr>
        <p:spPr>
          <a:xfrm>
            <a:off x="731520" y="3986784"/>
            <a:ext cx="6949440" cy="841248"/>
          </a:xfrm>
          <a:prstGeom prst="rect">
            <a:avLst/>
          </a:prstGeom>
          <a:noFill/>
          <a:ln/>
        </p:spPr>
        <p:txBody>
          <a:bodyPr wrap="square" rtlCol="0"/>
          <a:lstStyle>
            <a:lvl1pPr algn="l" indent="0" marL="0">
              <a:buNone/>
              <a:defRPr lang="en-US" sz="3800" b="1" spc="-80" kern="0" dirty="0">
                <a:solidFill>
                  <a:srgbClr val="FFFFFF"/>
                </a:solidFill>
                <a:latin typeface="Arial" pitchFamily="34" charset="0"/>
                <a:ea typeface="Arial" pitchFamily="34" charset="-122"/>
                <a:cs typeface="Arial" pitchFamily="34" charset="-120"/>
              </a:defRPr>
            </a:lvl1pPr>
          </a:lstStyle>
          <a:p>
            <a:pPr algn="l" indent="0" marL="0">
              <a:buNone/>
            </a:pPr>
            <a:r>
              <a:rPr lang="en-US" sz="3800" b="1" spc="-80" kern="0" dirty="0">
                <a:solidFill>
                  <a:srgbClr val="FFFFFF"/>
                </a:solidFill>
                <a:latin typeface="Arial" pitchFamily="34" charset="0"/>
                <a:ea typeface="Arial" pitchFamily="34" charset="-122"/>
                <a:cs typeface="Arial" pitchFamily="34" charset="-120"/>
              </a:rPr>
              <a:t>Section name</a:t>
            </a:r>
            <a:endParaRPr lang="en-US" sz="3800" dirty="0"/>
          </a:p>
        </p:txBody>
      </p:sp>
      <p:sp>
        <p:nvSpPr>
          <p:cNvPr id="6" name="Text 1"/>
          <p:cNvSpPr txBox="1"/>
          <p:nvPr>
            <p:ph idx="104" type="body" hasCustomPrompt="1"/>
          </p:nvPr>
        </p:nvSpPr>
        <p:spPr>
          <a:xfrm>
            <a:off x="731520" y="4956048"/>
            <a:ext cx="6949440" cy="54864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What this section settles.</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Agenda</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cover and what we decide.</a:t>
            </a:r>
            <a:endParaRPr lang="en-US" sz="1600" dirty="0"/>
          </a:p>
        </p:txBody>
      </p:sp>
      <p:sp>
        <p:nvSpPr>
          <p:cNvPr id="5" name="Text 0"/>
          <p:cNvSpPr txBox="1"/>
          <p:nvPr/>
        </p:nvSpPr>
        <p:spPr>
          <a:xfrm>
            <a:off x="731520" y="2167128"/>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01</a:t>
            </a:r>
            <a:endParaRPr lang="en-US" sz="2000" dirty="0"/>
          </a:p>
        </p:txBody>
      </p:sp>
      <p:sp>
        <p:nvSpPr>
          <p:cNvPr id="6" name="Text 1"/>
          <p:cNvSpPr txBox="1"/>
          <p:nvPr>
            <p:ph idx="104" type="body" hasCustomPrompt="1"/>
          </p:nvPr>
        </p:nvSpPr>
        <p:spPr>
          <a:xfrm>
            <a:off x="1508760" y="2167128"/>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7" name="Text 1"/>
          <p:cNvSpPr txBox="1"/>
          <p:nvPr>
            <p:ph idx="105" type="body" hasCustomPrompt="1"/>
          </p:nvPr>
        </p:nvSpPr>
        <p:spPr>
          <a:xfrm>
            <a:off x="8869680" y="2167128"/>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8" name="Shape 1"/>
          <p:cNvSpPr/>
          <p:nvPr/>
        </p:nvSpPr>
        <p:spPr>
          <a:xfrm>
            <a:off x="731520" y="2770632"/>
            <a:ext cx="10728655" cy="0"/>
          </a:xfrm>
          <a:prstGeom prst="line">
            <a:avLst/>
          </a:prstGeom>
          <a:noFill/>
          <a:ln w="12700">
            <a:solidFill>
              <a:srgbClr val="E2E6E3"/>
            </a:solidFill>
            <a:prstDash val="solid"/>
          </a:ln>
        </p:spPr>
      </p:sp>
      <p:sp>
        <p:nvSpPr>
          <p:cNvPr id="9" name="Text 2"/>
          <p:cNvSpPr txBox="1"/>
          <p:nvPr/>
        </p:nvSpPr>
        <p:spPr>
          <a:xfrm>
            <a:off x="731520" y="2916936"/>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02</a:t>
            </a:r>
            <a:endParaRPr lang="en-US" sz="2000" dirty="0"/>
          </a:p>
        </p:txBody>
      </p:sp>
      <p:sp>
        <p:nvSpPr>
          <p:cNvPr id="10" name="Text 3"/>
          <p:cNvSpPr txBox="1"/>
          <p:nvPr>
            <p:ph idx="108" type="body" hasCustomPrompt="1"/>
          </p:nvPr>
        </p:nvSpPr>
        <p:spPr>
          <a:xfrm>
            <a:off x="1508760" y="2916936"/>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1" name="Text 3"/>
          <p:cNvSpPr txBox="1"/>
          <p:nvPr>
            <p:ph idx="109" type="body" hasCustomPrompt="1"/>
          </p:nvPr>
        </p:nvSpPr>
        <p:spPr>
          <a:xfrm>
            <a:off x="8869680" y="2916936"/>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2" name="Shape 3"/>
          <p:cNvSpPr/>
          <p:nvPr/>
        </p:nvSpPr>
        <p:spPr>
          <a:xfrm>
            <a:off x="731520" y="3520440"/>
            <a:ext cx="10728655" cy="0"/>
          </a:xfrm>
          <a:prstGeom prst="line">
            <a:avLst/>
          </a:prstGeom>
          <a:noFill/>
          <a:ln w="12700">
            <a:solidFill>
              <a:srgbClr val="E2E6E3"/>
            </a:solidFill>
            <a:prstDash val="solid"/>
          </a:ln>
        </p:spPr>
      </p:sp>
      <p:sp>
        <p:nvSpPr>
          <p:cNvPr id="13" name="Text 4"/>
          <p:cNvSpPr txBox="1"/>
          <p:nvPr/>
        </p:nvSpPr>
        <p:spPr>
          <a:xfrm>
            <a:off x="731520" y="3666744"/>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03</a:t>
            </a:r>
            <a:endParaRPr lang="en-US" sz="2000" dirty="0"/>
          </a:p>
        </p:txBody>
      </p:sp>
      <p:sp>
        <p:nvSpPr>
          <p:cNvPr id="14" name="Text 5"/>
          <p:cNvSpPr txBox="1"/>
          <p:nvPr>
            <p:ph idx="112" type="body" hasCustomPrompt="1"/>
          </p:nvPr>
        </p:nvSpPr>
        <p:spPr>
          <a:xfrm>
            <a:off x="1508760" y="3666744"/>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5" name="Text 5"/>
          <p:cNvSpPr txBox="1"/>
          <p:nvPr>
            <p:ph idx="113" type="body" hasCustomPrompt="1"/>
          </p:nvPr>
        </p:nvSpPr>
        <p:spPr>
          <a:xfrm>
            <a:off x="8869680" y="3666744"/>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6" name="Shape 5"/>
          <p:cNvSpPr/>
          <p:nvPr/>
        </p:nvSpPr>
        <p:spPr>
          <a:xfrm>
            <a:off x="731520" y="4270248"/>
            <a:ext cx="10728655" cy="0"/>
          </a:xfrm>
          <a:prstGeom prst="line">
            <a:avLst/>
          </a:prstGeom>
          <a:noFill/>
          <a:ln w="12700">
            <a:solidFill>
              <a:srgbClr val="E2E6E3"/>
            </a:solidFill>
            <a:prstDash val="solid"/>
          </a:ln>
        </p:spPr>
      </p:sp>
      <p:sp>
        <p:nvSpPr>
          <p:cNvPr id="17" name="Text 6"/>
          <p:cNvSpPr txBox="1"/>
          <p:nvPr/>
        </p:nvSpPr>
        <p:spPr>
          <a:xfrm>
            <a:off x="731520" y="4416552"/>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04</a:t>
            </a:r>
            <a:endParaRPr lang="en-US" sz="2000" dirty="0"/>
          </a:p>
        </p:txBody>
      </p:sp>
      <p:sp>
        <p:nvSpPr>
          <p:cNvPr id="18" name="Text 7"/>
          <p:cNvSpPr txBox="1"/>
          <p:nvPr>
            <p:ph idx="116" type="body" hasCustomPrompt="1"/>
          </p:nvPr>
        </p:nvSpPr>
        <p:spPr>
          <a:xfrm>
            <a:off x="1508760" y="4416552"/>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9" name="Text 7"/>
          <p:cNvSpPr txBox="1"/>
          <p:nvPr>
            <p:ph idx="117" type="body" hasCustomPrompt="1"/>
          </p:nvPr>
        </p:nvSpPr>
        <p:spPr>
          <a:xfrm>
            <a:off x="8869680" y="4416552"/>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0" name="Shape 7"/>
          <p:cNvSpPr/>
          <p:nvPr/>
        </p:nvSpPr>
        <p:spPr>
          <a:xfrm>
            <a:off x="731520" y="5020056"/>
            <a:ext cx="10728655" cy="0"/>
          </a:xfrm>
          <a:prstGeom prst="line">
            <a:avLst/>
          </a:prstGeom>
          <a:noFill/>
          <a:ln w="12700">
            <a:solidFill>
              <a:srgbClr val="E2E6E3"/>
            </a:solidFill>
            <a:prstDash val="solid"/>
          </a:ln>
        </p:spPr>
      </p:sp>
      <p:sp>
        <p:nvSpPr>
          <p:cNvPr id="21" name="Text 8"/>
          <p:cNvSpPr txBox="1"/>
          <p:nvPr/>
        </p:nvSpPr>
        <p:spPr>
          <a:xfrm>
            <a:off x="731520" y="5166360"/>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05</a:t>
            </a:r>
            <a:endParaRPr lang="en-US" sz="2000" dirty="0"/>
          </a:p>
        </p:txBody>
      </p:sp>
      <p:sp>
        <p:nvSpPr>
          <p:cNvPr id="22" name="Text 9"/>
          <p:cNvSpPr txBox="1"/>
          <p:nvPr>
            <p:ph idx="120" type="body" hasCustomPrompt="1"/>
          </p:nvPr>
        </p:nvSpPr>
        <p:spPr>
          <a:xfrm>
            <a:off x="1508760" y="5166360"/>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23" name="Text 9"/>
          <p:cNvSpPr txBox="1"/>
          <p:nvPr>
            <p:ph idx="121" type="body" hasCustomPrompt="1"/>
          </p:nvPr>
        </p:nvSpPr>
        <p:spPr>
          <a:xfrm>
            <a:off x="8869680" y="5166360"/>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4" name="Shape 9"/>
          <p:cNvSpPr/>
          <p:nvPr/>
        </p:nvSpPr>
        <p:spPr>
          <a:xfrm>
            <a:off x="731520" y="5769864"/>
            <a:ext cx="10728655" cy="0"/>
          </a:xfrm>
          <a:prstGeom prst="line">
            <a:avLst/>
          </a:prstGeom>
          <a:noFill/>
          <a:ln w="12700">
            <a:solidFill>
              <a:srgbClr val="E2E6E3"/>
            </a:solidFill>
            <a:prstDash val="solid"/>
          </a:ln>
        </p:spPr>
      </p:sp>
      <p:pic>
        <p:nvPicPr>
          <p:cNvPr id="2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10728655" cy="3913632"/>
          </a:xfrm>
          <a:prstGeom prst="rect">
            <a:avLst/>
          </a:prstGeom>
          <a:noFill/>
          <a:ln/>
        </p:spPr>
        <p:txBody>
          <a:bodyPr wrap="square" rtlCol="0"/>
          <a:lstStyle>
            <a:lvl1pPr algn="l" indent="0" marL="0">
              <a:buNone/>
              <a:defRPr lang="en-US" sz="1600" dirty="0">
                <a:solidFill>
                  <a:srgbClr val="15181A"/>
                </a:solidFill>
                <a:latin typeface="Arial" pitchFamily="34" charset="0"/>
                <a:ea typeface="Arial" pitchFamily="34" charset="-122"/>
                <a:cs typeface="Arial" pitchFamily="34" charset="-120"/>
              </a:defRPr>
            </a:lvl1pPr>
          </a:lstStyle>
          <a:p>
            <a:pPr algn="l" indent="0" marL="0">
              <a:buNone/>
            </a:pPr>
            <a:r>
              <a:rPr lang="en-US" sz="1600" dirty="0">
                <a:solidFill>
                  <a:srgbClr val="15181A"/>
                </a:solidFill>
                <a:latin typeface="Arial" pitchFamily="34" charset="0"/>
                <a:ea typeface="Arial" pitchFamily="34" charset="-122"/>
                <a:cs typeface="Arial" pitchFamily="34" charset="-120"/>
              </a:rPr>
              <a:t>Supporting content</a:t>
            </a:r>
            <a:endParaRPr lang="en-US" sz="1600"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512064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LEFT HEADING</a:t>
            </a:r>
            <a:endParaRPr lang="en-US" sz="1100" dirty="0"/>
          </a:p>
        </p:txBody>
      </p:sp>
      <p:sp>
        <p:nvSpPr>
          <p:cNvPr id="6" name="Shape 0"/>
          <p:cNvSpPr/>
          <p:nvPr/>
        </p:nvSpPr>
        <p:spPr>
          <a:xfrm>
            <a:off x="731520" y="2505456"/>
            <a:ext cx="5120640" cy="0"/>
          </a:xfrm>
          <a:prstGeom prst="line">
            <a:avLst/>
          </a:prstGeom>
          <a:noFill/>
          <a:ln w="12700">
            <a:solidFill>
              <a:srgbClr val="E2E6E3"/>
            </a:solidFill>
            <a:prstDash val="solid"/>
          </a:ln>
        </p:spPr>
      </p:sp>
      <p:sp>
        <p:nvSpPr>
          <p:cNvPr id="7" name="Text 1"/>
          <p:cNvSpPr txBox="1"/>
          <p:nvPr>
            <p:ph idx="105" type="body" hasCustomPrompt="1"/>
          </p:nvPr>
        </p:nvSpPr>
        <p:spPr>
          <a:xfrm>
            <a:off x="731520" y="2651760"/>
            <a:ext cx="512064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Left content</a:t>
            </a:r>
            <a:endParaRPr lang="en-US" sz="1500" dirty="0"/>
          </a:p>
        </p:txBody>
      </p:sp>
      <p:sp>
        <p:nvSpPr>
          <p:cNvPr id="8" name="Text 1"/>
          <p:cNvSpPr txBox="1"/>
          <p:nvPr>
            <p:ph idx="106" type="body" hasCustomPrompt="1"/>
          </p:nvPr>
        </p:nvSpPr>
        <p:spPr>
          <a:xfrm>
            <a:off x="6519672" y="2121408"/>
            <a:ext cx="493776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RIGHT HEADING</a:t>
            </a:r>
            <a:endParaRPr lang="en-US" sz="1100" dirty="0"/>
          </a:p>
        </p:txBody>
      </p:sp>
      <p:sp>
        <p:nvSpPr>
          <p:cNvPr id="9" name="Shape 1"/>
          <p:cNvSpPr/>
          <p:nvPr/>
        </p:nvSpPr>
        <p:spPr>
          <a:xfrm>
            <a:off x="6519672" y="2505456"/>
            <a:ext cx="4937760" cy="0"/>
          </a:xfrm>
          <a:prstGeom prst="line">
            <a:avLst/>
          </a:prstGeom>
          <a:noFill/>
          <a:ln w="12700">
            <a:solidFill>
              <a:srgbClr val="E2E6E3"/>
            </a:solidFill>
            <a:prstDash val="solid"/>
          </a:ln>
        </p:spPr>
      </p:sp>
      <p:sp>
        <p:nvSpPr>
          <p:cNvPr id="10" name="Text 2"/>
          <p:cNvSpPr txBox="1"/>
          <p:nvPr>
            <p:ph idx="108" type="body" hasCustomPrompt="1"/>
          </p:nvPr>
        </p:nvSpPr>
        <p:spPr>
          <a:xfrm>
            <a:off x="6519672" y="2651760"/>
            <a:ext cx="493776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Right content</a:t>
            </a:r>
            <a:endParaRPr lang="en-US" sz="1500" dirty="0"/>
          </a:p>
        </p:txBody>
      </p:sp>
      <p:sp>
        <p:nvSpPr>
          <p:cNvPr id="11" name="Text 2"/>
          <p:cNvSpPr txBox="1"/>
          <p:nvPr>
            <p:ph idx="109"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2"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_CARD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3584448"/>
          </a:xfrm>
          <a:prstGeom prst="rect">
            <a:avLst/>
          </a:prstGeom>
          <a:solidFill>
            <a:srgbClr val="F2F5F2"/>
          </a:solidFill>
          <a:ln/>
        </p:spPr>
      </p:sp>
      <p:sp>
        <p:nvSpPr>
          <p:cNvPr id="6" name="Text 1"/>
          <p:cNvSpPr txBox="1"/>
          <p:nvPr/>
        </p:nvSpPr>
        <p:spPr>
          <a:xfrm>
            <a:off x="1097280"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01</a:t>
            </a:r>
            <a:endParaRPr lang="en-US" sz="2400" dirty="0"/>
          </a:p>
        </p:txBody>
      </p:sp>
      <p:sp>
        <p:nvSpPr>
          <p:cNvPr id="7" name="Shape 2"/>
          <p:cNvSpPr/>
          <p:nvPr/>
        </p:nvSpPr>
        <p:spPr>
          <a:xfrm>
            <a:off x="1097280" y="3017520"/>
            <a:ext cx="548640" cy="41148"/>
          </a:xfrm>
          <a:prstGeom prst="rect">
            <a:avLst/>
          </a:prstGeom>
          <a:solidFill>
            <a:srgbClr val="F2A900"/>
          </a:solidFill>
          <a:ln/>
        </p:spPr>
      </p:sp>
      <p:sp>
        <p:nvSpPr>
          <p:cNvPr id="8" name="Text 3"/>
          <p:cNvSpPr txBox="1"/>
          <p:nvPr>
            <p:ph idx="106" type="body" hasCustomPrompt="1"/>
          </p:nvPr>
        </p:nvSpPr>
        <p:spPr>
          <a:xfrm>
            <a:off x="1097280"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9" name="Text 3"/>
          <p:cNvSpPr txBox="1"/>
          <p:nvPr>
            <p:ph idx="107" type="body" hasCustomPrompt="1"/>
          </p:nvPr>
        </p:nvSpPr>
        <p:spPr>
          <a:xfrm>
            <a:off x="1097280"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0" name="Shape 3"/>
          <p:cNvSpPr/>
          <p:nvPr/>
        </p:nvSpPr>
        <p:spPr>
          <a:xfrm>
            <a:off x="4407408" y="2121408"/>
            <a:ext cx="3392424" cy="3584448"/>
          </a:xfrm>
          <a:prstGeom prst="rect">
            <a:avLst/>
          </a:prstGeom>
          <a:solidFill>
            <a:srgbClr val="F2F5F2"/>
          </a:solidFill>
          <a:ln/>
        </p:spPr>
      </p:sp>
      <p:sp>
        <p:nvSpPr>
          <p:cNvPr id="11" name="Text 4"/>
          <p:cNvSpPr txBox="1"/>
          <p:nvPr/>
        </p:nvSpPr>
        <p:spPr>
          <a:xfrm>
            <a:off x="4773168"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02</a:t>
            </a:r>
            <a:endParaRPr lang="en-US" sz="2400" dirty="0"/>
          </a:p>
        </p:txBody>
      </p:sp>
      <p:sp>
        <p:nvSpPr>
          <p:cNvPr id="12" name="Shape 5"/>
          <p:cNvSpPr/>
          <p:nvPr/>
        </p:nvSpPr>
        <p:spPr>
          <a:xfrm>
            <a:off x="4773168" y="3017520"/>
            <a:ext cx="548640" cy="41148"/>
          </a:xfrm>
          <a:prstGeom prst="rect">
            <a:avLst/>
          </a:prstGeom>
          <a:solidFill>
            <a:srgbClr val="F2A900"/>
          </a:solidFill>
          <a:ln/>
        </p:spPr>
      </p:sp>
      <p:sp>
        <p:nvSpPr>
          <p:cNvPr id="13" name="Text 6"/>
          <p:cNvSpPr txBox="1"/>
          <p:nvPr>
            <p:ph idx="111" type="body" hasCustomPrompt="1"/>
          </p:nvPr>
        </p:nvSpPr>
        <p:spPr>
          <a:xfrm>
            <a:off x="4773168"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4" name="Text 6"/>
          <p:cNvSpPr txBox="1"/>
          <p:nvPr>
            <p:ph idx="112" type="body" hasCustomPrompt="1"/>
          </p:nvPr>
        </p:nvSpPr>
        <p:spPr>
          <a:xfrm>
            <a:off x="4773168"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5" name="Shape 6"/>
          <p:cNvSpPr/>
          <p:nvPr/>
        </p:nvSpPr>
        <p:spPr>
          <a:xfrm>
            <a:off x="8083296" y="2121408"/>
            <a:ext cx="3392424" cy="3584448"/>
          </a:xfrm>
          <a:prstGeom prst="rect">
            <a:avLst/>
          </a:prstGeom>
          <a:solidFill>
            <a:srgbClr val="F2F5F2"/>
          </a:solidFill>
          <a:ln/>
        </p:spPr>
      </p:sp>
      <p:sp>
        <p:nvSpPr>
          <p:cNvPr id="16" name="Text 7"/>
          <p:cNvSpPr txBox="1"/>
          <p:nvPr/>
        </p:nvSpPr>
        <p:spPr>
          <a:xfrm>
            <a:off x="8449056"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03</a:t>
            </a:r>
            <a:endParaRPr lang="en-US" sz="2400" dirty="0"/>
          </a:p>
        </p:txBody>
      </p:sp>
      <p:sp>
        <p:nvSpPr>
          <p:cNvPr id="17" name="Shape 8"/>
          <p:cNvSpPr/>
          <p:nvPr/>
        </p:nvSpPr>
        <p:spPr>
          <a:xfrm>
            <a:off x="8449056" y="3017520"/>
            <a:ext cx="548640" cy="41148"/>
          </a:xfrm>
          <a:prstGeom prst="rect">
            <a:avLst/>
          </a:prstGeom>
          <a:solidFill>
            <a:srgbClr val="F2A900"/>
          </a:solidFill>
          <a:ln/>
        </p:spPr>
      </p:sp>
      <p:sp>
        <p:nvSpPr>
          <p:cNvPr id="18" name="Text 9"/>
          <p:cNvSpPr txBox="1"/>
          <p:nvPr>
            <p:ph idx="116" type="body" hasCustomPrompt="1"/>
          </p:nvPr>
        </p:nvSpPr>
        <p:spPr>
          <a:xfrm>
            <a:off x="8449056"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9" name="Text 9"/>
          <p:cNvSpPr txBox="1"/>
          <p:nvPr>
            <p:ph idx="117" type="body" hasCustomPrompt="1"/>
          </p:nvPr>
        </p:nvSpPr>
        <p:spPr>
          <a:xfrm>
            <a:off x="8449056"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20" name="Text 9"/>
          <p:cNvSpPr txBox="1"/>
          <p:nvPr>
            <p:ph idx="118"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1"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IG_NUMBER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0"/>
          </a:xfrm>
          <a:prstGeom prst="line">
            <a:avLst/>
          </a:prstGeom>
          <a:noFill/>
          <a:ln w="31750">
            <a:solidFill>
              <a:srgbClr val="3C7D4D"/>
            </a:solidFill>
            <a:prstDash val="solid"/>
          </a:ln>
        </p:spPr>
      </p:sp>
      <p:sp>
        <p:nvSpPr>
          <p:cNvPr id="6" name="Text 1"/>
          <p:cNvSpPr txBox="1"/>
          <p:nvPr>
            <p:ph idx="104" type="body" hasCustomPrompt="1"/>
          </p:nvPr>
        </p:nvSpPr>
        <p:spPr>
          <a:xfrm>
            <a:off x="731520"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7" name="Text 1"/>
          <p:cNvSpPr txBox="1"/>
          <p:nvPr>
            <p:ph idx="105" type="body" hasCustomPrompt="1"/>
          </p:nvPr>
        </p:nvSpPr>
        <p:spPr>
          <a:xfrm>
            <a:off x="731520"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8" name="Text 1"/>
          <p:cNvSpPr txBox="1"/>
          <p:nvPr>
            <p:ph idx="106" type="body" hasCustomPrompt="1"/>
          </p:nvPr>
        </p:nvSpPr>
        <p:spPr>
          <a:xfrm>
            <a:off x="731520"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9" name="Shape 1"/>
          <p:cNvSpPr/>
          <p:nvPr/>
        </p:nvSpPr>
        <p:spPr>
          <a:xfrm>
            <a:off x="4407408" y="2121408"/>
            <a:ext cx="3392424" cy="0"/>
          </a:xfrm>
          <a:prstGeom prst="line">
            <a:avLst/>
          </a:prstGeom>
          <a:noFill/>
          <a:ln w="31750">
            <a:solidFill>
              <a:srgbClr val="3C7D4D"/>
            </a:solidFill>
            <a:prstDash val="solid"/>
          </a:ln>
        </p:spPr>
      </p:sp>
      <p:sp>
        <p:nvSpPr>
          <p:cNvPr id="10" name="Text 2"/>
          <p:cNvSpPr txBox="1"/>
          <p:nvPr>
            <p:ph idx="108" type="body" hasCustomPrompt="1"/>
          </p:nvPr>
        </p:nvSpPr>
        <p:spPr>
          <a:xfrm>
            <a:off x="4407408"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1" name="Text 2"/>
          <p:cNvSpPr txBox="1"/>
          <p:nvPr>
            <p:ph idx="109" type="body" hasCustomPrompt="1"/>
          </p:nvPr>
        </p:nvSpPr>
        <p:spPr>
          <a:xfrm>
            <a:off x="4407408"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2" name="Text 2"/>
          <p:cNvSpPr txBox="1"/>
          <p:nvPr>
            <p:ph idx="110" type="body" hasCustomPrompt="1"/>
          </p:nvPr>
        </p:nvSpPr>
        <p:spPr>
          <a:xfrm>
            <a:off x="4407408"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3" name="Shape 2"/>
          <p:cNvSpPr/>
          <p:nvPr/>
        </p:nvSpPr>
        <p:spPr>
          <a:xfrm>
            <a:off x="8083296" y="2121408"/>
            <a:ext cx="3392424" cy="0"/>
          </a:xfrm>
          <a:prstGeom prst="line">
            <a:avLst/>
          </a:prstGeom>
          <a:noFill/>
          <a:ln w="31750">
            <a:solidFill>
              <a:srgbClr val="3C7D4D"/>
            </a:solidFill>
            <a:prstDash val="solid"/>
          </a:ln>
        </p:spPr>
      </p:sp>
      <p:sp>
        <p:nvSpPr>
          <p:cNvPr id="14" name="Text 3"/>
          <p:cNvSpPr txBox="1"/>
          <p:nvPr>
            <p:ph idx="112" type="body" hasCustomPrompt="1"/>
          </p:nvPr>
        </p:nvSpPr>
        <p:spPr>
          <a:xfrm>
            <a:off x="8083296"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5" name="Text 3"/>
          <p:cNvSpPr txBox="1"/>
          <p:nvPr>
            <p:ph idx="113" type="body" hasCustomPrompt="1"/>
          </p:nvPr>
        </p:nvSpPr>
        <p:spPr>
          <a:xfrm>
            <a:off x="8083296"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6" name="Text 3"/>
          <p:cNvSpPr txBox="1"/>
          <p:nvPr>
            <p:ph idx="114" type="body" hasCustomPrompt="1"/>
          </p:nvPr>
        </p:nvSpPr>
        <p:spPr>
          <a:xfrm>
            <a:off x="8083296"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7" name="Text 3"/>
          <p:cNvSpPr txBox="1"/>
          <p:nvPr>
            <p:ph idx="115" type="body" hasCustomPrompt="1"/>
          </p:nvPr>
        </p:nvSpPr>
        <p:spPr>
          <a:xfrm>
            <a:off x="731520" y="5138928"/>
            <a:ext cx="10728655" cy="8686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So what, and what we do about it.</a:t>
            </a:r>
            <a:endParaRPr lang="en-US" sz="1500" dirty="0"/>
          </a:p>
        </p:txBody>
      </p:sp>
      <p:sp>
        <p:nvSpPr>
          <p:cNvPr id="18" name="Text 3"/>
          <p:cNvSpPr txBox="1"/>
          <p:nvPr>
            <p:ph idx="116"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9"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_VISUAL">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4572000" cy="3913632"/>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Supporting points</a:t>
            </a:r>
            <a:endParaRPr lang="en-US" sz="1500" dirty="0"/>
          </a:p>
        </p:txBody>
      </p:sp>
      <p:sp>
        <p:nvSpPr>
          <p:cNvPr id="6" name="Text 0"/>
          <p:cNvSpPr/>
          <p:nvPr>
            <p:ph idx="104" hasCustomPrompt="1"/>
          </p:nvPr>
        </p:nvSpPr>
        <p:spPr>
          <a:xfrm>
            <a:off x="5943600" y="2121408"/>
            <a:ext cx="5513832"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7" name="Text 0"/>
          <p:cNvSpPr txBox="1"/>
          <p:nvPr>
            <p:ph idx="105"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8"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LL_VISUAL">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p:nvPr>
            <p:ph idx="103"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5230368" cy="475488"/>
          </a:xfrm>
          <a:prstGeom prst="rect">
            <a:avLst/>
          </a:prstGeom>
          <a:solidFill>
            <a:srgbClr val="3C7D4D"/>
          </a:solidFill>
          <a:ln/>
        </p:spPr>
      </p:sp>
      <p:sp>
        <p:nvSpPr>
          <p:cNvPr id="6" name="Text 1"/>
          <p:cNvSpPr txBox="1"/>
          <p:nvPr>
            <p:ph idx="104" type="body" hasCustomPrompt="1"/>
          </p:nvPr>
        </p:nvSpPr>
        <p:spPr>
          <a:xfrm>
            <a:off x="987552"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A</a:t>
            </a:r>
            <a:endParaRPr lang="en-US" sz="1300" dirty="0"/>
          </a:p>
        </p:txBody>
      </p:sp>
      <p:sp>
        <p:nvSpPr>
          <p:cNvPr id="7" name="Shape 1"/>
          <p:cNvSpPr/>
          <p:nvPr/>
        </p:nvSpPr>
        <p:spPr>
          <a:xfrm>
            <a:off x="731520" y="2596896"/>
            <a:ext cx="5230368" cy="2980944"/>
          </a:xfrm>
          <a:prstGeom prst="rect">
            <a:avLst/>
          </a:prstGeom>
          <a:solidFill>
            <a:srgbClr val="F2F5F2"/>
          </a:solidFill>
          <a:ln/>
        </p:spPr>
      </p:sp>
      <p:sp>
        <p:nvSpPr>
          <p:cNvPr id="8" name="Text 2"/>
          <p:cNvSpPr txBox="1"/>
          <p:nvPr>
            <p:ph idx="106" type="body" hasCustomPrompt="1"/>
          </p:nvPr>
        </p:nvSpPr>
        <p:spPr>
          <a:xfrm>
            <a:off x="987552"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9" name="Shape 2"/>
          <p:cNvSpPr/>
          <p:nvPr/>
        </p:nvSpPr>
        <p:spPr>
          <a:xfrm>
            <a:off x="6227064" y="2121408"/>
            <a:ext cx="5230368" cy="475488"/>
          </a:xfrm>
          <a:prstGeom prst="rect">
            <a:avLst/>
          </a:prstGeom>
          <a:solidFill>
            <a:srgbClr val="5B6670"/>
          </a:solidFill>
          <a:ln/>
        </p:spPr>
      </p:sp>
      <p:sp>
        <p:nvSpPr>
          <p:cNvPr id="10" name="Text 3"/>
          <p:cNvSpPr txBox="1"/>
          <p:nvPr>
            <p:ph idx="108" type="body" hasCustomPrompt="1"/>
          </p:nvPr>
        </p:nvSpPr>
        <p:spPr>
          <a:xfrm>
            <a:off x="6483096"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B</a:t>
            </a:r>
            <a:endParaRPr lang="en-US" sz="1300" dirty="0"/>
          </a:p>
        </p:txBody>
      </p:sp>
      <p:sp>
        <p:nvSpPr>
          <p:cNvPr id="11" name="Shape 3"/>
          <p:cNvSpPr/>
          <p:nvPr/>
        </p:nvSpPr>
        <p:spPr>
          <a:xfrm>
            <a:off x="6227064" y="2596896"/>
            <a:ext cx="5230368" cy="2980944"/>
          </a:xfrm>
          <a:prstGeom prst="rect">
            <a:avLst/>
          </a:prstGeom>
          <a:solidFill>
            <a:srgbClr val="F2F5F2"/>
          </a:solidFill>
          <a:ln/>
        </p:spPr>
      </p:sp>
      <p:sp>
        <p:nvSpPr>
          <p:cNvPr id="12" name="Text 4"/>
          <p:cNvSpPr txBox="1"/>
          <p:nvPr>
            <p:ph idx="110" type="body" hasCustomPrompt="1"/>
          </p:nvPr>
        </p:nvSpPr>
        <p:spPr>
          <a:xfrm>
            <a:off x="6483096"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13" name="Text 4"/>
          <p:cNvSpPr txBox="1"/>
          <p:nvPr>
            <p:ph idx="111" type="body" hasCustomPrompt="1"/>
          </p:nvPr>
        </p:nvSpPr>
        <p:spPr>
          <a:xfrm>
            <a:off x="731520" y="5742432"/>
            <a:ext cx="10728655" cy="384048"/>
          </a:xfrm>
          <a:prstGeom prst="rect">
            <a:avLst/>
          </a:prstGeom>
          <a:noFill/>
          <a:ln/>
        </p:spPr>
        <p:txBody>
          <a:bodyPr wrap="square" rtlCol="0"/>
          <a:lstStyle>
            <a:lvl1pPr algn="l" indent="0" marL="0">
              <a:buNone/>
              <a:defRPr lang="en-US" sz="1500" b="1" dirty="0">
                <a:solidFill>
                  <a:srgbClr val="3C7D4D"/>
                </a:solidFill>
                <a:latin typeface="Arial" pitchFamily="34" charset="0"/>
                <a:ea typeface="Arial" pitchFamily="34" charset="-122"/>
                <a:cs typeface="Arial" pitchFamily="34" charset="-120"/>
              </a:defRPr>
            </a:lvl1pPr>
          </a:lstStyle>
          <a:p>
            <a:pPr algn="l" indent="0" marL="0">
              <a:buNone/>
            </a:pPr>
            <a:r>
              <a:rPr lang="en-US" sz="1500" b="1" dirty="0">
                <a:solidFill>
                  <a:srgbClr val="3C7D4D"/>
                </a:solidFill>
                <a:latin typeface="Arial" pitchFamily="34" charset="0"/>
                <a:ea typeface="Arial" pitchFamily="34" charset="-122"/>
                <a:cs typeface="Arial" pitchFamily="34" charset="-120"/>
              </a:rPr>
              <a:t>Recommendation: </a:t>
            </a:r>
            <a:endParaRPr lang="en-US" sz="1500" dirty="0"/>
          </a:p>
        </p:txBody>
      </p:sp>
      <p:sp>
        <p:nvSpPr>
          <p:cNvPr id="14" name="Text 4"/>
          <p:cNvSpPr txBox="1"/>
          <p:nvPr>
            <p:ph idx="112"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MELINE">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1005840" y="2706624"/>
            <a:ext cx="10180015" cy="0"/>
          </a:xfrm>
          <a:prstGeom prst="line">
            <a:avLst/>
          </a:prstGeom>
          <a:noFill/>
          <a:ln w="25400">
            <a:solidFill>
              <a:srgbClr val="E2E6E3"/>
            </a:solidFill>
            <a:prstDash val="solid"/>
          </a:ln>
        </p:spPr>
      </p:sp>
      <p:sp>
        <p:nvSpPr>
          <p:cNvPr id="6" name="Shape 1"/>
          <p:cNvSpPr/>
          <p:nvPr/>
        </p:nvSpPr>
        <p:spPr>
          <a:xfrm>
            <a:off x="749808" y="2450592"/>
            <a:ext cx="512064" cy="512064"/>
          </a:xfrm>
          <a:prstGeom prst="rect">
            <a:avLst/>
          </a:prstGeom>
          <a:solidFill>
            <a:srgbClr val="3C7D4D"/>
          </a:solidFill>
          <a:ln/>
        </p:spPr>
      </p:sp>
      <p:sp>
        <p:nvSpPr>
          <p:cNvPr id="7" name="Text 2"/>
          <p:cNvSpPr txBox="1"/>
          <p:nvPr/>
        </p:nvSpPr>
        <p:spPr>
          <a:xfrm>
            <a:off x="749808"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3"/>
          <p:cNvSpPr txBox="1"/>
          <p:nvPr>
            <p:ph idx="106" type="body" hasCustomPrompt="1"/>
          </p:nvPr>
        </p:nvSpPr>
        <p:spPr>
          <a:xfrm>
            <a:off x="731520"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9" name="Text 3"/>
          <p:cNvSpPr txBox="1"/>
          <p:nvPr>
            <p:ph idx="107" type="body" hasCustomPrompt="1"/>
          </p:nvPr>
        </p:nvSpPr>
        <p:spPr>
          <a:xfrm>
            <a:off x="731520"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0" name="Text 3"/>
          <p:cNvSpPr txBox="1"/>
          <p:nvPr>
            <p:ph idx="108" type="body" hasCustomPrompt="1"/>
          </p:nvPr>
        </p:nvSpPr>
        <p:spPr>
          <a:xfrm>
            <a:off x="731520"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1" name="Shape 3"/>
          <p:cNvSpPr/>
          <p:nvPr/>
        </p:nvSpPr>
        <p:spPr>
          <a:xfrm>
            <a:off x="3639312" y="2450592"/>
            <a:ext cx="512064" cy="512064"/>
          </a:xfrm>
          <a:prstGeom prst="rect">
            <a:avLst/>
          </a:prstGeom>
          <a:solidFill>
            <a:srgbClr val="3C7D4D"/>
          </a:solidFill>
          <a:ln/>
        </p:spPr>
      </p:sp>
      <p:sp>
        <p:nvSpPr>
          <p:cNvPr id="12" name="Text 4"/>
          <p:cNvSpPr txBox="1"/>
          <p:nvPr/>
        </p:nvSpPr>
        <p:spPr>
          <a:xfrm>
            <a:off x="3639312"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5"/>
          <p:cNvSpPr txBox="1"/>
          <p:nvPr>
            <p:ph idx="111" type="body" hasCustomPrompt="1"/>
          </p:nvPr>
        </p:nvSpPr>
        <p:spPr>
          <a:xfrm>
            <a:off x="3621024"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4" name="Text 5"/>
          <p:cNvSpPr txBox="1"/>
          <p:nvPr>
            <p:ph idx="112" type="body" hasCustomPrompt="1"/>
          </p:nvPr>
        </p:nvSpPr>
        <p:spPr>
          <a:xfrm>
            <a:off x="3621024"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5" name="Text 5"/>
          <p:cNvSpPr txBox="1"/>
          <p:nvPr>
            <p:ph idx="113" type="body" hasCustomPrompt="1"/>
          </p:nvPr>
        </p:nvSpPr>
        <p:spPr>
          <a:xfrm>
            <a:off x="3621024"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6" name="Shape 5"/>
          <p:cNvSpPr/>
          <p:nvPr/>
        </p:nvSpPr>
        <p:spPr>
          <a:xfrm>
            <a:off x="6528816" y="2450592"/>
            <a:ext cx="512064" cy="512064"/>
          </a:xfrm>
          <a:prstGeom prst="rect">
            <a:avLst/>
          </a:prstGeom>
          <a:solidFill>
            <a:srgbClr val="3C7D4D"/>
          </a:solidFill>
          <a:ln/>
        </p:spPr>
      </p:sp>
      <p:sp>
        <p:nvSpPr>
          <p:cNvPr id="17" name="Text 6"/>
          <p:cNvSpPr txBox="1"/>
          <p:nvPr/>
        </p:nvSpPr>
        <p:spPr>
          <a:xfrm>
            <a:off x="6528816"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7"/>
          <p:cNvSpPr txBox="1"/>
          <p:nvPr>
            <p:ph idx="116" type="body" hasCustomPrompt="1"/>
          </p:nvPr>
        </p:nvSpPr>
        <p:spPr>
          <a:xfrm>
            <a:off x="6510528"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9" name="Text 7"/>
          <p:cNvSpPr txBox="1"/>
          <p:nvPr>
            <p:ph idx="117" type="body" hasCustomPrompt="1"/>
          </p:nvPr>
        </p:nvSpPr>
        <p:spPr>
          <a:xfrm>
            <a:off x="6510528"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0" name="Text 7"/>
          <p:cNvSpPr txBox="1"/>
          <p:nvPr>
            <p:ph idx="118" type="body" hasCustomPrompt="1"/>
          </p:nvPr>
        </p:nvSpPr>
        <p:spPr>
          <a:xfrm>
            <a:off x="6510528"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1" name="Shape 7"/>
          <p:cNvSpPr/>
          <p:nvPr/>
        </p:nvSpPr>
        <p:spPr>
          <a:xfrm>
            <a:off x="9418320" y="2450592"/>
            <a:ext cx="512064" cy="512064"/>
          </a:xfrm>
          <a:prstGeom prst="rect">
            <a:avLst/>
          </a:prstGeom>
          <a:solidFill>
            <a:srgbClr val="3C7D4D"/>
          </a:solidFill>
          <a:ln/>
        </p:spPr>
      </p:sp>
      <p:sp>
        <p:nvSpPr>
          <p:cNvPr id="22" name="Text 8"/>
          <p:cNvSpPr txBox="1"/>
          <p:nvPr/>
        </p:nvSpPr>
        <p:spPr>
          <a:xfrm>
            <a:off x="9418320"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9"/>
          <p:cNvSpPr txBox="1"/>
          <p:nvPr>
            <p:ph idx="121" type="body" hasCustomPrompt="1"/>
          </p:nvPr>
        </p:nvSpPr>
        <p:spPr>
          <a:xfrm>
            <a:off x="9400032"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24" name="Text 9"/>
          <p:cNvSpPr txBox="1"/>
          <p:nvPr>
            <p:ph idx="122" type="body" hasCustomPrompt="1"/>
          </p:nvPr>
        </p:nvSpPr>
        <p:spPr>
          <a:xfrm>
            <a:off x="9400032"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5" name="Text 9"/>
          <p:cNvSpPr txBox="1"/>
          <p:nvPr>
            <p:ph idx="123" type="body" hasCustomPrompt="1"/>
          </p:nvPr>
        </p:nvSpPr>
        <p:spPr>
          <a:xfrm>
            <a:off x="9400032"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6" name="Text 9"/>
          <p:cNvSpPr txBox="1"/>
          <p:nvPr>
            <p:ph idx="12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EY_MESS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1051560" y="2139696"/>
            <a:ext cx="822960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THE POINT</a:t>
            </a:r>
            <a:endParaRPr lang="en-US" sz="1100" dirty="0"/>
          </a:p>
        </p:txBody>
      </p:sp>
      <p:sp>
        <p:nvSpPr>
          <p:cNvPr id="4" name="Shape 0"/>
          <p:cNvSpPr/>
          <p:nvPr/>
        </p:nvSpPr>
        <p:spPr>
          <a:xfrm>
            <a:off x="1051560" y="2615184"/>
            <a:ext cx="777240" cy="50292"/>
          </a:xfrm>
          <a:prstGeom prst="rect">
            <a:avLst/>
          </a:prstGeom>
          <a:solidFill>
            <a:srgbClr val="F2A900"/>
          </a:solidFill>
          <a:ln/>
        </p:spPr>
      </p:sp>
      <p:sp>
        <p:nvSpPr>
          <p:cNvPr id="5" name="Text 1"/>
          <p:cNvSpPr txBox="1"/>
          <p:nvPr>
            <p:ph idx="103" type="title" hasCustomPrompt="1"/>
          </p:nvPr>
        </p:nvSpPr>
        <p:spPr>
          <a:xfrm>
            <a:off x="1051560" y="2944368"/>
            <a:ext cx="9966960" cy="1691640"/>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One sentence that carries the whole argument.</a:t>
            </a:r>
            <a:endParaRPr lang="en-US" sz="3600" dirty="0"/>
          </a:p>
        </p:txBody>
      </p:sp>
      <p:sp>
        <p:nvSpPr>
          <p:cNvPr id="6" name="Text 1"/>
          <p:cNvSpPr txBox="1"/>
          <p:nvPr>
            <p:ph idx="104" type="body" hasCustomPrompt="1"/>
          </p:nvPr>
        </p:nvSpPr>
        <p:spPr>
          <a:xfrm>
            <a:off x="1051560" y="4809744"/>
            <a:ext cx="8595360" cy="7315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Short support, or the ask.</a:t>
            </a:r>
            <a:endParaRPr lang="en-US" sz="15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EXT_STEP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Next steps</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need decided today.</a:t>
            </a:r>
            <a:endParaRPr lang="en-US" sz="1600" dirty="0"/>
          </a:p>
        </p:txBody>
      </p:sp>
      <p:sp>
        <p:nvSpPr>
          <p:cNvPr id="5" name="Text 0"/>
          <p:cNvSpPr/>
          <p:nvPr>
            <p:ph idx="103" type="body"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94944"/>
            <a:ext cx="2377440" cy="803189"/>
          </a:xfrm>
          <a:prstGeom prst="rect">
            <a:avLst/>
          </a:prstGeom>
        </p:spPr>
      </p:pic>
      <p:sp>
        <p:nvSpPr>
          <p:cNvPr id="3" name="Shape 0"/>
          <p:cNvSpPr/>
          <p:nvPr/>
        </p:nvSpPr>
        <p:spPr>
          <a:xfrm>
            <a:off x="731520" y="3054096"/>
            <a:ext cx="777240" cy="50292"/>
          </a:xfrm>
          <a:prstGeom prst="rect">
            <a:avLst/>
          </a:prstGeom>
          <a:solidFill>
            <a:srgbClr val="F2A900"/>
          </a:solidFill>
          <a:ln/>
        </p:spPr>
      </p:sp>
      <p:sp>
        <p:nvSpPr>
          <p:cNvPr id="4" name="Text 1"/>
          <p:cNvSpPr txBox="1"/>
          <p:nvPr>
            <p:ph idx="102" type="title" hasCustomPrompt="1"/>
          </p:nvPr>
        </p:nvSpPr>
        <p:spPr>
          <a:xfrm>
            <a:off x="731520" y="3364992"/>
            <a:ext cx="6949440" cy="896112"/>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What we decided</a:t>
            </a:r>
            <a:endParaRPr lang="en-US" sz="3600" dirty="0"/>
          </a:p>
        </p:txBody>
      </p:sp>
      <p:sp>
        <p:nvSpPr>
          <p:cNvPr id="5" name="Text 1"/>
          <p:cNvSpPr txBox="1"/>
          <p:nvPr>
            <p:ph idx="103" type="body" hasCustomPrompt="1"/>
          </p:nvPr>
        </p:nvSpPr>
        <p:spPr>
          <a:xfrm>
            <a:off x="731520" y="4334256"/>
            <a:ext cx="6949440" cy="11887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Decision, owner, and date.</a:t>
            </a:r>
            <a:endParaRPr lang="en-US" sz="1500" dirty="0"/>
          </a:p>
        </p:txBody>
      </p:sp>
      <p:sp>
        <p:nvSpPr>
          <p:cNvPr id="6" name="Text 1"/>
          <p:cNvSpPr txBox="1"/>
          <p:nvPr>
            <p:ph idx="104" type="body" hasCustomPrompt="1"/>
          </p:nvPr>
        </p:nvSpPr>
        <p:spPr>
          <a:xfrm>
            <a:off x="731520" y="5961888"/>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Name  |  Title  |  email@steelking.com</a:t>
            </a:r>
            <a:endParaRPr lang="en-US" sz="115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_MASCO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brand/logo_knight.png">    </p:cNvPr>
          <p:cNvPicPr>
            <a:picLocks noChangeAspect="1"/>
          </p:cNvPicPr>
          <p:nvPr/>
        </p:nvPicPr>
        <p:blipFill>
          <a:blip r:embed="rId1"/>
          <a:stretch>
            <a:fillRect/>
          </a:stretch>
        </p:blipFill>
        <p:spPr>
          <a:xfrm>
            <a:off x="7863840" y="1481328"/>
            <a:ext cx="3658880" cy="5212080"/>
          </a:xfrm>
          <a:prstGeom prst="rect">
            <a:avLst/>
          </a:prstGeom>
        </p:spPr>
      </p:pic>
      <p:pic>
        <p:nvPicPr>
          <p:cNvPr id="3" name="Image 1" descr="brand/logo_h_rev.png">    </p:cNvPr>
          <p:cNvPicPr>
            <a:picLocks noChangeAspect="1"/>
          </p:cNvPicPr>
          <p:nvPr/>
        </p:nvPicPr>
        <p:blipFill>
          <a:blip r:embed="rId2"/>
          <a:stretch>
            <a:fillRect/>
          </a:stretch>
        </p:blipFill>
        <p:spPr>
          <a:xfrm>
            <a:off x="731520" y="658368"/>
            <a:ext cx="2377440" cy="803189"/>
          </a:xfrm>
          <a:prstGeom prst="rect">
            <a:avLst/>
          </a:prstGeom>
        </p:spPr>
      </p:pic>
      <p:sp>
        <p:nvSpPr>
          <p:cNvPr id="4" name="Text 0"/>
          <p:cNvSpPr txBox="1"/>
          <p:nvPr>
            <p:ph idx="102" type="body" hasCustomPrompt="1"/>
          </p:nvPr>
        </p:nvSpPr>
        <p:spPr>
          <a:xfrm>
            <a:off x="731520" y="2395728"/>
            <a:ext cx="658368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DEALER MEETING</a:t>
            </a:r>
            <a:endParaRPr lang="en-US" sz="1100" dirty="0"/>
          </a:p>
        </p:txBody>
      </p:sp>
      <p:sp>
        <p:nvSpPr>
          <p:cNvPr id="5" name="Shape 0"/>
          <p:cNvSpPr/>
          <p:nvPr/>
        </p:nvSpPr>
        <p:spPr>
          <a:xfrm>
            <a:off x="731520" y="2871216"/>
            <a:ext cx="777240" cy="50292"/>
          </a:xfrm>
          <a:prstGeom prst="rect">
            <a:avLst/>
          </a:prstGeom>
          <a:solidFill>
            <a:srgbClr val="F2A900"/>
          </a:solidFill>
          <a:ln/>
        </p:spPr>
      </p:sp>
      <p:sp>
        <p:nvSpPr>
          <p:cNvPr id="6" name="Text 1"/>
          <p:cNvSpPr txBox="1"/>
          <p:nvPr>
            <p:ph idx="104" type="title" hasCustomPrompt="1"/>
          </p:nvPr>
        </p:nvSpPr>
        <p:spPr>
          <a:xfrm>
            <a:off x="731520" y="3200400"/>
            <a:ext cx="6583680" cy="1627632"/>
          </a:xfrm>
          <a:prstGeom prst="rect">
            <a:avLst/>
          </a:prstGeom>
          <a:noFill/>
          <a:ln/>
        </p:spPr>
        <p:txBody>
          <a:bodyPr wrap="square" rtlCol="0"/>
          <a:lstStyle>
            <a:lvl1pPr algn="l" indent="0" marL="0">
              <a:buNone/>
              <a:defRPr lang="en-US" sz="44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400" b="1" spc="-100" kern="0" dirty="0">
                <a:solidFill>
                  <a:srgbClr val="FFFFFF"/>
                </a:solidFill>
                <a:latin typeface="Arial" pitchFamily="34" charset="0"/>
                <a:ea typeface="Arial" pitchFamily="34" charset="-122"/>
                <a:cs typeface="Arial" pitchFamily="34" charset="-120"/>
              </a:rPr>
              <a:t>Presentation title</a:t>
            </a:r>
            <a:endParaRPr lang="en-US" sz="4400" dirty="0"/>
          </a:p>
        </p:txBody>
      </p:sp>
      <p:sp>
        <p:nvSpPr>
          <p:cNvPr id="7" name="Text 1"/>
          <p:cNvSpPr txBox="1"/>
          <p:nvPr>
            <p:ph idx="105" type="body" hasCustomPrompt="1"/>
          </p:nvPr>
        </p:nvSpPr>
        <p:spPr>
          <a:xfrm>
            <a:off x="731520" y="4956048"/>
            <a:ext cx="658368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8" name="Text 1"/>
          <p:cNvSpPr txBox="1"/>
          <p:nvPr>
            <p:ph idx="106" type="body" hasCustomPrompt="1"/>
          </p:nvPr>
        </p:nvSpPr>
        <p:spPr>
          <a:xfrm>
            <a:off x="731520" y="5998464"/>
            <a:ext cx="658368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SALES MEETING  ·  TERRITORY REVIEW</a:t>
            </a:r>
          </a:p>
        </p:txBody>
      </p:sp>
      <p:sp>
        <p:nvSpPr>
          <p:cNvPr id="3" name="Title 2"/>
          <p:cNvSpPr>
            <a:spLocks noGrp="1"/>
          </p:cNvSpPr>
          <p:nvPr>
            <p:ph type="title" idx="104"/>
          </p:nvPr>
        </p:nvSpPr>
        <p:spPr/>
        <p:txBody>
          <a:bodyPr/>
          <a:lstStyle/>
          <a:p>
            <a:r>
              <a:t>Walmart</a:t>
            </a:r>
          </a:p>
        </p:txBody>
      </p:sp>
      <p:sp>
        <p:nvSpPr>
          <p:cNvPr id="4" name="Text Placeholder 3"/>
          <p:cNvSpPr>
            <a:spLocks noGrp="1"/>
          </p:cNvSpPr>
          <p:nvPr>
            <p:ph type="body" idx="105"/>
          </p:nvPr>
        </p:nvSpPr>
        <p:spPr/>
        <p:txBody>
          <a:bodyPr/>
          <a:lstStyle/>
          <a:p>
            <a:r>
              <a:t>The account the way I see it. Who matters, where we win, where we lose, where it grows.</a:t>
            </a:r>
          </a:p>
        </p:txBody>
      </p:sp>
      <p:sp>
        <p:nvSpPr>
          <p:cNvPr id="5" name="Text Placeholder 4"/>
          <p:cNvSpPr>
            <a:spLocks noGrp="1"/>
          </p:cNvSpPr>
          <p:nvPr>
            <p:ph type="body" idx="106"/>
          </p:nvPr>
        </p:nvSpPr>
        <p:spPr/>
        <p:txBody>
          <a:bodyPr/>
          <a:lstStyle/>
          <a:p>
            <a:r>
              <a:t>Chad  |  Sales Meeting  |  [Month]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1 OF 7  ·  BY THE NUMBERS</a:t>
            </a:r>
          </a:p>
        </p:txBody>
      </p:sp>
      <p:sp>
        <p:nvSpPr>
          <p:cNvPr id="3" name="Title 2"/>
          <p:cNvSpPr>
            <a:spLocks noGrp="1"/>
          </p:cNvSpPr>
          <p:nvPr>
            <p:ph type="title" idx="101"/>
          </p:nvPr>
        </p:nvSpPr>
        <p:spPr/>
        <p:txBody>
          <a:bodyPr/>
          <a:lstStyle/>
          <a:p>
            <a:r>
              <a:t>Walmart in numbers</a:t>
            </a:r>
          </a:p>
        </p:txBody>
      </p:sp>
      <p:sp>
        <p:nvSpPr>
          <p:cNvPr id="4" name="Text Placeholder 3"/>
          <p:cNvSpPr>
            <a:spLocks noGrp="1"/>
          </p:cNvSpPr>
          <p:nvPr>
            <p:ph type="body" idx="102"/>
          </p:nvPr>
        </p:nvSpPr>
        <p:spPr/>
        <p:txBody>
          <a:bodyPr/>
          <a:lstStyle/>
          <a:p>
            <a:r>
              <a:t>[One line on what the numbers say. The story starts here.]</a:t>
            </a:r>
          </a:p>
        </p:txBody>
      </p:sp>
      <p:sp>
        <p:nvSpPr>
          <p:cNvPr id="6" name="Text Placeholder 5"/>
          <p:cNvSpPr>
            <a:spLocks noGrp="1"/>
          </p:cNvSpPr>
          <p:nvPr>
            <p:ph type="body" idx="104"/>
          </p:nvPr>
        </p:nvSpPr>
        <p:spPr/>
        <p:txBody>
          <a:bodyPr/>
          <a:lstStyle/>
          <a:p>
            <a:r>
              <a:t>Source: [system], pulled [date]. Quote count, not quote dollars. Lead time is the quoted lead time from the plant that quarter.</a:t>
            </a:r>
          </a:p>
        </p:txBody>
      </p:sp>
      <p:sp>
        <p:nvSpPr>
          <p:cNvPr id="7" name="TextBox 6"/>
          <p:cNvSpPr txBox="1"/>
          <p:nvPr/>
        </p:nvSpPr>
        <p:spPr>
          <a:xfrm>
            <a:off x="731520" y="2121408"/>
            <a:ext cx="10725912" cy="237744"/>
          </a:xfrm>
          <a:prstGeom prst="rect">
            <a:avLst/>
          </a:prstGeom>
          <a:noFill/>
        </p:spPr>
        <p:txBody>
          <a:bodyPr wrap="square" anchor="t" lIns="0" rIns="0" tIns="0" bIns="0">
            <a:noAutofit/>
          </a:bodyPr>
          <a:lstStyle/>
          <a:p>
            <a:r>
              <a:rPr sz="1100" b="1">
                <a:solidFill>
                  <a:srgbClr val="3C7D4D"/>
                </a:solidFill>
                <a:latin typeface="Arial"/>
              </a:rPr>
              <a:t>BOOKINGS BY QUARTER, WITH THE COMPANY LEAD TIME THAT QUARTER  ·  PRE-FILLED</a:t>
            </a:r>
          </a:p>
        </p:txBody>
      </p:sp>
      <p:graphicFrame>
        <p:nvGraphicFramePr>
          <p:cNvPr id="8" name="Table 7"/>
          <p:cNvGraphicFramePr>
            <a:graphicFrameLocks noGrp="1"/>
          </p:cNvGraphicFramePr>
          <p:nvPr/>
        </p:nvGraphicFramePr>
        <p:xfrm>
          <a:off x="731520" y="2377440"/>
          <a:ext cx="10725912" cy="1600200"/>
        </p:xfrm>
        <a:graphic>
          <a:graphicData uri="http://schemas.openxmlformats.org/drawingml/2006/table">
            <a:tbl>
              <a:tblPr firstRow="0" bandRow="0"/>
              <a:tblGrid>
                <a:gridCol w="1463040"/>
                <a:gridCol w="1828800"/>
                <a:gridCol w="1828800"/>
                <a:gridCol w="1463040"/>
                <a:gridCol w="1828800"/>
                <a:gridCol w="2313432"/>
              </a:tblGrid>
              <a:tr h="274320">
                <a:tc>
                  <a:txBody>
                    <a:bodyPr/>
                    <a:lstStyle/>
                    <a:p>
                      <a:r>
                        <a:rPr sz="1000" b="1">
                          <a:solidFill>
                            <a:srgbClr val="FFFFFF"/>
                          </a:solidFill>
                          <a:latin typeface="Arial"/>
                        </a:rPr>
                        <a:t>Quarter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Bookings 2025</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Bookings 2026</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Change</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Quotes 2026 (count)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Company lead time (wks)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65176">
                <a:tc>
                  <a:txBody>
                    <a:bodyPr/>
                    <a:lstStyle/>
                    <a:p>
                      <a:r>
                        <a:rPr sz="1000" b="1">
                          <a:solidFill>
                            <a:srgbClr val="15181A"/>
                          </a:solidFill>
                          <a:latin typeface="Arial"/>
                        </a:rPr>
                        <a:t>Q1</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Q2</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Q3</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Q4 to date</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YTD</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9" name="TextBox 8"/>
          <p:cNvSpPr txBox="1"/>
          <p:nvPr/>
        </p:nvSpPr>
        <p:spPr>
          <a:xfrm>
            <a:off x="731520" y="4407408"/>
            <a:ext cx="10725912" cy="237744"/>
          </a:xfrm>
          <a:prstGeom prst="rect">
            <a:avLst/>
          </a:prstGeom>
          <a:noFill/>
        </p:spPr>
        <p:txBody>
          <a:bodyPr wrap="square" anchor="t" lIns="0" rIns="0" tIns="0" bIns="0">
            <a:noAutofit/>
          </a:bodyPr>
          <a:lstStyle/>
          <a:p>
            <a:r>
              <a:rPr sz="1100" b="1">
                <a:solidFill>
                  <a:srgbClr val="3C7D4D"/>
                </a:solidFill>
                <a:latin typeface="Arial"/>
              </a:rPr>
              <a:t>WHAT THE NUMBERS DON'T SHOW  ·  YOU FILL THIS IN</a:t>
            </a:r>
          </a:p>
        </p:txBody>
      </p:sp>
      <p:sp>
        <p:nvSpPr>
          <p:cNvPr id="10" name="TextBox 9"/>
          <p:cNvSpPr txBox="1"/>
          <p:nvPr/>
        </p:nvSpPr>
        <p:spPr>
          <a:xfrm>
            <a:off x="731520" y="4663440"/>
            <a:ext cx="10725912" cy="1371600"/>
          </a:xfrm>
          <a:prstGeom prst="rect">
            <a:avLst/>
          </a:prstGeom>
          <a:solidFill>
            <a:srgbClr val="F2F5F2"/>
          </a:solidFill>
        </p:spPr>
        <p:txBody>
          <a:bodyPr wrap="square" anchor="t" tIns="54864" bIns="54864">
            <a:noAutofit/>
          </a:bodyPr>
          <a:lstStyle/>
          <a:p>
            <a:r>
              <a:rPr sz="1200" b="0">
                <a:solidFill>
                  <a:srgbClr val="5B6670"/>
                </a:solidFill>
                <a:latin typeface="Arial"/>
              </a:rPr>
              <a:t>[Two or three sentences. What happened in the territory that bookings don't capture. If bookings didn't come back when lead time did, say why. If they did, say what you did to get them 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2 OF 7  ·  WALMART</a:t>
            </a:r>
          </a:p>
        </p:txBody>
      </p:sp>
      <p:sp>
        <p:nvSpPr>
          <p:cNvPr id="3" name="Title 2"/>
          <p:cNvSpPr>
            <a:spLocks noGrp="1"/>
          </p:cNvSpPr>
          <p:nvPr>
            <p:ph type="title" idx="101"/>
          </p:nvPr>
        </p:nvSpPr>
        <p:spPr/>
        <p:txBody>
          <a:bodyPr/>
          <a:lstStyle/>
          <a:p>
            <a:r>
              <a:t>The Walmart relationship</a:t>
            </a:r>
          </a:p>
        </p:txBody>
      </p:sp>
      <p:sp>
        <p:nvSpPr>
          <p:cNvPr id="4" name="Text Placeholder 3"/>
          <p:cNvSpPr>
            <a:spLocks noGrp="1"/>
          </p:cNvSpPr>
          <p:nvPr>
            <p:ph type="body" idx="102"/>
          </p:nvPr>
        </p:nvSpPr>
        <p:spPr/>
        <p:txBody>
          <a:bodyPr/>
          <a:lstStyle/>
          <a:p>
            <a:r>
              <a:t>[One line. Where the relationship stands today and what it turns on.]</a:t>
            </a:r>
          </a:p>
        </p:txBody>
      </p:sp>
      <p:graphicFrame>
        <p:nvGraphicFramePr>
          <p:cNvPr id="5" name="Table 4"/>
          <p:cNvGraphicFramePr>
            <a:graphicFrameLocks noGrp="1"/>
          </p:cNvGraphicFramePr>
          <p:nvPr/>
        </p:nvGraphicFramePr>
        <p:xfrm>
          <a:off x="731520" y="2121408"/>
          <a:ext cx="10725912" cy="3913630"/>
        </p:xfrm>
        <a:graphic>
          <a:graphicData uri="http://schemas.openxmlformats.org/drawingml/2006/table">
            <a:tbl>
              <a:tblPr firstRow="0" bandRow="0"/>
              <a:tblGrid>
                <a:gridCol w="2194560"/>
                <a:gridCol w="2377440"/>
                <a:gridCol w="3593592"/>
                <a:gridCol w="2560320"/>
              </a:tblGrid>
              <a:tr h="365760">
                <a:tc>
                  <a:txBody>
                    <a:bodyPr/>
                    <a:lstStyle/>
                    <a:p>
                      <a:r>
                        <a:rPr sz="1100" b="1">
                          <a:solidFill>
                            <a:srgbClr val="FFFFFF"/>
                          </a:solidFill>
                          <a:latin typeface="Arial"/>
                        </a:rPr>
                        <a:t>Decision maker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Role, what they own</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they want from us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Where we stand with them</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709574">
                <a:tc>
                  <a:txBody>
                    <a:bodyPr/>
                    <a:lstStyle/>
                    <a:p>
                      <a:r>
                        <a:rPr sz="1100" b="1">
                          <a:solidFill>
                            <a:srgbClr val="15181A"/>
                          </a:solidFill>
                          <a:latin typeface="Arial"/>
                        </a:rPr>
                        <a:t>1.  [Name]</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2.  [Name]</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3.  [Name]</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4.  [Name]</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5.  [Name]</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3 OF 7  ·  SHARE OF WALLET</a:t>
            </a:r>
          </a:p>
        </p:txBody>
      </p:sp>
      <p:sp>
        <p:nvSpPr>
          <p:cNvPr id="3" name="Title 2"/>
          <p:cNvSpPr>
            <a:spLocks noGrp="1"/>
          </p:cNvSpPr>
          <p:nvPr>
            <p:ph type="title" idx="101"/>
          </p:nvPr>
        </p:nvSpPr>
        <p:spPr/>
        <p:txBody>
          <a:bodyPr/>
          <a:lstStyle/>
          <a:p>
            <a:r>
              <a:t>Where Walmart's rack dollars go</a:t>
            </a:r>
          </a:p>
        </p:txBody>
      </p:sp>
      <p:sp>
        <p:nvSpPr>
          <p:cNvPr id="4" name="Text Placeholder 3"/>
          <p:cNvSpPr>
            <a:spLocks noGrp="1"/>
          </p:cNvSpPr>
          <p:nvPr>
            <p:ph type="body" idx="102"/>
          </p:nvPr>
        </p:nvSpPr>
        <p:spPr/>
        <p:txBody>
          <a:bodyPr/>
          <a:lstStyle/>
          <a:p>
            <a:r>
              <a:t>[One line. Our share, who has the rest, and why.]</a:t>
            </a:r>
          </a:p>
        </p:txBody>
      </p:sp>
      <p:sp>
        <p:nvSpPr>
          <p:cNvPr id="6" name="Text Placeholder 5"/>
          <p:cNvSpPr>
            <a:spLocks noGrp="1"/>
          </p:cNvSpPr>
          <p:nvPr>
            <p:ph type="body" idx="104"/>
          </p:nvPr>
        </p:nvSpPr>
        <p:spPr/>
        <p:txBody>
          <a:bodyPr/>
          <a:lstStyle/>
          <a:p>
            <a:r>
              <a:t>Source: share figures are Chad's estimate unless noted.</a:t>
            </a:r>
          </a:p>
        </p:txBody>
      </p:sp>
      <p:sp>
        <p:nvSpPr>
          <p:cNvPr id="7" name="TextBox 6"/>
          <p:cNvSpPr txBox="1"/>
          <p:nvPr/>
        </p:nvSpPr>
        <p:spPr>
          <a:xfrm>
            <a:off x="731520" y="2121408"/>
            <a:ext cx="10725912" cy="237744"/>
          </a:xfrm>
          <a:prstGeom prst="rect">
            <a:avLst/>
          </a:prstGeom>
          <a:noFill/>
        </p:spPr>
        <p:txBody>
          <a:bodyPr wrap="square" anchor="t" lIns="0" rIns="0" tIns="0" bIns="0">
            <a:noAutofit/>
          </a:bodyPr>
          <a:lstStyle/>
          <a:p>
            <a:r>
              <a:rPr sz="1100" b="1">
                <a:solidFill>
                  <a:srgbClr val="3C7D4D"/>
                </a:solidFill>
                <a:latin typeface="Arial"/>
              </a:rPr>
              <a:t>SHARE OF WALMART RACK SPEND BY PROGRAM  ·  YOUR ESTIMATE, SAY SO</a:t>
            </a:r>
          </a:p>
        </p:txBody>
      </p:sp>
      <p:graphicFrame>
        <p:nvGraphicFramePr>
          <p:cNvPr id="8" name="Table 7"/>
          <p:cNvGraphicFramePr>
            <a:graphicFrameLocks noGrp="1"/>
          </p:cNvGraphicFramePr>
          <p:nvPr/>
        </p:nvGraphicFramePr>
        <p:xfrm>
          <a:off x="731520" y="2377440"/>
          <a:ext cx="10725912" cy="1335024"/>
        </p:xfrm>
        <a:graphic>
          <a:graphicData uri="http://schemas.openxmlformats.org/drawingml/2006/table">
            <a:tbl>
              <a:tblPr firstRow="0" bandRow="0"/>
              <a:tblGrid>
                <a:gridCol w="2496312"/>
                <a:gridCol w="1371600"/>
                <a:gridCol w="1371600"/>
                <a:gridCol w="1371600"/>
                <a:gridCol w="1371600"/>
                <a:gridCol w="2743200"/>
              </a:tblGrid>
              <a:tr h="274320">
                <a:tc>
                  <a:txBody>
                    <a:bodyPr/>
                    <a:lstStyle/>
                    <a:p>
                      <a:r>
                        <a:rPr sz="1000" b="1">
                          <a:solidFill>
                            <a:srgbClr val="FFFFFF"/>
                          </a:solidFill>
                          <a:latin typeface="Arial"/>
                        </a:rPr>
                        <a:t>Program or format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Steel King</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Unarco</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Frazier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Interlake / other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Why they get it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65176">
                <a:tc>
                  <a:txBody>
                    <a:bodyPr/>
                    <a:lstStyle/>
                    <a:p>
                      <a:r>
                        <a:rPr sz="1000" b="1">
                          <a:solidFill>
                            <a:srgbClr val="15181A"/>
                          </a:solidFill>
                          <a:latin typeface="Arial"/>
                        </a:rPr>
                        <a:t>Ambient RDC</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E-comm / fulfillment</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Import centers</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[Other]</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9" name="TextBox 8"/>
          <p:cNvSpPr txBox="1"/>
          <p:nvPr/>
        </p:nvSpPr>
        <p:spPr>
          <a:xfrm>
            <a:off x="731520" y="4041648"/>
            <a:ext cx="10725912" cy="237744"/>
          </a:xfrm>
          <a:prstGeom prst="rect">
            <a:avLst/>
          </a:prstGeom>
          <a:noFill/>
        </p:spPr>
        <p:txBody>
          <a:bodyPr wrap="square" anchor="t" lIns="0" rIns="0" tIns="0" bIns="0">
            <a:noAutofit/>
          </a:bodyPr>
          <a:lstStyle/>
          <a:p>
            <a:r>
              <a:rPr sz="1100" b="1">
                <a:solidFill>
                  <a:srgbClr val="3C7D4D"/>
                </a:solidFill>
                <a:latin typeface="Arial"/>
              </a:rPr>
              <a:t>LARGE PROJECTS IN THE PIPE  ·  ADD ROWS AS NEEDED</a:t>
            </a:r>
          </a:p>
        </p:txBody>
      </p:sp>
      <p:graphicFrame>
        <p:nvGraphicFramePr>
          <p:cNvPr id="10" name="Table 9"/>
          <p:cNvGraphicFramePr>
            <a:graphicFrameLocks noGrp="1"/>
          </p:cNvGraphicFramePr>
          <p:nvPr/>
        </p:nvGraphicFramePr>
        <p:xfrm>
          <a:off x="731520" y="4297680"/>
          <a:ext cx="10725912" cy="1069848"/>
        </p:xfrm>
        <a:graphic>
          <a:graphicData uri="http://schemas.openxmlformats.org/drawingml/2006/table">
            <a:tbl>
              <a:tblPr firstRow="0" bandRow="0"/>
              <a:tblGrid>
                <a:gridCol w="2926080"/>
                <a:gridCol w="1828800"/>
                <a:gridCol w="1371600"/>
                <a:gridCol w="1645920"/>
                <a:gridCol w="2953512"/>
              </a:tblGrid>
              <a:tr h="274320">
                <a:tc>
                  <a:txBody>
                    <a:bodyPr/>
                    <a:lstStyle/>
                    <a:p>
                      <a:r>
                        <a:rPr sz="1000" b="1">
                          <a:solidFill>
                            <a:srgbClr val="FFFFFF"/>
                          </a:solidFill>
                          <a:latin typeface="Arial"/>
                        </a:rPr>
                        <a:t>Project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Type</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Timing</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Where it stands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65176">
                <a:tc>
                  <a:txBody>
                    <a:bodyPr/>
                    <a:lstStyle/>
                    <a:p>
                      <a:r>
                        <a:rPr sz="1000" b="1">
                          <a:solidFill>
                            <a:srgbClr val="15181A"/>
                          </a:solidFill>
                          <a:latin typeface="Arial"/>
                        </a:rPr>
                        <a:t>1.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2.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3.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4 OF 7  ·  WINS</a:t>
            </a:r>
          </a:p>
        </p:txBody>
      </p:sp>
      <p:sp>
        <p:nvSpPr>
          <p:cNvPr id="3" name="Title 2"/>
          <p:cNvSpPr>
            <a:spLocks noGrp="1"/>
          </p:cNvSpPr>
          <p:nvPr>
            <p:ph type="title" idx="101"/>
          </p:nvPr>
        </p:nvSpPr>
        <p:spPr/>
        <p:txBody>
          <a:bodyPr/>
          <a:lstStyle/>
          <a:p>
            <a:r>
              <a:t>Three wins</a:t>
            </a:r>
          </a:p>
        </p:txBody>
      </p:sp>
      <p:sp>
        <p:nvSpPr>
          <p:cNvPr id="4" name="Text Placeholder 3"/>
          <p:cNvSpPr>
            <a:spLocks noGrp="1"/>
          </p:cNvSpPr>
          <p:nvPr>
            <p:ph type="body" idx="102"/>
          </p:nvPr>
        </p:nvSpPr>
        <p:spPr/>
        <p:txBody>
          <a:bodyPr/>
          <a:lstStyle/>
          <a:p>
            <a:r>
              <a:t>[One line. The pattern across the three, or the one we should be copying.]</a:t>
            </a:r>
          </a:p>
        </p:txBody>
      </p:sp>
      <p:sp>
        <p:nvSpPr>
          <p:cNvPr id="5" name="Text Placeholder 4"/>
          <p:cNvSpPr>
            <a:spLocks noGrp="1"/>
          </p:cNvSpPr>
          <p:nvPr>
            <p:ph type="body" idx="106"/>
          </p:nvPr>
        </p:nvSpPr>
        <p:spPr/>
        <p:txBody>
          <a:bodyPr/>
          <a:lstStyle/>
          <a:p>
            <a:r>
              <a:t>Price</a:t>
            </a:r>
          </a:p>
        </p:txBody>
      </p:sp>
      <p:sp>
        <p:nvSpPr>
          <p:cNvPr id="6" name="Text Placeholder 5"/>
          <p:cNvSpPr>
            <a:spLocks noGrp="1"/>
          </p:cNvSpPr>
          <p:nvPr>
            <p:ph type="body" idx="107"/>
          </p:nvPr>
        </p:nvSpPr>
        <p:spPr/>
        <p:txBody>
          <a:bodyPr/>
          <a:lstStyle/>
          <a:p>
            <a:r>
              <a:t>Job: [dealer, account, job name]</a:t>
            </a:r>
          </a:p>
          <a:p>
            <a:r>
              <a:t>Size: [$ and product]</a:t>
            </a:r>
          </a:p>
          <a:p>
            <a:r>
              <a:t>Why we won on price: [ ]</a:t>
            </a:r>
          </a:p>
          <a:p>
            <a:r>
              <a:t>Repeatable: [yes or no, and why]</a:t>
            </a:r>
          </a:p>
        </p:txBody>
      </p:sp>
      <p:sp>
        <p:nvSpPr>
          <p:cNvPr id="7" name="Text Placeholder 6"/>
          <p:cNvSpPr>
            <a:spLocks noGrp="1"/>
          </p:cNvSpPr>
          <p:nvPr>
            <p:ph type="body" idx="111"/>
          </p:nvPr>
        </p:nvSpPr>
        <p:spPr/>
        <p:txBody>
          <a:bodyPr/>
          <a:lstStyle/>
          <a:p>
            <a:r>
              <a:t>Product</a:t>
            </a:r>
          </a:p>
        </p:txBody>
      </p:sp>
      <p:sp>
        <p:nvSpPr>
          <p:cNvPr id="8" name="Text Placeholder 7"/>
          <p:cNvSpPr>
            <a:spLocks noGrp="1"/>
          </p:cNvSpPr>
          <p:nvPr>
            <p:ph type="body" idx="112"/>
          </p:nvPr>
        </p:nvSpPr>
        <p:spPr/>
        <p:txBody>
          <a:bodyPr/>
          <a:lstStyle/>
          <a:p>
            <a:r>
              <a:t>Job: [dealer, account, job name]</a:t>
            </a:r>
          </a:p>
          <a:p>
            <a:r>
              <a:t>Size: [$ and product]</a:t>
            </a:r>
          </a:p>
          <a:p>
            <a:r>
              <a:t>Why we won on product: [ ]</a:t>
            </a:r>
          </a:p>
          <a:p>
            <a:r>
              <a:t>Repeatable: [yes or no, and why]</a:t>
            </a:r>
          </a:p>
        </p:txBody>
      </p:sp>
      <p:sp>
        <p:nvSpPr>
          <p:cNvPr id="9" name="Text Placeholder 8"/>
          <p:cNvSpPr>
            <a:spLocks noGrp="1"/>
          </p:cNvSpPr>
          <p:nvPr>
            <p:ph type="body" idx="116"/>
          </p:nvPr>
        </p:nvSpPr>
        <p:spPr/>
        <p:txBody>
          <a:bodyPr/>
          <a:lstStyle/>
          <a:p>
            <a:r>
              <a:t>Speed and support</a:t>
            </a:r>
          </a:p>
        </p:txBody>
      </p:sp>
      <p:sp>
        <p:nvSpPr>
          <p:cNvPr id="10" name="Text Placeholder 9"/>
          <p:cNvSpPr>
            <a:spLocks noGrp="1"/>
          </p:cNvSpPr>
          <p:nvPr>
            <p:ph type="body" idx="117"/>
          </p:nvPr>
        </p:nvSpPr>
        <p:spPr/>
        <p:txBody>
          <a:bodyPr/>
          <a:lstStyle/>
          <a:p>
            <a:r>
              <a:t>Job: [dealer, account, job name]</a:t>
            </a:r>
          </a:p>
          <a:p>
            <a:r>
              <a:t>Size: [$ and product]</a:t>
            </a:r>
          </a:p>
          <a:p>
            <a:r>
              <a:t>Why we won on speed or support: [ ]</a:t>
            </a:r>
          </a:p>
          <a:p>
            <a:r>
              <a:t>Repeatable: [yes or no, and why]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5 OF 7  ·  LOSSES</a:t>
            </a:r>
          </a:p>
        </p:txBody>
      </p:sp>
      <p:sp>
        <p:nvSpPr>
          <p:cNvPr id="3" name="Title 2"/>
          <p:cNvSpPr>
            <a:spLocks noGrp="1"/>
          </p:cNvSpPr>
          <p:nvPr>
            <p:ph type="title" idx="101"/>
          </p:nvPr>
        </p:nvSpPr>
        <p:spPr/>
        <p:txBody>
          <a:bodyPr/>
          <a:lstStyle/>
          <a:p>
            <a:r>
              <a:t>Three losses</a:t>
            </a:r>
          </a:p>
        </p:txBody>
      </p:sp>
      <p:sp>
        <p:nvSpPr>
          <p:cNvPr id="4" name="Text Placeholder 3"/>
          <p:cNvSpPr>
            <a:spLocks noGrp="1"/>
          </p:cNvSpPr>
          <p:nvPr>
            <p:ph type="body" idx="102"/>
          </p:nvPr>
        </p:nvSpPr>
        <p:spPr/>
        <p:txBody>
          <a:bodyPr/>
          <a:lstStyle/>
          <a:p>
            <a:r>
              <a:t>[One line. Which loss hurt most and whether we'd lose it again today.]</a:t>
            </a:r>
          </a:p>
        </p:txBody>
      </p:sp>
      <p:sp>
        <p:nvSpPr>
          <p:cNvPr id="5" name="Text Placeholder 4"/>
          <p:cNvSpPr>
            <a:spLocks noGrp="1"/>
          </p:cNvSpPr>
          <p:nvPr>
            <p:ph type="body" idx="106"/>
          </p:nvPr>
        </p:nvSpPr>
        <p:spPr/>
        <p:txBody>
          <a:bodyPr/>
          <a:lstStyle/>
          <a:p>
            <a:r>
              <a:t>Price</a:t>
            </a:r>
          </a:p>
        </p:txBody>
      </p:sp>
      <p:sp>
        <p:nvSpPr>
          <p:cNvPr id="6" name="Text Placeholder 5"/>
          <p:cNvSpPr>
            <a:spLocks noGrp="1"/>
          </p:cNvSpPr>
          <p:nvPr>
            <p:ph type="body" idx="107"/>
          </p:nvPr>
        </p:nvSpPr>
        <p:spPr/>
        <p:txBody>
          <a:bodyPr/>
          <a:lstStyle/>
          <a:p>
            <a:r>
              <a:rPr sz="1400"/>
              <a:t>Job: [dealer, account, job]</a:t>
            </a:r>
          </a:p>
          <a:p>
            <a:r>
              <a:rPr sz="1400"/>
              <a:t>Who won: [competitor]</a:t>
            </a:r>
          </a:p>
          <a:p>
            <a:r>
              <a:rPr sz="1400"/>
              <a:t>Their price: [$ or unknown]</a:t>
            </a:r>
          </a:p>
          <a:p>
            <a:r>
              <a:rPr sz="1400"/>
              <a:t>Lead time: ours / theirs [wks]</a:t>
            </a:r>
          </a:p>
          <a:p>
            <a:r>
              <a:rPr sz="1400"/>
              <a:t>Why: [ ]</a:t>
            </a:r>
          </a:p>
          <a:p>
            <a:r>
              <a:rPr sz="1400"/>
              <a:t>Lose it again today: [yes/no]</a:t>
            </a:r>
          </a:p>
        </p:txBody>
      </p:sp>
      <p:sp>
        <p:nvSpPr>
          <p:cNvPr id="7" name="Text Placeholder 6"/>
          <p:cNvSpPr>
            <a:spLocks noGrp="1"/>
          </p:cNvSpPr>
          <p:nvPr>
            <p:ph type="body" idx="111"/>
          </p:nvPr>
        </p:nvSpPr>
        <p:spPr/>
        <p:txBody>
          <a:bodyPr/>
          <a:lstStyle/>
          <a:p>
            <a:r>
              <a:t>Product</a:t>
            </a:r>
          </a:p>
        </p:txBody>
      </p:sp>
      <p:sp>
        <p:nvSpPr>
          <p:cNvPr id="8" name="Text Placeholder 7"/>
          <p:cNvSpPr>
            <a:spLocks noGrp="1"/>
          </p:cNvSpPr>
          <p:nvPr>
            <p:ph type="body" idx="112"/>
          </p:nvPr>
        </p:nvSpPr>
        <p:spPr/>
        <p:txBody>
          <a:bodyPr/>
          <a:lstStyle/>
          <a:p>
            <a:r>
              <a:rPr sz="1400"/>
              <a:t>Job: [dealer, account, job]</a:t>
            </a:r>
          </a:p>
          <a:p>
            <a:r>
              <a:rPr sz="1400"/>
              <a:t>Who won: [competitor]</a:t>
            </a:r>
          </a:p>
          <a:p>
            <a:r>
              <a:rPr sz="1400"/>
              <a:t>Why: [what they had, we didn't]</a:t>
            </a:r>
          </a:p>
          <a:p>
            <a:r>
              <a:rPr sz="1400"/>
              <a:t>Lead time: ours / theirs [wks]</a:t>
            </a:r>
          </a:p>
          <a:p>
            <a:r>
              <a:rPr sz="1400"/>
              <a:t>Lose it again today: [yes/no]</a:t>
            </a:r>
          </a:p>
          <a:p>
            <a:r>
              <a:rPr sz="1400"/>
              <a:t>No product loss? Say so here.</a:t>
            </a:r>
          </a:p>
        </p:txBody>
      </p:sp>
      <p:sp>
        <p:nvSpPr>
          <p:cNvPr id="9" name="Text Placeholder 8"/>
          <p:cNvSpPr>
            <a:spLocks noGrp="1"/>
          </p:cNvSpPr>
          <p:nvPr>
            <p:ph type="body" idx="116"/>
          </p:nvPr>
        </p:nvSpPr>
        <p:spPr/>
        <p:txBody>
          <a:bodyPr/>
          <a:lstStyle/>
          <a:p>
            <a:r>
              <a:t>Speed and support</a:t>
            </a:r>
          </a:p>
        </p:txBody>
      </p:sp>
      <p:sp>
        <p:nvSpPr>
          <p:cNvPr id="10" name="Text Placeholder 9"/>
          <p:cNvSpPr>
            <a:spLocks noGrp="1"/>
          </p:cNvSpPr>
          <p:nvPr>
            <p:ph type="body" idx="117"/>
          </p:nvPr>
        </p:nvSpPr>
        <p:spPr/>
        <p:txBody>
          <a:bodyPr/>
          <a:lstStyle/>
          <a:p>
            <a:r>
              <a:rPr sz="1400"/>
              <a:t>Job: [dealer, account, job]</a:t>
            </a:r>
          </a:p>
          <a:p>
            <a:r>
              <a:rPr sz="1400"/>
              <a:t>Who won: [competitor]</a:t>
            </a:r>
          </a:p>
          <a:p>
            <a:r>
              <a:rPr sz="1400"/>
              <a:t>Lead time: ours / theirs [wks]</a:t>
            </a:r>
          </a:p>
          <a:p>
            <a:r>
              <a:rPr sz="1400"/>
              <a:t>Why: [quoting or service]</a:t>
            </a:r>
          </a:p>
          <a:p>
            <a:r>
              <a:rPr sz="1400"/>
              <a:t>Lose it again today: [yes/no]</a:t>
            </a:r>
          </a:p>
          <a:p>
            <a:r>
              <a:rPr sz="1400"/>
              <a:t>No speed loss? Say so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6 OF 7  ·  STRAIGHT TALK</a:t>
            </a:r>
          </a:p>
        </p:txBody>
      </p:sp>
      <p:sp>
        <p:nvSpPr>
          <p:cNvPr id="3" name="Title 2"/>
          <p:cNvSpPr>
            <a:spLocks noGrp="1"/>
          </p:cNvSpPr>
          <p:nvPr>
            <p:ph type="title" idx="101"/>
          </p:nvPr>
        </p:nvSpPr>
        <p:spPr/>
        <p:txBody>
          <a:bodyPr/>
          <a:lstStyle/>
          <a:p>
            <a:r>
              <a:t>What we do well and what we don't</a:t>
            </a:r>
          </a:p>
        </p:txBody>
      </p:sp>
      <p:sp>
        <p:nvSpPr>
          <p:cNvPr id="4" name="Text Placeholder 3"/>
          <p:cNvSpPr>
            <a:spLocks noGrp="1"/>
          </p:cNvSpPr>
          <p:nvPr>
            <p:ph type="body" idx="102"/>
          </p:nvPr>
        </p:nvSpPr>
        <p:spPr/>
        <p:txBody>
          <a:bodyPr/>
          <a:lstStyle/>
          <a:p>
            <a:r>
              <a:t>[One line. The one thing you'd change first.]</a:t>
            </a:r>
          </a:p>
        </p:txBody>
      </p:sp>
      <p:graphicFrame>
        <p:nvGraphicFramePr>
          <p:cNvPr id="5" name="Table 4"/>
          <p:cNvGraphicFramePr>
            <a:graphicFrameLocks noGrp="1"/>
          </p:cNvGraphicFramePr>
          <p:nvPr/>
        </p:nvGraphicFramePr>
        <p:xfrm>
          <a:off x="731520" y="2121408"/>
          <a:ext cx="10725912" cy="3912717"/>
        </p:xfrm>
        <a:graphic>
          <a:graphicData uri="http://schemas.openxmlformats.org/drawingml/2006/table">
            <a:tbl>
              <a:tblPr firstRow="0" bandRow="0"/>
              <a:tblGrid>
                <a:gridCol w="2130552"/>
                <a:gridCol w="4297680"/>
                <a:gridCol w="4297680"/>
              </a:tblGrid>
              <a:tr h="365760">
                <a:tc>
                  <a:txBody>
                    <a:bodyPr/>
                    <a:lstStyle/>
                    <a:p>
                      <a:r>
                        <a:rPr sz="11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we do well</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we don't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1182319">
                <a:tc>
                  <a:txBody>
                    <a:bodyPr/>
                    <a:lstStyle/>
                    <a:p>
                      <a:r>
                        <a:rPr sz="1200" b="1">
                          <a:solidFill>
                            <a:srgbClr val="15181A"/>
                          </a:solidFill>
                          <a:latin typeface="Arial"/>
                        </a:rPr>
                        <a:t>Company</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182319">
                <a:tc>
                  <a:txBody>
                    <a:bodyPr/>
                    <a:lstStyle/>
                    <a:p>
                      <a:r>
                        <a:rPr sz="1200" b="1">
                          <a:solidFill>
                            <a:srgbClr val="15181A"/>
                          </a:solidFill>
                          <a:latin typeface="Arial"/>
                        </a:rPr>
                        <a:t>Marketing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182319">
                <a:tc>
                  <a:txBody>
                    <a:bodyPr/>
                    <a:lstStyle/>
                    <a:p>
                      <a:r>
                        <a:rPr sz="1200" b="1">
                          <a:solidFill>
                            <a:srgbClr val="15181A"/>
                          </a:solidFill>
                          <a:latin typeface="Arial"/>
                        </a:rPr>
                        <a:t>Sales direction</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7 OF 7  ·  2027</a:t>
            </a:r>
          </a:p>
        </p:txBody>
      </p:sp>
      <p:sp>
        <p:nvSpPr>
          <p:cNvPr id="3" name="Title 2"/>
          <p:cNvSpPr>
            <a:spLocks noGrp="1"/>
          </p:cNvSpPr>
          <p:nvPr>
            <p:ph type="title" idx="101"/>
          </p:nvPr>
        </p:nvSpPr>
        <p:spPr/>
        <p:txBody>
          <a:bodyPr/>
          <a:lstStyle/>
          <a:p>
            <a:r>
              <a:t>Where Walmart grows in 2027</a:t>
            </a:r>
          </a:p>
        </p:txBody>
      </p:sp>
      <p:sp>
        <p:nvSpPr>
          <p:cNvPr id="4" name="Text Placeholder 3"/>
          <p:cNvSpPr>
            <a:spLocks noGrp="1"/>
          </p:cNvSpPr>
          <p:nvPr>
            <p:ph type="body" idx="102"/>
          </p:nvPr>
        </p:nvSpPr>
        <p:spPr/>
        <p:txBody>
          <a:bodyPr/>
          <a:lstStyle/>
          <a:p>
            <a:r>
              <a:t>[One line. The size of the 2027 opportunity and what it turns on.]</a:t>
            </a:r>
          </a:p>
        </p:txBody>
      </p:sp>
      <p:sp>
        <p:nvSpPr>
          <p:cNvPr id="5" name="Text Placeholder 4"/>
          <p:cNvSpPr>
            <a:spLocks noGrp="1"/>
          </p:cNvSpPr>
          <p:nvPr>
            <p:ph type="body" idx="106"/>
          </p:nvPr>
        </p:nvSpPr>
        <p:spPr/>
        <p:txBody>
          <a:bodyPr/>
          <a:lstStyle/>
          <a:p>
            <a:r>
              <a:t>Where the growth is</a:t>
            </a:r>
          </a:p>
        </p:txBody>
      </p:sp>
      <p:sp>
        <p:nvSpPr>
          <p:cNvPr id="6" name="Text Placeholder 5"/>
          <p:cNvSpPr>
            <a:spLocks noGrp="1"/>
          </p:cNvSpPr>
          <p:nvPr>
            <p:ph type="body" idx="107"/>
          </p:nvPr>
        </p:nvSpPr>
        <p:spPr/>
        <p:txBody>
          <a:bodyPr/>
          <a:lstStyle/>
          <a:p>
            <a:r>
              <a:t>1. [DC, format, or program]</a:t>
            </a:r>
          </a:p>
          <a:p>
            <a:r>
              <a:t>2. [DC, format, or program]</a:t>
            </a:r>
          </a:p>
          <a:p>
            <a:r>
              <a:t>3. [DC, format, or program]</a:t>
            </a:r>
          </a:p>
          <a:p>
            <a:r>
              <a:t>Rough size: [$]</a:t>
            </a:r>
          </a:p>
        </p:txBody>
      </p:sp>
      <p:sp>
        <p:nvSpPr>
          <p:cNvPr id="7" name="Text Placeholder 6"/>
          <p:cNvSpPr>
            <a:spLocks noGrp="1"/>
          </p:cNvSpPr>
          <p:nvPr>
            <p:ph type="body" idx="111"/>
          </p:nvPr>
        </p:nvSpPr>
        <p:spPr/>
        <p:txBody>
          <a:bodyPr/>
          <a:lstStyle/>
          <a:p>
            <a:r>
              <a:t>What Walmart needs from us to get there</a:t>
            </a:r>
          </a:p>
        </p:txBody>
      </p:sp>
      <p:sp>
        <p:nvSpPr>
          <p:cNvPr id="8" name="Text Placeholder 7"/>
          <p:cNvSpPr>
            <a:spLocks noGrp="1"/>
          </p:cNvSpPr>
          <p:nvPr>
            <p:ph type="body" idx="112"/>
          </p:nvPr>
        </p:nvSpPr>
        <p:spPr/>
        <p:txBody>
          <a:bodyPr/>
          <a:lstStyle/>
          <a:p>
            <a:r>
              <a:t>Product: [ ]</a:t>
            </a:r>
          </a:p>
          <a:p>
            <a:r>
              <a:t>Pricing or terms: [ ]</a:t>
            </a:r>
          </a:p>
          <a:p>
            <a:r>
              <a:t>Service and lead time: [ ]</a:t>
            </a:r>
          </a:p>
        </p:txBody>
      </p:sp>
      <p:sp>
        <p:nvSpPr>
          <p:cNvPr id="9" name="Text Placeholder 8"/>
          <p:cNvSpPr>
            <a:spLocks noGrp="1"/>
          </p:cNvSpPr>
          <p:nvPr>
            <p:ph type="body" idx="116"/>
          </p:nvPr>
        </p:nvSpPr>
        <p:spPr/>
        <p:txBody>
          <a:bodyPr/>
          <a:lstStyle/>
          <a:p>
            <a:r>
              <a:t>What I'll do differently</a:t>
            </a:r>
          </a:p>
        </p:txBody>
      </p:sp>
      <p:sp>
        <p:nvSpPr>
          <p:cNvPr id="10" name="Text Placeholder 9"/>
          <p:cNvSpPr>
            <a:spLocks noGrp="1"/>
          </p:cNvSpPr>
          <p:nvPr>
            <p:ph type="body" idx="117"/>
          </p:nvPr>
        </p:nvSpPr>
        <p:spPr/>
        <p:txBody>
          <a:bodyPr/>
          <a:lstStyle/>
          <a:p>
            <a:r>
              <a:t>What: [ ]</a:t>
            </a:r>
          </a:p>
          <a:p>
            <a:r>
              <a:t>Why: [what the wins and losses told you]</a:t>
            </a:r>
          </a:p>
          <a:p>
            <a:r>
              <a:t>What I need from Nate: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Steel King Industries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Steel King Presentation System</dc:title>
  <dc:subject>PptxGenJS Presentation</dc:subject>
  <dc:creator>Steel King Industries</dc:creator>
  <cp:lastModifiedBy>Steel King Industries</cp:lastModifiedBy>
  <cp:revision>1</cp:revision>
  <dcterms:created xsi:type="dcterms:W3CDTF">2026-09-11T23:28:37Z</dcterms:created>
  <dcterms:modified xsi:type="dcterms:W3CDTF">2026-09-11T23:28:37Z</dcterms:modified>
</cp:coreProperties>
</file>