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6"/>
    <p:sldId id="267" r:id="rId5"/>
    <p:sldId id="268" r:id="rId4"/>
    <p:sldId id="269" r:id="rId3"/>
    <p:sldId id="270" r:id="rId2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5.xml"/><Relationship Id="rId3" Type="http://schemas.openxmlformats.org/officeDocument/2006/relationships/slide" Target="slides/slide14.xml"/><Relationship Id="rId4" Type="http://schemas.openxmlformats.org/officeDocument/2006/relationships/slide" Target="slides/slide13.xml"/><Relationship Id="rId5" Type="http://schemas.openxmlformats.org/officeDocument/2006/relationships/slide" Target="slides/slide12.xml"/><Relationship Id="rId6" Type="http://schemas.openxmlformats.org/officeDocument/2006/relationships/slide" Target="slides/slide1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distributors say they win</c:v>
                </c:pt>
              </c:strCache>
            </c:strRef>
          </c:tx>
          <c:spPr>
            <a:solidFill>
              <a:srgbClr val="3C7D4D"/>
            </a:solidFill>
          </c:spPr>
          <c:cat>
            <c:strRef>
              <c:f>Sheet1!$A$2:$A$6</c:f>
              <c:strCache>
                <c:ptCount val="5"/>
                <c:pt idx="0">
                  <c:v>Relationships</c:v>
                </c:pt>
                <c:pt idx="1">
                  <c:v>Product availability</c:v>
                </c:pt>
                <c:pt idx="2">
                  <c:v>Technical support</c:v>
                </c:pt>
                <c:pt idx="3">
                  <c:v>Delivery time</c:v>
                </c:pt>
                <c:pt idx="4">
                  <c:v>Price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81</c:v>
                </c:pt>
                <c:pt idx="1">
                  <c:v>76</c:v>
                </c:pt>
                <c:pt idx="2">
                  <c:v>66</c:v>
                </c:pt>
                <c:pt idx="3">
                  <c:v>62</c:v>
                </c:pt>
                <c:pt idx="4">
                  <c:v>53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 b="1">
                  <a:solidFill>
                    <a:srgbClr val="15181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2E6E3"/>
            </a:solidFill>
          </a:ln>
        </c:spPr>
        <c:txPr>
          <a:bodyPr/>
          <a:lstStyle/>
          <a:p>
            <a:pPr>
              <a:defRPr sz="1200">
                <a:solidFill>
                  <a:srgbClr val="1518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5181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companies, HBR 2011 audit</c:v>
                </c:pt>
              </c:strCache>
            </c:strRef>
          </c:tx>
          <c:spPr>
            <a:solidFill>
              <a:srgbClr val="3C7D4D"/>
            </a:solidFill>
          </c:spPr>
          <c:cat>
            <c:strRef>
              <c:f>Sheet1!$A$2:$A$5</c:f>
              <c:strCache>
                <c:ptCount val="4"/>
                <c:pt idx="0">
                  <c:v>Within 1 hour</c:v>
                </c:pt>
                <c:pt idx="1">
                  <c:v>1 to 24 hours</c:v>
                </c:pt>
                <c:pt idx="2">
                  <c:v>More than 24 hours</c:v>
                </c:pt>
                <c:pt idx="3">
                  <c:v>Never responded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37</c:v>
                </c:pt>
                <c:pt idx="1">
                  <c:v>16</c:v>
                </c:pt>
                <c:pt idx="2">
                  <c:v>24</c:v>
                </c:pt>
                <c:pt idx="3">
                  <c:v>23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 b="1">
                  <a:solidFill>
                    <a:srgbClr val="15181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2E6E3"/>
            </a:solidFill>
          </a:ln>
        </c:spPr>
        <c:txPr>
          <a:bodyPr/>
          <a:lstStyle/>
          <a:p>
            <a:pPr>
              <a:defRPr sz="1200">
                <a:solidFill>
                  <a:srgbClr val="1518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5181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</a:t>
            </a:r>
          </a:p>
          <a:p>
            <a:r>
              <a:t>This is not a pep talk about customer service. It is what the data says about how warehouse and</a:t>
            </a:r>
          </a:p>
          <a:p>
            <a:r>
              <a:t>     industrial buyers pick a rack supplier, and what that means for how fast we answer and how long we stay</a:t>
            </a:r>
          </a:p>
          <a:p>
            <a:r>
              <a:t>     on a lead. Every number in here comes from a named study. I will tell you where each one comes from,</a:t>
            </a:r>
          </a:p>
          <a:p>
            <a:r>
              <a:t>     and I will tell you which popular numbers I left out because they don't hold up. Fifty minutes. The last</a:t>
            </a:r>
          </a:p>
          <a:p>
            <a:r>
              <a:t>     fifteen are ours to decide what we change.</a:t>
            </a:r>
          </a:p>
          <a:p/>
          <a:p>
            <a:r>
              <a:t>SOURCE</a:t>
            </a:r>
          </a:p>
          <a:p>
            <a:r>
              <a:t>Companion research brief has every citation, URL, and a confidence 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</a:t>
            </a:r>
          </a:p>
          <a:p>
            <a:r>
              <a:t>Here is the whole deck in one line. Buyers do their homework before they call anyone. When they do</a:t>
            </a:r>
          </a:p>
          <a:p>
            <a:r>
              <a:t>     call, they already have a favorite, and about eight times out of ten they buy from the first vendor they</a:t>
            </a:r>
          </a:p>
          <a:p>
            <a:r>
              <a:t>     reach. So the first touch is not the start of the sale. It is the last chance to stay in it. And the</a:t>
            </a:r>
          </a:p>
          <a:p>
            <a:r>
              <a:t>     average company takes almost two days to make that first touch. That gap is the opportunity.</a:t>
            </a:r>
          </a:p>
          <a:p/>
          <a:p>
            <a:r>
              <a:t>IF ASKED</a:t>
            </a:r>
          </a:p>
          <a:p>
            <a:r>
              <a:t>If someone says our buyers aren't like software buyers: fair, and I'll show industrial data next to the</a:t>
            </a:r>
          </a:p>
          <a:p>
            <a:r>
              <a:t>     cross-industry data all the way through. The pattern is the same in every sample we found.</a:t>
            </a:r>
          </a:p>
          <a:p/>
          <a:p>
            <a:r>
              <a:t>SOURCE</a:t>
            </a:r>
          </a:p>
          <a:p>
            <a:r>
              <a:t>6sense 2025 Buyer Experience Report, about 4,000 B2B buyers. HBR 2011 audit of 2,241 U.S. companies.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</a:t>
            </a:r>
          </a:p>
          <a:p>
            <a:r>
              <a:t>Five parts. First, the demand is there, so this is about share. Second, how the buyer actually</a:t>
            </a:r>
          </a:p>
          <a:p>
            <a:r>
              <a:t>     decides. Third, what speed does to a lead. Fourth, what service does after the PO. Fifth, three</a:t>
            </a:r>
          </a:p>
          <a:p>
            <a:r>
              <a:t>     standards I want us to agree on and a plan to measure them. Hold questions on the standards until the</a:t>
            </a:r>
          </a:p>
          <a:p>
            <a:r>
              <a:t>     end. Everything before that is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</a:t>
            </a:r>
          </a:p>
          <a:p>
            <a:r>
              <a:t>Quick market check first, because none of this matters if nobody is buying rack. They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</a:t>
            </a:r>
          </a:p>
          <a:p>
            <a:r>
              <a:t>Modern Materials Handling surveys warehouse and DC operators every January on what they plan to</a:t>
            </a:r>
          </a:p>
          <a:p>
            <a:r>
              <a:t>     buy. For the second year running, racks and shelving is the number one category. Forty-five percent</a:t>
            </a:r>
          </a:p>
          <a:p>
            <a:r>
              <a:t>     say they plan to buy. Average planned spend on equipment and systems jumped from about four hundred</a:t>
            </a:r>
          </a:p>
          <a:p>
            <a:r>
              <a:t>     thousand to five hundred forty-two thousand. That is a thirty-five percent increase in one year.</a:t>
            </a:r>
          </a:p>
          <a:p>
            <a:r>
              <a:t>     On the real estate side, Cushman and Wakefield has three hundred five million square feet of</a:t>
            </a:r>
          </a:p>
          <a:p>
            <a:r>
              <a:t>     industrial space under construction, up eighteen percent year over year and rising four quarters</a:t>
            </a:r>
          </a:p>
          <a:p>
            <a:r>
              <a:t>     straight. Every one of those buildings needs storage. The point: demand is not our problem. Share is.</a:t>
            </a:r>
          </a:p>
          <a:p/>
          <a:p>
            <a:r>
              <a:t>IF ASKED</a:t>
            </a:r>
          </a:p>
          <a:p>
            <a:r>
              <a:t>Sample sizes are small, about a hundred operators each year, but the survey has run for two decades</a:t>
            </a:r>
          </a:p>
          <a:p>
            <a:r>
              <a:t>     and the direction is consistent. MHI's 2026 report backs it: 56% of supply chain leaders are increasing</a:t>
            </a:r>
          </a:p>
          <a:p>
            <a:r>
              <a:t>     investment and 52% plan to spend over a million. Cold storage and data center adjacent manufacturing</a:t>
            </a:r>
          </a:p>
          <a:p>
            <a:r>
              <a:t>     are the two hottest pockets right now.</a:t>
            </a:r>
          </a:p>
          <a:p/>
          <a:p>
            <a:r>
              <a:t>SOURCE</a:t>
            </a:r>
          </a:p>
          <a:p>
            <a:r>
              <a:t>MMH/Peerless 2026 Outlook Survey, Jan 2026, n=103. MMH/Peerless 2025 Outlook, n=110. Cushman &amp;</a:t>
            </a:r>
          </a:p>
          <a:p>
            <a:r>
              <a:t>     Wakefield U.S. Industrial MarketBeat, Q2 2026. MHI/Deloitte 2026 Annual Industry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</a:t>
            </a:r>
          </a:p>
          <a:p>
            <a:r>
              <a:t>Now, how the buyer decides. This is where the industrial data and the broad B2B data say the</a:t>
            </a:r>
          </a:p>
          <a:p>
            <a:r>
              <a:t>     same 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</a:t>
            </a:r>
          </a:p>
          <a:p>
            <a:r>
              <a:t>Three numbers. GlobalSpec surveys a thousand engineers and technical buyers every year. Sixty-two</a:t>
            </a:r>
          </a:p>
          <a:p>
            <a:r>
              <a:t>     percent of the buying process is finished online before they contact anyone at the vendor. For buyers</a:t>
            </a:r>
          </a:p>
          <a:p>
            <a:r>
              <a:t>     under thirty-five it is sixty-six percent. Thomasnet, the industrial sourcing platform, found seventy-one</a:t>
            </a:r>
          </a:p>
          <a:p>
            <a:r>
              <a:t>     percent of industrial buyers look at fewer than five suppliers. Only three percent look at more than ten.</a:t>
            </a:r>
          </a:p>
          <a:p>
            <a:r>
              <a:t>     And 6sense surveyed four thousand B2B buyers: ninety-four percent had ranked a favorite before they</a:t>
            </a:r>
          </a:p>
          <a:p>
            <a:r>
              <a:t>     contacted anyone, and the first vendor they contacted won about eight times out of ten. Put those</a:t>
            </a:r>
          </a:p>
          <a:p>
            <a:r>
              <a:t>     together. The buyer has done the research, the list is short, and the first company that picks up the</a:t>
            </a:r>
          </a:p>
          <a:p>
            <a:r>
              <a:t>     phone usually gets the order. If our reply sits for a day, that first company is not us.</a:t>
            </a:r>
          </a:p>
          <a:p/>
          <a:p>
            <a:r>
              <a:t>IF ASKED</a:t>
            </a:r>
          </a:p>
          <a:p>
            <a:r>
              <a:t>The 6sense sample skews to technology purchases. The GlobalSpec and Thomasnet samples are engineers</a:t>
            </a:r>
          </a:p>
          <a:p>
            <a:r>
              <a:t>     and industrial buyers. I put them side by side on purpose: the industrial buyer is doing the same</a:t>
            </a:r>
          </a:p>
          <a:p>
            <a:r>
              <a:t>     thing. Gartner adds that buyers spend only seventeen percent of the process talking to any supplier,</a:t>
            </a:r>
          </a:p>
          <a:p>
            <a:r>
              <a:t>     and any one rep gets five or six percent of that time. Every minute of contact has to count.</a:t>
            </a:r>
          </a:p>
          <a:p/>
          <a:p>
            <a:r>
              <a:t>SOURCE</a:t>
            </a:r>
          </a:p>
          <a:p>
            <a:r>
              <a:t>GlobalSpec/TREW 2026 State of Marketing to Engineers. Thomasnet Industrial Buyer Habits. 6sense 2025</a:t>
            </a:r>
          </a:p>
          <a:p>
            <a:r>
              <a:t>     Buyer Experience Report. Gartner B2B Buying Journey.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</a:t>
            </a:r>
          </a:p>
          <a:p>
            <a:r>
              <a:t>This is the industrial buyer specifically. Thomasnet asked four hundred registered industrial buyers</a:t>
            </a:r>
          </a:p>
          <a:p>
            <a:r>
              <a:t>     what they weigh when they shortlist a new supplier. Number one was availability and lead time. Price</a:t>
            </a:r>
          </a:p>
          <a:p>
            <a:r>
              <a:t>     was second. Quality certs third. Verified company information fourth. They also said they expect an</a:t>
            </a:r>
          </a:p>
          <a:p>
            <a:r>
              <a:t>     answer in under twenty-four hours, and forty-four percent said that outright. One buyer put it this</a:t>
            </a:r>
          </a:p>
          <a:p>
            <a:r>
              <a:t>     way, and I want you to remember the quote: if I have to follow up twice, I eliminate you from</a:t>
            </a:r>
          </a:p>
          <a:p>
            <a:r>
              <a:t>     consideration. Their reasons for rejecting a supplier were slow or no RFQ response, having to chase,</a:t>
            </a:r>
          </a:p>
          <a:p>
            <a:r>
              <a:t>     unclear pricing, and stale company information. On the right is the distributor side. Industrial</a:t>
            </a:r>
          </a:p>
          <a:p>
            <a:r>
              <a:t>     Distribution asks distributors every year why they win business. Relationships, availability, technical</a:t>
            </a:r>
          </a:p>
          <a:p>
            <a:r>
              <a:t>     support, and delivery all beat price. Price is fifth. Our dealers know this. The buyer is telling us</a:t>
            </a:r>
          </a:p>
          <a:p>
            <a:r>
              <a:t>     the same thing from the other side.</a:t>
            </a:r>
          </a:p>
          <a:p/>
          <a:p>
            <a:r>
              <a:t>IF ASKED</a:t>
            </a:r>
          </a:p>
          <a:p>
            <a:r>
              <a:t>The Thomasnet survey published rankings, not percentages, for the shortlist factors. The chart is</a:t>
            </a:r>
          </a:p>
          <a:p>
            <a:r>
              <a:t>     self-reported by distributors, so it is what they believe wins, not what buyers said. The two</a:t>
            </a:r>
          </a:p>
          <a:p>
            <a:r>
              <a:t>     sources agree, which is why both are here.</a:t>
            </a:r>
          </a:p>
          <a:p/>
          <a:p>
            <a:r>
              <a:t>SOURCE</a:t>
            </a:r>
          </a:p>
          <a:p>
            <a:r>
              <a:t>Thomasnet, What Industrial Buyers Care About Most When Shortlisting New Suppliers, 2021, 400+ buyers.</a:t>
            </a:r>
          </a:p>
          <a:p>
            <a:r>
              <a:t>     Thomasnet Industrial Buyer Search Habits survey (44%). Industrial Distribution Survey of Distributor</a:t>
            </a:r>
          </a:p>
          <a:p>
            <a:r>
              <a:t>     Operations.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</a:t>
            </a:r>
          </a:p>
          <a:p>
            <a:r>
              <a:t>The self-serve story gets overplayed. Engineers and technical buyers still want a person. Only six</a:t>
            </a:r>
          </a:p>
          <a:p>
            <a:r>
              <a:t>     percent say they never want to talk to a salesperson. They call us for two reasons: the application is</a:t>
            </a:r>
          </a:p>
          <a:p>
            <a:r>
              <a:t>     technically complex, or they need pricing and inventory, meaning lead time. Two thirds rate the vendor's</a:t>
            </a:r>
          </a:p>
          <a:p>
            <a:r>
              <a:t>     engineers as highly trustworthy. That is our application engineers and our regional managers. Gartner</a:t>
            </a:r>
          </a:p>
          <a:p>
            <a:r>
              <a:t>     found something I think about a lot: buyers who purchased self-serve with no rep regretted it forty-three</a:t>
            </a:r>
          </a:p>
          <a:p>
            <a:r>
              <a:t>     percent of the time. Buyers who had a rep alongside digital tools regretted it twenty-one percent. A rep</a:t>
            </a:r>
          </a:p>
          <a:p>
            <a:r>
              <a:t>     cuts regret in half. Now the right side. Fifty-nine percent of business buyers say most reps don't take</a:t>
            </a:r>
          </a:p>
          <a:p>
            <a:r>
              <a:t>     time to understand them. Seventy-three percent say the interaction felt transactional. Sixty-nine percent</a:t>
            </a:r>
          </a:p>
          <a:p>
            <a:r>
              <a:t>     found the website and the rep telling them different things. The two deal killers buyers name most:</a:t>
            </a:r>
          </a:p>
          <a:p>
            <a:r>
              <a:t>     misleading information on price or product, and not understanding the buyer's company. So the buyer</a:t>
            </a:r>
          </a:p>
          <a:p>
            <a:r>
              <a:t>     wants us in the deal. They just want us to show up prepared.</a:t>
            </a:r>
          </a:p>
          <a:p/>
          <a:p>
            <a:r>
              <a:t>IF ASKED</a:t>
            </a:r>
          </a:p>
          <a:p>
            <a:r>
              <a:t>The left column mixes industrial and cross-industry sources. The 6%, 47%, 40%, and 66% are engineers</a:t>
            </a:r>
          </a:p>
          <a:p>
            <a:r>
              <a:t>     and technical buyers. The 86% and the regret numbers are B2B across industries. The right column is</a:t>
            </a:r>
          </a:p>
          <a:p>
            <a:r>
              <a:t>     all cross-industry B2B. Nobody has run the right-column questions on industrial buyers specifically.</a:t>
            </a:r>
          </a:p>
          <a:p/>
          <a:p>
            <a:r>
              <a:t>SOURCE</a:t>
            </a:r>
          </a:p>
          <a:p>
            <a:r>
              <a:t>GlobalSpec/TREW 2025 (6%, 47%, 40%) and 2026 (66%). Salesforce State of the Connected Customer 2023,</a:t>
            </a:r>
          </a:p>
          <a:p>
            <a:r>
              <a:t>     3,300 business buyers (86%, 59%, 73%). Gartner B2B Buying Report, 2022 buyer survey (21% vs 43%).</a:t>
            </a:r>
          </a:p>
          <a:p>
            <a:r>
              <a:t>     Gartner 2025 sales survey via Salesforce (69%). LinkedIn State of Sales 2021 (48%, 44%).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</a:t>
            </a:r>
          </a:p>
          <a:p>
            <a:r>
              <a:t>Now speed. This is the most studied question in sales research, and the answer has not changed in</a:t>
            </a:r>
          </a:p>
          <a:p>
            <a:r>
              <a:t>     fifteen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</a:t>
            </a:r>
          </a:p>
          <a:p>
            <a:r>
              <a:t>The cleanest study on this is Harvard Business Review, 2011. Two datasets. First, one and a quarter</a:t>
            </a:r>
          </a:p>
          <a:p>
            <a:r>
              <a:t>     million leads at forty-two companies, both B2C and B2B. Companies that tried to reach a lead within an</a:t>
            </a:r>
          </a:p>
          <a:p>
            <a:r>
              <a:t>     hour were nearly seven times as likely to qualify it as companies that waited even one more hour.</a:t>
            </a:r>
          </a:p>
          <a:p>
            <a:r>
              <a:t>     Compared to companies that waited a day, sixty times. Second, they audited two thousand two hundred</a:t>
            </a:r>
          </a:p>
          <a:p>
            <a:r>
              <a:t>     forty-one U.S. companies by submitting a lead and timing the response. Average response, among</a:t>
            </a:r>
          </a:p>
          <a:p>
            <a:r>
              <a:t>     companies that responded at all, was forty-two hours. Twenty-three percent never responded. Think about</a:t>
            </a:r>
          </a:p>
          <a:p>
            <a:r>
              <a:t>     what forty-two hours means for a rack inquiry. The buyer filled out our form Tuesday morning. We call</a:t>
            </a:r>
          </a:p>
          <a:p>
            <a:r>
              <a:t>     back Thursday. In between, they heard from two competitors and maybe a dealer. The lead is not dead,</a:t>
            </a:r>
          </a:p>
          <a:p>
            <a:r>
              <a:t>     but it is no longer ours to lose. It is ours to win back.</a:t>
            </a:r>
          </a:p>
          <a:p/>
          <a:p>
            <a:r>
              <a:t>IF ASKED</a:t>
            </a:r>
          </a:p>
          <a:p>
            <a:r>
              <a:t>Why not the famous 21x number? That is from a 2007 study sponsored by InsideSales.com, done by an MIT</a:t>
            </a:r>
          </a:p>
          <a:p>
            <a:r>
              <a:t>     fellow. It gets called the MIT study. It was never published by MIT. HBR is peer-edited and the</a:t>
            </a:r>
          </a:p>
          <a:p>
            <a:r>
              <a:t>     sample is bigger, so I use HBR's 7x and 60x. If someone quotes 47 hours, HBR says 42. The 47 is a</a:t>
            </a:r>
          </a:p>
          <a:p>
            <a:r>
              <a:t>     transcription error that has been copied for a decade.</a:t>
            </a:r>
          </a:p>
          <a:p/>
          <a:p>
            <a:r>
              <a:t>SOURCE</a:t>
            </a:r>
          </a:p>
          <a:p>
            <a:r>
              <a:t>Oldroyd, McElheran, Elkington, The Short Life of Online Sales Leads, Harvard Business Review, March 2011.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</a:t>
            </a:r>
          </a:p>
          <a:p>
            <a:r>
              <a:t>Has it gotten better since 2011? No. Start with our own industry. A 2025 survey of two hundred U.S.</a:t>
            </a:r>
          </a:p>
          <a:p>
            <a:r>
              <a:t>     manufacturers and distributors found seventy-one percent take a day or more to produce a quote, and</a:t>
            </a:r>
          </a:p>
          <a:p>
            <a:r>
              <a:t>     eighty-eight percent admit they have lost deals to slow, manual quoting. In March of this year, Workato</a:t>
            </a:r>
          </a:p>
          <a:p>
            <a:r>
              <a:t>     sent demo requests to a hundred fourteen B2B companies. One of them sent a personalized reply within</a:t>
            </a:r>
          </a:p>
          <a:p>
            <a:r>
              <a:t>     five minutes. Zero called within five minutes. Only thirty-one percent ever called. InsideSales looked</a:t>
            </a:r>
          </a:p>
          <a:p>
            <a:r>
              <a:t>     at five point seven million leads across their platform: seventy-seven percent never got a response at</a:t>
            </a:r>
          </a:p>
          <a:p>
            <a:r>
              <a:t>     all, and the average rep made one point three call attempts before moving on. The chart is the HBR</a:t>
            </a:r>
          </a:p>
          <a:p>
            <a:r>
              <a:t>     audit: thirty-seven percent inside an hour, twenty-three percent never. Here is why this is good news.</a:t>
            </a:r>
          </a:p>
          <a:p>
            <a:r>
              <a:t>     Fast response is not table stakes. Almost nobody does it. The bar is on the floor. If we answer a rack</a:t>
            </a:r>
          </a:p>
          <a:p>
            <a:r>
              <a:t>     inquiry the same morning, we are already ahead of two thirds of the market.</a:t>
            </a:r>
          </a:p>
          <a:p/>
          <a:p>
            <a:r>
              <a:t>IF ASKED</a:t>
            </a:r>
          </a:p>
          <a:p>
            <a:r>
              <a:t>The Aleran survey is sponsored by a quoting-software vendor, so treat the exact percentages with care.</a:t>
            </a:r>
          </a:p>
          <a:p>
            <a:r>
              <a:t>     The Workato and InsideSales samples are heavy on software companies. HBR's sample was mixed B2C and</a:t>
            </a:r>
          </a:p>
          <a:p>
            <a:r>
              <a:t>     B2B. Every audit, in every industry, for fifteen years, lands in the same place.</a:t>
            </a:r>
          </a:p>
          <a:p/>
          <a:p>
            <a:r>
              <a:t>SOURCE</a:t>
            </a:r>
          </a:p>
          <a:p>
            <a:r>
              <a:t>Aleran Built to Sell survey, July 2025, n=200. Workato, What We Learned from 114 Companies, March</a:t>
            </a:r>
          </a:p>
          <a:p>
            <a:r>
              <a:t>     2026. InsideSales 2021 Lead Response Management, 5.7M leads. HBR 2011.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</a:t>
            </a:r>
          </a:p>
          <a:p>
            <a:r>
              <a:t>Speed gets you the first conversation. Persistence gets you the order. Velocify studied three and a</a:t>
            </a:r>
          </a:p>
          <a:p>
            <a:r>
              <a:t>     half million leads. Half were called exactly once. Ninety-three percent of the leads that eventually</a:t>
            </a:r>
          </a:p>
          <a:p>
            <a:r>
              <a:t>     converted were reached by the sixth call. A six-call cadence lifted conversion forty-nine percent.</a:t>
            </a:r>
          </a:p>
          <a:p>
            <a:r>
              <a:t>     Add a five-email sequence and it was one hundred twenty-eight percent combined. Average rep across the</a:t>
            </a:r>
          </a:p>
          <a:p>
            <a:r>
              <a:t>     industry makes one point three attempts. RAIN Group asked both buyers and sellers. The average rep</a:t>
            </a:r>
          </a:p>
          <a:p>
            <a:r>
              <a:t>     needs eight touches to get a meeting with a new account. Top performers need five, because each of</a:t>
            </a:r>
          </a:p>
          <a:p>
            <a:r>
              <a:t>     their touches carries something the buyer can use: a drawing, a lead time, a reference, a code</a:t>
            </a:r>
          </a:p>
          <a:p>
            <a:r>
              <a:t>     question answered. And buyers are fine with it. Fifty-five percent said two to four contacts is</a:t>
            </a:r>
          </a:p>
          <a:p>
            <a:r>
              <a:t>     reasonable, another twenty-three percent said five to ten. Last line matters. Persistence runs one</a:t>
            </a:r>
          </a:p>
          <a:p>
            <a:r>
              <a:t>     direction. We chase the lead. The buyer never has to chase us. That is the Thomasnet quote again.</a:t>
            </a:r>
          </a:p>
          <a:p/>
          <a:p>
            <a:r>
              <a:t>IF ASKED</a:t>
            </a:r>
          </a:p>
          <a:p>
            <a:r>
              <a:t>The Velocify data is mortgage, insurance, and education phone sales, not industrial. I am quoting</a:t>
            </a:r>
          </a:p>
          <a:p>
            <a:r>
              <a:t>     the pattern, not defending the exact percentages for rack. The RAIN data is B2B and self-reported.</a:t>
            </a:r>
          </a:p>
          <a:p>
            <a:r>
              <a:t>     The InsideSales 1.3 attempts is platform data across 8,000 companies. Three different methods, same</a:t>
            </a:r>
          </a:p>
          <a:p>
            <a:r>
              <a:t>     shape: most reps stop early, most conversions happen later.</a:t>
            </a:r>
          </a:p>
          <a:p/>
          <a:p>
            <a:r>
              <a:t>SOURCE</a:t>
            </a:r>
          </a:p>
          <a:p>
            <a:r>
              <a:t>Velocify/Leads360 Ultimate Contact Strategy, Dec 2012. RAIN Group Top Performance in Sales</a:t>
            </a:r>
          </a:p>
          <a:p>
            <a:r>
              <a:t>     Prospecting, 2018. InsideSales 2014 Lead Response Report. Thomasnet 2021.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</a:t>
            </a:r>
          </a:p>
          <a:p>
            <a:r>
              <a:t>One minute on this because some of you have seen these numbers in a training deck or on LinkedIn.</a:t>
            </a:r>
          </a:p>
          <a:p>
            <a:r>
              <a:t>     Eighty percent of sales need five follow-ups and forty-four percent of reps quit after one. That</a:t>
            </a:r>
          </a:p>
          <a:p>
            <a:r>
              <a:t>     traces to a 1942 survey of fewer than forty door-to-door salesmen on Long Island. Seventy-eight</a:t>
            </a:r>
          </a:p>
          <a:p>
            <a:r>
              <a:t>     percent buy from the first responder. Attributed to a survey nobody can find. Thirty-five to fifty</a:t>
            </a:r>
          </a:p>
          <a:p>
            <a:r>
              <a:t>     percent go to the first responder. A vendor blog, no study. The MIT study. Vendor-sponsored, never</a:t>
            </a:r>
          </a:p>
          <a:p>
            <a:r>
              <a:t>     published by MIT. The dissatisfied customer tells nine to fifteen people. Attributed to a White House</a:t>
            </a:r>
          </a:p>
          <a:p>
            <a:r>
              <a:t>     office that never published it. I checked all of them and pulled them. Here is why I care. We are</a:t>
            </a:r>
          </a:p>
          <a:p>
            <a:r>
              <a:t>     about to set standards. If the standard rests on a made-up number, the first skeptic who Googles it</a:t>
            </a:r>
          </a:p>
          <a:p>
            <a:r>
              <a:t>     wins the argument. Everything on these slides survives that Google search.</a:t>
            </a:r>
          </a:p>
          <a:p/>
          <a:p>
            <a:r>
              <a:t>IF ASKED</a:t>
            </a:r>
          </a:p>
          <a:p>
            <a:r>
              <a:t>If this slide feels like a detour, skip it and reference the brief. But if anyone quotes one of these</a:t>
            </a:r>
          </a:p>
          <a:p>
            <a:r>
              <a:t>     numbers back at us later, this is the answer.</a:t>
            </a:r>
          </a:p>
          <a:p/>
          <a:p>
            <a:r>
              <a:t>SOURCE</a:t>
            </a:r>
          </a:p>
          <a:p>
            <a:r>
              <a:t>Conciergr and Sales &amp; Marketing Executives International trace of the 80%/5-touches claim, 2021.</a:t>
            </a:r>
          </a:p>
          <a:p>
            <a:r>
              <a:t>     Full trace for each item in the research brief, section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</a:t>
            </a:r>
          </a:p>
          <a:p>
            <a:r>
              <a:t>The PO is not the finish line. Service after the sale is now part of how buyers pick the next</a:t>
            </a:r>
          </a:p>
          <a:p>
            <a:r>
              <a:t>     supplier.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</a:t>
            </a:r>
          </a:p>
          <a:p>
            <a:r>
              <a:t>Three numbers, and the first one is ours. Modern Materials Handling asks warehouse decision makers</a:t>
            </a:r>
          </a:p>
          <a:p>
            <a:r>
              <a:t>     what is very important when they evaluate equipment. In 2026, ninety-five percent said fast service</a:t>
            </a:r>
          </a:p>
          <a:p>
            <a:r>
              <a:t>     response times. A year earlier it was eighty-three percent. That is a twelve-point jump in one year,</a:t>
            </a:r>
          </a:p>
          <a:p>
            <a:r>
              <a:t>     and it now sits right next to durability and uptime at ninety-two percent. Purchase price was</a:t>
            </a:r>
          </a:p>
          <a:p>
            <a:r>
              <a:t>     seventy-eight. Service response outranks price. Second number, Salesforce asked business buyers why</a:t>
            </a:r>
          </a:p>
          <a:p>
            <a:r>
              <a:t>     they stopped buying from a brand in the past year. Price was first at sixty-five percent. Poor customer</a:t>
            </a:r>
          </a:p>
          <a:p>
            <a:r>
              <a:t>     service was second at forty-one percent. Third, UPS surveyed fifteen hundred U.S. industrial buyers.</a:t>
            </a:r>
          </a:p>
          <a:p>
            <a:r>
              <a:t>     Half said they would switch to a supplier that offered better post-sale support: returns, training,</a:t>
            </a:r>
          </a:p>
          <a:p>
            <a:r>
              <a:t>     on-site help. Among millennial buyers, who are now the majority of purchasing managers, eighty-seven</a:t>
            </a:r>
          </a:p>
          <a:p>
            <a:r>
              <a:t>     percent. For a rack buyer, service is the install crew showing up when promised, the parts desk</a:t>
            </a:r>
          </a:p>
          <a:p>
            <a:r>
              <a:t>     answering the same day, and the engineer calling back on a damaged upright. That is the product now.</a:t>
            </a:r>
          </a:p>
          <a:p/>
          <a:p>
            <a:r>
              <a:t>IF ASKED</a:t>
            </a:r>
          </a:p>
          <a:p>
            <a:r>
              <a:t>The MMH 2026 study is automation buyers, not rack buyers specifically, but it is the same warehouse</a:t>
            </a:r>
          </a:p>
          <a:p>
            <a:r>
              <a:t>     decision maker. The MMH 2025 lift truck survey puts service response time in the top five purchase</a:t>
            </a:r>
          </a:p>
          <a:p>
            <a:r>
              <a:t>     factors, and the MHEDA Journal quotes Hytrol's CRO saying response for uptime-critical customers has</a:t>
            </a:r>
          </a:p>
          <a:p>
            <a:r>
              <a:t>     to be within minutes, not hours.</a:t>
            </a:r>
          </a:p>
          <a:p/>
          <a:p>
            <a:r>
              <a:t>SOURCE</a:t>
            </a:r>
          </a:p>
          <a:p>
            <a:r>
              <a:t>MMH/Peerless 2026 Automation Study (95%, 92%, 78%) and 2025 Automation Survey (83%). Salesforce State</a:t>
            </a:r>
          </a:p>
          <a:p>
            <a:r>
              <a:t>     of the AI Connected Customer, 7th ed., 2024, 1,570 business buyers (41%, 65%). UPS Industrial Buying</a:t>
            </a:r>
          </a:p>
          <a:p>
            <a:r>
              <a:t>     Dynamics 2017 (50%) and 2019 (87%).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</a:t>
            </a:r>
          </a:p>
          <a:p>
            <a:r>
              <a:t>Left side, what service earns. Deloitte's 2026 manufacturing outlook: aftermarket services carry</a:t>
            </a:r>
          </a:p>
          <a:p>
            <a:r>
              <a:t>     margins more than twice what equipment sales carry. Salesforce surveyed eight hundred thirty</a:t>
            </a:r>
          </a:p>
          <a:p>
            <a:r>
              <a:t>     manufacturers: ninety-seven percent are changing how they run service and aftermarket, and of the</a:t>
            </a:r>
          </a:p>
          <a:p>
            <a:r>
              <a:t>     ones that track satisfaction, only forty-four percent are hitting their goals. So everyone knows it</a:t>
            </a:r>
          </a:p>
          <a:p>
            <a:r>
              <a:t>     matters and most are not there yet. Gartner: seventy-three percent of chief sales officers now put</a:t>
            </a:r>
          </a:p>
          <a:p>
            <a:r>
              <a:t>     existing-customer growth ahead of new logos. Accenture: companies that treat service as a value center</a:t>
            </a:r>
          </a:p>
          <a:p>
            <a:r>
              <a:t>     grow revenue three and a half times faster than companies that treat it as a cost. Right side, what</a:t>
            </a:r>
          </a:p>
          <a:p>
            <a:r>
              <a:t>     poor service costs. Eighty percent of frequent B2B buyers switched a supplier in the last two years</a:t>
            </a:r>
          </a:p>
          <a:p>
            <a:r>
              <a:t>     because it could not meet expectations. Sixty-six percent of B2B customers stopped buying after one bad</a:t>
            </a:r>
          </a:p>
          <a:p>
            <a:r>
              <a:t>     service interaction, and half of those were still avoiding that vendor two years later. Gallup: only</a:t>
            </a:r>
          </a:p>
          <a:p>
            <a:r>
              <a:t>     twenty-nine percent of B2B customers are fully engaged. The other seventy-one percent are, in their</a:t>
            </a:r>
          </a:p>
          <a:p>
            <a:r>
              <a:t>     words, ready to take their business elsewhere. For us: a rack customer who had a good install and a</a:t>
            </a:r>
          </a:p>
          <a:p>
            <a:r>
              <a:t>     fast parts response buys the next building from us without a bid. One who didn't tells the dealer.</a:t>
            </a:r>
          </a:p>
          <a:p/>
          <a:p>
            <a:r>
              <a:t>IF ASKED</a:t>
            </a:r>
          </a:p>
          <a:p>
            <a:r>
              <a:t>The 66% and 51% are from 2013, the only study with a clean B2B versus B2C split on service-driven</a:t>
            </a:r>
          </a:p>
          <a:p>
            <a:r>
              <a:t>     buying. Gallup is 2016. The rest is 2022 to 2026. The old numbers are flagged as dated in the brief.</a:t>
            </a:r>
          </a:p>
          <a:p>
            <a:r>
              <a:t>     The rule of thumb that selling to an existing customer is 60 to 70% likely versus 5 to 20% for a new</a:t>
            </a:r>
          </a:p>
          <a:p>
            <a:r>
              <a:t>     prospect is a textbook figure, not a study, so it is not on the slide.</a:t>
            </a:r>
          </a:p>
          <a:p/>
          <a:p>
            <a:r>
              <a:t>SOURCE</a:t>
            </a:r>
          </a:p>
          <a:p>
            <a:r>
              <a:t>Deloitte 2026 Manufacturing Industry Outlook. Salesforce Trends in Manufacturing 2024. Gartner CSO</a:t>
            </a:r>
          </a:p>
          <a:p>
            <a:r>
              <a:t>     survey, May 2025. Accenture End-to-Endless Customer Service 2022. Accenture Interactive 2019.</a:t>
            </a:r>
          </a:p>
          <a:p>
            <a:r>
              <a:t>     Dimensional Research for Zendesk 2013. Gallup Guide to Customer Centricity 2016.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</a:t>
            </a:r>
          </a:p>
          <a:p>
            <a:r>
              <a:t>Most of what we sell goes through a dealer, so let's talk about the dealer's clock. The best channel</a:t>
            </a:r>
          </a:p>
          <a:p>
            <a:r>
              <a:t>     number in material handling is lift trucks: eighty-six percent of spend runs through dealers, under</a:t>
            </a:r>
          </a:p>
          <a:p>
            <a:r>
              <a:t>     fifteen percent direct. Nobody publishes the same split for rack, but we know our own mix. MHEDA's 2025</a:t>
            </a:r>
          </a:p>
          <a:p>
            <a:r>
              <a:t>     outlook for the storage and handling segment says customers now expect contractor-like service</a:t>
            </a:r>
          </a:p>
          <a:p>
            <a:r>
              <a:t>     capabilities from the dealer. Its 2026 trends list has rising customer expectations squeezing dealer</a:t>
            </a:r>
          </a:p>
          <a:p>
            <a:r>
              <a:t>     margins, and manufacturer-distributor partnerships becoming essential. Hytrol's chief revenue officer</a:t>
            </a:r>
          </a:p>
          <a:p>
            <a:r>
              <a:t>     told MHEDA members that for uptime-critical end users, response has to be within minutes, not hours.</a:t>
            </a:r>
          </a:p>
          <a:p>
            <a:r>
              <a:t>     And eighty percent of industrial buyers say they would move to a supplier with a more usable web</a:t>
            </a:r>
          </a:p>
          <a:p>
            <a:r>
              <a:t>     presence, which is a marketing item for John and me. Here is the connection. When a dealer sends us a</a:t>
            </a:r>
          </a:p>
          <a:p>
            <a:r>
              <a:t>     quote request, a drawing question, or a parts inquiry, there is an end customer on the other side of</a:t>
            </a:r>
          </a:p>
          <a:p>
            <a:r>
              <a:t>     that dealer holding the twenty-four-hour clock from slide eight. The dealer cannot be faster than we</a:t>
            </a:r>
          </a:p>
          <a:p>
            <a:r>
              <a:t>     are. Our response time is their response time.</a:t>
            </a:r>
          </a:p>
          <a:p/>
          <a:p>
            <a:r>
              <a:t>IF ASKED</a:t>
            </a:r>
          </a:p>
          <a:p>
            <a:r>
              <a:t>If someone asks for a rack-specific channel share: it does not exist publicly. MHEDA's distributor</a:t>
            </a:r>
          </a:p>
          <a:p>
            <a:r>
              <a:t>     statistics are member-only. Use our own bookings mix.</a:t>
            </a:r>
          </a:p>
          <a:p/>
          <a:p>
            <a:r>
              <a:t>SOURCE</a:t>
            </a:r>
          </a:p>
          <a:p>
            <a:r>
              <a:t>MMH/Peerless 2025 Lift Truck User Survey. MHEDA Journal 2025 Industry Outlook. MHEDA 2026 Material</a:t>
            </a:r>
          </a:p>
          <a:p>
            <a:r>
              <a:t>     Handling Business Trends. MHEDA Journal, Advancing from Distributor to Integrator. UPS 2017.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</a:t>
            </a:r>
          </a:p>
          <a:p>
            <a:r>
              <a:t>That is the evidence. Now what we do with it. First, where it lands in our own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</a:t>
            </a:r>
          </a:p>
          <a:p>
            <a:r>
              <a:t>Six places this research lands in our building. Web RFQs and contact forms: the buyer expects a</a:t>
            </a:r>
          </a:p>
          <a:p>
            <a:r>
              <a:t>     human the same day, and the HBR data says an hour. Dealer quote requests: lead time is the number one</a:t>
            </a:r>
          </a:p>
          <a:p>
            <a:r>
              <a:t>     shortlist factor, and most manufacturers take a day or more to quote. If we quote same day, the dealer</a:t>
            </a:r>
          </a:p>
          <a:p>
            <a:r>
              <a:t>     wins the shortlist. Application and drawings: buyers trust the vendor's engineers more than anyone, and</a:t>
            </a:r>
          </a:p>
          <a:p>
            <a:r>
              <a:t>     a rep in the deal cuts regret in half. Follow-up on open quotes: we chase, they never chase. Install,</a:t>
            </a:r>
          </a:p>
          <a:p>
            <a:r>
              <a:t>     parts, and service: ninety-five percent rate response time very important, and poor service is the</a:t>
            </a:r>
          </a:p>
          <a:p>
            <a:r>
              <a:t>     second reason buyers leave. Existing accounts: aftermarket margins are double equipment, and most CSOs</a:t>
            </a:r>
          </a:p>
          <a:p>
            <a:r>
              <a:t>     are now prioritizing the accounts they already have. I want to hear from you on this one. Which of these</a:t>
            </a:r>
          </a:p>
          <a:p>
            <a:r>
              <a:t>     six is our weakest today? Where does a lead or a dealer question sit longest? That is what the baseline</a:t>
            </a:r>
          </a:p>
          <a:p>
            <a:r>
              <a:t>     in October will tell us, but you already know.</a:t>
            </a:r>
          </a:p>
          <a:p/>
          <a:p>
            <a:r>
              <a:t>IF ASKED</a:t>
            </a:r>
          </a:p>
          <a:p>
            <a:r>
              <a:t>This is a discussion slide. Let it run a few minutes. Write down what the room says the weakest</a:t>
            </a:r>
          </a:p>
          <a:p>
            <a:r>
              <a:t>     touchpoint is. It goes into the November standards conversation.</a:t>
            </a:r>
          </a:p>
          <a:p/>
          <a:p>
            <a:r>
              <a:t>SOURCE</a:t>
            </a:r>
          </a:p>
          <a:p>
            <a:r>
              <a:t>All sources as cited on the preceding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</a:t>
            </a:r>
          </a:p>
          <a:p>
            <a:r>
              <a:t>Three standards. I am proposing them, not announcing them, and I want the room to push on the</a:t>
            </a:r>
          </a:p>
          <a:p>
            <a:r>
              <a:t>     numbers. One: first touch inside one business hour. Every web form, every dealer inquiry, every RFQ</a:t>
            </a:r>
          </a:p>
          <a:p>
            <a:r>
              <a:t>     gets a human acknowledgment within the hour and a real answer or quote within twenty-four. That comes</a:t>
            </a:r>
          </a:p>
          <a:p>
            <a:r>
              <a:t>     straight from the seven-x finding and Thomasnet's twenty-four-hour expectation. Two: six touches before</a:t>
            </a:r>
          </a:p>
          <a:p>
            <a:r>
              <a:t>     we close a lead. Nobody marks a lead dead after one call. Six touches across phone and email over two</a:t>
            </a:r>
          </a:p>
          <a:p>
            <a:r>
              <a:t>     weeks, and every touch carries something useful. That is Velocify's ninety-three percent by the sixth</a:t>
            </a:r>
          </a:p>
          <a:p>
            <a:r>
              <a:t>     call and RAIN's five to eight touches. Three: same-day service response. Parts, install, post-sale</a:t>
            </a:r>
          </a:p>
          <a:p>
            <a:r>
              <a:t>     questions get a same-day reply and a named owner. Dealer questions inside four business hours. That is</a:t>
            </a:r>
          </a:p>
          <a:p>
            <a:r>
              <a:t>     the ninety-five percent from MMH and the dealer clock. And all three get reported monthly next to</a:t>
            </a:r>
          </a:p>
          <a:p>
            <a:r>
              <a:t>     bookings, because what we don't measure, we don't do. What gets in the way of each of these today?</a:t>
            </a:r>
          </a:p>
          <a:p>
            <a:r>
              <a:t>     That is the list we fix.</a:t>
            </a:r>
          </a:p>
          <a:p/>
          <a:p>
            <a:r>
              <a:t>IF ASKED</a:t>
            </a:r>
          </a:p>
          <a:p>
            <a:r>
              <a:t>Expected pushback: we don't have the people to answer in an hour. Answer: acknowledgment in an hour</a:t>
            </a:r>
          </a:p>
          <a:p>
            <a:r>
              <a:t>     is a text or a two-line email that says who owns it and when they'll have an answer. The quote gets</a:t>
            </a:r>
          </a:p>
          <a:p>
            <a:r>
              <a:t>     twenty-four hours. Second pushback: six touches will annoy dealers. Answer: RAIN's buyers said two to</a:t>
            </a:r>
          </a:p>
          <a:p>
            <a:r>
              <a:t>     ten contacts is normal. The rule is every touch carries something new.</a:t>
            </a:r>
          </a:p>
          <a:p/>
          <a:p>
            <a:r>
              <a:t>SOURCE</a:t>
            </a:r>
          </a:p>
          <a:p>
            <a:r>
              <a:t>HBR 2011 (1 hour). Thomasnet 2021 (24 hours). Velocify 2012 and RAIN 2018 (six touches). MMH 2026</a:t>
            </a:r>
          </a:p>
          <a:p>
            <a:r>
              <a:t>     and MHEDA (same-day service).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</a:t>
            </a:r>
          </a:p>
          <a:p>
            <a:r>
              <a:t>Four steps. October, baseline. We pull ninety days of CRM data on time to first touch and touches</a:t>
            </a:r>
          </a:p>
          <a:p>
            <a:r>
              <a:t>     per lead, and we secret-shop ourselves the way HBR did: submit a web lead, call the main line, send a</a:t>
            </a:r>
          </a:p>
          <a:p>
            <a:r>
              <a:t>     dealer-style RFQ, and time the response. No judgment, just the number. November, we agree the standards</a:t>
            </a:r>
          </a:p>
          <a:p>
            <a:r>
              <a:t>     with the baseline in front of us and build the six-touch cadence and templates. December, lead routing</a:t>
            </a:r>
          </a:p>
          <a:p>
            <a:r>
              <a:t>     with alerts and a response-time report by rep and by dealer. First quarter, it goes on the sales</a:t>
            </a:r>
          </a:p>
          <a:p>
            <a:r>
              <a:t>     scorecard and we review it monthly in L10. I own the baseline and the scorecard. Regional managers own</a:t>
            </a:r>
          </a:p>
          <a:p>
            <a:r>
              <a:t>     the cadence. Marketing and inside sales own the tooling.</a:t>
            </a:r>
          </a:p>
          <a:p/>
          <a:p>
            <a:r>
              <a:t>IF ASKED</a:t>
            </a:r>
          </a:p>
          <a:p>
            <a:r>
              <a:t>If someone asks why not set the standard now: because we don't know if we are at four hours or forty.</a:t>
            </a:r>
          </a:p>
          <a:p>
            <a:r>
              <a:t>     The standard should be a stretch from where we are, not a guess.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</a:t>
            </a:r>
          </a:p>
          <a:p>
            <a:r>
              <a:t>Last thought before the action list. Nobody has ever bought a rack system because we called back</a:t>
            </a:r>
          </a:p>
          <a:p>
            <a:r>
              <a:t>     fast. Speed and service do not win the order by themselves. What they do is keep us on the shortlist</a:t>
            </a:r>
          </a:p>
          <a:p>
            <a:r>
              <a:t>     long enough for the product, the engineering, and the price to win. And the research says the</a:t>
            </a:r>
          </a:p>
          <a:p>
            <a:r>
              <a:t>     shortlist is short, it is built early, and it closes fast. We just have to be on it when it closes.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</a:t>
            </a:r>
          </a:p>
          <a:p>
            <a:r>
              <a:t>Six actions. I take the secret shop and the scorecard. Inside sales pulls the CRM data. Regional</a:t>
            </a:r>
          </a:p>
          <a:p>
            <a:r>
              <a:t>     managers draft the cadence. We agree the standards at the November meeting. John and inside sales build</a:t>
            </a:r>
          </a:p>
          <a:p>
            <a:r>
              <a:t>     the dashboard by mid-December. Names and dates are proposals. Let's fix them now before we leave.</a:t>
            </a:r>
          </a:p>
          <a:p/>
          <a:p>
            <a:r>
              <a:t>IF ASKED</a:t>
            </a:r>
          </a:p>
          <a:p>
            <a:r>
              <a:t>Confirm real names for inside sales lead and regional managers in the room. Adjust dates to the</a:t>
            </a:r>
          </a:p>
          <a:p>
            <a:r>
              <a:t>     actual November meeting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</a:t>
            </a:r>
          </a:p>
          <a:p>
            <a:r>
              <a:t>Three standards. First touch inside an hour. Six touches before a lead closes. Same-day service</a:t>
            </a:r>
          </a:p>
          <a:p>
            <a:r>
              <a:t>     response. Baseline in October. On the scorecard by January. Thanks.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COVER-image-2.jpeg"/><Relationship Id="rId3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SECTION-image-2.jpeg"/><Relationship Id="rId3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4-1.png"/><Relationship Id="rId3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5-1.png"/><Relationship Id="rId3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7-1.png"/><Relationship Id="rId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8-1.png"/><Relationship Id="rId3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9-1.png"/><Relationship Id="rId3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10-1.png"/><Relationship Id="rId3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11-1.png"/><Relationship Id="rId3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12-1.png"/><Relationship Id="rId3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13-1.png"/><Relationship Id="rId2" Type="http://schemas.openxmlformats.org/officeDocument/2006/relationships/image" Target="../media/KEY_MESSAGE-image-2.jpeg"/><Relationship Id="rId3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14-1.png"/><Relationship Id="rId3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15-1.png"/><Relationship Id="rId2" Type="http://schemas.openxmlformats.org/officeDocument/2006/relationships/image" Target="../media/CLOSING-image-2.jpeg"/><Relationship Id="rId3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16-1.png"/><Relationship Id="rId2" Type="http://schemas.openxmlformats.org/officeDocument/2006/relationships/image" Target="../media/image-1016-2.png"/><Relationship Id="rId3" Type="http://schemas.openxmlformats.org/officeDocument/2006/relationships/image" Target="../media/COVER_MASCOT-image-3.jpeg"/><Relationship Id="rId4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nd/logo_h_re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58368"/>
            <a:ext cx="2377440" cy="803189"/>
          </a:xfrm>
          <a:prstGeom prst="rect">
            <a:avLst/>
          </a:prstGeom>
        </p:spPr>
      </p:pic>
      <p:sp>
        <p:nvSpPr>
          <p:cNvPr id="3" name="Text 0"/>
          <p:cNvSpPr txBox="1"/>
          <p:nvPr>
            <p:ph idx="101" type="body" hasCustomPrompt="1"/>
          </p:nvPr>
        </p:nvSpPr>
        <p:spPr>
          <a:xfrm>
            <a:off x="731520" y="2212848"/>
            <a:ext cx="69494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40" kern="0" dirty="0">
                <a:solidFill>
                  <a:srgbClr val="A9D9B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40" kern="0" dirty="0">
                <a:solidFill>
                  <a:srgbClr val="A9D9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BRIEFING</a:t>
            </a:r>
            <a:endParaRPr lang="en-US" sz="1100" dirty="0"/>
          </a:p>
        </p:txBody>
      </p:sp>
      <p:sp>
        <p:nvSpPr>
          <p:cNvPr id="4" name="Shape 0"/>
          <p:cNvSpPr/>
          <p:nvPr/>
        </p:nvSpPr>
        <p:spPr>
          <a:xfrm>
            <a:off x="731520" y="2688336"/>
            <a:ext cx="777240" cy="50292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5" name="Text 1"/>
          <p:cNvSpPr txBox="1"/>
          <p:nvPr>
            <p:ph idx="103" type="title" hasCustomPrompt="1"/>
          </p:nvPr>
        </p:nvSpPr>
        <p:spPr>
          <a:xfrm>
            <a:off x="731520" y="2907792"/>
            <a:ext cx="6949440" cy="16276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4600" dirty="0"/>
          </a:p>
        </p:txBody>
      </p:sp>
      <p:sp>
        <p:nvSpPr>
          <p:cNvPr id="6" name="Text 1"/>
          <p:cNvSpPr txBox="1"/>
          <p:nvPr>
            <p:ph idx="104" type="body" hasCustomPrompt="1"/>
          </p:nvPr>
        </p:nvSpPr>
        <p:spPr>
          <a:xfrm>
            <a:off x="731520" y="4663440"/>
            <a:ext cx="69494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E4EFE8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E4E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 on what this deck argues</a:t>
            </a:r>
            <a:endParaRPr lang="en-US" sz="1700" dirty="0"/>
          </a:p>
        </p:txBody>
      </p:sp>
      <p:sp>
        <p:nvSpPr>
          <p:cNvPr id="7" name="Text 1"/>
          <p:cNvSpPr txBox="1"/>
          <p:nvPr>
            <p:ph idx="105" type="body" hasCustomPrompt="1"/>
          </p:nvPr>
        </p:nvSpPr>
        <p:spPr>
          <a:xfrm>
            <a:off x="731520" y="5998464"/>
            <a:ext cx="69494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50" spc="80" kern="0" dirty="0">
                <a:solidFill>
                  <a:srgbClr val="C3DACB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50" spc="80" kern="0" dirty="0">
                <a:solidFill>
                  <a:srgbClr val="C3D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  |  Audience  |  Month Year</a:t>
            </a:r>
            <a:endParaRPr lang="en-US" sz="11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nd/logo_h_re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6272784"/>
            <a:ext cx="1325880" cy="447932"/>
          </a:xfrm>
          <a:prstGeom prst="rect">
            <a:avLst/>
          </a:prstGeom>
        </p:spPr>
      </p:pic>
      <p:sp>
        <p:nvSpPr>
          <p:cNvPr id="3" name="Text 0"/>
          <p:cNvSpPr txBox="1"/>
          <p:nvPr>
            <p:ph idx="101" type="body" hasCustomPrompt="1"/>
          </p:nvPr>
        </p:nvSpPr>
        <p:spPr>
          <a:xfrm>
            <a:off x="731520" y="2212848"/>
            <a:ext cx="292608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600" b="1" spc="-200" kern="0" dirty="0">
                <a:solidFill>
                  <a:srgbClr val="A9D9B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8600" b="1" spc="-200" kern="0" dirty="0">
                <a:solidFill>
                  <a:srgbClr val="A9D9B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600" dirty="0"/>
          </a:p>
        </p:txBody>
      </p:sp>
      <p:sp>
        <p:nvSpPr>
          <p:cNvPr id="4" name="Shape 0"/>
          <p:cNvSpPr/>
          <p:nvPr/>
        </p:nvSpPr>
        <p:spPr>
          <a:xfrm>
            <a:off x="731520" y="3712464"/>
            <a:ext cx="777240" cy="50292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5" name="Text 1"/>
          <p:cNvSpPr txBox="1"/>
          <p:nvPr>
            <p:ph idx="103" type="title" hasCustomPrompt="1"/>
          </p:nvPr>
        </p:nvSpPr>
        <p:spPr>
          <a:xfrm>
            <a:off x="731520" y="3986784"/>
            <a:ext cx="6949440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spc="-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800" b="1" spc="-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name</a:t>
            </a:r>
            <a:endParaRPr lang="en-US" sz="3800" dirty="0"/>
          </a:p>
        </p:txBody>
      </p:sp>
      <p:sp>
        <p:nvSpPr>
          <p:cNvPr id="6" name="Text 1"/>
          <p:cNvSpPr txBox="1"/>
          <p:nvPr>
            <p:ph idx="104" type="body" hasCustomPrompt="1"/>
          </p:nvPr>
        </p:nvSpPr>
        <p:spPr>
          <a:xfrm>
            <a:off x="731520" y="4956048"/>
            <a:ext cx="69494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E4EFE8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500" dirty="0">
                <a:solidFill>
                  <a:srgbClr val="E4E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section settles.</a:t>
            </a:r>
            <a:endParaRPr lang="en-US" sz="15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0" type="body" hasCustomPrompt="1"/>
          </p:nvPr>
        </p:nvSpPr>
        <p:spPr>
          <a:xfrm>
            <a:off x="731520" y="548640"/>
            <a:ext cx="10728655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</a:t>
            </a:r>
            <a:endParaRPr lang="en-US" sz="1100" dirty="0"/>
          </a:p>
        </p:txBody>
      </p:sp>
      <p:sp>
        <p:nvSpPr>
          <p:cNvPr id="3" name="Text 0"/>
          <p:cNvSpPr txBox="1"/>
          <p:nvPr>
            <p:ph idx="101" type="title" hasCustomPrompt="1"/>
          </p:nvPr>
        </p:nvSpPr>
        <p:spPr>
          <a:xfrm>
            <a:off x="731520" y="822960"/>
            <a:ext cx="1005840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3400" dirty="0"/>
          </a:p>
        </p:txBody>
      </p:sp>
      <p:sp>
        <p:nvSpPr>
          <p:cNvPr id="4" name="Text 0"/>
          <p:cNvSpPr txBox="1"/>
          <p:nvPr>
            <p:ph idx="102" type="body" hasCustomPrompt="1"/>
          </p:nvPr>
        </p:nvSpPr>
        <p:spPr>
          <a:xfrm>
            <a:off x="731520" y="1591056"/>
            <a:ext cx="10728655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cover and what we decide.</a:t>
            </a:r>
            <a:endParaRPr lang="en-US" sz="1600" dirty="0"/>
          </a:p>
        </p:txBody>
      </p:sp>
      <p:sp>
        <p:nvSpPr>
          <p:cNvPr id="5" name="Text 0"/>
          <p:cNvSpPr txBox="1"/>
          <p:nvPr/>
        </p:nvSpPr>
        <p:spPr>
          <a:xfrm>
            <a:off x="731520" y="2167128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1"/>
          <p:cNvSpPr txBox="1"/>
          <p:nvPr>
            <p:ph idx="104" type="body" hasCustomPrompt="1"/>
          </p:nvPr>
        </p:nvSpPr>
        <p:spPr>
          <a:xfrm>
            <a:off x="1508760" y="2167128"/>
            <a:ext cx="78638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b="1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item</a:t>
            </a:r>
            <a:endParaRPr lang="en-US" sz="1700" dirty="0"/>
          </a:p>
        </p:txBody>
      </p:sp>
      <p:sp>
        <p:nvSpPr>
          <p:cNvPr id="7" name="Text 1"/>
          <p:cNvSpPr txBox="1"/>
          <p:nvPr>
            <p:ph idx="105" type="body" hasCustomPrompt="1"/>
          </p:nvPr>
        </p:nvSpPr>
        <p:spPr>
          <a:xfrm>
            <a:off x="8869680" y="2167128"/>
            <a:ext cx="2587752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2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200" dirty="0"/>
          </a:p>
        </p:txBody>
      </p:sp>
      <p:sp>
        <p:nvSpPr>
          <p:cNvPr id="8" name="Shape 1"/>
          <p:cNvSpPr/>
          <p:nvPr/>
        </p:nvSpPr>
        <p:spPr>
          <a:xfrm>
            <a:off x="731520" y="2770632"/>
            <a:ext cx="10728655" cy="0"/>
          </a:xfrm>
          <a:prstGeom prst="line">
            <a:avLst/>
          </a:prstGeom>
          <a:noFill/>
          <a:ln w="12700">
            <a:solidFill>
              <a:srgbClr val="E2E6E3"/>
            </a:solidFill>
            <a:prstDash val="solid"/>
          </a:ln>
        </p:spPr>
      </p:sp>
      <p:sp>
        <p:nvSpPr>
          <p:cNvPr id="9" name="Text 2"/>
          <p:cNvSpPr txBox="1"/>
          <p:nvPr/>
        </p:nvSpPr>
        <p:spPr>
          <a:xfrm>
            <a:off x="731520" y="2916936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3"/>
          <p:cNvSpPr txBox="1"/>
          <p:nvPr>
            <p:ph idx="108" type="body" hasCustomPrompt="1"/>
          </p:nvPr>
        </p:nvSpPr>
        <p:spPr>
          <a:xfrm>
            <a:off x="1508760" y="2916936"/>
            <a:ext cx="78638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b="1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item</a:t>
            </a:r>
            <a:endParaRPr lang="en-US" sz="1700" dirty="0"/>
          </a:p>
        </p:txBody>
      </p:sp>
      <p:sp>
        <p:nvSpPr>
          <p:cNvPr id="11" name="Text 3"/>
          <p:cNvSpPr txBox="1"/>
          <p:nvPr>
            <p:ph idx="109" type="body" hasCustomPrompt="1"/>
          </p:nvPr>
        </p:nvSpPr>
        <p:spPr>
          <a:xfrm>
            <a:off x="8869680" y="2916936"/>
            <a:ext cx="2587752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2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200" dirty="0"/>
          </a:p>
        </p:txBody>
      </p:sp>
      <p:sp>
        <p:nvSpPr>
          <p:cNvPr id="12" name="Shape 3"/>
          <p:cNvSpPr/>
          <p:nvPr/>
        </p:nvSpPr>
        <p:spPr>
          <a:xfrm>
            <a:off x="731520" y="3520440"/>
            <a:ext cx="10728655" cy="0"/>
          </a:xfrm>
          <a:prstGeom prst="line">
            <a:avLst/>
          </a:prstGeom>
          <a:noFill/>
          <a:ln w="12700">
            <a:solidFill>
              <a:srgbClr val="E2E6E3"/>
            </a:solidFill>
            <a:prstDash val="solid"/>
          </a:ln>
        </p:spPr>
      </p:sp>
      <p:sp>
        <p:nvSpPr>
          <p:cNvPr id="13" name="Text 4"/>
          <p:cNvSpPr txBox="1"/>
          <p:nvPr/>
        </p:nvSpPr>
        <p:spPr>
          <a:xfrm>
            <a:off x="731520" y="3666744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4" name="Text 5"/>
          <p:cNvSpPr txBox="1"/>
          <p:nvPr>
            <p:ph idx="112" type="body" hasCustomPrompt="1"/>
          </p:nvPr>
        </p:nvSpPr>
        <p:spPr>
          <a:xfrm>
            <a:off x="1508760" y="3666744"/>
            <a:ext cx="78638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b="1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item</a:t>
            </a:r>
            <a:endParaRPr lang="en-US" sz="1700" dirty="0"/>
          </a:p>
        </p:txBody>
      </p:sp>
      <p:sp>
        <p:nvSpPr>
          <p:cNvPr id="15" name="Text 5"/>
          <p:cNvSpPr txBox="1"/>
          <p:nvPr>
            <p:ph idx="113" type="body" hasCustomPrompt="1"/>
          </p:nvPr>
        </p:nvSpPr>
        <p:spPr>
          <a:xfrm>
            <a:off x="8869680" y="3666744"/>
            <a:ext cx="2587752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2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200" dirty="0"/>
          </a:p>
        </p:txBody>
      </p:sp>
      <p:sp>
        <p:nvSpPr>
          <p:cNvPr id="16" name="Shape 5"/>
          <p:cNvSpPr/>
          <p:nvPr/>
        </p:nvSpPr>
        <p:spPr>
          <a:xfrm>
            <a:off x="731520" y="4270248"/>
            <a:ext cx="10728655" cy="0"/>
          </a:xfrm>
          <a:prstGeom prst="line">
            <a:avLst/>
          </a:prstGeom>
          <a:noFill/>
          <a:ln w="12700">
            <a:solidFill>
              <a:srgbClr val="E2E6E3"/>
            </a:solidFill>
            <a:prstDash val="solid"/>
          </a:ln>
        </p:spPr>
      </p:sp>
      <p:sp>
        <p:nvSpPr>
          <p:cNvPr id="17" name="Text 6"/>
          <p:cNvSpPr txBox="1"/>
          <p:nvPr/>
        </p:nvSpPr>
        <p:spPr>
          <a:xfrm>
            <a:off x="731520" y="4416552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18" name="Text 7"/>
          <p:cNvSpPr txBox="1"/>
          <p:nvPr>
            <p:ph idx="116" type="body" hasCustomPrompt="1"/>
          </p:nvPr>
        </p:nvSpPr>
        <p:spPr>
          <a:xfrm>
            <a:off x="1508760" y="4416552"/>
            <a:ext cx="78638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b="1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item</a:t>
            </a:r>
            <a:endParaRPr lang="en-US" sz="1700" dirty="0"/>
          </a:p>
        </p:txBody>
      </p:sp>
      <p:sp>
        <p:nvSpPr>
          <p:cNvPr id="19" name="Text 7"/>
          <p:cNvSpPr txBox="1"/>
          <p:nvPr>
            <p:ph idx="117" type="body" hasCustomPrompt="1"/>
          </p:nvPr>
        </p:nvSpPr>
        <p:spPr>
          <a:xfrm>
            <a:off x="8869680" y="4416552"/>
            <a:ext cx="2587752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2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200" dirty="0"/>
          </a:p>
        </p:txBody>
      </p:sp>
      <p:sp>
        <p:nvSpPr>
          <p:cNvPr id="20" name="Shape 7"/>
          <p:cNvSpPr/>
          <p:nvPr/>
        </p:nvSpPr>
        <p:spPr>
          <a:xfrm>
            <a:off x="731520" y="5020056"/>
            <a:ext cx="10728655" cy="0"/>
          </a:xfrm>
          <a:prstGeom prst="line">
            <a:avLst/>
          </a:prstGeom>
          <a:noFill/>
          <a:ln w="12700">
            <a:solidFill>
              <a:srgbClr val="E2E6E3"/>
            </a:solidFill>
            <a:prstDash val="solid"/>
          </a:ln>
        </p:spPr>
      </p:sp>
      <p:sp>
        <p:nvSpPr>
          <p:cNvPr id="21" name="Text 8"/>
          <p:cNvSpPr txBox="1"/>
          <p:nvPr/>
        </p:nvSpPr>
        <p:spPr>
          <a:xfrm>
            <a:off x="731520" y="5166360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22" name="Text 9"/>
          <p:cNvSpPr txBox="1"/>
          <p:nvPr>
            <p:ph idx="120" type="body" hasCustomPrompt="1"/>
          </p:nvPr>
        </p:nvSpPr>
        <p:spPr>
          <a:xfrm>
            <a:off x="1508760" y="5166360"/>
            <a:ext cx="78638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b="1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item</a:t>
            </a:r>
            <a:endParaRPr lang="en-US" sz="1700" dirty="0"/>
          </a:p>
        </p:txBody>
      </p:sp>
      <p:sp>
        <p:nvSpPr>
          <p:cNvPr id="23" name="Text 9"/>
          <p:cNvSpPr txBox="1"/>
          <p:nvPr>
            <p:ph idx="121" type="body" hasCustomPrompt="1"/>
          </p:nvPr>
        </p:nvSpPr>
        <p:spPr>
          <a:xfrm>
            <a:off x="8869680" y="5166360"/>
            <a:ext cx="2587752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2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200" dirty="0"/>
          </a:p>
        </p:txBody>
      </p:sp>
      <p:sp>
        <p:nvSpPr>
          <p:cNvPr id="24" name="Shape 9"/>
          <p:cNvSpPr/>
          <p:nvPr/>
        </p:nvSpPr>
        <p:spPr>
          <a:xfrm>
            <a:off x="731520" y="5769864"/>
            <a:ext cx="10728655" cy="0"/>
          </a:xfrm>
          <a:prstGeom prst="line">
            <a:avLst/>
          </a:prstGeom>
          <a:noFill/>
          <a:ln w="12700">
            <a:solidFill>
              <a:srgbClr val="E2E6E3"/>
            </a:solidFill>
            <a:prstDash val="solid"/>
          </a:ln>
        </p:spPr>
      </p:sp>
      <p:pic>
        <p:nvPicPr>
          <p:cNvPr id="25" name="Image 0" descr="brand/logo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6272784"/>
            <a:ext cx="1325880" cy="4479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55480" y="6364224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0" type="body" hasCustomPrompt="1"/>
          </p:nvPr>
        </p:nvSpPr>
        <p:spPr>
          <a:xfrm>
            <a:off x="731520" y="548640"/>
            <a:ext cx="10728655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</a:t>
            </a:r>
            <a:endParaRPr lang="en-US" sz="1100" dirty="0"/>
          </a:p>
        </p:txBody>
      </p:sp>
      <p:sp>
        <p:nvSpPr>
          <p:cNvPr id="3" name="Text 0"/>
          <p:cNvSpPr txBox="1"/>
          <p:nvPr>
            <p:ph idx="101" type="title" hasCustomPrompt="1"/>
          </p:nvPr>
        </p:nvSpPr>
        <p:spPr>
          <a:xfrm>
            <a:off x="731520" y="822960"/>
            <a:ext cx="1005840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title</a:t>
            </a:r>
            <a:endParaRPr lang="en-US" sz="3400" dirty="0"/>
          </a:p>
        </p:txBody>
      </p:sp>
      <p:sp>
        <p:nvSpPr>
          <p:cNvPr id="4" name="Text 0"/>
          <p:cNvSpPr txBox="1"/>
          <p:nvPr>
            <p:ph idx="102" type="body" hasCustomPrompt="1"/>
          </p:nvPr>
        </p:nvSpPr>
        <p:spPr>
          <a:xfrm>
            <a:off x="731520" y="1591056"/>
            <a:ext cx="10728655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thing this slide proves.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3" type="body" hasCustomPrompt="1"/>
          </p:nvPr>
        </p:nvSpPr>
        <p:spPr>
          <a:xfrm>
            <a:off x="731520" y="2121408"/>
            <a:ext cx="10728655" cy="39136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content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4" type="body" hasCustomPrompt="1"/>
          </p:nvPr>
        </p:nvSpPr>
        <p:spPr>
          <a:xfrm>
            <a:off x="731520" y="6364224"/>
            <a:ext cx="786384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endParaRPr lang="en-US" sz="900" dirty="0"/>
          </a:p>
        </p:txBody>
      </p:sp>
      <p:pic>
        <p:nvPicPr>
          <p:cNvPr id="7" name="Image 0" descr="brand/logo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6272784"/>
            <a:ext cx="1325880" cy="4479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55480" y="6364224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_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0" type="body" hasCustomPrompt="1"/>
          </p:nvPr>
        </p:nvSpPr>
        <p:spPr>
          <a:xfrm>
            <a:off x="731520" y="548640"/>
            <a:ext cx="10728655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</a:t>
            </a:r>
            <a:endParaRPr lang="en-US" sz="1100" dirty="0"/>
          </a:p>
        </p:txBody>
      </p:sp>
      <p:sp>
        <p:nvSpPr>
          <p:cNvPr id="3" name="Text 0"/>
          <p:cNvSpPr txBox="1"/>
          <p:nvPr>
            <p:ph idx="101" type="title" hasCustomPrompt="1"/>
          </p:nvPr>
        </p:nvSpPr>
        <p:spPr>
          <a:xfrm>
            <a:off x="731520" y="822960"/>
            <a:ext cx="1005840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title</a:t>
            </a:r>
            <a:endParaRPr lang="en-US" sz="3400" dirty="0"/>
          </a:p>
        </p:txBody>
      </p:sp>
      <p:sp>
        <p:nvSpPr>
          <p:cNvPr id="4" name="Text 0"/>
          <p:cNvSpPr txBox="1"/>
          <p:nvPr>
            <p:ph idx="102" type="body" hasCustomPrompt="1"/>
          </p:nvPr>
        </p:nvSpPr>
        <p:spPr>
          <a:xfrm>
            <a:off x="731520" y="1591056"/>
            <a:ext cx="10728655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thing this slide proves.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3" type="body" hasCustomPrompt="1"/>
          </p:nvPr>
        </p:nvSpPr>
        <p:spPr>
          <a:xfrm>
            <a:off x="731520" y="2121408"/>
            <a:ext cx="51206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4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24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HEADING</a:t>
            </a:r>
            <a:endParaRPr lang="en-US" sz="1100" dirty="0"/>
          </a:p>
        </p:txBody>
      </p:sp>
      <p:sp>
        <p:nvSpPr>
          <p:cNvPr id="6" name="Shape 0"/>
          <p:cNvSpPr/>
          <p:nvPr/>
        </p:nvSpPr>
        <p:spPr>
          <a:xfrm>
            <a:off x="731520" y="2505456"/>
            <a:ext cx="5120640" cy="0"/>
          </a:xfrm>
          <a:prstGeom prst="line">
            <a:avLst/>
          </a:prstGeom>
          <a:noFill/>
          <a:ln w="12700">
            <a:solidFill>
              <a:srgbClr val="E2E6E3"/>
            </a:solidFill>
            <a:prstDash val="solid"/>
          </a:ln>
        </p:spPr>
      </p:sp>
      <p:sp>
        <p:nvSpPr>
          <p:cNvPr id="7" name="Text 1"/>
          <p:cNvSpPr txBox="1"/>
          <p:nvPr>
            <p:ph idx="105" type="body" hasCustomPrompt="1"/>
          </p:nvPr>
        </p:nvSpPr>
        <p:spPr>
          <a:xfrm>
            <a:off x="731520" y="2651760"/>
            <a:ext cx="5120640" cy="3383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50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content</a:t>
            </a:r>
            <a:endParaRPr lang="en-US" sz="1500" dirty="0"/>
          </a:p>
        </p:txBody>
      </p:sp>
      <p:sp>
        <p:nvSpPr>
          <p:cNvPr id="8" name="Text 1"/>
          <p:cNvSpPr txBox="1"/>
          <p:nvPr>
            <p:ph idx="106" type="body" hasCustomPrompt="1"/>
          </p:nvPr>
        </p:nvSpPr>
        <p:spPr>
          <a:xfrm>
            <a:off x="6519672" y="2121408"/>
            <a:ext cx="49377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4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24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HEADING</a:t>
            </a:r>
            <a:endParaRPr lang="en-US" sz="1100" dirty="0"/>
          </a:p>
        </p:txBody>
      </p:sp>
      <p:sp>
        <p:nvSpPr>
          <p:cNvPr id="9" name="Shape 1"/>
          <p:cNvSpPr/>
          <p:nvPr/>
        </p:nvSpPr>
        <p:spPr>
          <a:xfrm>
            <a:off x="6519672" y="2505456"/>
            <a:ext cx="4937760" cy="0"/>
          </a:xfrm>
          <a:prstGeom prst="line">
            <a:avLst/>
          </a:prstGeom>
          <a:noFill/>
          <a:ln w="12700">
            <a:solidFill>
              <a:srgbClr val="E2E6E3"/>
            </a:solidFill>
            <a:prstDash val="solid"/>
          </a:ln>
        </p:spPr>
      </p:sp>
      <p:sp>
        <p:nvSpPr>
          <p:cNvPr id="10" name="Text 2"/>
          <p:cNvSpPr txBox="1"/>
          <p:nvPr>
            <p:ph idx="108" type="body" hasCustomPrompt="1"/>
          </p:nvPr>
        </p:nvSpPr>
        <p:spPr>
          <a:xfrm>
            <a:off x="6519672" y="2651760"/>
            <a:ext cx="4937760" cy="3383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50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content</a:t>
            </a:r>
            <a:endParaRPr lang="en-US" sz="1500" dirty="0"/>
          </a:p>
        </p:txBody>
      </p:sp>
      <p:sp>
        <p:nvSpPr>
          <p:cNvPr id="11" name="Text 2"/>
          <p:cNvSpPr txBox="1"/>
          <p:nvPr>
            <p:ph idx="109" type="body" hasCustomPrompt="1"/>
          </p:nvPr>
        </p:nvSpPr>
        <p:spPr>
          <a:xfrm>
            <a:off x="731520" y="6364224"/>
            <a:ext cx="786384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endParaRPr lang="en-US" sz="900" dirty="0"/>
          </a:p>
        </p:txBody>
      </p:sp>
      <p:pic>
        <p:nvPicPr>
          <p:cNvPr id="12" name="Image 0" descr="brand/logo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6272784"/>
            <a:ext cx="1325880" cy="4479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55480" y="6364224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_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0" type="body" hasCustomPrompt="1"/>
          </p:nvPr>
        </p:nvSpPr>
        <p:spPr>
          <a:xfrm>
            <a:off x="731520" y="548640"/>
            <a:ext cx="10728655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</a:t>
            </a:r>
            <a:endParaRPr lang="en-US" sz="1100" dirty="0"/>
          </a:p>
        </p:txBody>
      </p:sp>
      <p:sp>
        <p:nvSpPr>
          <p:cNvPr id="3" name="Text 0"/>
          <p:cNvSpPr txBox="1"/>
          <p:nvPr>
            <p:ph idx="101" type="title" hasCustomPrompt="1"/>
          </p:nvPr>
        </p:nvSpPr>
        <p:spPr>
          <a:xfrm>
            <a:off x="731520" y="822960"/>
            <a:ext cx="1005840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title</a:t>
            </a:r>
            <a:endParaRPr lang="en-US" sz="3400" dirty="0"/>
          </a:p>
        </p:txBody>
      </p:sp>
      <p:sp>
        <p:nvSpPr>
          <p:cNvPr id="4" name="Text 0"/>
          <p:cNvSpPr txBox="1"/>
          <p:nvPr>
            <p:ph idx="102" type="body" hasCustomPrompt="1"/>
          </p:nvPr>
        </p:nvSpPr>
        <p:spPr>
          <a:xfrm>
            <a:off x="731520" y="1591056"/>
            <a:ext cx="10728655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thing this slide proves.</a:t>
            </a:r>
            <a:endParaRPr lang="en-US" sz="1600" dirty="0"/>
          </a:p>
        </p:txBody>
      </p:sp>
      <p:sp>
        <p:nvSpPr>
          <p:cNvPr id="5" name="Shape 0"/>
          <p:cNvSpPr/>
          <p:nvPr/>
        </p:nvSpPr>
        <p:spPr>
          <a:xfrm>
            <a:off x="731520" y="2121408"/>
            <a:ext cx="3392424" cy="3584448"/>
          </a:xfrm>
          <a:prstGeom prst="rect">
            <a:avLst/>
          </a:prstGeom>
          <a:solidFill>
            <a:srgbClr val="F2F5F2"/>
          </a:solidFill>
          <a:ln/>
        </p:spPr>
      </p:sp>
      <p:sp>
        <p:nvSpPr>
          <p:cNvPr id="6" name="Text 1"/>
          <p:cNvSpPr txBox="1"/>
          <p:nvPr/>
        </p:nvSpPr>
        <p:spPr>
          <a:xfrm>
            <a:off x="1097280" y="2432304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Shape 2"/>
          <p:cNvSpPr/>
          <p:nvPr/>
        </p:nvSpPr>
        <p:spPr>
          <a:xfrm>
            <a:off x="1097280" y="3017520"/>
            <a:ext cx="548640" cy="41148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8" name="Text 3"/>
          <p:cNvSpPr txBox="1"/>
          <p:nvPr>
            <p:ph idx="106" type="body" hasCustomPrompt="1"/>
          </p:nvPr>
        </p:nvSpPr>
        <p:spPr>
          <a:xfrm>
            <a:off x="1097280" y="3255264"/>
            <a:ext cx="2660904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heading</a:t>
            </a:r>
            <a:endParaRPr lang="en-US" sz="1800" dirty="0"/>
          </a:p>
        </p:txBody>
      </p:sp>
      <p:sp>
        <p:nvSpPr>
          <p:cNvPr id="9" name="Text 3"/>
          <p:cNvSpPr txBox="1"/>
          <p:nvPr>
            <p:ph idx="107" type="body" hasCustomPrompt="1"/>
          </p:nvPr>
        </p:nvSpPr>
        <p:spPr>
          <a:xfrm>
            <a:off x="1097280" y="3986784"/>
            <a:ext cx="2660904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5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5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or three lines on what this is and why it matters.</a:t>
            </a:r>
            <a:endParaRPr lang="en-US" sz="1350" dirty="0"/>
          </a:p>
        </p:txBody>
      </p:sp>
      <p:sp>
        <p:nvSpPr>
          <p:cNvPr id="10" name="Shape 3"/>
          <p:cNvSpPr/>
          <p:nvPr/>
        </p:nvSpPr>
        <p:spPr>
          <a:xfrm>
            <a:off x="4407408" y="2121408"/>
            <a:ext cx="3392424" cy="3584448"/>
          </a:xfrm>
          <a:prstGeom prst="rect">
            <a:avLst/>
          </a:prstGeom>
          <a:solidFill>
            <a:srgbClr val="F2F5F2"/>
          </a:solidFill>
          <a:ln/>
        </p:spPr>
      </p:sp>
      <p:sp>
        <p:nvSpPr>
          <p:cNvPr id="11" name="Text 4"/>
          <p:cNvSpPr txBox="1"/>
          <p:nvPr/>
        </p:nvSpPr>
        <p:spPr>
          <a:xfrm>
            <a:off x="4773168" y="2432304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12" name="Shape 5"/>
          <p:cNvSpPr/>
          <p:nvPr/>
        </p:nvSpPr>
        <p:spPr>
          <a:xfrm>
            <a:off x="4773168" y="3017520"/>
            <a:ext cx="548640" cy="41148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13" name="Text 6"/>
          <p:cNvSpPr txBox="1"/>
          <p:nvPr>
            <p:ph idx="111" type="body" hasCustomPrompt="1"/>
          </p:nvPr>
        </p:nvSpPr>
        <p:spPr>
          <a:xfrm>
            <a:off x="4773168" y="3255264"/>
            <a:ext cx="2660904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heading</a:t>
            </a:r>
            <a:endParaRPr lang="en-US" sz="1800" dirty="0"/>
          </a:p>
        </p:txBody>
      </p:sp>
      <p:sp>
        <p:nvSpPr>
          <p:cNvPr id="14" name="Text 6"/>
          <p:cNvSpPr txBox="1"/>
          <p:nvPr>
            <p:ph idx="112" type="body" hasCustomPrompt="1"/>
          </p:nvPr>
        </p:nvSpPr>
        <p:spPr>
          <a:xfrm>
            <a:off x="4773168" y="3986784"/>
            <a:ext cx="2660904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5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5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or three lines on what this is and why it matters.</a:t>
            </a:r>
            <a:endParaRPr lang="en-US" sz="1350" dirty="0"/>
          </a:p>
        </p:txBody>
      </p:sp>
      <p:sp>
        <p:nvSpPr>
          <p:cNvPr id="15" name="Shape 6"/>
          <p:cNvSpPr/>
          <p:nvPr/>
        </p:nvSpPr>
        <p:spPr>
          <a:xfrm>
            <a:off x="8083296" y="2121408"/>
            <a:ext cx="3392424" cy="3584448"/>
          </a:xfrm>
          <a:prstGeom prst="rect">
            <a:avLst/>
          </a:prstGeom>
          <a:solidFill>
            <a:srgbClr val="F2F5F2"/>
          </a:solidFill>
          <a:ln/>
        </p:spPr>
      </p:sp>
      <p:sp>
        <p:nvSpPr>
          <p:cNvPr id="16" name="Text 7"/>
          <p:cNvSpPr txBox="1"/>
          <p:nvPr/>
        </p:nvSpPr>
        <p:spPr>
          <a:xfrm>
            <a:off x="8449056" y="2432304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7" name="Shape 8"/>
          <p:cNvSpPr/>
          <p:nvPr/>
        </p:nvSpPr>
        <p:spPr>
          <a:xfrm>
            <a:off x="8449056" y="3017520"/>
            <a:ext cx="548640" cy="41148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18" name="Text 9"/>
          <p:cNvSpPr txBox="1"/>
          <p:nvPr>
            <p:ph idx="116" type="body" hasCustomPrompt="1"/>
          </p:nvPr>
        </p:nvSpPr>
        <p:spPr>
          <a:xfrm>
            <a:off x="8449056" y="3255264"/>
            <a:ext cx="2660904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heading</a:t>
            </a:r>
            <a:endParaRPr lang="en-US" sz="1800" dirty="0"/>
          </a:p>
        </p:txBody>
      </p:sp>
      <p:sp>
        <p:nvSpPr>
          <p:cNvPr id="19" name="Text 9"/>
          <p:cNvSpPr txBox="1"/>
          <p:nvPr>
            <p:ph idx="117" type="body" hasCustomPrompt="1"/>
          </p:nvPr>
        </p:nvSpPr>
        <p:spPr>
          <a:xfrm>
            <a:off x="8449056" y="3986784"/>
            <a:ext cx="2660904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5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5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or three lines on what this is and why it matters.</a:t>
            </a:r>
            <a:endParaRPr lang="en-US" sz="1350" dirty="0"/>
          </a:p>
        </p:txBody>
      </p:sp>
      <p:sp>
        <p:nvSpPr>
          <p:cNvPr id="20" name="Text 9"/>
          <p:cNvSpPr txBox="1"/>
          <p:nvPr>
            <p:ph idx="118" type="body" hasCustomPrompt="1"/>
          </p:nvPr>
        </p:nvSpPr>
        <p:spPr>
          <a:xfrm>
            <a:off x="731520" y="6364224"/>
            <a:ext cx="786384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endParaRPr lang="en-US" sz="900" dirty="0"/>
          </a:p>
        </p:txBody>
      </p:sp>
      <p:pic>
        <p:nvPicPr>
          <p:cNvPr id="21" name="Image 0" descr="brand/logo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6272784"/>
            <a:ext cx="1325880" cy="4479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55480" y="6364224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_NUMBER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0" type="body" hasCustomPrompt="1"/>
          </p:nvPr>
        </p:nvSpPr>
        <p:spPr>
          <a:xfrm>
            <a:off x="731520" y="548640"/>
            <a:ext cx="10728655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</a:t>
            </a:r>
            <a:endParaRPr lang="en-US" sz="1100" dirty="0"/>
          </a:p>
        </p:txBody>
      </p:sp>
      <p:sp>
        <p:nvSpPr>
          <p:cNvPr id="3" name="Text 0"/>
          <p:cNvSpPr txBox="1"/>
          <p:nvPr>
            <p:ph idx="101" type="title" hasCustomPrompt="1"/>
          </p:nvPr>
        </p:nvSpPr>
        <p:spPr>
          <a:xfrm>
            <a:off x="731520" y="822960"/>
            <a:ext cx="1005840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title</a:t>
            </a:r>
            <a:endParaRPr lang="en-US" sz="3400" dirty="0"/>
          </a:p>
        </p:txBody>
      </p:sp>
      <p:sp>
        <p:nvSpPr>
          <p:cNvPr id="4" name="Text 0"/>
          <p:cNvSpPr txBox="1"/>
          <p:nvPr>
            <p:ph idx="102" type="body" hasCustomPrompt="1"/>
          </p:nvPr>
        </p:nvSpPr>
        <p:spPr>
          <a:xfrm>
            <a:off x="731520" y="1591056"/>
            <a:ext cx="10728655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thing this slide proves.</a:t>
            </a:r>
            <a:endParaRPr lang="en-US" sz="1600" dirty="0"/>
          </a:p>
        </p:txBody>
      </p:sp>
      <p:sp>
        <p:nvSpPr>
          <p:cNvPr id="5" name="Shape 0"/>
          <p:cNvSpPr/>
          <p:nvPr/>
        </p:nvSpPr>
        <p:spPr>
          <a:xfrm>
            <a:off x="731520" y="2121408"/>
            <a:ext cx="3392424" cy="0"/>
          </a:xfrm>
          <a:prstGeom prst="line">
            <a:avLst/>
          </a:prstGeom>
          <a:noFill/>
          <a:ln w="31750">
            <a:solidFill>
              <a:srgbClr val="3C7D4D"/>
            </a:solidFill>
            <a:prstDash val="solid"/>
          </a:ln>
        </p:spPr>
      </p:sp>
      <p:sp>
        <p:nvSpPr>
          <p:cNvPr id="6" name="Text 1"/>
          <p:cNvSpPr txBox="1"/>
          <p:nvPr>
            <p:ph idx="104" type="body" hasCustomPrompt="1"/>
          </p:nvPr>
        </p:nvSpPr>
        <p:spPr>
          <a:xfrm>
            <a:off x="731520" y="2359152"/>
            <a:ext cx="3392424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spc="-15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800" b="1" spc="-15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00%</a:t>
            </a:r>
            <a:endParaRPr lang="en-US" sz="4800" dirty="0"/>
          </a:p>
        </p:txBody>
      </p:sp>
      <p:sp>
        <p:nvSpPr>
          <p:cNvPr id="7" name="Text 1"/>
          <p:cNvSpPr txBox="1"/>
          <p:nvPr>
            <p:ph idx="105" type="body" hasCustomPrompt="1"/>
          </p:nvPr>
        </p:nvSpPr>
        <p:spPr>
          <a:xfrm>
            <a:off x="731520" y="3493008"/>
            <a:ext cx="311810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1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MEASURES</a:t>
            </a:r>
            <a:endParaRPr lang="en-US" sz="1100" dirty="0"/>
          </a:p>
        </p:txBody>
      </p:sp>
      <p:sp>
        <p:nvSpPr>
          <p:cNvPr id="8" name="Text 1"/>
          <p:cNvSpPr txBox="1"/>
          <p:nvPr>
            <p:ph idx="106" type="body" hasCustomPrompt="1"/>
          </p:nvPr>
        </p:nvSpPr>
        <p:spPr>
          <a:xfrm>
            <a:off x="731520" y="3895344"/>
            <a:ext cx="3118104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 of context or the comparison.</a:t>
            </a:r>
            <a:endParaRPr lang="en-US" sz="1300" dirty="0"/>
          </a:p>
        </p:txBody>
      </p:sp>
      <p:sp>
        <p:nvSpPr>
          <p:cNvPr id="9" name="Shape 1"/>
          <p:cNvSpPr/>
          <p:nvPr/>
        </p:nvSpPr>
        <p:spPr>
          <a:xfrm>
            <a:off x="4407408" y="2121408"/>
            <a:ext cx="3392424" cy="0"/>
          </a:xfrm>
          <a:prstGeom prst="line">
            <a:avLst/>
          </a:prstGeom>
          <a:noFill/>
          <a:ln w="31750">
            <a:solidFill>
              <a:srgbClr val="3C7D4D"/>
            </a:solidFill>
            <a:prstDash val="solid"/>
          </a:ln>
        </p:spPr>
      </p:sp>
      <p:sp>
        <p:nvSpPr>
          <p:cNvPr id="10" name="Text 2"/>
          <p:cNvSpPr txBox="1"/>
          <p:nvPr>
            <p:ph idx="108" type="body" hasCustomPrompt="1"/>
          </p:nvPr>
        </p:nvSpPr>
        <p:spPr>
          <a:xfrm>
            <a:off x="4407408" y="2359152"/>
            <a:ext cx="3392424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spc="-15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800" b="1" spc="-15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00%</a:t>
            </a:r>
            <a:endParaRPr lang="en-US" sz="4800" dirty="0"/>
          </a:p>
        </p:txBody>
      </p:sp>
      <p:sp>
        <p:nvSpPr>
          <p:cNvPr id="11" name="Text 2"/>
          <p:cNvSpPr txBox="1"/>
          <p:nvPr>
            <p:ph idx="109" type="body" hasCustomPrompt="1"/>
          </p:nvPr>
        </p:nvSpPr>
        <p:spPr>
          <a:xfrm>
            <a:off x="4407408" y="3493008"/>
            <a:ext cx="311810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1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MEASURES</a:t>
            </a:r>
            <a:endParaRPr lang="en-US" sz="1100" dirty="0"/>
          </a:p>
        </p:txBody>
      </p:sp>
      <p:sp>
        <p:nvSpPr>
          <p:cNvPr id="12" name="Text 2"/>
          <p:cNvSpPr txBox="1"/>
          <p:nvPr>
            <p:ph idx="110" type="body" hasCustomPrompt="1"/>
          </p:nvPr>
        </p:nvSpPr>
        <p:spPr>
          <a:xfrm>
            <a:off x="4407408" y="3895344"/>
            <a:ext cx="3118104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 of context or the comparison.</a:t>
            </a:r>
            <a:endParaRPr lang="en-US" sz="1300" dirty="0"/>
          </a:p>
        </p:txBody>
      </p:sp>
      <p:sp>
        <p:nvSpPr>
          <p:cNvPr id="13" name="Shape 2"/>
          <p:cNvSpPr/>
          <p:nvPr/>
        </p:nvSpPr>
        <p:spPr>
          <a:xfrm>
            <a:off x="8083296" y="2121408"/>
            <a:ext cx="3392424" cy="0"/>
          </a:xfrm>
          <a:prstGeom prst="line">
            <a:avLst/>
          </a:prstGeom>
          <a:noFill/>
          <a:ln w="31750">
            <a:solidFill>
              <a:srgbClr val="3C7D4D"/>
            </a:solidFill>
            <a:prstDash val="solid"/>
          </a:ln>
        </p:spPr>
      </p:sp>
      <p:sp>
        <p:nvSpPr>
          <p:cNvPr id="14" name="Text 3"/>
          <p:cNvSpPr txBox="1"/>
          <p:nvPr>
            <p:ph idx="112" type="body" hasCustomPrompt="1"/>
          </p:nvPr>
        </p:nvSpPr>
        <p:spPr>
          <a:xfrm>
            <a:off x="8083296" y="2359152"/>
            <a:ext cx="3392424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spc="-15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800" b="1" spc="-15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00%</a:t>
            </a:r>
            <a:endParaRPr lang="en-US" sz="4800" dirty="0"/>
          </a:p>
        </p:txBody>
      </p:sp>
      <p:sp>
        <p:nvSpPr>
          <p:cNvPr id="15" name="Text 3"/>
          <p:cNvSpPr txBox="1"/>
          <p:nvPr>
            <p:ph idx="113" type="body" hasCustomPrompt="1"/>
          </p:nvPr>
        </p:nvSpPr>
        <p:spPr>
          <a:xfrm>
            <a:off x="8083296" y="3493008"/>
            <a:ext cx="311810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1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MEASURES</a:t>
            </a:r>
            <a:endParaRPr lang="en-US" sz="1100" dirty="0"/>
          </a:p>
        </p:txBody>
      </p:sp>
      <p:sp>
        <p:nvSpPr>
          <p:cNvPr id="16" name="Text 3"/>
          <p:cNvSpPr txBox="1"/>
          <p:nvPr>
            <p:ph idx="114" type="body" hasCustomPrompt="1"/>
          </p:nvPr>
        </p:nvSpPr>
        <p:spPr>
          <a:xfrm>
            <a:off x="8083296" y="3895344"/>
            <a:ext cx="3118104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 of context or the comparison.</a:t>
            </a:r>
            <a:endParaRPr lang="en-US" sz="1300" dirty="0"/>
          </a:p>
        </p:txBody>
      </p:sp>
      <p:sp>
        <p:nvSpPr>
          <p:cNvPr id="17" name="Text 3"/>
          <p:cNvSpPr txBox="1"/>
          <p:nvPr>
            <p:ph idx="115" type="body" hasCustomPrompt="1"/>
          </p:nvPr>
        </p:nvSpPr>
        <p:spPr>
          <a:xfrm>
            <a:off x="731520" y="5138928"/>
            <a:ext cx="1072865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50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what, and what we do about it.</a:t>
            </a:r>
            <a:endParaRPr lang="en-US" sz="1500" dirty="0"/>
          </a:p>
        </p:txBody>
      </p:sp>
      <p:sp>
        <p:nvSpPr>
          <p:cNvPr id="18" name="Text 3"/>
          <p:cNvSpPr txBox="1"/>
          <p:nvPr>
            <p:ph idx="116" type="body" hasCustomPrompt="1"/>
          </p:nvPr>
        </p:nvSpPr>
        <p:spPr>
          <a:xfrm>
            <a:off x="731520" y="6364224"/>
            <a:ext cx="786384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endParaRPr lang="en-US" sz="900" dirty="0"/>
          </a:p>
        </p:txBody>
      </p:sp>
      <p:pic>
        <p:nvPicPr>
          <p:cNvPr id="19" name="Image 0" descr="brand/logo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6272784"/>
            <a:ext cx="1325880" cy="4479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55480" y="6364224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VISUA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0" type="body" hasCustomPrompt="1"/>
          </p:nvPr>
        </p:nvSpPr>
        <p:spPr>
          <a:xfrm>
            <a:off x="731520" y="548640"/>
            <a:ext cx="10728655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</a:t>
            </a:r>
            <a:endParaRPr lang="en-US" sz="1100" dirty="0"/>
          </a:p>
        </p:txBody>
      </p:sp>
      <p:sp>
        <p:nvSpPr>
          <p:cNvPr id="3" name="Text 0"/>
          <p:cNvSpPr txBox="1"/>
          <p:nvPr>
            <p:ph idx="101" type="title" hasCustomPrompt="1"/>
          </p:nvPr>
        </p:nvSpPr>
        <p:spPr>
          <a:xfrm>
            <a:off x="731520" y="822960"/>
            <a:ext cx="1005840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title</a:t>
            </a:r>
            <a:endParaRPr lang="en-US" sz="3400" dirty="0"/>
          </a:p>
        </p:txBody>
      </p:sp>
      <p:sp>
        <p:nvSpPr>
          <p:cNvPr id="4" name="Text 0"/>
          <p:cNvSpPr txBox="1"/>
          <p:nvPr>
            <p:ph idx="102" type="body" hasCustomPrompt="1"/>
          </p:nvPr>
        </p:nvSpPr>
        <p:spPr>
          <a:xfrm>
            <a:off x="731520" y="1591056"/>
            <a:ext cx="10728655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thing this slide proves.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3" type="body" hasCustomPrompt="1"/>
          </p:nvPr>
        </p:nvSpPr>
        <p:spPr>
          <a:xfrm>
            <a:off x="731520" y="2121408"/>
            <a:ext cx="4572000" cy="39136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50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points</a:t>
            </a:r>
            <a:endParaRPr lang="en-US" sz="1500" dirty="0"/>
          </a:p>
        </p:txBody>
      </p:sp>
      <p:sp>
        <p:nvSpPr>
          <p:cNvPr id="6" name="Text 0"/>
          <p:cNvSpPr/>
          <p:nvPr>
            <p:ph idx="104" hasCustomPrompt="1"/>
          </p:nvPr>
        </p:nvSpPr>
        <p:spPr>
          <a:xfrm>
            <a:off x="5943600" y="2121408"/>
            <a:ext cx="5513832" cy="39136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7" name="Text 0"/>
          <p:cNvSpPr txBox="1"/>
          <p:nvPr>
            <p:ph idx="105" type="body" hasCustomPrompt="1"/>
          </p:nvPr>
        </p:nvSpPr>
        <p:spPr>
          <a:xfrm>
            <a:off x="731520" y="6364224"/>
            <a:ext cx="786384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endParaRPr lang="en-US" sz="900" dirty="0"/>
          </a:p>
        </p:txBody>
      </p:sp>
      <p:pic>
        <p:nvPicPr>
          <p:cNvPr id="8" name="Image 0" descr="brand/logo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6272784"/>
            <a:ext cx="1325880" cy="4479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55480" y="6364224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_VISUA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0" type="body" hasCustomPrompt="1"/>
          </p:nvPr>
        </p:nvSpPr>
        <p:spPr>
          <a:xfrm>
            <a:off x="731520" y="548640"/>
            <a:ext cx="10728655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</a:t>
            </a:r>
            <a:endParaRPr lang="en-US" sz="1100" dirty="0"/>
          </a:p>
        </p:txBody>
      </p:sp>
      <p:sp>
        <p:nvSpPr>
          <p:cNvPr id="3" name="Text 0"/>
          <p:cNvSpPr txBox="1"/>
          <p:nvPr>
            <p:ph idx="101" type="title" hasCustomPrompt="1"/>
          </p:nvPr>
        </p:nvSpPr>
        <p:spPr>
          <a:xfrm>
            <a:off x="731520" y="822960"/>
            <a:ext cx="1005840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title</a:t>
            </a:r>
            <a:endParaRPr lang="en-US" sz="3400" dirty="0"/>
          </a:p>
        </p:txBody>
      </p:sp>
      <p:sp>
        <p:nvSpPr>
          <p:cNvPr id="4" name="Text 0"/>
          <p:cNvSpPr txBox="1"/>
          <p:nvPr>
            <p:ph idx="102" type="body" hasCustomPrompt="1"/>
          </p:nvPr>
        </p:nvSpPr>
        <p:spPr>
          <a:xfrm>
            <a:off x="731520" y="1591056"/>
            <a:ext cx="10728655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thing this slide proves.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hasCustomPrompt="1"/>
          </p:nvPr>
        </p:nvSpPr>
        <p:spPr>
          <a:xfrm>
            <a:off x="731520" y="2121408"/>
            <a:ext cx="10728655" cy="39136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6" name="Text 0"/>
          <p:cNvSpPr txBox="1"/>
          <p:nvPr>
            <p:ph idx="104" type="body" hasCustomPrompt="1"/>
          </p:nvPr>
        </p:nvSpPr>
        <p:spPr>
          <a:xfrm>
            <a:off x="731520" y="6364224"/>
            <a:ext cx="786384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endParaRPr lang="en-US" sz="900" dirty="0"/>
          </a:p>
        </p:txBody>
      </p:sp>
      <p:pic>
        <p:nvPicPr>
          <p:cNvPr id="7" name="Image 0" descr="brand/logo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6272784"/>
            <a:ext cx="1325880" cy="4479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55480" y="6364224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0" type="body" hasCustomPrompt="1"/>
          </p:nvPr>
        </p:nvSpPr>
        <p:spPr>
          <a:xfrm>
            <a:off x="731520" y="548640"/>
            <a:ext cx="10728655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</a:t>
            </a:r>
            <a:endParaRPr lang="en-US" sz="1100" dirty="0"/>
          </a:p>
        </p:txBody>
      </p:sp>
      <p:sp>
        <p:nvSpPr>
          <p:cNvPr id="3" name="Text 0"/>
          <p:cNvSpPr txBox="1"/>
          <p:nvPr>
            <p:ph idx="101" type="title" hasCustomPrompt="1"/>
          </p:nvPr>
        </p:nvSpPr>
        <p:spPr>
          <a:xfrm>
            <a:off x="731520" y="822960"/>
            <a:ext cx="1005840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title</a:t>
            </a:r>
            <a:endParaRPr lang="en-US" sz="3400" dirty="0"/>
          </a:p>
        </p:txBody>
      </p:sp>
      <p:sp>
        <p:nvSpPr>
          <p:cNvPr id="4" name="Text 0"/>
          <p:cNvSpPr txBox="1"/>
          <p:nvPr>
            <p:ph idx="102" type="body" hasCustomPrompt="1"/>
          </p:nvPr>
        </p:nvSpPr>
        <p:spPr>
          <a:xfrm>
            <a:off x="731520" y="1591056"/>
            <a:ext cx="10728655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thing this slide proves.</a:t>
            </a:r>
            <a:endParaRPr lang="en-US" sz="1600" dirty="0"/>
          </a:p>
        </p:txBody>
      </p:sp>
      <p:sp>
        <p:nvSpPr>
          <p:cNvPr id="5" name="Shape 0"/>
          <p:cNvSpPr/>
          <p:nvPr/>
        </p:nvSpPr>
        <p:spPr>
          <a:xfrm>
            <a:off x="731520" y="2121408"/>
            <a:ext cx="5230368" cy="475488"/>
          </a:xfrm>
          <a:prstGeom prst="rect">
            <a:avLst/>
          </a:prstGeom>
          <a:solidFill>
            <a:srgbClr val="3C7D4D"/>
          </a:solidFill>
          <a:ln/>
        </p:spPr>
      </p:sp>
      <p:sp>
        <p:nvSpPr>
          <p:cNvPr id="6" name="Text 1"/>
          <p:cNvSpPr txBox="1"/>
          <p:nvPr>
            <p:ph idx="104" type="body" hasCustomPrompt="1"/>
          </p:nvPr>
        </p:nvSpPr>
        <p:spPr>
          <a:xfrm>
            <a:off x="987552" y="2121408"/>
            <a:ext cx="4718304" cy="47548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</a:t>
            </a:r>
            <a:endParaRPr lang="en-US" sz="1300" dirty="0"/>
          </a:p>
        </p:txBody>
      </p:sp>
      <p:sp>
        <p:nvSpPr>
          <p:cNvPr id="7" name="Shape 1"/>
          <p:cNvSpPr/>
          <p:nvPr/>
        </p:nvSpPr>
        <p:spPr>
          <a:xfrm>
            <a:off x="731520" y="2596896"/>
            <a:ext cx="5230368" cy="2980944"/>
          </a:xfrm>
          <a:prstGeom prst="rect">
            <a:avLst/>
          </a:prstGeom>
          <a:solidFill>
            <a:srgbClr val="F2F5F2"/>
          </a:solidFill>
          <a:ln/>
        </p:spPr>
      </p:sp>
      <p:sp>
        <p:nvSpPr>
          <p:cNvPr id="8" name="Text 2"/>
          <p:cNvSpPr txBox="1"/>
          <p:nvPr>
            <p:ph idx="106" type="body" hasCustomPrompt="1"/>
          </p:nvPr>
        </p:nvSpPr>
        <p:spPr>
          <a:xfrm>
            <a:off x="987552" y="2834640"/>
            <a:ext cx="4718304" cy="2560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5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5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gets us, what it costs, what breaks.</a:t>
            </a:r>
            <a:endParaRPr lang="en-US" sz="1450" dirty="0"/>
          </a:p>
        </p:txBody>
      </p:sp>
      <p:sp>
        <p:nvSpPr>
          <p:cNvPr id="9" name="Shape 2"/>
          <p:cNvSpPr/>
          <p:nvPr/>
        </p:nvSpPr>
        <p:spPr>
          <a:xfrm>
            <a:off x="6227064" y="2121408"/>
            <a:ext cx="5230368" cy="475488"/>
          </a:xfrm>
          <a:prstGeom prst="rect">
            <a:avLst/>
          </a:prstGeom>
          <a:solidFill>
            <a:srgbClr val="5B6670"/>
          </a:solidFill>
          <a:ln/>
        </p:spPr>
      </p:sp>
      <p:sp>
        <p:nvSpPr>
          <p:cNvPr id="10" name="Text 3"/>
          <p:cNvSpPr txBox="1"/>
          <p:nvPr>
            <p:ph idx="108" type="body" hasCustomPrompt="1"/>
          </p:nvPr>
        </p:nvSpPr>
        <p:spPr>
          <a:xfrm>
            <a:off x="6483096" y="2121408"/>
            <a:ext cx="4718304" cy="47548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B</a:t>
            </a:r>
            <a:endParaRPr lang="en-US" sz="1300" dirty="0"/>
          </a:p>
        </p:txBody>
      </p:sp>
      <p:sp>
        <p:nvSpPr>
          <p:cNvPr id="11" name="Shape 3"/>
          <p:cNvSpPr/>
          <p:nvPr/>
        </p:nvSpPr>
        <p:spPr>
          <a:xfrm>
            <a:off x="6227064" y="2596896"/>
            <a:ext cx="5230368" cy="2980944"/>
          </a:xfrm>
          <a:prstGeom prst="rect">
            <a:avLst/>
          </a:prstGeom>
          <a:solidFill>
            <a:srgbClr val="F2F5F2"/>
          </a:solidFill>
          <a:ln/>
        </p:spPr>
      </p:sp>
      <p:sp>
        <p:nvSpPr>
          <p:cNvPr id="12" name="Text 4"/>
          <p:cNvSpPr txBox="1"/>
          <p:nvPr>
            <p:ph idx="110" type="body" hasCustomPrompt="1"/>
          </p:nvPr>
        </p:nvSpPr>
        <p:spPr>
          <a:xfrm>
            <a:off x="6483096" y="2834640"/>
            <a:ext cx="4718304" cy="2560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5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5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gets us, what it costs, what breaks.</a:t>
            </a:r>
            <a:endParaRPr lang="en-US" sz="1450" dirty="0"/>
          </a:p>
        </p:txBody>
      </p:sp>
      <p:sp>
        <p:nvSpPr>
          <p:cNvPr id="13" name="Text 4"/>
          <p:cNvSpPr txBox="1"/>
          <p:nvPr>
            <p:ph idx="111" type="body" hasCustomPrompt="1"/>
          </p:nvPr>
        </p:nvSpPr>
        <p:spPr>
          <a:xfrm>
            <a:off x="731520" y="5742432"/>
            <a:ext cx="1072865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5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Recommendation: </a:t>
            </a:r>
            <a:endParaRPr lang="en-US" sz="1500" dirty="0"/>
          </a:p>
        </p:txBody>
      </p:sp>
      <p:sp>
        <p:nvSpPr>
          <p:cNvPr id="14" name="Text 4"/>
          <p:cNvSpPr txBox="1"/>
          <p:nvPr>
            <p:ph idx="112" type="body" hasCustomPrompt="1"/>
          </p:nvPr>
        </p:nvSpPr>
        <p:spPr>
          <a:xfrm>
            <a:off x="731520" y="6364224"/>
            <a:ext cx="786384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endParaRPr lang="en-US" sz="900" dirty="0"/>
          </a:p>
        </p:txBody>
      </p:sp>
      <p:pic>
        <p:nvPicPr>
          <p:cNvPr id="15" name="Image 0" descr="brand/logo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6272784"/>
            <a:ext cx="1325880" cy="4479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55480" y="6364224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0" type="body" hasCustomPrompt="1"/>
          </p:nvPr>
        </p:nvSpPr>
        <p:spPr>
          <a:xfrm>
            <a:off x="731520" y="548640"/>
            <a:ext cx="10728655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</a:t>
            </a:r>
            <a:endParaRPr lang="en-US" sz="1100" dirty="0"/>
          </a:p>
        </p:txBody>
      </p:sp>
      <p:sp>
        <p:nvSpPr>
          <p:cNvPr id="3" name="Text 0"/>
          <p:cNvSpPr txBox="1"/>
          <p:nvPr>
            <p:ph idx="101" type="title" hasCustomPrompt="1"/>
          </p:nvPr>
        </p:nvSpPr>
        <p:spPr>
          <a:xfrm>
            <a:off x="731520" y="822960"/>
            <a:ext cx="1005840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title</a:t>
            </a:r>
            <a:endParaRPr lang="en-US" sz="3400" dirty="0"/>
          </a:p>
        </p:txBody>
      </p:sp>
      <p:sp>
        <p:nvSpPr>
          <p:cNvPr id="4" name="Text 0"/>
          <p:cNvSpPr txBox="1"/>
          <p:nvPr>
            <p:ph idx="102" type="body" hasCustomPrompt="1"/>
          </p:nvPr>
        </p:nvSpPr>
        <p:spPr>
          <a:xfrm>
            <a:off x="731520" y="1591056"/>
            <a:ext cx="10728655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thing this slide proves.</a:t>
            </a:r>
            <a:endParaRPr lang="en-US" sz="1600" dirty="0"/>
          </a:p>
        </p:txBody>
      </p:sp>
      <p:sp>
        <p:nvSpPr>
          <p:cNvPr id="5" name="Shape 0"/>
          <p:cNvSpPr/>
          <p:nvPr/>
        </p:nvSpPr>
        <p:spPr>
          <a:xfrm>
            <a:off x="1005840" y="2706624"/>
            <a:ext cx="10180015" cy="0"/>
          </a:xfrm>
          <a:prstGeom prst="line">
            <a:avLst/>
          </a:prstGeom>
          <a:noFill/>
          <a:ln w="25400">
            <a:solidFill>
              <a:srgbClr val="E2E6E3"/>
            </a:solidFill>
            <a:prstDash val="solid"/>
          </a:ln>
        </p:spPr>
      </p:sp>
      <p:sp>
        <p:nvSpPr>
          <p:cNvPr id="6" name="Shape 1"/>
          <p:cNvSpPr/>
          <p:nvPr/>
        </p:nvSpPr>
        <p:spPr>
          <a:xfrm>
            <a:off x="749808" y="2450592"/>
            <a:ext cx="512064" cy="512064"/>
          </a:xfrm>
          <a:prstGeom prst="rect">
            <a:avLst/>
          </a:prstGeom>
          <a:solidFill>
            <a:srgbClr val="3C7D4D"/>
          </a:solidFill>
          <a:ln/>
        </p:spPr>
      </p:sp>
      <p:sp>
        <p:nvSpPr>
          <p:cNvPr id="7" name="Text 2"/>
          <p:cNvSpPr txBox="1"/>
          <p:nvPr/>
        </p:nvSpPr>
        <p:spPr>
          <a:xfrm>
            <a:off x="749808" y="2450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3"/>
          <p:cNvSpPr txBox="1"/>
          <p:nvPr>
            <p:ph idx="106" type="body" hasCustomPrompt="1"/>
          </p:nvPr>
        </p:nvSpPr>
        <p:spPr>
          <a:xfrm>
            <a:off x="731520" y="2121408"/>
            <a:ext cx="2624328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50" b="1" spc="18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50" b="1" spc="18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</a:t>
            </a:r>
            <a:endParaRPr lang="en-US" sz="1050" dirty="0"/>
          </a:p>
        </p:txBody>
      </p:sp>
      <p:sp>
        <p:nvSpPr>
          <p:cNvPr id="9" name="Text 3"/>
          <p:cNvSpPr txBox="1"/>
          <p:nvPr>
            <p:ph idx="107" type="body" hasCustomPrompt="1"/>
          </p:nvPr>
        </p:nvSpPr>
        <p:spPr>
          <a:xfrm>
            <a:off x="731520" y="3145536"/>
            <a:ext cx="2487168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</a:t>
            </a:r>
            <a:endParaRPr lang="en-US" sz="1600" dirty="0"/>
          </a:p>
        </p:txBody>
      </p:sp>
      <p:sp>
        <p:nvSpPr>
          <p:cNvPr id="10" name="Text 3"/>
          <p:cNvSpPr txBox="1"/>
          <p:nvPr>
            <p:ph idx="108" type="body" hasCustomPrompt="1"/>
          </p:nvPr>
        </p:nvSpPr>
        <p:spPr>
          <a:xfrm>
            <a:off x="731520" y="3767328"/>
            <a:ext cx="2487168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and who owns it.</a:t>
            </a:r>
            <a:endParaRPr lang="en-US" sz="1300" dirty="0"/>
          </a:p>
        </p:txBody>
      </p:sp>
      <p:sp>
        <p:nvSpPr>
          <p:cNvPr id="11" name="Shape 3"/>
          <p:cNvSpPr/>
          <p:nvPr/>
        </p:nvSpPr>
        <p:spPr>
          <a:xfrm>
            <a:off x="3639312" y="2450592"/>
            <a:ext cx="512064" cy="512064"/>
          </a:xfrm>
          <a:prstGeom prst="rect">
            <a:avLst/>
          </a:prstGeom>
          <a:solidFill>
            <a:srgbClr val="3C7D4D"/>
          </a:solidFill>
          <a:ln/>
        </p:spPr>
      </p:sp>
      <p:sp>
        <p:nvSpPr>
          <p:cNvPr id="12" name="Text 4"/>
          <p:cNvSpPr txBox="1"/>
          <p:nvPr/>
        </p:nvSpPr>
        <p:spPr>
          <a:xfrm>
            <a:off x="3639312" y="2450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5"/>
          <p:cNvSpPr txBox="1"/>
          <p:nvPr>
            <p:ph idx="111" type="body" hasCustomPrompt="1"/>
          </p:nvPr>
        </p:nvSpPr>
        <p:spPr>
          <a:xfrm>
            <a:off x="3621024" y="2121408"/>
            <a:ext cx="2624328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50" b="1" spc="18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50" b="1" spc="18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</a:t>
            </a:r>
            <a:endParaRPr lang="en-US" sz="1050" dirty="0"/>
          </a:p>
        </p:txBody>
      </p:sp>
      <p:sp>
        <p:nvSpPr>
          <p:cNvPr id="14" name="Text 5"/>
          <p:cNvSpPr txBox="1"/>
          <p:nvPr>
            <p:ph idx="112" type="body" hasCustomPrompt="1"/>
          </p:nvPr>
        </p:nvSpPr>
        <p:spPr>
          <a:xfrm>
            <a:off x="3621024" y="3145536"/>
            <a:ext cx="2487168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</a:t>
            </a:r>
            <a:endParaRPr lang="en-US" sz="1600" dirty="0"/>
          </a:p>
        </p:txBody>
      </p:sp>
      <p:sp>
        <p:nvSpPr>
          <p:cNvPr id="15" name="Text 5"/>
          <p:cNvSpPr txBox="1"/>
          <p:nvPr>
            <p:ph idx="113" type="body" hasCustomPrompt="1"/>
          </p:nvPr>
        </p:nvSpPr>
        <p:spPr>
          <a:xfrm>
            <a:off x="3621024" y="3767328"/>
            <a:ext cx="2487168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and who owns it.</a:t>
            </a:r>
            <a:endParaRPr lang="en-US" sz="1300" dirty="0"/>
          </a:p>
        </p:txBody>
      </p:sp>
      <p:sp>
        <p:nvSpPr>
          <p:cNvPr id="16" name="Shape 5"/>
          <p:cNvSpPr/>
          <p:nvPr/>
        </p:nvSpPr>
        <p:spPr>
          <a:xfrm>
            <a:off x="6528816" y="2450592"/>
            <a:ext cx="512064" cy="512064"/>
          </a:xfrm>
          <a:prstGeom prst="rect">
            <a:avLst/>
          </a:prstGeom>
          <a:solidFill>
            <a:srgbClr val="3C7D4D"/>
          </a:solidFill>
          <a:ln/>
        </p:spPr>
      </p:sp>
      <p:sp>
        <p:nvSpPr>
          <p:cNvPr id="17" name="Text 6"/>
          <p:cNvSpPr txBox="1"/>
          <p:nvPr/>
        </p:nvSpPr>
        <p:spPr>
          <a:xfrm>
            <a:off x="6528816" y="2450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7"/>
          <p:cNvSpPr txBox="1"/>
          <p:nvPr>
            <p:ph idx="116" type="body" hasCustomPrompt="1"/>
          </p:nvPr>
        </p:nvSpPr>
        <p:spPr>
          <a:xfrm>
            <a:off x="6510528" y="2121408"/>
            <a:ext cx="2624328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50" b="1" spc="18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50" b="1" spc="18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</a:t>
            </a:r>
            <a:endParaRPr lang="en-US" sz="1050" dirty="0"/>
          </a:p>
        </p:txBody>
      </p:sp>
      <p:sp>
        <p:nvSpPr>
          <p:cNvPr id="19" name="Text 7"/>
          <p:cNvSpPr txBox="1"/>
          <p:nvPr>
            <p:ph idx="117" type="body" hasCustomPrompt="1"/>
          </p:nvPr>
        </p:nvSpPr>
        <p:spPr>
          <a:xfrm>
            <a:off x="6510528" y="3145536"/>
            <a:ext cx="2487168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</a:t>
            </a:r>
            <a:endParaRPr lang="en-US" sz="1600" dirty="0"/>
          </a:p>
        </p:txBody>
      </p:sp>
      <p:sp>
        <p:nvSpPr>
          <p:cNvPr id="20" name="Text 7"/>
          <p:cNvSpPr txBox="1"/>
          <p:nvPr>
            <p:ph idx="118" type="body" hasCustomPrompt="1"/>
          </p:nvPr>
        </p:nvSpPr>
        <p:spPr>
          <a:xfrm>
            <a:off x="6510528" y="3767328"/>
            <a:ext cx="2487168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and who owns it.</a:t>
            </a:r>
            <a:endParaRPr lang="en-US" sz="1300" dirty="0"/>
          </a:p>
        </p:txBody>
      </p:sp>
      <p:sp>
        <p:nvSpPr>
          <p:cNvPr id="21" name="Shape 7"/>
          <p:cNvSpPr/>
          <p:nvPr/>
        </p:nvSpPr>
        <p:spPr>
          <a:xfrm>
            <a:off x="9418320" y="2450592"/>
            <a:ext cx="512064" cy="512064"/>
          </a:xfrm>
          <a:prstGeom prst="rect">
            <a:avLst/>
          </a:prstGeom>
          <a:solidFill>
            <a:srgbClr val="3C7D4D"/>
          </a:solidFill>
          <a:ln/>
        </p:spPr>
      </p:sp>
      <p:sp>
        <p:nvSpPr>
          <p:cNvPr id="22" name="Text 8"/>
          <p:cNvSpPr txBox="1"/>
          <p:nvPr/>
        </p:nvSpPr>
        <p:spPr>
          <a:xfrm>
            <a:off x="9418320" y="2450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9"/>
          <p:cNvSpPr txBox="1"/>
          <p:nvPr>
            <p:ph idx="121" type="body" hasCustomPrompt="1"/>
          </p:nvPr>
        </p:nvSpPr>
        <p:spPr>
          <a:xfrm>
            <a:off x="9400032" y="2121408"/>
            <a:ext cx="2624328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50" b="1" spc="18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50" b="1" spc="18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</a:t>
            </a:r>
            <a:endParaRPr lang="en-US" sz="1050" dirty="0"/>
          </a:p>
        </p:txBody>
      </p:sp>
      <p:sp>
        <p:nvSpPr>
          <p:cNvPr id="24" name="Text 9"/>
          <p:cNvSpPr txBox="1"/>
          <p:nvPr>
            <p:ph idx="122" type="body" hasCustomPrompt="1"/>
          </p:nvPr>
        </p:nvSpPr>
        <p:spPr>
          <a:xfrm>
            <a:off x="9400032" y="3145536"/>
            <a:ext cx="2487168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</a:t>
            </a:r>
            <a:endParaRPr lang="en-US" sz="1600" dirty="0"/>
          </a:p>
        </p:txBody>
      </p:sp>
      <p:sp>
        <p:nvSpPr>
          <p:cNvPr id="25" name="Text 9"/>
          <p:cNvSpPr txBox="1"/>
          <p:nvPr>
            <p:ph idx="123" type="body" hasCustomPrompt="1"/>
          </p:nvPr>
        </p:nvSpPr>
        <p:spPr>
          <a:xfrm>
            <a:off x="9400032" y="3767328"/>
            <a:ext cx="2487168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and who owns it.</a:t>
            </a:r>
            <a:endParaRPr lang="en-US" sz="1300" dirty="0"/>
          </a:p>
        </p:txBody>
      </p:sp>
      <p:sp>
        <p:nvSpPr>
          <p:cNvPr id="26" name="Text 9"/>
          <p:cNvSpPr txBox="1"/>
          <p:nvPr>
            <p:ph idx="124" type="body" hasCustomPrompt="1"/>
          </p:nvPr>
        </p:nvSpPr>
        <p:spPr>
          <a:xfrm>
            <a:off x="731520" y="6364224"/>
            <a:ext cx="786384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endParaRPr lang="en-US" sz="900" dirty="0"/>
          </a:p>
        </p:txBody>
      </p:sp>
      <p:pic>
        <p:nvPicPr>
          <p:cNvPr id="27" name="Image 0" descr="brand/logo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6272784"/>
            <a:ext cx="1325880" cy="4479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55480" y="6364224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_MESS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nd/logo_h_re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6272784"/>
            <a:ext cx="1325880" cy="447932"/>
          </a:xfrm>
          <a:prstGeom prst="rect">
            <a:avLst/>
          </a:prstGeom>
        </p:spPr>
      </p:pic>
      <p:sp>
        <p:nvSpPr>
          <p:cNvPr id="3" name="Text 0"/>
          <p:cNvSpPr txBox="1"/>
          <p:nvPr>
            <p:ph idx="101" type="body" hasCustomPrompt="1"/>
          </p:nvPr>
        </p:nvSpPr>
        <p:spPr>
          <a:xfrm>
            <a:off x="1051560" y="2139696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40" kern="0" dirty="0">
                <a:solidFill>
                  <a:srgbClr val="A9D9B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40" kern="0" dirty="0">
                <a:solidFill>
                  <a:srgbClr val="A9D9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POINT</a:t>
            </a:r>
            <a:endParaRPr lang="en-US" sz="1100" dirty="0"/>
          </a:p>
        </p:txBody>
      </p:sp>
      <p:sp>
        <p:nvSpPr>
          <p:cNvPr id="4" name="Shape 0"/>
          <p:cNvSpPr/>
          <p:nvPr/>
        </p:nvSpPr>
        <p:spPr>
          <a:xfrm>
            <a:off x="1051560" y="2615184"/>
            <a:ext cx="777240" cy="50292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5" name="Text 1"/>
          <p:cNvSpPr txBox="1"/>
          <p:nvPr>
            <p:ph idx="103" type="title" hasCustomPrompt="1"/>
          </p:nvPr>
        </p:nvSpPr>
        <p:spPr>
          <a:xfrm>
            <a:off x="1051560" y="2944368"/>
            <a:ext cx="996696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spc="-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spc="-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sentence that carries the whole argument.</a:t>
            </a:r>
            <a:endParaRPr lang="en-US" sz="3600" dirty="0"/>
          </a:p>
        </p:txBody>
      </p:sp>
      <p:sp>
        <p:nvSpPr>
          <p:cNvPr id="6" name="Text 1"/>
          <p:cNvSpPr txBox="1"/>
          <p:nvPr>
            <p:ph idx="104" type="body" hasCustomPrompt="1"/>
          </p:nvPr>
        </p:nvSpPr>
        <p:spPr>
          <a:xfrm>
            <a:off x="1051560" y="4809744"/>
            <a:ext cx="85953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E4EFE8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500" dirty="0">
                <a:solidFill>
                  <a:srgbClr val="E4E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support, or the ask.</a:t>
            </a:r>
            <a:endParaRPr lang="en-US" sz="1500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XT_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0" type="body" hasCustomPrompt="1"/>
          </p:nvPr>
        </p:nvSpPr>
        <p:spPr>
          <a:xfrm>
            <a:off x="731520" y="548640"/>
            <a:ext cx="10728655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</a:t>
            </a:r>
            <a:endParaRPr lang="en-US" sz="1100" dirty="0"/>
          </a:p>
        </p:txBody>
      </p:sp>
      <p:sp>
        <p:nvSpPr>
          <p:cNvPr id="3" name="Text 0"/>
          <p:cNvSpPr txBox="1"/>
          <p:nvPr>
            <p:ph idx="101" type="title" hasCustomPrompt="1"/>
          </p:nvPr>
        </p:nvSpPr>
        <p:spPr>
          <a:xfrm>
            <a:off x="731520" y="822960"/>
            <a:ext cx="1005840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400" dirty="0"/>
          </a:p>
        </p:txBody>
      </p:sp>
      <p:sp>
        <p:nvSpPr>
          <p:cNvPr id="4" name="Text 0"/>
          <p:cNvSpPr txBox="1"/>
          <p:nvPr>
            <p:ph idx="102" type="body" hasCustomPrompt="1"/>
          </p:nvPr>
        </p:nvSpPr>
        <p:spPr>
          <a:xfrm>
            <a:off x="731520" y="1591056"/>
            <a:ext cx="10728655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need decided today.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2121408"/>
            <a:ext cx="10728655" cy="39136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6" name="Text 0"/>
          <p:cNvSpPr txBox="1"/>
          <p:nvPr>
            <p:ph idx="104" type="body" hasCustomPrompt="1"/>
          </p:nvPr>
        </p:nvSpPr>
        <p:spPr>
          <a:xfrm>
            <a:off x="731520" y="6364224"/>
            <a:ext cx="786384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endParaRPr lang="en-US" sz="900" dirty="0"/>
          </a:p>
        </p:txBody>
      </p:sp>
      <p:pic>
        <p:nvPicPr>
          <p:cNvPr id="7" name="Image 0" descr="brand/logo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6272784"/>
            <a:ext cx="1325880" cy="4479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55480" y="6364224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nd/logo_h_re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94944"/>
            <a:ext cx="2377440" cy="803189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1520" y="3054096"/>
            <a:ext cx="777240" cy="50292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4" name="Text 1"/>
          <p:cNvSpPr txBox="1"/>
          <p:nvPr>
            <p:ph idx="102" type="title" hasCustomPrompt="1"/>
          </p:nvPr>
        </p:nvSpPr>
        <p:spPr>
          <a:xfrm>
            <a:off x="731520" y="3364992"/>
            <a:ext cx="6949440" cy="8961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spc="-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spc="-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decided</a:t>
            </a:r>
            <a:endParaRPr lang="en-US" sz="3600" dirty="0"/>
          </a:p>
        </p:txBody>
      </p:sp>
      <p:sp>
        <p:nvSpPr>
          <p:cNvPr id="5" name="Text 1"/>
          <p:cNvSpPr txBox="1"/>
          <p:nvPr>
            <p:ph idx="103" type="body" hasCustomPrompt="1"/>
          </p:nvPr>
        </p:nvSpPr>
        <p:spPr>
          <a:xfrm>
            <a:off x="731520" y="4334256"/>
            <a:ext cx="69494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E4EFE8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500" dirty="0">
                <a:solidFill>
                  <a:srgbClr val="E4E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Decision, owner, and date.</a:t>
            </a:r>
            <a:endParaRPr lang="en-US" sz="1500" dirty="0"/>
          </a:p>
        </p:txBody>
      </p:sp>
      <p:sp>
        <p:nvSpPr>
          <p:cNvPr id="6" name="Text 1"/>
          <p:cNvSpPr txBox="1"/>
          <p:nvPr>
            <p:ph idx="104" type="body" hasCustomPrompt="1"/>
          </p:nvPr>
        </p:nvSpPr>
        <p:spPr>
          <a:xfrm>
            <a:off x="731520" y="5961888"/>
            <a:ext cx="69494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50" spc="80" kern="0" dirty="0">
                <a:solidFill>
                  <a:srgbClr val="C3DACB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50" spc="80" kern="0" dirty="0">
                <a:solidFill>
                  <a:srgbClr val="C3D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 |  Title  |  email@steelking.com</a:t>
            </a:r>
            <a:endParaRPr lang="en-US" sz="1150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_MASCOT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nd/logo_kn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481328"/>
            <a:ext cx="3658880" cy="5212080"/>
          </a:xfrm>
          <a:prstGeom prst="rect">
            <a:avLst/>
          </a:prstGeom>
        </p:spPr>
      </p:pic>
      <p:pic>
        <p:nvPicPr>
          <p:cNvPr id="3" name="Image 1" descr="brand/logo_h_re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58368"/>
            <a:ext cx="2377440" cy="803189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2" type="body" hasCustomPrompt="1"/>
          </p:nvPr>
        </p:nvSpPr>
        <p:spPr>
          <a:xfrm>
            <a:off x="731520" y="2395728"/>
            <a:ext cx="658368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40" kern="0" dirty="0">
                <a:solidFill>
                  <a:srgbClr val="A9D9B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40" kern="0" dirty="0">
                <a:solidFill>
                  <a:srgbClr val="A9D9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DEALER MEETING</a:t>
            </a:r>
            <a:endParaRPr lang="en-US" sz="1100" dirty="0"/>
          </a:p>
        </p:txBody>
      </p:sp>
      <p:sp>
        <p:nvSpPr>
          <p:cNvPr id="5" name="Shape 0"/>
          <p:cNvSpPr/>
          <p:nvPr/>
        </p:nvSpPr>
        <p:spPr>
          <a:xfrm>
            <a:off x="731520" y="2871216"/>
            <a:ext cx="777240" cy="50292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6" name="Text 1"/>
          <p:cNvSpPr txBox="1"/>
          <p:nvPr>
            <p:ph idx="104" type="title" hasCustomPrompt="1"/>
          </p:nvPr>
        </p:nvSpPr>
        <p:spPr>
          <a:xfrm>
            <a:off x="731520" y="3200400"/>
            <a:ext cx="6583680" cy="16276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4400" dirty="0"/>
          </a:p>
        </p:txBody>
      </p:sp>
      <p:sp>
        <p:nvSpPr>
          <p:cNvPr id="7" name="Text 1"/>
          <p:cNvSpPr txBox="1"/>
          <p:nvPr>
            <p:ph idx="105" type="body" hasCustomPrompt="1"/>
          </p:nvPr>
        </p:nvSpPr>
        <p:spPr>
          <a:xfrm>
            <a:off x="731520" y="4956048"/>
            <a:ext cx="65836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E4EFE8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E4E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 on what this deck argues</a:t>
            </a:r>
            <a:endParaRPr lang="en-US" sz="1700" dirty="0"/>
          </a:p>
        </p:txBody>
      </p:sp>
      <p:sp>
        <p:nvSpPr>
          <p:cNvPr id="8" name="Text 1"/>
          <p:cNvSpPr txBox="1"/>
          <p:nvPr>
            <p:ph idx="106" type="body" hasCustomPrompt="1"/>
          </p:nvPr>
        </p:nvSpPr>
        <p:spPr>
          <a:xfrm>
            <a:off x="731520" y="5998464"/>
            <a:ext cx="658368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50" spc="80" kern="0" dirty="0">
                <a:solidFill>
                  <a:srgbClr val="C3DACB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50" spc="80" kern="0" dirty="0">
                <a:solidFill>
                  <a:srgbClr val="C3D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  |  Audience  |  Month Year</a:t>
            </a:r>
            <a:endParaRPr lang="en-US" sz="115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55480" y="6364224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SALES MEETING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4"/>
          </p:nvPr>
        </p:nvSpPr>
        <p:spPr/>
        <p:txBody>
          <a:bodyPr/>
          <a:lstStyle/>
          <a:p>
            <a:r>
              <a:t>Speed and service win the order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What the research says about first touch, follow-up, and support in industrial buying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6"/>
          </p:nvPr>
        </p:nvSpPr>
        <p:spPr/>
        <p:txBody>
          <a:bodyPr/>
          <a:lstStyle/>
          <a:p>
            <a:r>
              <a:t>Nate Guralski  |  Steel King Sales Team  |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THE POINT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By the time a buyer contacts us, they have already picked a favorite. The first touch decides whether it stays us.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Eight in ten B2B deals go to the first vendor the buyer contacts. Most vendors take more than a day to answer.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Five things we cover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Why it matters, what the market shows, and what we change.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The market is showing up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5 min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8"/>
          </p:nvPr>
        </p:nvSpPr>
        <p:spPr/>
        <p:txBody>
          <a:bodyPr/>
          <a:lstStyle/>
          <a:p>
            <a:r>
              <a:t>The buyer decides early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r>
              <a:t>10 min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t>Speed to lead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r>
              <a:t>10 min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Service after the sale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117"/>
          </p:nvPr>
        </p:nvSpPr>
        <p:spPr/>
        <p:txBody>
          <a:bodyPr/>
          <a:lstStyle/>
          <a:p>
            <a:r>
              <a:t>10 min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20"/>
          </p:nvPr>
        </p:nvSpPr>
        <p:spPr/>
        <p:txBody>
          <a:bodyPr/>
          <a:lstStyle/>
          <a:p>
            <a:r>
              <a:t>What we change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21"/>
          </p:nvPr>
        </p:nvSpPr>
        <p:spPr/>
        <p:txBody>
          <a:bodyPr/>
          <a:lstStyle/>
          <a:p>
            <a:r>
              <a:t>15 min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The market is showing up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Demand for rack is real. The question is who gets the order.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MARKET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Racking is the top planned equipment buy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Buyers have budget and intent. We are competing for share, not for demand.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45%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PLAN TO BUY RACKS AND SHELVING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6"/>
          </p:nvPr>
        </p:nvSpPr>
        <p:spPr/>
        <p:txBody>
          <a:bodyPr/>
          <a:lstStyle/>
          <a:p>
            <a:r>
              <a:t>Top equipment category in the 2026 and 2025 MMH outlook surveys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08"/>
          </p:nvPr>
        </p:nvSpPr>
        <p:spPr/>
        <p:txBody>
          <a:bodyPr/>
          <a:lstStyle/>
          <a:p>
            <a:r>
              <a:t>$542K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r>
              <a:t>AVG PLANNED MH EQUIPMENT SPEND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10"/>
          </p:nvPr>
        </p:nvSpPr>
        <p:spPr/>
        <p:txBody>
          <a:bodyPr/>
          <a:lstStyle/>
          <a:p>
            <a:r>
              <a:t>Up from $402K planned for 2025, a 35% jump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t>+18%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r>
              <a:t>U.S. INDUSTRIAL CONSTRUCTION PIPELINE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14"/>
          </p:nvPr>
        </p:nvSpPr>
        <p:spPr/>
        <p:txBody>
          <a:bodyPr/>
          <a:lstStyle/>
          <a:p>
            <a:r>
              <a:t>305M sq ft under construction, Q2 2026, fourth straight quarterly rise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r>
              <a:t>Every one of these buyers will shortlist fewer than five suppliers. Our job is to be on the list and stay on it.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Source: Modern Materials Handling / Peerless Research 2026 and 2025 Outlook Surveys (n=103, n=110); Cushman &amp; Wakefield U.S. Industrial MarketBeat Q2 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The buyer decides early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Most of the decision is made before anyone calls a rep.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BUYER BEHAVIOR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The shortlist is built before we get the call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Buyers research alone, keep the list short, and mostly buy from the first vendor they contact.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62%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OF THE BUYING PROCESS DONE ONLINE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6"/>
          </p:nvPr>
        </p:nvSpPr>
        <p:spPr/>
        <p:txBody>
          <a:bodyPr/>
          <a:lstStyle/>
          <a:p>
            <a:r>
              <a:t>Engineers and technical buyers, before contacting anyone at the vendor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08"/>
          </p:nvPr>
        </p:nvSpPr>
        <p:spPr/>
        <p:txBody>
          <a:bodyPr/>
          <a:lstStyle/>
          <a:p>
            <a:r>
              <a:t>71%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r>
              <a:t>VET FEWER THAN FIVE SUPPLIERS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10"/>
          </p:nvPr>
        </p:nvSpPr>
        <p:spPr/>
        <p:txBody>
          <a:bodyPr/>
          <a:lstStyle/>
          <a:p>
            <a:r>
              <a:t>Industrial buyers on Thomasnet; only 3% look at more than ten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t>8 in 10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r>
              <a:t>DEALS GO TO FIRST VENDOR CONTACTED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14"/>
          </p:nvPr>
        </p:nvSpPr>
        <p:spPr/>
        <p:txBody>
          <a:bodyPr/>
          <a:lstStyle/>
          <a:p>
            <a:r>
              <a:t>B2B buyers across industries; favorites ranked before first contact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r>
              <a:t>If the first call, form, or dealer inquiry goes unanswered for a day, we hand the order to whoever answered.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Source: GlobalSpec / TREW Marketing, 2026 State of Marketing to Engineers (n=1,000+); Thomasnet Industrial Buyer Habits report; 6sense 2025 Buyer Experience Report (approx. 4,000 B2B buyers).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WHAT BUYERS WEIGH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Lead time and support outrank price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Industrial buyers rank lead time first when they shortlist. Price is fifth on why distributors win.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pPr>
              <a:spcAft>
                <a:spcPts val="700"/>
              </a:spcAft>
            </a:pPr>
            <a:r>
              <a:t>Thomasnet shortlist factors, in order: lead time and availability, unit price, quality certifications, verified company information.</a:t>
            </a:r>
          </a:p>
          <a:p>
            <a:pPr>
              <a:spcAft>
                <a:spcPts val="700"/>
              </a:spcAft>
            </a:pPr>
            <a:r>
              <a:t>Buyers expect an answer inside 24 hours. 44% say so outright.</a:t>
            </a:r>
          </a:p>
          <a:p>
            <a:pPr>
              <a:spcAft>
                <a:spcPts val="700"/>
              </a:spcAft>
            </a:pPr>
            <a:r>
              <a:t>One buyer, verbatim: "If I have to follow up twice, I eliminate you from consideration."</a:t>
            </a:r>
          </a:p>
          <a:p>
            <a:pPr>
              <a:spcAft>
                <a:spcPts val="700"/>
              </a:spcAft>
            </a:pPr>
            <a:r>
              <a:t>Rejection reasons: delayed or no RFQ response, having to follow up more than once, unclear pricing, stale company info.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Source: Thomasnet survey of 400+ registered industrial buyers (2021); Industrial Distribution annual Survey of Distributor Operations.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943600" y="2121408"/>
          <a:ext cx="5513832" cy="391363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THE REP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Buyers want a rep who knows their business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Human help cuts buyer regret in half. Generic help gets us removed from the list.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WHAT BUYERS WANT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pPr>
              <a:spcAft>
                <a:spcPts val="700"/>
              </a:spcAft>
            </a:pPr>
            <a:r>
              <a:t>Only 6% of technical buyers want no salesperson. They call for technical complexity (47%) and pricing or inventory (40%).</a:t>
            </a:r>
          </a:p>
          <a:p>
            <a:pPr>
              <a:spcAft>
                <a:spcPts val="700"/>
              </a:spcAft>
            </a:pPr>
            <a:r>
              <a:t>66% of engineers rate the vendor's engineering experts as highly trustworthy.</a:t>
            </a:r>
          </a:p>
          <a:p>
            <a:pPr>
              <a:spcAft>
                <a:spcPts val="700"/>
              </a:spcAft>
            </a:pPr>
            <a:r>
              <a:t>86% of business buyers are more likely to buy when the company understands their goals.</a:t>
            </a:r>
          </a:p>
          <a:p>
            <a:pPr>
              <a:spcAft>
                <a:spcPts val="700"/>
              </a:spcAft>
            </a:pPr>
            <a:r>
              <a:t>Rep-assisted purchases carry half the regret of self-service buys: 21% vs 43%.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6"/>
          </p:nvPr>
        </p:nvSpPr>
        <p:spPr/>
        <p:txBody>
          <a:bodyPr/>
          <a:lstStyle/>
          <a:p>
            <a:r>
              <a:t>WHAT BUYERS REPORT GETTING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08"/>
          </p:nvPr>
        </p:nvSpPr>
        <p:spPr/>
        <p:txBody>
          <a:bodyPr/>
          <a:lstStyle/>
          <a:p>
            <a:pPr>
              <a:spcAft>
                <a:spcPts val="700"/>
              </a:spcAft>
            </a:pPr>
            <a:r>
              <a:t>59% say most reps don't take the time to understand them.</a:t>
            </a:r>
          </a:p>
          <a:p>
            <a:pPr>
              <a:spcAft>
                <a:spcPts val="700"/>
              </a:spcAft>
            </a:pPr>
            <a:r>
              <a:t>73% say most sales interactions feel transactional.</a:t>
            </a:r>
          </a:p>
          <a:p>
            <a:pPr>
              <a:spcAft>
                <a:spcPts val="700"/>
              </a:spcAft>
            </a:pPr>
            <a:r>
              <a:t>69% see conflicts between the website and what the rep says.</a:t>
            </a:r>
          </a:p>
          <a:p>
            <a:pPr>
              <a:spcAft>
                <a:spcPts val="700"/>
              </a:spcAft>
            </a:pPr>
            <a:r>
              <a:t>Top deal killers: misleading price or product info (48%), not understanding the buyer's company (44%).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r>
              <a:t>Source: GlobalSpec / TREW 2025 and 2026 State of Marketing to Engineers; Salesforce State of the Connected Customer 2023 (3,300 business buyers); Gartner B2B Buying Report (2022 survey, n=441); LinkedIn State of Sales 2021.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Speed to lead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The first hour is worth more than the next week.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RESPONSE TIME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An hour's delay cuts qualification odds 7x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The value of a lead decays by the hour. Most companies let it decay for nearly two days.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7x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MORE LIKELY TO QUALIFY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6"/>
          </p:nvPr>
        </p:nvSpPr>
        <p:spPr/>
        <p:txBody>
          <a:bodyPr/>
          <a:lstStyle/>
          <a:p>
            <a:r>
              <a:t>Contact within one hour vs. waiting one more hour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08"/>
          </p:nvPr>
        </p:nvSpPr>
        <p:spPr/>
        <p:txBody>
          <a:bodyPr/>
          <a:lstStyle/>
          <a:p>
            <a:r>
              <a:t>60x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r>
              <a:t>MORE LIKELY TO QUALIFY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10"/>
          </p:nvPr>
        </p:nvSpPr>
        <p:spPr/>
        <p:txBody>
          <a:bodyPr/>
          <a:lstStyle/>
          <a:p>
            <a:r>
              <a:t>Contact within one hour vs. waiting 24 hours or more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t>42 hrs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r>
              <a:t>AVERAGE RESPONSE TIME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14"/>
          </p:nvPr>
        </p:nvSpPr>
        <p:spPr/>
        <p:txBody>
          <a:bodyPr/>
          <a:lstStyle/>
          <a:p>
            <a:r>
              <a:t>Across 2,241 U.S. companies audited; 23% never responded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r>
              <a:t>A lead that sits overnight is not the same lead in the morning. Speed is the cheapest advantage we have.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Source: Oldroyd, McElheran, Elkington, "The Short Life of Online Sales Leads," Harvard Business Review, March 2011 (1.25M leads, 42 companies; audit of 2,241 companies).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THE GAP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Most companies take a day or more to answer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Slow response is the norm. That makes fast response a differentiator.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pPr>
              <a:spcAft>
                <a:spcPts val="700"/>
              </a:spcAft>
            </a:pPr>
            <a:r>
              <a:t>Manufacturers and distributors: 71% take a day or more to produce a quote. 88% say they have lost deals to slow, manual quoting.</a:t>
            </a:r>
          </a:p>
          <a:p>
            <a:pPr>
              <a:spcAft>
                <a:spcPts val="700"/>
              </a:spcAft>
            </a:pPr>
            <a:r>
              <a:t>2026 test of 114 B2B companies: one sent a personalized reply within five minutes. None called within five minutes. Only 31% called at all.</a:t>
            </a:r>
          </a:p>
          <a:p>
            <a:pPr>
              <a:spcAft>
                <a:spcPts val="700"/>
              </a:spcAft>
            </a:pPr>
            <a:r>
              <a:t>Platform data across 5.7M leads: 77% of leads never got a response. Reps average 1.3 call attempts before giving up.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Source: Aleran survey of 200 U.S. manufacturers and distributors, July 2025 (vendor-sponsored); Workato lead response study, March 2026 (114 B2B companies); InsideSales 2021 Lead Response Management (5.7M leads); HBR 2011 audit.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943600" y="2121408"/>
          <a:ext cx="5513832" cy="391363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PERSISTENCE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Most reps quit after one attempt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Most deals need several touches. The second through sixth is where reps stop and conversions live.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pPr>
              <a:spcAft>
                <a:spcPts val="700"/>
              </a:spcAft>
            </a:pPr>
            <a:r>
              <a:t>Half of all leads are called only once. 93% of leads that convert are reached by the sixth call.</a:t>
            </a:r>
          </a:p>
          <a:p>
            <a:pPr>
              <a:spcAft>
                <a:spcPts val="700"/>
              </a:spcAft>
            </a:pPr>
            <a:r>
              <a:t>A six-call cadence lifted conversion 49%. Adding a five-email cadence lifted it 128% combined.</a:t>
            </a:r>
          </a:p>
          <a:p>
            <a:pPr>
              <a:spcAft>
                <a:spcPts val="700"/>
              </a:spcAft>
            </a:pPr>
            <a:r>
              <a:t>Average rep makes 1.3 call attempts before moving on.</a:t>
            </a:r>
          </a:p>
          <a:p>
            <a:pPr>
              <a:spcAft>
                <a:spcPts val="700"/>
              </a:spcAft>
            </a:pPr>
            <a:r>
              <a:t>New accounts take 8 touches on average to get a meeting. Top performers get there in 5 because each touch carries something useful.</a:t>
            </a:r>
          </a:p>
          <a:p>
            <a:pPr>
              <a:spcAft>
                <a:spcPts val="700"/>
              </a:spcAft>
            </a:pPr>
            <a:r>
              <a:t>Buyers told RAIN what they will tolerate: 55% accept 2 to 4 contacts, 23% accept 5 to 10. Persistence is expected, not resented.</a:t>
            </a:r>
          </a:p>
          <a:p>
            <a:pPr>
              <a:spcAft>
                <a:spcPts val="700"/>
              </a:spcAft>
            </a:pPr>
            <a:r>
              <a:t>Persistence runs one direction. We chase the lead. The buyer never chases us: "If I have to follow up twice, I eliminate you."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Source: Velocify / Leads360 Ultimate Contact Strategy 2012 (3.5M leads, consumer-heavy verticals); RAIN Group, Top Performance in Sales Prospecting, 2018 (488 buyers, 489 sellers); InsideSales 2013 Lead Response Report; Thomasnet 2021.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CREDIBILITY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The popular follow-up stats don't hold up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Every figure in this deck traces to a named study. These popular ones don't, so they're not here.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pPr>
              <a:spcAft>
                <a:spcPts val="700"/>
              </a:spcAft>
            </a:pPr>
            <a:r>
              <a:t>"80% of sales need 5 follow-ups; 44% of reps give up after one." Traces to a 1942 survey of under 40 door-to-door salesmen. No modern source.</a:t>
            </a:r>
          </a:p>
          <a:p>
            <a:pPr>
              <a:spcAft>
                <a:spcPts val="700"/>
              </a:spcAft>
            </a:pPr>
            <a:r>
              <a:t>"78% of buyers buy from the first company to respond." Attributed to a "Lead Connect survey" that no one can produce.</a:t>
            </a:r>
          </a:p>
          <a:p>
            <a:pPr>
              <a:spcAft>
                <a:spcPts val="700"/>
              </a:spcAft>
            </a:pPr>
            <a:r>
              <a:t>"35 to 50% of sales go to the first responder." A vendor blog assertion with no study behind it.</a:t>
            </a:r>
          </a:p>
          <a:p>
            <a:pPr>
              <a:spcAft>
                <a:spcPts val="700"/>
              </a:spcAft>
            </a:pPr>
            <a:r>
              <a:t>"The MIT study says 21x." It was a 2007 vendor-sponsored analysis by an MIT fellow, not an MIT publication. HBR's 7x and 60x are the clean numbers.</a:t>
            </a:r>
          </a:p>
          <a:p>
            <a:pPr>
              <a:spcAft>
                <a:spcPts val="700"/>
              </a:spcAft>
            </a:pPr>
            <a:r>
              <a:t>"A dissatisfied customer tells 9 to 15 people." Attributed to a White House office that never published it; the research is from 1979.</a:t>
            </a:r>
          </a:p>
          <a:p>
            <a:pPr>
              <a:spcAft>
                <a:spcPts val="700"/>
              </a:spcAft>
            </a:pPr>
            <a:r>
              <a:t>Why it matters: if we set standards on bad numbers, the first skeptic in the room wins. Use the sourced ones.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Source: Verification notes in the companion research brief. Origins traced by Sales &amp; Marketing Executives International (2021), HBR 2011, and the original publishers.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Service after the sale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Service response is now a purchase criterion, not a cost center.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SERVICE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Service response is now a buying criterion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Fast service response now ranks next to uptime. Poor service is the #2 reason buyers leave.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95%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RATE FAST SERVICE RESPONSE VERY IMPORTANT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6"/>
          </p:nvPr>
        </p:nvSpPr>
        <p:spPr/>
        <p:txBody>
          <a:bodyPr/>
          <a:lstStyle/>
          <a:p>
            <a:r>
              <a:t>Warehouse automation buyers, 2026; up from 83% a year earlier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08"/>
          </p:nvPr>
        </p:nvSpPr>
        <p:spPr/>
        <p:txBody>
          <a:bodyPr/>
          <a:lstStyle/>
          <a:p>
            <a:r>
              <a:t>41%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r>
              <a:t>OF BUSINESS BUYERS LEFT OVER POOR SERVICE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10"/>
          </p:nvPr>
        </p:nvSpPr>
        <p:spPr/>
        <p:txBody>
          <a:bodyPr/>
          <a:lstStyle/>
          <a:p>
            <a:r>
              <a:t>Second only to price (65%) as a reason to stop buying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t>50%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r>
              <a:t>WOULD SWITCH FOR BETTER POST-SALE SUPPORT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14"/>
          </p:nvPr>
        </p:nvSpPr>
        <p:spPr/>
        <p:txBody>
          <a:bodyPr/>
          <a:lstStyle/>
          <a:p>
            <a:r>
              <a:t>U.S. industrial buyers; 87% of millennial buyers say so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r>
              <a:t>The install crew, the parts desk, and the engineer who calls back are part of the product. Buyers score them that way.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Source: Modern Materials Handling / Peerless 2026 Automation Study (120+ decision makers) and 2025 Automation Survey (n=139); Salesforce State of the AI Connected Customer 2024 (1,570 business buyers); UPS Industrial Buying Dynamics 2017 (1,500 U.S. buyers) and 2019.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THE MATH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Retention pays twice. Churn costs for years.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Aftermarket carries double the margin of equipment, and a burned B2B customer stays gone.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WHAT SERVICE EARNS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pPr>
              <a:spcAft>
                <a:spcPts val="700"/>
              </a:spcAft>
            </a:pPr>
            <a:r>
              <a:t>Aftermarket services deliver margins more than two times higher than equipment sales alone.</a:t>
            </a:r>
          </a:p>
          <a:p>
            <a:pPr>
              <a:spcAft>
                <a:spcPts val="700"/>
              </a:spcAft>
            </a:pPr>
            <a:r>
              <a:t>97% of manufacturers are changing their service and aftermarket operations. Of those tracking satisfaction, only 44% are hitting their goals.</a:t>
            </a:r>
          </a:p>
          <a:p>
            <a:pPr>
              <a:spcAft>
                <a:spcPts val="700"/>
              </a:spcAft>
            </a:pPr>
            <a:r>
              <a:t>73% of chief sales officers now prioritize growth from existing customers over new logos.</a:t>
            </a:r>
          </a:p>
          <a:p>
            <a:pPr>
              <a:spcAft>
                <a:spcPts val="700"/>
              </a:spcAft>
            </a:pPr>
            <a:r>
              <a:t>Companies that run service as a value center grow revenue 3.5x faster than those that run it as a cost center.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6"/>
          </p:nvPr>
        </p:nvSpPr>
        <p:spPr/>
        <p:txBody>
          <a:bodyPr/>
          <a:lstStyle/>
          <a:p>
            <a:r>
              <a:t>WHAT POOR SERVICE COSTS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08"/>
          </p:nvPr>
        </p:nvSpPr>
        <p:spPr/>
        <p:txBody>
          <a:bodyPr/>
          <a:lstStyle/>
          <a:p>
            <a:pPr>
              <a:spcAft>
                <a:spcPts val="700"/>
              </a:spcAft>
            </a:pPr>
            <a:r>
              <a:t>80% of frequent B2B buyers switched a supplier in 24 months because it could not meet their expectations.</a:t>
            </a:r>
          </a:p>
          <a:p>
            <a:pPr>
              <a:spcAft>
                <a:spcPts val="700"/>
              </a:spcAft>
            </a:pPr>
            <a:r>
              <a:t>66% of B2B customers stopped buying after a bad service interaction.</a:t>
            </a:r>
          </a:p>
          <a:p>
            <a:pPr>
              <a:spcAft>
                <a:spcPts val="700"/>
              </a:spcAft>
            </a:pPr>
            <a:r>
              <a:t>51% of them were still avoiding that vendor two or more years later.</a:t>
            </a:r>
          </a:p>
          <a:p>
            <a:pPr>
              <a:spcAft>
                <a:spcPts val="700"/>
              </a:spcAft>
            </a:pPr>
            <a:r>
              <a:t>Only 29% of B2B customers are fully engaged. Gallup calls the other 71% ready to take their business elsewhere.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r>
              <a:t>Source: Deloitte 2026 Manufacturing Industry Outlook (n=600); Salesforce Trends in Manufacturing 2024 (n=830); Gartner CSO survey May 2025 (n=243); Accenture 2022 and 2019 B2B studies; Dimensional Research 2013 (n=1,046, B2B split); Gallup 2016.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THE CHANNEL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Our response time becomes the dealer's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Dealers are being asked for contractor-grade service. Our response time is theirs.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pPr>
              <a:spcAft>
                <a:spcPts val="700"/>
              </a:spcAft>
            </a:pPr>
            <a:r>
              <a:t>86% of lift truck spend runs through dealers. Under 15% goes direct. Rack is not measured the same way, but the channel is the same.</a:t>
            </a:r>
          </a:p>
          <a:p>
            <a:pPr>
              <a:spcAft>
                <a:spcPts val="700"/>
              </a:spcAft>
            </a:pPr>
            <a:r>
              <a:t>MHEDA 2025: storage and handling customers now expect "contractor-like service capabilities" from the dealer.</a:t>
            </a:r>
          </a:p>
          <a:p>
            <a:pPr>
              <a:spcAft>
                <a:spcPts val="700"/>
              </a:spcAft>
            </a:pPr>
            <a:r>
              <a:t>MHEDA 2026 trends: rising customer expectations squeezing margins; manufacturer-distributor partnerships "becoming essential."</a:t>
            </a:r>
          </a:p>
          <a:p>
            <a:pPr>
              <a:spcAft>
                <a:spcPts val="700"/>
              </a:spcAft>
            </a:pPr>
            <a:r>
              <a:t>Hytrol's CRO to MHEDA members: for uptime-critical end users, response time has to be "within minutes, not hours."</a:t>
            </a:r>
          </a:p>
          <a:p>
            <a:pPr>
              <a:spcAft>
                <a:spcPts val="700"/>
              </a:spcAft>
            </a:pPr>
            <a:r>
              <a:t>Younger buyers research online and expect to buy online. 80% of industrial buyers would move to a supplier with a more usable web presence.</a:t>
            </a:r>
          </a:p>
          <a:p>
            <a:pPr>
              <a:spcAft>
                <a:spcPts val="700"/>
              </a:spcAft>
            </a:pPr>
            <a:r>
              <a:t>Every quote, drawing, and parts question a dealer sends us has an end customer waiting behind it.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Source: MMH / Peerless 2025 Lift Truck User Survey (n=150); MHEDA Journal 2025 Industry Outlook, 2026 Business Trends, and "Advancing from Distributor to Integrator"; UPS Industrial Buying Dynamics 2017 (1,500 U.S. buyers).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What we change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Three standards, measured, owned, and on the scorecard.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AT STEEL KING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Where this shows up in our own process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Six touchpoints we control. Each has a number behind it.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Source: Sources as cited on the slides above.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121408"/>
          <a:ext cx="10725912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788920"/>
                <a:gridCol w="4279392"/>
                <a:gridCol w="1737360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Touchpoint</a:t>
                      </a:r>
                    </a:p>
                  </a:txBody>
                  <a:tcPr marL="73152" marR="73152" marT="36576" marB="36576">
                    <a:solidFill>
                      <a:srgbClr val="3C7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 the buyer expects</a:t>
                      </a:r>
                    </a:p>
                  </a:txBody>
                  <a:tcPr marL="73152" marR="73152" marT="36576" marB="36576">
                    <a:solidFill>
                      <a:srgbClr val="3C7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behind it</a:t>
                      </a:r>
                    </a:p>
                  </a:txBody>
                  <a:tcPr marL="73152" marR="73152" marT="36576" marB="36576">
                    <a:solidFill>
                      <a:srgbClr val="3C7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73152" marR="73152" marT="36576" marB="36576">
                    <a:solidFill>
                      <a:srgbClr val="3C7D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5181A"/>
                          </a:solidFill>
                          <a:latin typeface="Arial"/>
                        </a:rPr>
                        <a:t>Web RFQ or contact form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5181A"/>
                          </a:solidFill>
                          <a:latin typeface="Arial"/>
                        </a:rPr>
                        <a:t>A human reply the same day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5181A"/>
                          </a:solidFill>
                          <a:latin typeface="Arial"/>
                        </a:rPr>
                        <a:t>7x more likely to qualify inside an hour. 44% expect an answer within 24 hours.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5181A"/>
                          </a:solidFill>
                          <a:latin typeface="Arial"/>
                        </a:rPr>
                        <a:t>HBR 2011; Thomasnet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5181A"/>
                          </a:solidFill>
                          <a:latin typeface="Arial"/>
                        </a:rPr>
                        <a:t>Dealer quote request</a:t>
                      </a:r>
                    </a:p>
                  </a:txBody>
                  <a:tcPr marL="73152" marR="73152" marT="36576" marB="36576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5181A"/>
                          </a:solidFill>
                          <a:latin typeface="Arial"/>
                        </a:rPr>
                        <a:t>Price and lead time fast enough to hold their customer</a:t>
                      </a:r>
                    </a:p>
                  </a:txBody>
                  <a:tcPr marL="73152" marR="73152" marT="36576" marB="36576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5181A"/>
                          </a:solidFill>
                          <a:latin typeface="Arial"/>
                        </a:rPr>
                        <a:t>Lead time is the #1 shortlist factor. 71% of manufacturers take a day or more to quote.</a:t>
                      </a:r>
                    </a:p>
                  </a:txBody>
                  <a:tcPr marL="73152" marR="73152" marT="36576" marB="36576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5181A"/>
                          </a:solidFill>
                          <a:latin typeface="Arial"/>
                        </a:rPr>
                        <a:t>Thomasnet 2021; Aleran 2025</a:t>
                      </a:r>
                    </a:p>
                  </a:txBody>
                  <a:tcPr marL="73152" marR="73152" marT="36576" marB="36576">
                    <a:solidFill>
                      <a:srgbClr val="F2F5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5181A"/>
                          </a:solidFill>
                          <a:latin typeface="Arial"/>
                        </a:rPr>
                        <a:t>Application and drawings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5181A"/>
                          </a:solidFill>
                          <a:latin typeface="Arial"/>
                        </a:rPr>
                        <a:t>A rep and an engineer who know the job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5181A"/>
                          </a:solidFill>
                          <a:latin typeface="Arial"/>
                        </a:rPr>
                        <a:t>66% rate vendor engineers highly trustworthy. Rep-assisted buys carry half the regret.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5181A"/>
                          </a:solidFill>
                          <a:latin typeface="Arial"/>
                        </a:rPr>
                        <a:t>GlobalSpec 2026; Gartner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5181A"/>
                          </a:solidFill>
                          <a:latin typeface="Arial"/>
                        </a:rPr>
                        <a:t>Follow-up on an open quote</a:t>
                      </a:r>
                    </a:p>
                  </a:txBody>
                  <a:tcPr marL="73152" marR="73152" marT="36576" marB="36576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5181A"/>
                          </a:solidFill>
                          <a:latin typeface="Arial"/>
                        </a:rPr>
                        <a:t>We chase. They never have to.</a:t>
                      </a:r>
                    </a:p>
                  </a:txBody>
                  <a:tcPr marL="73152" marR="73152" marT="36576" marB="36576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5181A"/>
                          </a:solidFill>
                          <a:latin typeface="Arial"/>
                        </a:rPr>
                        <a:t>93% of conversions by the 6th call. "Follow up twice and I eliminate you."</a:t>
                      </a:r>
                    </a:p>
                  </a:txBody>
                  <a:tcPr marL="73152" marR="73152" marT="36576" marB="36576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5181A"/>
                          </a:solidFill>
                          <a:latin typeface="Arial"/>
                        </a:rPr>
                        <a:t>Velocify 2012; Thomasnet 2021</a:t>
                      </a:r>
                    </a:p>
                  </a:txBody>
                  <a:tcPr marL="73152" marR="73152" marT="36576" marB="36576">
                    <a:solidFill>
                      <a:srgbClr val="F2F5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5181A"/>
                          </a:solidFill>
                          <a:latin typeface="Arial"/>
                        </a:rPr>
                        <a:t>Install, parts, and service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5181A"/>
                          </a:solidFill>
                          <a:latin typeface="Arial"/>
                        </a:rPr>
                        <a:t>Same-day response with a named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5181A"/>
                          </a:solidFill>
                          <a:latin typeface="Arial"/>
                        </a:rPr>
                        <a:t>95% rate fast service response very important. Poor service is the #2 reason buyers leave.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5181A"/>
                          </a:solidFill>
                          <a:latin typeface="Arial"/>
                        </a:rPr>
                        <a:t>MMH 2026; Salesforce 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5181A"/>
                          </a:solidFill>
                          <a:latin typeface="Arial"/>
                        </a:rPr>
                        <a:t>Existing accounts</a:t>
                      </a:r>
                    </a:p>
                  </a:txBody>
                  <a:tcPr marL="73152" marR="73152" marT="36576" marB="36576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5181A"/>
                          </a:solidFill>
                          <a:latin typeface="Arial"/>
                        </a:rPr>
                        <a:t>Contact between POs, not just at PO time</a:t>
                      </a:r>
                    </a:p>
                  </a:txBody>
                  <a:tcPr marL="73152" marR="73152" marT="36576" marB="36576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5181A"/>
                          </a:solidFill>
                          <a:latin typeface="Arial"/>
                        </a:rPr>
                        <a:t>73% of CSOs prioritize existing-customer growth. Aftermarket margins 2x equipment.</a:t>
                      </a:r>
                    </a:p>
                  </a:txBody>
                  <a:tcPr marL="73152" marR="73152" marT="36576" marB="36576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5181A"/>
                          </a:solidFill>
                          <a:latin typeface="Arial"/>
                        </a:rPr>
                        <a:t>Gartner 2025; Deloitte 2026</a:t>
                      </a:r>
                    </a:p>
                  </a:txBody>
                  <a:tcPr marL="73152" marR="73152" marT="36576" marB="36576">
                    <a:solidFill>
                      <a:srgbClr val="F2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STANDARDS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Three standards we hold ourselves to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Each one maps to a number in this deck. Each one gets measured.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6"/>
          </p:nvPr>
        </p:nvSpPr>
        <p:spPr/>
        <p:txBody>
          <a:bodyPr/>
          <a:lstStyle/>
          <a:p>
            <a:r>
              <a:t>1. First touch inside one hour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7"/>
          </p:nvPr>
        </p:nvSpPr>
        <p:spPr/>
        <p:txBody>
          <a:bodyPr/>
          <a:lstStyle/>
          <a:p>
            <a:r>
              <a:t>Every inbound lead, web form, dealer inquiry, and RFQ gets a human acknowledgment within one business hour. A real answer or quote inside 24 hours. Nobody waits two days to hear from Steel King.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t>2. Six touches before we close a lead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t>No lead is marked dead after one call. Minimum six touches across phone and email over two weeks, each with something useful: a drawing, a lead time, a reference. Log every touch.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3. Same-day service response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17"/>
          </p:nvPr>
        </p:nvSpPr>
        <p:spPr/>
        <p:txBody>
          <a:bodyPr/>
          <a:lstStyle/>
          <a:p>
            <a:r>
              <a:t>Post-sale questions, parts, and install issues get a same-day reply and a named owner. Dealer questions answered within four business hours. Response time reported monthly next to bookings.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18"/>
          </p:nvPr>
        </p:nvSpPr>
        <p:spPr/>
        <p:txBody>
          <a:bodyPr/>
          <a:lstStyle/>
          <a:p>
            <a:r>
              <a:t>Source: Proposed. Targets set from the research above; final numbers to be confirmed with the team.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ROLLOUT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Measure first, then set the bar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We cannot manage response time until we can see it. Baseline comes before targets.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6"/>
          </p:nvPr>
        </p:nvSpPr>
        <p:spPr/>
        <p:txBody>
          <a:bodyPr/>
          <a:lstStyle/>
          <a:p>
            <a:r>
              <a:t>OCT 2026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7"/>
          </p:nvPr>
        </p:nvSpPr>
        <p:spPr/>
        <p:txBody>
          <a:bodyPr/>
          <a:lstStyle/>
          <a:p>
            <a:r>
              <a:t>Baseline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8"/>
          </p:nvPr>
        </p:nvSpPr>
        <p:spPr/>
        <p:txBody>
          <a:bodyPr/>
          <a:lstStyle/>
          <a:p>
            <a:r>
              <a:t>Pull current response times for web leads, dealer RFQs, and service requests. Secret-shop our own inbound. Owner: Nate with inside sales.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t>NOV 2026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t>Standards and cadence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r>
              <a:t>Agree the three standards. Build the six-touch cadence and templates. Assign lead ownership rules. Owner: regional managers.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DEC 2026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117"/>
          </p:nvPr>
        </p:nvSpPr>
        <p:spPr/>
        <p:txBody>
          <a:bodyPr/>
          <a:lstStyle/>
          <a:p>
            <a:r>
              <a:t>Tools and dashboard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18"/>
          </p:nvPr>
        </p:nvSpPr>
        <p:spPr/>
        <p:txBody>
          <a:bodyPr/>
          <a:lstStyle/>
          <a:p>
            <a:r>
              <a:t>Route leads with alerts. Response-time report by rep and by dealer. Owner: marketing and inside sales.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21"/>
          </p:nvPr>
        </p:nvSpPr>
        <p:spPr/>
        <p:txBody>
          <a:bodyPr/>
          <a:lstStyle/>
          <a:p>
            <a:r>
              <a:t>Q1 2027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122"/>
          </p:nvPr>
        </p:nvSpPr>
        <p:spPr/>
        <p:txBody>
          <a:bodyPr/>
          <a:lstStyle/>
          <a:p>
            <a:r>
              <a:t>Scorecard and review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123"/>
          </p:nvPr>
        </p:nvSpPr>
        <p:spPr/>
        <p:txBody>
          <a:bodyPr/>
          <a:lstStyle/>
          <a:p>
            <a:r>
              <a:t>Response time and follow-up rate on the sales scorecard. Review monthly in L10. Owner: Nate.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124"/>
          </p:nvPr>
        </p:nvSpPr>
        <p:spPr/>
        <p:txBody>
          <a:bodyPr/>
          <a:lstStyle/>
          <a:p>
            <a:r>
              <a:t>Source: Dates are proposed and can move with the team's input.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THE POINT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Nobody buys rack because we called back fast. They stop considering us because we didn't.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Speed and service don't win on their own. They keep us on the shortlist long enough for product and price to win.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ACTIONS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What we agree to today, who owns it, and when.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Owners and dates are proposed for discussion in the meeting.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121408"/>
          <a:ext cx="10725912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5272"/>
                <a:gridCol w="2011680"/>
                <a:gridCol w="1463040"/>
                <a:gridCol w="1645920"/>
              </a:tblGrid>
              <a:tr h="535577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Action</a:t>
                      </a:r>
                    </a:p>
                  </a:txBody>
                  <a:tcPr marL="73152" marR="73152" marT="36576" marB="36576">
                    <a:solidFill>
                      <a:srgbClr val="3C7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73152" marR="73152" marT="36576" marB="36576">
                    <a:solidFill>
                      <a:srgbClr val="3C7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Date</a:t>
                      </a:r>
                    </a:p>
                  </a:txBody>
                  <a:tcPr marL="73152" marR="73152" marT="36576" marB="36576">
                    <a:solidFill>
                      <a:srgbClr val="3C7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73152" marR="73152" marT="36576" marB="36576">
                    <a:solidFill>
                      <a:srgbClr val="3C7D4D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A"/>
                          </a:solidFill>
                          <a:latin typeface="Arial"/>
                        </a:rPr>
                        <a:t>Secret-shop our own inbound (web form, phone, dealer RFQ) and report response times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A"/>
                          </a:solidFill>
                          <a:latin typeface="Arial"/>
                        </a:rPr>
                        <a:t>Nate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A"/>
                          </a:solidFill>
                          <a:latin typeface="Arial"/>
                        </a:rPr>
                        <a:t>Oct 15,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A"/>
                          </a:solidFill>
                          <a:latin typeface="Arial"/>
                        </a:rPr>
                        <a:t>Proposed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A"/>
                          </a:solidFill>
                          <a:latin typeface="Arial"/>
                        </a:rPr>
                        <a:t>Pull 90-day CRM data: time to first touch and touches per lead, by rep</a:t>
                      </a:r>
                    </a:p>
                  </a:txBody>
                  <a:tcPr marL="73152" marR="73152" marT="36576" marB="36576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A"/>
                          </a:solidFill>
                          <a:latin typeface="Arial"/>
                        </a:rPr>
                        <a:t>Inside sales lead</a:t>
                      </a:r>
                    </a:p>
                  </a:txBody>
                  <a:tcPr marL="73152" marR="73152" marT="36576" marB="36576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A"/>
                          </a:solidFill>
                          <a:latin typeface="Arial"/>
                        </a:rPr>
                        <a:t>Oct 15, 2026</a:t>
                      </a:r>
                    </a:p>
                  </a:txBody>
                  <a:tcPr marL="73152" marR="73152" marT="36576" marB="36576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A"/>
                          </a:solidFill>
                          <a:latin typeface="Arial"/>
                        </a:rPr>
                        <a:t>Proposed</a:t>
                      </a:r>
                    </a:p>
                  </a:txBody>
                  <a:tcPr marL="73152" marR="73152" marT="36576" marB="36576">
                    <a:solidFill>
                      <a:srgbClr val="F2F5F2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A"/>
                          </a:solidFill>
                          <a:latin typeface="Arial"/>
                        </a:rPr>
                        <a:t>Draft the six-touch cadence with templates and required content per touch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A"/>
                          </a:solidFill>
                          <a:latin typeface="Arial"/>
                        </a:rPr>
                        <a:t>Regional managers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A"/>
                          </a:solidFill>
                          <a:latin typeface="Arial"/>
                        </a:rPr>
                        <a:t>Nov 1,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A"/>
                          </a:solidFill>
                          <a:latin typeface="Arial"/>
                        </a:rPr>
                        <a:t>Proposed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A"/>
                          </a:solidFill>
                          <a:latin typeface="Arial"/>
                        </a:rPr>
                        <a:t>Agree the three standards and the exceptions</a:t>
                      </a:r>
                    </a:p>
                  </a:txBody>
                  <a:tcPr marL="73152" marR="73152" marT="36576" marB="36576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A"/>
                          </a:solidFill>
                          <a:latin typeface="Arial"/>
                        </a:rPr>
                        <a:t>Sales team</a:t>
                      </a:r>
                    </a:p>
                  </a:txBody>
                  <a:tcPr marL="73152" marR="73152" marT="36576" marB="36576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A"/>
                          </a:solidFill>
                          <a:latin typeface="Arial"/>
                        </a:rPr>
                        <a:t>Nov sales meeting</a:t>
                      </a:r>
                    </a:p>
                  </a:txBody>
                  <a:tcPr marL="73152" marR="73152" marT="36576" marB="36576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A"/>
                          </a:solidFill>
                          <a:latin typeface="Arial"/>
                        </a:rPr>
                        <a:t>Proposed</a:t>
                      </a:r>
                    </a:p>
                  </a:txBody>
                  <a:tcPr marL="73152" marR="73152" marT="36576" marB="36576">
                    <a:solidFill>
                      <a:srgbClr val="F2F5F2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A"/>
                          </a:solidFill>
                          <a:latin typeface="Arial"/>
                        </a:rPr>
                        <a:t>Lead routing alerts and a response-time dashboard by rep and dealer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A"/>
                          </a:solidFill>
                          <a:latin typeface="Arial"/>
                        </a:rPr>
                        <a:t>Marketing (John) with inside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A"/>
                          </a:solidFill>
                          <a:latin typeface="Arial"/>
                        </a:rPr>
                        <a:t>Dec 15,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A"/>
                          </a:solidFill>
                          <a:latin typeface="Arial"/>
                        </a:rPr>
                        <a:t>Proposed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A"/>
                          </a:solidFill>
                          <a:latin typeface="Arial"/>
                        </a:rPr>
                        <a:t>Add response time and follow-up rate to the sales scorecard</a:t>
                      </a:r>
                    </a:p>
                  </a:txBody>
                  <a:tcPr marL="73152" marR="73152" marT="36576" marB="36576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A"/>
                          </a:solidFill>
                          <a:latin typeface="Arial"/>
                        </a:rPr>
                        <a:t>Nate</a:t>
                      </a:r>
                    </a:p>
                  </a:txBody>
                  <a:tcPr marL="73152" marR="73152" marT="36576" marB="36576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A"/>
                          </a:solidFill>
                          <a:latin typeface="Arial"/>
                        </a:rPr>
                        <a:t>Jan 2027 L10</a:t>
                      </a:r>
                    </a:p>
                  </a:txBody>
                  <a:tcPr marL="73152" marR="73152" marT="36576" marB="36576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A"/>
                          </a:solidFill>
                          <a:latin typeface="Arial"/>
                        </a:rPr>
                        <a:t>Proposed</a:t>
                      </a:r>
                    </a:p>
                  </a:txBody>
                  <a:tcPr marL="73152" marR="73152" marT="36576" marB="36576">
                    <a:solidFill>
                      <a:srgbClr val="F2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What we decided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Three standards: first touch inside an hour, six touches before a lead closes, same-day service response. Baseline in October, on the scorecard by January.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Nate Guralski  |  VP Sales &amp; Marketing  |  Steel King Industries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Steel King Industries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Steel King Presentation System</dc:title>
  <dc:subject>PptxGenJS Presentation</dc:subject>
  <dc:creator>Steel King Industries</dc:creator>
  <cp:lastModifiedBy>Steel King Industries</cp:lastModifiedBy>
  <cp:revision>1</cp:revision>
  <dcterms:created xsi:type="dcterms:W3CDTF">2026-09-11T23:28:37Z</dcterms:created>
  <dcterms:modified xsi:type="dcterms:W3CDTF">2026-09-11T23:28:37Z</dcterms:modified>
</cp:coreProperties>
</file>