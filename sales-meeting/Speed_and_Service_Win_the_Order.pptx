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6"/>
    <p:sldId id="267" r:id="rId5"/>
    <p:sldId id="268" r:id="rId4"/>
    <p:sldId id="269" r:id="rId3"/>
    <p:sldId id="270" r:id="rId2"/>
    <p:sldId id="271" r:id="rId22"/>
    <p:sldId id="272" r:id="rId23"/>
    <p:sldId id="273" r:id="rId24"/>
    <p:sldId id="274" r:id="rId25"/>
    <p:sldId id="275" r:id="rId26"/>
    <p:sldId id="276" r:id="rId27"/>
    <p:sldId id="277" r:id="rId28"/>
    <p:sldId id="278" r:id="rId29"/>
    <p:sldId id="279" r:id="rId30"/>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5.xml"/><Relationship Id="rId3" Type="http://schemas.openxmlformats.org/officeDocument/2006/relationships/slide" Target="slides/slide14.xml"/><Relationship Id="rId4" Type="http://schemas.openxmlformats.org/officeDocument/2006/relationships/slide" Target="slides/slide13.xml"/><Relationship Id="rId5" Type="http://schemas.openxmlformats.org/officeDocument/2006/relationships/slide" Target="slides/slide12.xml"/><Relationship Id="rId6" Type="http://schemas.openxmlformats.org/officeDocument/2006/relationships/slide" Target="slides/slide1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Why distributors say they win</c:v>
                </c:pt>
              </c:strCache>
            </c:strRef>
          </c:tx>
          <c:spPr>
            <a:solidFill>
              <a:srgbClr val="3C7D4D"/>
            </a:solidFill>
          </c:spPr>
          <c:cat>
            <c:strRef>
              <c:f>Sheet1!$A$2:$A$6</c:f>
              <c:strCache>
                <c:ptCount val="5"/>
                <c:pt idx="0">
                  <c:v>Relationships</c:v>
                </c:pt>
                <c:pt idx="1">
                  <c:v>Product availability</c:v>
                </c:pt>
                <c:pt idx="2">
                  <c:v>Technical support</c:v>
                </c:pt>
                <c:pt idx="3">
                  <c:v>Delivery time</c:v>
                </c:pt>
                <c:pt idx="4">
                  <c:v>Price</c:v>
                </c:pt>
              </c:strCache>
            </c:strRef>
          </c:cat>
          <c:val>
            <c:numRef>
              <c:f>Sheet1!$B$2:$B$6</c:f>
              <c:numCache>
                <c:formatCode>General</c:formatCode>
                <c:ptCount val="5"/>
                <c:pt idx="0">
                  <c:v>81</c:v>
                </c:pt>
                <c:pt idx="1">
                  <c:v>76</c:v>
                </c:pt>
                <c:pt idx="2">
                  <c:v>66</c:v>
                </c:pt>
                <c:pt idx="3">
                  <c:v>62</c:v>
                </c:pt>
                <c:pt idx="4">
                  <c:v>53</c:v>
                </c:pt>
              </c:numCache>
            </c:numRef>
          </c:val>
        </c:ser>
        <c:dLbls>
          <c:numFmt formatCode="0&quot;%&quot;" sourceLinked="0"/>
          <c:txPr>
            <a:bodyPr/>
            <a:lstStyle/>
            <a:p>
              <a:pPr>
                <a:defRPr sz="1200" b="1">
                  <a:solidFill>
                    <a:srgbClr val="15181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2E6E3"/>
            </a:solidFill>
          </a:ln>
        </c:spPr>
        <c:txPr>
          <a:bodyPr/>
          <a:lstStyle/>
          <a:p>
            <a:pPr>
              <a:defRPr sz="1200">
                <a:solidFill>
                  <a:srgbClr val="15181A"/>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5181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companies, HBR 2011 audit</c:v>
                </c:pt>
              </c:strCache>
            </c:strRef>
          </c:tx>
          <c:spPr>
            <a:solidFill>
              <a:srgbClr val="3C7D4D"/>
            </a:solidFill>
          </c:spPr>
          <c:cat>
            <c:strRef>
              <c:f>Sheet1!$A$2:$A$5</c:f>
              <c:strCache>
                <c:ptCount val="4"/>
                <c:pt idx="0">
                  <c:v>Within 1 hour</c:v>
                </c:pt>
                <c:pt idx="1">
                  <c:v>1 to 24 hours</c:v>
                </c:pt>
                <c:pt idx="2">
                  <c:v>More than 24 hours</c:v>
                </c:pt>
                <c:pt idx="3">
                  <c:v>Never responded</c:v>
                </c:pt>
              </c:strCache>
            </c:strRef>
          </c:cat>
          <c:val>
            <c:numRef>
              <c:f>Sheet1!$B$2:$B$5</c:f>
              <c:numCache>
                <c:formatCode>General</c:formatCode>
                <c:ptCount val="4"/>
                <c:pt idx="0">
                  <c:v>37</c:v>
                </c:pt>
                <c:pt idx="1">
                  <c:v>16</c:v>
                </c:pt>
                <c:pt idx="2">
                  <c:v>24</c:v>
                </c:pt>
                <c:pt idx="3">
                  <c:v>23</c:v>
                </c:pt>
              </c:numCache>
            </c:numRef>
          </c:val>
        </c:ser>
        <c:dLbls>
          <c:numFmt formatCode="0&quot;%&quot;" sourceLinked="0"/>
          <c:txPr>
            <a:bodyPr/>
            <a:lstStyle/>
            <a:p>
              <a:pPr>
                <a:defRPr sz="1200" b="1">
                  <a:solidFill>
                    <a:srgbClr val="15181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2E6E3"/>
            </a:solidFill>
          </a:ln>
        </c:spPr>
        <c:txPr>
          <a:bodyPr/>
          <a:lstStyle/>
          <a:p>
            <a:pPr>
              <a:defRPr sz="1200">
                <a:solidFill>
                  <a:srgbClr val="15181A"/>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5181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point: buyers pick a favorite before they call. Our first touch and how we support them after decide whether that favorite is Steel King. Everything in this deck is sourced. Widely quoted numbers that could not be traced to a real study were left out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6sense 2025 Buyer Experience Report (about 4,000 buyers): the first vendor contacted wins roughly 8 in 10 deals, and 94% of buying groups had ranked their preferred vendors before making first contact. HBR 2011 audit of 2,241 U.S. companies: average response to a web lead was 42 hours; 23% never responded.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minutes. Leave the last 15 for the standards discussion and owners.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MMH 2026 Outlook (Jan 2026, n=103): racks and shelving named by 45% as a planned purchase, #1 category. Avg planned spend $541,670, up from under $402,000. MMH 2025 Warehouse/DC Operations Survey: net 80% plan to expand, 33% plan to add square footage (from 25%), avg capex $2.16M. Cushman &amp; Wakefield Q2 2026: vacancy 6.9%, pipeline 305 msf up 18% YoY. CBRE Q2 2026 puts vacancy at 6.5%. MHI/Deloitte 2026: 56% of supply chain leaders increasing tech investment, 52% plan to spend over $1M. Growth pockets: cold storage 2026 pipeline only 5.9M sq ft (lowest since 2020) after record 2025 deliveries; data center component manufacturing drove a 28% YoY jump in large manufacturing leases in Q1 2026 (CBRE). MHEDA 2026 members name data centers and cold storage as top niche growth markets.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GlobalSpec/TREW 2026: 62% of buying process online before contacting sales (66% for buyers 35 and under). Only 6% prefer never to talk to a salesperson; they contact sales for technical complexity, pricing, and inventory. Thomasnet: 71% vet fewer than five suppliers, 25% vet 5 to 10, 3% more than ten. 6sense 2025: buyers make first contact at 61% of the buying process (down from 69% in 2024), 94% of buying groups had ranked preferred vendors before first contact and bought that favorite 77% of the time. First vendor contacted wins about 8 in 10. Gartner: buyers spend 17% of the purchase process meeting with all suppliers combined; any one rep gets 5 to 6% of that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Industrial Distribution annual Survey of Distributor Operations, reasons distributors say they earn business (relationships 81%, availability 76%, technical support 66%, delivery time 62%, price 53%). Self-reported by distributors. Thomasnet 2021 survey of 400+ buyers published rankings, not percentages, for the shortlist factors. The 44%-within-24-hours figure is from Thomasnet's Industrial Buyer Search Habits survey; year not disclosed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Salesforce 2023 (6th ed., 3,300 business buyers): 86%, 84%, 59%, 73%. Gartner B2B Buying Report: high regret 43% self-service digital, 26% rep-led, 21% rep-assisted digital; self-service buyers 1.65x more likely to regret. Gartner 2025 sales survey (n=632): 69% report inconsistencies between website and rep. LinkedIn State of Sales 2021 (400+ buyers): deal killers 48% misleading info, 44% not understanding company, 43% not understanding own product. GlobalSpec 2025: only 6% prefer never to talk to a salesperson.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HBR March 2011. Two datasets: (1) 1.25 million leads at 42 companies, 29 B2C and 13 B2B: firms that tried to contact within an hour were nearly 7x as likely to qualify the lead as those that waited even one more hour, and more than 60x as likely as those waiting 24 hours or longer. (2) Audit of 2,241 U.S. companies: 37% responded within an hour, 16% within 1 to 24 hours, 24% took more than 24 hours, 23% never responded. Average 42 hours among those responding within 30 days. The older 2007 InsideSales/Oldroyd study (often mislabeled as an MIT study) found qualification odds drop 21x between a 5-minute and a 30-minute response. That was vendor-sponsored; HBR is the cleaner citation.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HBR 2011 audit of 2,241 companies. Workato March 2026: 114 B2B companies received demo requests. Only 1 sent a personalized email within 5 minutes, none called within 5 minutes; avg personalized email 11h54m; avg phone 14h29m; 31% called at all; about 20% never emailed. InsideSales 2021 (400+ companies, 5.7M leads, 55M activities): under 1% of attempts within 5 minutes, under 15% within the first day, 57% of attempts wait more than a week, 77% of leads not responded to at all. InsideSales 2013 audit of 14,061 companies: 47% did not respond; reps averaged 1.3 call attempts (7,960 companies, 2008 to 2012). Drift 2017 (433 SaaS companies): 7% responded within 5 minutes, 55% had not responded after 5 business days.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Velocify (then Leads360) Dec 2012, 400+ companies, ~3.5M leads, skewed to mortgage, insurance, education: 50% of leads called once; 93% of converted leads reached by the 6th call; 6-call cadence +49%, 5-email +53%, combined +128%; calling within 1 minute +391% conversion. Consumer phone-heavy data, so quote the pattern, not the precision. RAIN Group 2018: average touches to get a meeting with a new account 8 for the field, 5 for top performers; top performers generate 52 conversions per 100 targets vs 19. Buyer tolerance: 2 to 4 contacts 55%, 5 to 10 23%, 11 to 15 12%. InsideSales: 1.3 call attempts average. XANT 2016 audit: average persistence 4.5 touches, only 9.4% got 12 touches. NOT USED: '80% of sales take 5 follow-ups, 44% of reps quit after one.' That traces to a 1942 survey of fewer than 40 salespeople on Long Island and has no modern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optional in a short meeting, but it earns trust. If someone quotes one of these at us later, we know where it came from. The companion research brief has the full trace for each.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MMH/Peerless 2026 Automation Study: 'very important' when evaluating: fast service response 95% (from 83%), durability/uptime 92%, purchase price 78%, TCO/ROI 77%, parts availability 74%. 2025 Lift Truck User Survey: service response time is a top-5 purchase factor. Salesforce 7th ed. 2024: reasons customers stopped buying in the past year, poor customer service 43% overall, 41% among business buyers, behind high prices at 65%. Zendesk CX Trends 2025: 63% of consumers willing to switch after one bad experience, up 9% YoY. Consumer sample; use as direction. Microsoft 2019 State of Global Customer Service: 61% have stopped doing business with a brand over poor service; 95% call service important to brand choice. MHEDA Journal, Hytrol CRO: 'response time is within minutes, not hours' for uptime-critical end users.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Deloitte 2026 outlook (600 execs): aftermarket margins more than 2x equipment. Gartner May 2025: 73% of CSOs prioritizing existing-customer growth; 57% rank retention/growth top-3. Accenture 2022 (2,030 service leaders, 3,428 B2B customers): service-as-value-center companies 3.5x revenue growth. Accenture Interactive 2019 (748 B2B buyers): 80% switched suppliers at least once in 24 months. Dimensional Research 2013 (Zendesk sponsored, n=1,046): 62% B2B bought more after good service; 66% B2B stopped after bad; 51% B2B avoid vendor 2+ years later. Dated, but the only clean B2B/B2C split. Gallup 2016: 29% fully engaged, 60% indifferent, 11% actively disengaged; fully engaged deliver 50% higher revenue, 34% higher profitability. Rule of thumb, not a study: probability of selling to an existing customer 60 to 70% vs 5 to 20% for a new prospect (Marketing Metrics, 2010).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MMH 2025 Lift Truck User Survey: 86% of expenditures through dealer channel, under 15% direct. MHEDA Journal 2025 outlook, storage and handling segment: record order intake post-election, customers expecting contractor-like service, direct online purchasing increasing. MHEDA 2026 Business Trends: #3 rising customer expectations and margin pressure; #15 strategic manufacturer-distributor partnerships essential; #11 next-gen buyers shifting to online research and purchase. UPS 2017 (1,500 U.S. industrial buyers): 50% would switch for returns/training/on-site maintenance; 80% would shift to a supplier with a more user-friendly web presence. UPS 2019: 87% of millennial buyers likely to shift business for better post-sales support. Aleran 2025 (200 manufacturers/distributors, vendor-sponsored): 88% have lost deals to slow manual quoting; 71% take a day or more to quote.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proposals for discussion. The one-hour target comes from HBR's 7x finding. Six touches comes from Velocify's 93%-by-the-sixth-call and RAIN's 5 to 8 touches. Same-day service comes from MMH's 95% and Thomasnet's 24-hour expectation. Ask the room: what gets in the way of each one today? That is the list we fix.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first. HBR's audit method is simple: submit a lead to ourselves and time the reply. Do it for web, phone, and a dealer inquiry.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argument here before the action list.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are placeholders based on role. Confirm names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the three standards and the first date. Then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GENDA-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TITLE_CONTENT-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TWO_CONTENT-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THREE_CARD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BIG_NUMBERS-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CONTENT_VISUAL-image-2.jpe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FULL_VISUAL-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COMPARISON-image-2.jpe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TIMELINE-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KEY_MESSAGE-image-2.jpe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NEXT_STEPS-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CLOSING-image-2.jpe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image" Target="../media/COVER_MASCOT-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58368"/>
            <a:ext cx="2377440" cy="803189"/>
          </a:xfrm>
          <a:prstGeom prst="rect">
            <a:avLst/>
          </a:prstGeom>
        </p:spPr>
      </p:pic>
      <p:sp>
        <p:nvSpPr>
          <p:cNvPr id="3" name="Text 0"/>
          <p:cNvSpPr txBox="1"/>
          <p:nvPr>
            <p:ph idx="101" type="body" hasCustomPrompt="1"/>
          </p:nvPr>
        </p:nvSpPr>
        <p:spPr>
          <a:xfrm>
            <a:off x="731520" y="2212848"/>
            <a:ext cx="694944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EXECUTIVE BRIEFING</a:t>
            </a:r>
            <a:endParaRPr lang="en-US" sz="1100" dirty="0"/>
          </a:p>
        </p:txBody>
      </p:sp>
      <p:sp>
        <p:nvSpPr>
          <p:cNvPr id="4" name="Shape 0"/>
          <p:cNvSpPr/>
          <p:nvPr/>
        </p:nvSpPr>
        <p:spPr>
          <a:xfrm>
            <a:off x="731520" y="2688336"/>
            <a:ext cx="777240" cy="50292"/>
          </a:xfrm>
          <a:prstGeom prst="rect">
            <a:avLst/>
          </a:prstGeom>
          <a:solidFill>
            <a:srgbClr val="F2A900"/>
          </a:solidFill>
          <a:ln/>
        </p:spPr>
      </p:sp>
      <p:sp>
        <p:nvSpPr>
          <p:cNvPr id="5" name="Text 1"/>
          <p:cNvSpPr txBox="1"/>
          <p:nvPr>
            <p:ph idx="103" type="title" hasCustomPrompt="1"/>
          </p:nvPr>
        </p:nvSpPr>
        <p:spPr>
          <a:xfrm>
            <a:off x="731520" y="2907792"/>
            <a:ext cx="6949440" cy="1627632"/>
          </a:xfrm>
          <a:prstGeom prst="rect">
            <a:avLst/>
          </a:prstGeom>
          <a:noFill/>
          <a:ln/>
        </p:spPr>
        <p:txBody>
          <a:bodyPr wrap="square" rtlCol="0"/>
          <a:lstStyle>
            <a:lvl1pPr algn="l" indent="0" marL="0">
              <a:buNone/>
              <a:defRPr lang="en-US" sz="46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600" b="1" spc="-100" kern="0" dirty="0">
                <a:solidFill>
                  <a:srgbClr val="FFFFFF"/>
                </a:solidFill>
                <a:latin typeface="Arial" pitchFamily="34" charset="0"/>
                <a:ea typeface="Arial" pitchFamily="34" charset="-122"/>
                <a:cs typeface="Arial" pitchFamily="34" charset="-120"/>
              </a:rPr>
              <a:t>Presentation title</a:t>
            </a:r>
            <a:endParaRPr lang="en-US" sz="4600" dirty="0"/>
          </a:p>
        </p:txBody>
      </p:sp>
      <p:sp>
        <p:nvSpPr>
          <p:cNvPr id="6" name="Text 1"/>
          <p:cNvSpPr txBox="1"/>
          <p:nvPr>
            <p:ph idx="104" type="body" hasCustomPrompt="1"/>
          </p:nvPr>
        </p:nvSpPr>
        <p:spPr>
          <a:xfrm>
            <a:off x="731520" y="4663440"/>
            <a:ext cx="694944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7" name="Text 1"/>
          <p:cNvSpPr txBox="1"/>
          <p:nvPr>
            <p:ph idx="105" type="body" hasCustomPrompt="1"/>
          </p:nvPr>
        </p:nvSpPr>
        <p:spPr>
          <a:xfrm>
            <a:off x="731520" y="5998464"/>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731520" y="2212848"/>
            <a:ext cx="2926080" cy="1325880"/>
          </a:xfrm>
          <a:prstGeom prst="rect">
            <a:avLst/>
          </a:prstGeom>
          <a:noFill/>
          <a:ln/>
        </p:spPr>
        <p:txBody>
          <a:bodyPr wrap="square" rtlCol="0"/>
          <a:lstStyle>
            <a:lvl1pPr algn="l" indent="0" marL="0">
              <a:buNone/>
              <a:defRPr lang="en-US" sz="8600" b="1" spc="-200" kern="0" dirty="0">
                <a:solidFill>
                  <a:srgbClr val="A9D9BF">
                    <a:alpha val="55000"/>
                  </a:srgbClr>
                </a:solidFill>
                <a:latin typeface="Arial" pitchFamily="34" charset="0"/>
                <a:ea typeface="Arial" pitchFamily="34" charset="-122"/>
                <a:cs typeface="Arial" pitchFamily="34" charset="-120"/>
              </a:defRPr>
            </a:lvl1pPr>
          </a:lstStyle>
          <a:p>
            <a:pPr algn="l" indent="0" marL="0">
              <a:buNone/>
            </a:pPr>
            <a:r>
              <a:rPr lang="en-US" sz="8600" b="1" spc="-200" kern="0" dirty="0">
                <a:solidFill>
                  <a:srgbClr val="A9D9BF">
                    <a:alpha val="55000"/>
                  </a:srgbClr>
                </a:solidFill>
                <a:latin typeface="Arial" pitchFamily="34" charset="0"/>
                <a:ea typeface="Arial" pitchFamily="34" charset="-122"/>
                <a:cs typeface="Arial" pitchFamily="34" charset="-120"/>
              </a:rPr>
              <a:t>01</a:t>
            </a:r>
            <a:endParaRPr lang="en-US" sz="8600" dirty="0"/>
          </a:p>
        </p:txBody>
      </p:sp>
      <p:sp>
        <p:nvSpPr>
          <p:cNvPr id="4" name="Shape 0"/>
          <p:cNvSpPr/>
          <p:nvPr/>
        </p:nvSpPr>
        <p:spPr>
          <a:xfrm>
            <a:off x="731520" y="3712464"/>
            <a:ext cx="777240" cy="50292"/>
          </a:xfrm>
          <a:prstGeom prst="rect">
            <a:avLst/>
          </a:prstGeom>
          <a:solidFill>
            <a:srgbClr val="F2A900"/>
          </a:solidFill>
          <a:ln/>
        </p:spPr>
      </p:sp>
      <p:sp>
        <p:nvSpPr>
          <p:cNvPr id="5" name="Text 1"/>
          <p:cNvSpPr txBox="1"/>
          <p:nvPr>
            <p:ph idx="103" type="title" hasCustomPrompt="1"/>
          </p:nvPr>
        </p:nvSpPr>
        <p:spPr>
          <a:xfrm>
            <a:off x="731520" y="3986784"/>
            <a:ext cx="6949440" cy="841248"/>
          </a:xfrm>
          <a:prstGeom prst="rect">
            <a:avLst/>
          </a:prstGeom>
          <a:noFill/>
          <a:ln/>
        </p:spPr>
        <p:txBody>
          <a:bodyPr wrap="square" rtlCol="0"/>
          <a:lstStyle>
            <a:lvl1pPr algn="l" indent="0" marL="0">
              <a:buNone/>
              <a:defRPr lang="en-US" sz="3800" b="1" spc="-80" kern="0" dirty="0">
                <a:solidFill>
                  <a:srgbClr val="FFFFFF"/>
                </a:solidFill>
                <a:latin typeface="Arial" pitchFamily="34" charset="0"/>
                <a:ea typeface="Arial" pitchFamily="34" charset="-122"/>
                <a:cs typeface="Arial" pitchFamily="34" charset="-120"/>
              </a:defRPr>
            </a:lvl1pPr>
          </a:lstStyle>
          <a:p>
            <a:pPr algn="l" indent="0" marL="0">
              <a:buNone/>
            </a:pPr>
            <a:r>
              <a:rPr lang="en-US" sz="3800" b="1" spc="-80" kern="0" dirty="0">
                <a:solidFill>
                  <a:srgbClr val="FFFFFF"/>
                </a:solidFill>
                <a:latin typeface="Arial" pitchFamily="34" charset="0"/>
                <a:ea typeface="Arial" pitchFamily="34" charset="-122"/>
                <a:cs typeface="Arial" pitchFamily="34" charset="-120"/>
              </a:rPr>
              <a:t>Section name</a:t>
            </a:r>
            <a:endParaRPr lang="en-US" sz="3800" dirty="0"/>
          </a:p>
        </p:txBody>
      </p:sp>
      <p:sp>
        <p:nvSpPr>
          <p:cNvPr id="6" name="Text 1"/>
          <p:cNvSpPr txBox="1"/>
          <p:nvPr>
            <p:ph idx="104" type="body" hasCustomPrompt="1"/>
          </p:nvPr>
        </p:nvSpPr>
        <p:spPr>
          <a:xfrm>
            <a:off x="731520" y="4956048"/>
            <a:ext cx="6949440" cy="54864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What this section settles.</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Agenda</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cover and what we decide.</a:t>
            </a:r>
            <a:endParaRPr lang="en-US" sz="1600" dirty="0"/>
          </a:p>
        </p:txBody>
      </p:sp>
      <p:sp>
        <p:nvSpPr>
          <p:cNvPr id="5" name="Text 0"/>
          <p:cNvSpPr txBox="1"/>
          <p:nvPr/>
        </p:nvSpPr>
        <p:spPr>
          <a:xfrm>
            <a:off x="731520" y="2167128"/>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01</a:t>
            </a:r>
            <a:endParaRPr lang="en-US" sz="2000" dirty="0"/>
          </a:p>
        </p:txBody>
      </p:sp>
      <p:sp>
        <p:nvSpPr>
          <p:cNvPr id="6" name="Text 1"/>
          <p:cNvSpPr txBox="1"/>
          <p:nvPr>
            <p:ph idx="104" type="body" hasCustomPrompt="1"/>
          </p:nvPr>
        </p:nvSpPr>
        <p:spPr>
          <a:xfrm>
            <a:off x="1508760" y="2167128"/>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7" name="Text 1"/>
          <p:cNvSpPr txBox="1"/>
          <p:nvPr>
            <p:ph idx="105" type="body" hasCustomPrompt="1"/>
          </p:nvPr>
        </p:nvSpPr>
        <p:spPr>
          <a:xfrm>
            <a:off x="8869680" y="2167128"/>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8" name="Shape 1"/>
          <p:cNvSpPr/>
          <p:nvPr/>
        </p:nvSpPr>
        <p:spPr>
          <a:xfrm>
            <a:off x="731520" y="2770632"/>
            <a:ext cx="10728655" cy="0"/>
          </a:xfrm>
          <a:prstGeom prst="line">
            <a:avLst/>
          </a:prstGeom>
          <a:noFill/>
          <a:ln w="12700">
            <a:solidFill>
              <a:srgbClr val="E2E6E3"/>
            </a:solidFill>
            <a:prstDash val="solid"/>
          </a:ln>
        </p:spPr>
      </p:sp>
      <p:sp>
        <p:nvSpPr>
          <p:cNvPr id="9" name="Text 2"/>
          <p:cNvSpPr txBox="1"/>
          <p:nvPr/>
        </p:nvSpPr>
        <p:spPr>
          <a:xfrm>
            <a:off x="731520" y="2916936"/>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02</a:t>
            </a:r>
            <a:endParaRPr lang="en-US" sz="2000" dirty="0"/>
          </a:p>
        </p:txBody>
      </p:sp>
      <p:sp>
        <p:nvSpPr>
          <p:cNvPr id="10" name="Text 3"/>
          <p:cNvSpPr txBox="1"/>
          <p:nvPr>
            <p:ph idx="108" type="body" hasCustomPrompt="1"/>
          </p:nvPr>
        </p:nvSpPr>
        <p:spPr>
          <a:xfrm>
            <a:off x="1508760" y="2916936"/>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1" name="Text 3"/>
          <p:cNvSpPr txBox="1"/>
          <p:nvPr>
            <p:ph idx="109" type="body" hasCustomPrompt="1"/>
          </p:nvPr>
        </p:nvSpPr>
        <p:spPr>
          <a:xfrm>
            <a:off x="8869680" y="2916936"/>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2" name="Shape 3"/>
          <p:cNvSpPr/>
          <p:nvPr/>
        </p:nvSpPr>
        <p:spPr>
          <a:xfrm>
            <a:off x="731520" y="3520440"/>
            <a:ext cx="10728655" cy="0"/>
          </a:xfrm>
          <a:prstGeom prst="line">
            <a:avLst/>
          </a:prstGeom>
          <a:noFill/>
          <a:ln w="12700">
            <a:solidFill>
              <a:srgbClr val="E2E6E3"/>
            </a:solidFill>
            <a:prstDash val="solid"/>
          </a:ln>
        </p:spPr>
      </p:sp>
      <p:sp>
        <p:nvSpPr>
          <p:cNvPr id="13" name="Text 4"/>
          <p:cNvSpPr txBox="1"/>
          <p:nvPr/>
        </p:nvSpPr>
        <p:spPr>
          <a:xfrm>
            <a:off x="731520" y="3666744"/>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03</a:t>
            </a:r>
            <a:endParaRPr lang="en-US" sz="2000" dirty="0"/>
          </a:p>
        </p:txBody>
      </p:sp>
      <p:sp>
        <p:nvSpPr>
          <p:cNvPr id="14" name="Text 5"/>
          <p:cNvSpPr txBox="1"/>
          <p:nvPr>
            <p:ph idx="112" type="body" hasCustomPrompt="1"/>
          </p:nvPr>
        </p:nvSpPr>
        <p:spPr>
          <a:xfrm>
            <a:off x="1508760" y="3666744"/>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5" name="Text 5"/>
          <p:cNvSpPr txBox="1"/>
          <p:nvPr>
            <p:ph idx="113" type="body" hasCustomPrompt="1"/>
          </p:nvPr>
        </p:nvSpPr>
        <p:spPr>
          <a:xfrm>
            <a:off x="8869680" y="3666744"/>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6" name="Shape 5"/>
          <p:cNvSpPr/>
          <p:nvPr/>
        </p:nvSpPr>
        <p:spPr>
          <a:xfrm>
            <a:off x="731520" y="4270248"/>
            <a:ext cx="10728655" cy="0"/>
          </a:xfrm>
          <a:prstGeom prst="line">
            <a:avLst/>
          </a:prstGeom>
          <a:noFill/>
          <a:ln w="12700">
            <a:solidFill>
              <a:srgbClr val="E2E6E3"/>
            </a:solidFill>
            <a:prstDash val="solid"/>
          </a:ln>
        </p:spPr>
      </p:sp>
      <p:sp>
        <p:nvSpPr>
          <p:cNvPr id="17" name="Text 6"/>
          <p:cNvSpPr txBox="1"/>
          <p:nvPr/>
        </p:nvSpPr>
        <p:spPr>
          <a:xfrm>
            <a:off x="731520" y="4416552"/>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04</a:t>
            </a:r>
            <a:endParaRPr lang="en-US" sz="2000" dirty="0"/>
          </a:p>
        </p:txBody>
      </p:sp>
      <p:sp>
        <p:nvSpPr>
          <p:cNvPr id="18" name="Text 7"/>
          <p:cNvSpPr txBox="1"/>
          <p:nvPr>
            <p:ph idx="116" type="body" hasCustomPrompt="1"/>
          </p:nvPr>
        </p:nvSpPr>
        <p:spPr>
          <a:xfrm>
            <a:off x="1508760" y="4416552"/>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9" name="Text 7"/>
          <p:cNvSpPr txBox="1"/>
          <p:nvPr>
            <p:ph idx="117" type="body" hasCustomPrompt="1"/>
          </p:nvPr>
        </p:nvSpPr>
        <p:spPr>
          <a:xfrm>
            <a:off x="8869680" y="4416552"/>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0" name="Shape 7"/>
          <p:cNvSpPr/>
          <p:nvPr/>
        </p:nvSpPr>
        <p:spPr>
          <a:xfrm>
            <a:off x="731520" y="5020056"/>
            <a:ext cx="10728655" cy="0"/>
          </a:xfrm>
          <a:prstGeom prst="line">
            <a:avLst/>
          </a:prstGeom>
          <a:noFill/>
          <a:ln w="12700">
            <a:solidFill>
              <a:srgbClr val="E2E6E3"/>
            </a:solidFill>
            <a:prstDash val="solid"/>
          </a:ln>
        </p:spPr>
      </p:sp>
      <p:sp>
        <p:nvSpPr>
          <p:cNvPr id="21" name="Text 8"/>
          <p:cNvSpPr txBox="1"/>
          <p:nvPr/>
        </p:nvSpPr>
        <p:spPr>
          <a:xfrm>
            <a:off x="731520" y="5166360"/>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05</a:t>
            </a:r>
            <a:endParaRPr lang="en-US" sz="2000" dirty="0"/>
          </a:p>
        </p:txBody>
      </p:sp>
      <p:sp>
        <p:nvSpPr>
          <p:cNvPr id="22" name="Text 9"/>
          <p:cNvSpPr txBox="1"/>
          <p:nvPr>
            <p:ph idx="120" type="body" hasCustomPrompt="1"/>
          </p:nvPr>
        </p:nvSpPr>
        <p:spPr>
          <a:xfrm>
            <a:off x="1508760" y="5166360"/>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23" name="Text 9"/>
          <p:cNvSpPr txBox="1"/>
          <p:nvPr>
            <p:ph idx="121" type="body" hasCustomPrompt="1"/>
          </p:nvPr>
        </p:nvSpPr>
        <p:spPr>
          <a:xfrm>
            <a:off x="8869680" y="5166360"/>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4" name="Shape 9"/>
          <p:cNvSpPr/>
          <p:nvPr/>
        </p:nvSpPr>
        <p:spPr>
          <a:xfrm>
            <a:off x="731520" y="5769864"/>
            <a:ext cx="10728655" cy="0"/>
          </a:xfrm>
          <a:prstGeom prst="line">
            <a:avLst/>
          </a:prstGeom>
          <a:noFill/>
          <a:ln w="12700">
            <a:solidFill>
              <a:srgbClr val="E2E6E3"/>
            </a:solidFill>
            <a:prstDash val="solid"/>
          </a:ln>
        </p:spPr>
      </p:sp>
      <p:pic>
        <p:nvPicPr>
          <p:cNvPr id="2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10728655" cy="3913632"/>
          </a:xfrm>
          <a:prstGeom prst="rect">
            <a:avLst/>
          </a:prstGeom>
          <a:noFill/>
          <a:ln/>
        </p:spPr>
        <p:txBody>
          <a:bodyPr wrap="square" rtlCol="0"/>
          <a:lstStyle>
            <a:lvl1pPr algn="l" indent="0" marL="0">
              <a:buNone/>
              <a:defRPr lang="en-US" sz="1600" dirty="0">
                <a:solidFill>
                  <a:srgbClr val="15181A"/>
                </a:solidFill>
                <a:latin typeface="Arial" pitchFamily="34" charset="0"/>
                <a:ea typeface="Arial" pitchFamily="34" charset="-122"/>
                <a:cs typeface="Arial" pitchFamily="34" charset="-120"/>
              </a:defRPr>
            </a:lvl1pPr>
          </a:lstStyle>
          <a:p>
            <a:pPr algn="l" indent="0" marL="0">
              <a:buNone/>
            </a:pPr>
            <a:r>
              <a:rPr lang="en-US" sz="1600" dirty="0">
                <a:solidFill>
                  <a:srgbClr val="15181A"/>
                </a:solidFill>
                <a:latin typeface="Arial" pitchFamily="34" charset="0"/>
                <a:ea typeface="Arial" pitchFamily="34" charset="-122"/>
                <a:cs typeface="Arial" pitchFamily="34" charset="-120"/>
              </a:rPr>
              <a:t>Supporting content</a:t>
            </a:r>
            <a:endParaRPr lang="en-US" sz="1600"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512064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LEFT HEADING</a:t>
            </a:r>
            <a:endParaRPr lang="en-US" sz="1100" dirty="0"/>
          </a:p>
        </p:txBody>
      </p:sp>
      <p:sp>
        <p:nvSpPr>
          <p:cNvPr id="6" name="Shape 0"/>
          <p:cNvSpPr/>
          <p:nvPr/>
        </p:nvSpPr>
        <p:spPr>
          <a:xfrm>
            <a:off x="731520" y="2505456"/>
            <a:ext cx="5120640" cy="0"/>
          </a:xfrm>
          <a:prstGeom prst="line">
            <a:avLst/>
          </a:prstGeom>
          <a:noFill/>
          <a:ln w="12700">
            <a:solidFill>
              <a:srgbClr val="E2E6E3"/>
            </a:solidFill>
            <a:prstDash val="solid"/>
          </a:ln>
        </p:spPr>
      </p:sp>
      <p:sp>
        <p:nvSpPr>
          <p:cNvPr id="7" name="Text 1"/>
          <p:cNvSpPr txBox="1"/>
          <p:nvPr>
            <p:ph idx="105" type="body" hasCustomPrompt="1"/>
          </p:nvPr>
        </p:nvSpPr>
        <p:spPr>
          <a:xfrm>
            <a:off x="731520" y="2651760"/>
            <a:ext cx="512064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Left content</a:t>
            </a:r>
            <a:endParaRPr lang="en-US" sz="1500" dirty="0"/>
          </a:p>
        </p:txBody>
      </p:sp>
      <p:sp>
        <p:nvSpPr>
          <p:cNvPr id="8" name="Text 1"/>
          <p:cNvSpPr txBox="1"/>
          <p:nvPr>
            <p:ph idx="106" type="body" hasCustomPrompt="1"/>
          </p:nvPr>
        </p:nvSpPr>
        <p:spPr>
          <a:xfrm>
            <a:off x="6519672" y="2121408"/>
            <a:ext cx="493776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RIGHT HEADING</a:t>
            </a:r>
            <a:endParaRPr lang="en-US" sz="1100" dirty="0"/>
          </a:p>
        </p:txBody>
      </p:sp>
      <p:sp>
        <p:nvSpPr>
          <p:cNvPr id="9" name="Shape 1"/>
          <p:cNvSpPr/>
          <p:nvPr/>
        </p:nvSpPr>
        <p:spPr>
          <a:xfrm>
            <a:off x="6519672" y="2505456"/>
            <a:ext cx="4937760" cy="0"/>
          </a:xfrm>
          <a:prstGeom prst="line">
            <a:avLst/>
          </a:prstGeom>
          <a:noFill/>
          <a:ln w="12700">
            <a:solidFill>
              <a:srgbClr val="E2E6E3"/>
            </a:solidFill>
            <a:prstDash val="solid"/>
          </a:ln>
        </p:spPr>
      </p:sp>
      <p:sp>
        <p:nvSpPr>
          <p:cNvPr id="10" name="Text 2"/>
          <p:cNvSpPr txBox="1"/>
          <p:nvPr>
            <p:ph idx="108" type="body" hasCustomPrompt="1"/>
          </p:nvPr>
        </p:nvSpPr>
        <p:spPr>
          <a:xfrm>
            <a:off x="6519672" y="2651760"/>
            <a:ext cx="493776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Right content</a:t>
            </a:r>
            <a:endParaRPr lang="en-US" sz="1500" dirty="0"/>
          </a:p>
        </p:txBody>
      </p:sp>
      <p:sp>
        <p:nvSpPr>
          <p:cNvPr id="11" name="Text 2"/>
          <p:cNvSpPr txBox="1"/>
          <p:nvPr>
            <p:ph idx="109"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2"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_CAR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3584448"/>
          </a:xfrm>
          <a:prstGeom prst="rect">
            <a:avLst/>
          </a:prstGeom>
          <a:solidFill>
            <a:srgbClr val="F2F5F2"/>
          </a:solidFill>
          <a:ln/>
        </p:spPr>
      </p:sp>
      <p:sp>
        <p:nvSpPr>
          <p:cNvPr id="6" name="Text 1"/>
          <p:cNvSpPr txBox="1"/>
          <p:nvPr/>
        </p:nvSpPr>
        <p:spPr>
          <a:xfrm>
            <a:off x="1097280"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01</a:t>
            </a:r>
            <a:endParaRPr lang="en-US" sz="2400" dirty="0"/>
          </a:p>
        </p:txBody>
      </p:sp>
      <p:sp>
        <p:nvSpPr>
          <p:cNvPr id="7" name="Shape 2"/>
          <p:cNvSpPr/>
          <p:nvPr/>
        </p:nvSpPr>
        <p:spPr>
          <a:xfrm>
            <a:off x="1097280" y="3017520"/>
            <a:ext cx="548640" cy="41148"/>
          </a:xfrm>
          <a:prstGeom prst="rect">
            <a:avLst/>
          </a:prstGeom>
          <a:solidFill>
            <a:srgbClr val="F2A900"/>
          </a:solidFill>
          <a:ln/>
        </p:spPr>
      </p:sp>
      <p:sp>
        <p:nvSpPr>
          <p:cNvPr id="8" name="Text 3"/>
          <p:cNvSpPr txBox="1"/>
          <p:nvPr>
            <p:ph idx="106" type="body" hasCustomPrompt="1"/>
          </p:nvPr>
        </p:nvSpPr>
        <p:spPr>
          <a:xfrm>
            <a:off x="1097280"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9" name="Text 3"/>
          <p:cNvSpPr txBox="1"/>
          <p:nvPr>
            <p:ph idx="107" type="body" hasCustomPrompt="1"/>
          </p:nvPr>
        </p:nvSpPr>
        <p:spPr>
          <a:xfrm>
            <a:off x="1097280"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0" name="Shape 3"/>
          <p:cNvSpPr/>
          <p:nvPr/>
        </p:nvSpPr>
        <p:spPr>
          <a:xfrm>
            <a:off x="4407408" y="2121408"/>
            <a:ext cx="3392424" cy="3584448"/>
          </a:xfrm>
          <a:prstGeom prst="rect">
            <a:avLst/>
          </a:prstGeom>
          <a:solidFill>
            <a:srgbClr val="F2F5F2"/>
          </a:solidFill>
          <a:ln/>
        </p:spPr>
      </p:sp>
      <p:sp>
        <p:nvSpPr>
          <p:cNvPr id="11" name="Text 4"/>
          <p:cNvSpPr txBox="1"/>
          <p:nvPr/>
        </p:nvSpPr>
        <p:spPr>
          <a:xfrm>
            <a:off x="4773168"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02</a:t>
            </a:r>
            <a:endParaRPr lang="en-US" sz="2400" dirty="0"/>
          </a:p>
        </p:txBody>
      </p:sp>
      <p:sp>
        <p:nvSpPr>
          <p:cNvPr id="12" name="Shape 5"/>
          <p:cNvSpPr/>
          <p:nvPr/>
        </p:nvSpPr>
        <p:spPr>
          <a:xfrm>
            <a:off x="4773168" y="3017520"/>
            <a:ext cx="548640" cy="41148"/>
          </a:xfrm>
          <a:prstGeom prst="rect">
            <a:avLst/>
          </a:prstGeom>
          <a:solidFill>
            <a:srgbClr val="F2A900"/>
          </a:solidFill>
          <a:ln/>
        </p:spPr>
      </p:sp>
      <p:sp>
        <p:nvSpPr>
          <p:cNvPr id="13" name="Text 6"/>
          <p:cNvSpPr txBox="1"/>
          <p:nvPr>
            <p:ph idx="111" type="body" hasCustomPrompt="1"/>
          </p:nvPr>
        </p:nvSpPr>
        <p:spPr>
          <a:xfrm>
            <a:off x="4773168"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4" name="Text 6"/>
          <p:cNvSpPr txBox="1"/>
          <p:nvPr>
            <p:ph idx="112" type="body" hasCustomPrompt="1"/>
          </p:nvPr>
        </p:nvSpPr>
        <p:spPr>
          <a:xfrm>
            <a:off x="4773168"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5" name="Shape 6"/>
          <p:cNvSpPr/>
          <p:nvPr/>
        </p:nvSpPr>
        <p:spPr>
          <a:xfrm>
            <a:off x="8083296" y="2121408"/>
            <a:ext cx="3392424" cy="3584448"/>
          </a:xfrm>
          <a:prstGeom prst="rect">
            <a:avLst/>
          </a:prstGeom>
          <a:solidFill>
            <a:srgbClr val="F2F5F2"/>
          </a:solidFill>
          <a:ln/>
        </p:spPr>
      </p:sp>
      <p:sp>
        <p:nvSpPr>
          <p:cNvPr id="16" name="Text 7"/>
          <p:cNvSpPr txBox="1"/>
          <p:nvPr/>
        </p:nvSpPr>
        <p:spPr>
          <a:xfrm>
            <a:off x="8449056"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03</a:t>
            </a:r>
            <a:endParaRPr lang="en-US" sz="2400" dirty="0"/>
          </a:p>
        </p:txBody>
      </p:sp>
      <p:sp>
        <p:nvSpPr>
          <p:cNvPr id="17" name="Shape 8"/>
          <p:cNvSpPr/>
          <p:nvPr/>
        </p:nvSpPr>
        <p:spPr>
          <a:xfrm>
            <a:off x="8449056" y="3017520"/>
            <a:ext cx="548640" cy="41148"/>
          </a:xfrm>
          <a:prstGeom prst="rect">
            <a:avLst/>
          </a:prstGeom>
          <a:solidFill>
            <a:srgbClr val="F2A900"/>
          </a:solidFill>
          <a:ln/>
        </p:spPr>
      </p:sp>
      <p:sp>
        <p:nvSpPr>
          <p:cNvPr id="18" name="Text 9"/>
          <p:cNvSpPr txBox="1"/>
          <p:nvPr>
            <p:ph idx="116" type="body" hasCustomPrompt="1"/>
          </p:nvPr>
        </p:nvSpPr>
        <p:spPr>
          <a:xfrm>
            <a:off x="8449056"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9" name="Text 9"/>
          <p:cNvSpPr txBox="1"/>
          <p:nvPr>
            <p:ph idx="117" type="body" hasCustomPrompt="1"/>
          </p:nvPr>
        </p:nvSpPr>
        <p:spPr>
          <a:xfrm>
            <a:off x="8449056"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20" name="Text 9"/>
          <p:cNvSpPr txBox="1"/>
          <p:nvPr>
            <p:ph idx="118"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1"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G_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0"/>
          </a:xfrm>
          <a:prstGeom prst="line">
            <a:avLst/>
          </a:prstGeom>
          <a:noFill/>
          <a:ln w="31750">
            <a:solidFill>
              <a:srgbClr val="3C7D4D"/>
            </a:solidFill>
            <a:prstDash val="solid"/>
          </a:ln>
        </p:spPr>
      </p:sp>
      <p:sp>
        <p:nvSpPr>
          <p:cNvPr id="6" name="Text 1"/>
          <p:cNvSpPr txBox="1"/>
          <p:nvPr>
            <p:ph idx="104" type="body" hasCustomPrompt="1"/>
          </p:nvPr>
        </p:nvSpPr>
        <p:spPr>
          <a:xfrm>
            <a:off x="731520"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7" name="Text 1"/>
          <p:cNvSpPr txBox="1"/>
          <p:nvPr>
            <p:ph idx="105" type="body" hasCustomPrompt="1"/>
          </p:nvPr>
        </p:nvSpPr>
        <p:spPr>
          <a:xfrm>
            <a:off x="731520"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8" name="Text 1"/>
          <p:cNvSpPr txBox="1"/>
          <p:nvPr>
            <p:ph idx="106" type="body" hasCustomPrompt="1"/>
          </p:nvPr>
        </p:nvSpPr>
        <p:spPr>
          <a:xfrm>
            <a:off x="731520"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9" name="Shape 1"/>
          <p:cNvSpPr/>
          <p:nvPr/>
        </p:nvSpPr>
        <p:spPr>
          <a:xfrm>
            <a:off x="4407408" y="2121408"/>
            <a:ext cx="3392424" cy="0"/>
          </a:xfrm>
          <a:prstGeom prst="line">
            <a:avLst/>
          </a:prstGeom>
          <a:noFill/>
          <a:ln w="31750">
            <a:solidFill>
              <a:srgbClr val="3C7D4D"/>
            </a:solidFill>
            <a:prstDash val="solid"/>
          </a:ln>
        </p:spPr>
      </p:sp>
      <p:sp>
        <p:nvSpPr>
          <p:cNvPr id="10" name="Text 2"/>
          <p:cNvSpPr txBox="1"/>
          <p:nvPr>
            <p:ph idx="108" type="body" hasCustomPrompt="1"/>
          </p:nvPr>
        </p:nvSpPr>
        <p:spPr>
          <a:xfrm>
            <a:off x="4407408"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1" name="Text 2"/>
          <p:cNvSpPr txBox="1"/>
          <p:nvPr>
            <p:ph idx="109" type="body" hasCustomPrompt="1"/>
          </p:nvPr>
        </p:nvSpPr>
        <p:spPr>
          <a:xfrm>
            <a:off x="4407408"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2" name="Text 2"/>
          <p:cNvSpPr txBox="1"/>
          <p:nvPr>
            <p:ph idx="110" type="body" hasCustomPrompt="1"/>
          </p:nvPr>
        </p:nvSpPr>
        <p:spPr>
          <a:xfrm>
            <a:off x="4407408"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3" name="Shape 2"/>
          <p:cNvSpPr/>
          <p:nvPr/>
        </p:nvSpPr>
        <p:spPr>
          <a:xfrm>
            <a:off x="8083296" y="2121408"/>
            <a:ext cx="3392424" cy="0"/>
          </a:xfrm>
          <a:prstGeom prst="line">
            <a:avLst/>
          </a:prstGeom>
          <a:noFill/>
          <a:ln w="31750">
            <a:solidFill>
              <a:srgbClr val="3C7D4D"/>
            </a:solidFill>
            <a:prstDash val="solid"/>
          </a:ln>
        </p:spPr>
      </p:sp>
      <p:sp>
        <p:nvSpPr>
          <p:cNvPr id="14" name="Text 3"/>
          <p:cNvSpPr txBox="1"/>
          <p:nvPr>
            <p:ph idx="112" type="body" hasCustomPrompt="1"/>
          </p:nvPr>
        </p:nvSpPr>
        <p:spPr>
          <a:xfrm>
            <a:off x="8083296"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5" name="Text 3"/>
          <p:cNvSpPr txBox="1"/>
          <p:nvPr>
            <p:ph idx="113" type="body" hasCustomPrompt="1"/>
          </p:nvPr>
        </p:nvSpPr>
        <p:spPr>
          <a:xfrm>
            <a:off x="8083296"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6" name="Text 3"/>
          <p:cNvSpPr txBox="1"/>
          <p:nvPr>
            <p:ph idx="114" type="body" hasCustomPrompt="1"/>
          </p:nvPr>
        </p:nvSpPr>
        <p:spPr>
          <a:xfrm>
            <a:off x="8083296"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7" name="Text 3"/>
          <p:cNvSpPr txBox="1"/>
          <p:nvPr>
            <p:ph idx="115" type="body" hasCustomPrompt="1"/>
          </p:nvPr>
        </p:nvSpPr>
        <p:spPr>
          <a:xfrm>
            <a:off x="731520" y="5138928"/>
            <a:ext cx="10728655" cy="8686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So what, and what we do about it.</a:t>
            </a:r>
            <a:endParaRPr lang="en-US" sz="1500" dirty="0"/>
          </a:p>
        </p:txBody>
      </p:sp>
      <p:sp>
        <p:nvSpPr>
          <p:cNvPr id="18" name="Text 3"/>
          <p:cNvSpPr txBox="1"/>
          <p:nvPr>
            <p:ph idx="116"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9"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VISU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4572000" cy="3913632"/>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Supporting points</a:t>
            </a:r>
            <a:endParaRPr lang="en-US" sz="1500" dirty="0"/>
          </a:p>
        </p:txBody>
      </p:sp>
      <p:sp>
        <p:nvSpPr>
          <p:cNvPr id="6" name="Text 0"/>
          <p:cNvSpPr/>
          <p:nvPr>
            <p:ph idx="104" hasCustomPrompt="1"/>
          </p:nvPr>
        </p:nvSpPr>
        <p:spPr>
          <a:xfrm>
            <a:off x="5943600" y="2121408"/>
            <a:ext cx="5513832"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7" name="Text 0"/>
          <p:cNvSpPr txBox="1"/>
          <p:nvPr>
            <p:ph idx="105"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8"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_VISU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p:nvPr>
            <p:ph idx="103"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5230368" cy="475488"/>
          </a:xfrm>
          <a:prstGeom prst="rect">
            <a:avLst/>
          </a:prstGeom>
          <a:solidFill>
            <a:srgbClr val="3C7D4D"/>
          </a:solidFill>
          <a:ln/>
        </p:spPr>
      </p:sp>
      <p:sp>
        <p:nvSpPr>
          <p:cNvPr id="6" name="Text 1"/>
          <p:cNvSpPr txBox="1"/>
          <p:nvPr>
            <p:ph idx="104" type="body" hasCustomPrompt="1"/>
          </p:nvPr>
        </p:nvSpPr>
        <p:spPr>
          <a:xfrm>
            <a:off x="987552"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A</a:t>
            </a:r>
            <a:endParaRPr lang="en-US" sz="1300" dirty="0"/>
          </a:p>
        </p:txBody>
      </p:sp>
      <p:sp>
        <p:nvSpPr>
          <p:cNvPr id="7" name="Shape 1"/>
          <p:cNvSpPr/>
          <p:nvPr/>
        </p:nvSpPr>
        <p:spPr>
          <a:xfrm>
            <a:off x="731520" y="2596896"/>
            <a:ext cx="5230368" cy="2980944"/>
          </a:xfrm>
          <a:prstGeom prst="rect">
            <a:avLst/>
          </a:prstGeom>
          <a:solidFill>
            <a:srgbClr val="F2F5F2"/>
          </a:solidFill>
          <a:ln/>
        </p:spPr>
      </p:sp>
      <p:sp>
        <p:nvSpPr>
          <p:cNvPr id="8" name="Text 2"/>
          <p:cNvSpPr txBox="1"/>
          <p:nvPr>
            <p:ph idx="106" type="body" hasCustomPrompt="1"/>
          </p:nvPr>
        </p:nvSpPr>
        <p:spPr>
          <a:xfrm>
            <a:off x="987552"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9" name="Shape 2"/>
          <p:cNvSpPr/>
          <p:nvPr/>
        </p:nvSpPr>
        <p:spPr>
          <a:xfrm>
            <a:off x="6227064" y="2121408"/>
            <a:ext cx="5230368" cy="475488"/>
          </a:xfrm>
          <a:prstGeom prst="rect">
            <a:avLst/>
          </a:prstGeom>
          <a:solidFill>
            <a:srgbClr val="5B6670"/>
          </a:solidFill>
          <a:ln/>
        </p:spPr>
      </p:sp>
      <p:sp>
        <p:nvSpPr>
          <p:cNvPr id="10" name="Text 3"/>
          <p:cNvSpPr txBox="1"/>
          <p:nvPr>
            <p:ph idx="108" type="body" hasCustomPrompt="1"/>
          </p:nvPr>
        </p:nvSpPr>
        <p:spPr>
          <a:xfrm>
            <a:off x="6483096"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B</a:t>
            </a:r>
            <a:endParaRPr lang="en-US" sz="1300" dirty="0"/>
          </a:p>
        </p:txBody>
      </p:sp>
      <p:sp>
        <p:nvSpPr>
          <p:cNvPr id="11" name="Shape 3"/>
          <p:cNvSpPr/>
          <p:nvPr/>
        </p:nvSpPr>
        <p:spPr>
          <a:xfrm>
            <a:off x="6227064" y="2596896"/>
            <a:ext cx="5230368" cy="2980944"/>
          </a:xfrm>
          <a:prstGeom prst="rect">
            <a:avLst/>
          </a:prstGeom>
          <a:solidFill>
            <a:srgbClr val="F2F5F2"/>
          </a:solidFill>
          <a:ln/>
        </p:spPr>
      </p:sp>
      <p:sp>
        <p:nvSpPr>
          <p:cNvPr id="12" name="Text 4"/>
          <p:cNvSpPr txBox="1"/>
          <p:nvPr>
            <p:ph idx="110" type="body" hasCustomPrompt="1"/>
          </p:nvPr>
        </p:nvSpPr>
        <p:spPr>
          <a:xfrm>
            <a:off x="6483096"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13" name="Text 4"/>
          <p:cNvSpPr txBox="1"/>
          <p:nvPr>
            <p:ph idx="111" type="body" hasCustomPrompt="1"/>
          </p:nvPr>
        </p:nvSpPr>
        <p:spPr>
          <a:xfrm>
            <a:off x="731520" y="5742432"/>
            <a:ext cx="10728655" cy="384048"/>
          </a:xfrm>
          <a:prstGeom prst="rect">
            <a:avLst/>
          </a:prstGeom>
          <a:noFill/>
          <a:ln/>
        </p:spPr>
        <p:txBody>
          <a:bodyPr wrap="square" rtlCol="0"/>
          <a:lstStyle>
            <a:lvl1pPr algn="l" indent="0" marL="0">
              <a:buNone/>
              <a:defRPr lang="en-US" sz="1500" b="1" dirty="0">
                <a:solidFill>
                  <a:srgbClr val="3C7D4D"/>
                </a:solidFill>
                <a:latin typeface="Arial" pitchFamily="34" charset="0"/>
                <a:ea typeface="Arial" pitchFamily="34" charset="-122"/>
                <a:cs typeface="Arial" pitchFamily="34" charset="-120"/>
              </a:defRPr>
            </a:lvl1pPr>
          </a:lstStyle>
          <a:p>
            <a:pPr algn="l" indent="0" marL="0">
              <a:buNone/>
            </a:pPr>
            <a:r>
              <a:rPr lang="en-US" sz="1500" b="1" dirty="0">
                <a:solidFill>
                  <a:srgbClr val="3C7D4D"/>
                </a:solidFill>
                <a:latin typeface="Arial" pitchFamily="34" charset="0"/>
                <a:ea typeface="Arial" pitchFamily="34" charset="-122"/>
                <a:cs typeface="Arial" pitchFamily="34" charset="-120"/>
              </a:rPr>
              <a:t>Recommendation: </a:t>
            </a:r>
            <a:endParaRPr lang="en-US" sz="1500" dirty="0"/>
          </a:p>
        </p:txBody>
      </p:sp>
      <p:sp>
        <p:nvSpPr>
          <p:cNvPr id="14" name="Text 4"/>
          <p:cNvSpPr txBox="1"/>
          <p:nvPr>
            <p:ph idx="112"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1005840" y="2706624"/>
            <a:ext cx="10180015" cy="0"/>
          </a:xfrm>
          <a:prstGeom prst="line">
            <a:avLst/>
          </a:prstGeom>
          <a:noFill/>
          <a:ln w="25400">
            <a:solidFill>
              <a:srgbClr val="E2E6E3"/>
            </a:solidFill>
            <a:prstDash val="solid"/>
          </a:ln>
        </p:spPr>
      </p:sp>
      <p:sp>
        <p:nvSpPr>
          <p:cNvPr id="6" name="Shape 1"/>
          <p:cNvSpPr/>
          <p:nvPr/>
        </p:nvSpPr>
        <p:spPr>
          <a:xfrm>
            <a:off x="749808" y="2450592"/>
            <a:ext cx="512064" cy="512064"/>
          </a:xfrm>
          <a:prstGeom prst="rect">
            <a:avLst/>
          </a:prstGeom>
          <a:solidFill>
            <a:srgbClr val="3C7D4D"/>
          </a:solidFill>
          <a:ln/>
        </p:spPr>
      </p:sp>
      <p:sp>
        <p:nvSpPr>
          <p:cNvPr id="7" name="Text 2"/>
          <p:cNvSpPr txBox="1"/>
          <p:nvPr/>
        </p:nvSpPr>
        <p:spPr>
          <a:xfrm>
            <a:off x="749808"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3"/>
          <p:cNvSpPr txBox="1"/>
          <p:nvPr>
            <p:ph idx="106" type="body" hasCustomPrompt="1"/>
          </p:nvPr>
        </p:nvSpPr>
        <p:spPr>
          <a:xfrm>
            <a:off x="731520"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9" name="Text 3"/>
          <p:cNvSpPr txBox="1"/>
          <p:nvPr>
            <p:ph idx="107" type="body" hasCustomPrompt="1"/>
          </p:nvPr>
        </p:nvSpPr>
        <p:spPr>
          <a:xfrm>
            <a:off x="731520"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0" name="Text 3"/>
          <p:cNvSpPr txBox="1"/>
          <p:nvPr>
            <p:ph idx="108" type="body" hasCustomPrompt="1"/>
          </p:nvPr>
        </p:nvSpPr>
        <p:spPr>
          <a:xfrm>
            <a:off x="731520"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1" name="Shape 3"/>
          <p:cNvSpPr/>
          <p:nvPr/>
        </p:nvSpPr>
        <p:spPr>
          <a:xfrm>
            <a:off x="3639312" y="2450592"/>
            <a:ext cx="512064" cy="512064"/>
          </a:xfrm>
          <a:prstGeom prst="rect">
            <a:avLst/>
          </a:prstGeom>
          <a:solidFill>
            <a:srgbClr val="3C7D4D"/>
          </a:solidFill>
          <a:ln/>
        </p:spPr>
      </p:sp>
      <p:sp>
        <p:nvSpPr>
          <p:cNvPr id="12" name="Text 4"/>
          <p:cNvSpPr txBox="1"/>
          <p:nvPr/>
        </p:nvSpPr>
        <p:spPr>
          <a:xfrm>
            <a:off x="3639312"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5"/>
          <p:cNvSpPr txBox="1"/>
          <p:nvPr>
            <p:ph idx="111" type="body" hasCustomPrompt="1"/>
          </p:nvPr>
        </p:nvSpPr>
        <p:spPr>
          <a:xfrm>
            <a:off x="3621024"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4" name="Text 5"/>
          <p:cNvSpPr txBox="1"/>
          <p:nvPr>
            <p:ph idx="112" type="body" hasCustomPrompt="1"/>
          </p:nvPr>
        </p:nvSpPr>
        <p:spPr>
          <a:xfrm>
            <a:off x="3621024"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5" name="Text 5"/>
          <p:cNvSpPr txBox="1"/>
          <p:nvPr>
            <p:ph idx="113" type="body" hasCustomPrompt="1"/>
          </p:nvPr>
        </p:nvSpPr>
        <p:spPr>
          <a:xfrm>
            <a:off x="3621024"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6" name="Shape 5"/>
          <p:cNvSpPr/>
          <p:nvPr/>
        </p:nvSpPr>
        <p:spPr>
          <a:xfrm>
            <a:off x="6528816" y="2450592"/>
            <a:ext cx="512064" cy="512064"/>
          </a:xfrm>
          <a:prstGeom prst="rect">
            <a:avLst/>
          </a:prstGeom>
          <a:solidFill>
            <a:srgbClr val="3C7D4D"/>
          </a:solidFill>
          <a:ln/>
        </p:spPr>
      </p:sp>
      <p:sp>
        <p:nvSpPr>
          <p:cNvPr id="17" name="Text 6"/>
          <p:cNvSpPr txBox="1"/>
          <p:nvPr/>
        </p:nvSpPr>
        <p:spPr>
          <a:xfrm>
            <a:off x="6528816"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7"/>
          <p:cNvSpPr txBox="1"/>
          <p:nvPr>
            <p:ph idx="116" type="body" hasCustomPrompt="1"/>
          </p:nvPr>
        </p:nvSpPr>
        <p:spPr>
          <a:xfrm>
            <a:off x="6510528"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9" name="Text 7"/>
          <p:cNvSpPr txBox="1"/>
          <p:nvPr>
            <p:ph idx="117" type="body" hasCustomPrompt="1"/>
          </p:nvPr>
        </p:nvSpPr>
        <p:spPr>
          <a:xfrm>
            <a:off x="6510528"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0" name="Text 7"/>
          <p:cNvSpPr txBox="1"/>
          <p:nvPr>
            <p:ph idx="118" type="body" hasCustomPrompt="1"/>
          </p:nvPr>
        </p:nvSpPr>
        <p:spPr>
          <a:xfrm>
            <a:off x="6510528"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1" name="Shape 7"/>
          <p:cNvSpPr/>
          <p:nvPr/>
        </p:nvSpPr>
        <p:spPr>
          <a:xfrm>
            <a:off x="9418320" y="2450592"/>
            <a:ext cx="512064" cy="512064"/>
          </a:xfrm>
          <a:prstGeom prst="rect">
            <a:avLst/>
          </a:prstGeom>
          <a:solidFill>
            <a:srgbClr val="3C7D4D"/>
          </a:solidFill>
          <a:ln/>
        </p:spPr>
      </p:sp>
      <p:sp>
        <p:nvSpPr>
          <p:cNvPr id="22" name="Text 8"/>
          <p:cNvSpPr txBox="1"/>
          <p:nvPr/>
        </p:nvSpPr>
        <p:spPr>
          <a:xfrm>
            <a:off x="9418320"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9"/>
          <p:cNvSpPr txBox="1"/>
          <p:nvPr>
            <p:ph idx="121" type="body" hasCustomPrompt="1"/>
          </p:nvPr>
        </p:nvSpPr>
        <p:spPr>
          <a:xfrm>
            <a:off x="9400032"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24" name="Text 9"/>
          <p:cNvSpPr txBox="1"/>
          <p:nvPr>
            <p:ph idx="122" type="body" hasCustomPrompt="1"/>
          </p:nvPr>
        </p:nvSpPr>
        <p:spPr>
          <a:xfrm>
            <a:off x="9400032"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5" name="Text 9"/>
          <p:cNvSpPr txBox="1"/>
          <p:nvPr>
            <p:ph idx="123" type="body" hasCustomPrompt="1"/>
          </p:nvPr>
        </p:nvSpPr>
        <p:spPr>
          <a:xfrm>
            <a:off x="9400032"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6" name="Text 9"/>
          <p:cNvSpPr txBox="1"/>
          <p:nvPr>
            <p:ph idx="12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EY_MESS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1051560" y="2139696"/>
            <a:ext cx="822960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THE POINT</a:t>
            </a:r>
            <a:endParaRPr lang="en-US" sz="1100" dirty="0"/>
          </a:p>
        </p:txBody>
      </p:sp>
      <p:sp>
        <p:nvSpPr>
          <p:cNvPr id="4" name="Shape 0"/>
          <p:cNvSpPr/>
          <p:nvPr/>
        </p:nvSpPr>
        <p:spPr>
          <a:xfrm>
            <a:off x="1051560" y="2615184"/>
            <a:ext cx="777240" cy="50292"/>
          </a:xfrm>
          <a:prstGeom prst="rect">
            <a:avLst/>
          </a:prstGeom>
          <a:solidFill>
            <a:srgbClr val="F2A900"/>
          </a:solidFill>
          <a:ln/>
        </p:spPr>
      </p:sp>
      <p:sp>
        <p:nvSpPr>
          <p:cNvPr id="5" name="Text 1"/>
          <p:cNvSpPr txBox="1"/>
          <p:nvPr>
            <p:ph idx="103" type="title" hasCustomPrompt="1"/>
          </p:nvPr>
        </p:nvSpPr>
        <p:spPr>
          <a:xfrm>
            <a:off x="1051560" y="2944368"/>
            <a:ext cx="9966960" cy="1691640"/>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One sentence that carries the whole argument.</a:t>
            </a:r>
            <a:endParaRPr lang="en-US" sz="3600" dirty="0"/>
          </a:p>
        </p:txBody>
      </p:sp>
      <p:sp>
        <p:nvSpPr>
          <p:cNvPr id="6" name="Text 1"/>
          <p:cNvSpPr txBox="1"/>
          <p:nvPr>
            <p:ph idx="104" type="body" hasCustomPrompt="1"/>
          </p:nvPr>
        </p:nvSpPr>
        <p:spPr>
          <a:xfrm>
            <a:off x="1051560" y="4809744"/>
            <a:ext cx="8595360" cy="7315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Short support, or the ask.</a:t>
            </a:r>
            <a:endParaRPr lang="en-US" sz="15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_STEP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Next steps</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need decided today.</a:t>
            </a:r>
            <a:endParaRPr lang="en-US" sz="1600" dirty="0"/>
          </a:p>
        </p:txBody>
      </p:sp>
      <p:sp>
        <p:nvSpPr>
          <p:cNvPr id="5" name="Text 0"/>
          <p:cNvSpPr/>
          <p:nvPr>
            <p:ph idx="103" type="body"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94944"/>
            <a:ext cx="2377440" cy="803189"/>
          </a:xfrm>
          <a:prstGeom prst="rect">
            <a:avLst/>
          </a:prstGeom>
        </p:spPr>
      </p:pic>
      <p:sp>
        <p:nvSpPr>
          <p:cNvPr id="3" name="Shape 0"/>
          <p:cNvSpPr/>
          <p:nvPr/>
        </p:nvSpPr>
        <p:spPr>
          <a:xfrm>
            <a:off x="731520" y="3054096"/>
            <a:ext cx="777240" cy="50292"/>
          </a:xfrm>
          <a:prstGeom prst="rect">
            <a:avLst/>
          </a:prstGeom>
          <a:solidFill>
            <a:srgbClr val="F2A900"/>
          </a:solidFill>
          <a:ln/>
        </p:spPr>
      </p:sp>
      <p:sp>
        <p:nvSpPr>
          <p:cNvPr id="4" name="Text 1"/>
          <p:cNvSpPr txBox="1"/>
          <p:nvPr>
            <p:ph idx="102" type="title" hasCustomPrompt="1"/>
          </p:nvPr>
        </p:nvSpPr>
        <p:spPr>
          <a:xfrm>
            <a:off x="731520" y="3364992"/>
            <a:ext cx="6949440" cy="896112"/>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What we decided</a:t>
            </a:r>
            <a:endParaRPr lang="en-US" sz="3600" dirty="0"/>
          </a:p>
        </p:txBody>
      </p:sp>
      <p:sp>
        <p:nvSpPr>
          <p:cNvPr id="5" name="Text 1"/>
          <p:cNvSpPr txBox="1"/>
          <p:nvPr>
            <p:ph idx="103" type="body" hasCustomPrompt="1"/>
          </p:nvPr>
        </p:nvSpPr>
        <p:spPr>
          <a:xfrm>
            <a:off x="731520" y="4334256"/>
            <a:ext cx="6949440" cy="11887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Decision, owner, and date.</a:t>
            </a:r>
            <a:endParaRPr lang="en-US" sz="1500" dirty="0"/>
          </a:p>
        </p:txBody>
      </p:sp>
      <p:sp>
        <p:nvSpPr>
          <p:cNvPr id="6" name="Text 1"/>
          <p:cNvSpPr txBox="1"/>
          <p:nvPr>
            <p:ph idx="104" type="body" hasCustomPrompt="1"/>
          </p:nvPr>
        </p:nvSpPr>
        <p:spPr>
          <a:xfrm>
            <a:off x="731520" y="5961888"/>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Name  |  Title  |  email@steelking.com</a:t>
            </a:r>
            <a:endParaRPr lang="en-US" sz="115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MASCO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brand/logo_knight.png">    </p:cNvPr>
          <p:cNvPicPr>
            <a:picLocks noChangeAspect="1"/>
          </p:cNvPicPr>
          <p:nvPr/>
        </p:nvPicPr>
        <p:blipFill>
          <a:blip r:embed="rId1"/>
          <a:stretch>
            <a:fillRect/>
          </a:stretch>
        </p:blipFill>
        <p:spPr>
          <a:xfrm>
            <a:off x="7863840" y="1481328"/>
            <a:ext cx="3658880" cy="5212080"/>
          </a:xfrm>
          <a:prstGeom prst="rect">
            <a:avLst/>
          </a:prstGeom>
        </p:spPr>
      </p:pic>
      <p:pic>
        <p:nvPicPr>
          <p:cNvPr id="3" name="Image 1" descr="brand/logo_h_rev.png">    </p:cNvPr>
          <p:cNvPicPr>
            <a:picLocks noChangeAspect="1"/>
          </p:cNvPicPr>
          <p:nvPr/>
        </p:nvPicPr>
        <p:blipFill>
          <a:blip r:embed="rId2"/>
          <a:stretch>
            <a:fillRect/>
          </a:stretch>
        </p:blipFill>
        <p:spPr>
          <a:xfrm>
            <a:off x="731520" y="658368"/>
            <a:ext cx="2377440" cy="803189"/>
          </a:xfrm>
          <a:prstGeom prst="rect">
            <a:avLst/>
          </a:prstGeom>
        </p:spPr>
      </p:pic>
      <p:sp>
        <p:nvSpPr>
          <p:cNvPr id="4" name="Text 0"/>
          <p:cNvSpPr txBox="1"/>
          <p:nvPr>
            <p:ph idx="102" type="body" hasCustomPrompt="1"/>
          </p:nvPr>
        </p:nvSpPr>
        <p:spPr>
          <a:xfrm>
            <a:off x="731520" y="2395728"/>
            <a:ext cx="658368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DEALER MEETING</a:t>
            </a:r>
            <a:endParaRPr lang="en-US" sz="1100" dirty="0"/>
          </a:p>
        </p:txBody>
      </p:sp>
      <p:sp>
        <p:nvSpPr>
          <p:cNvPr id="5" name="Shape 0"/>
          <p:cNvSpPr/>
          <p:nvPr/>
        </p:nvSpPr>
        <p:spPr>
          <a:xfrm>
            <a:off x="731520" y="2871216"/>
            <a:ext cx="777240" cy="50292"/>
          </a:xfrm>
          <a:prstGeom prst="rect">
            <a:avLst/>
          </a:prstGeom>
          <a:solidFill>
            <a:srgbClr val="F2A900"/>
          </a:solidFill>
          <a:ln/>
        </p:spPr>
      </p:sp>
      <p:sp>
        <p:nvSpPr>
          <p:cNvPr id="6" name="Text 1"/>
          <p:cNvSpPr txBox="1"/>
          <p:nvPr>
            <p:ph idx="104" type="title" hasCustomPrompt="1"/>
          </p:nvPr>
        </p:nvSpPr>
        <p:spPr>
          <a:xfrm>
            <a:off x="731520" y="3200400"/>
            <a:ext cx="6583680" cy="1627632"/>
          </a:xfrm>
          <a:prstGeom prst="rect">
            <a:avLst/>
          </a:prstGeom>
          <a:noFill/>
          <a:ln/>
        </p:spPr>
        <p:txBody>
          <a:bodyPr wrap="square" rtlCol="0"/>
          <a:lstStyle>
            <a:lvl1pPr algn="l" indent="0" marL="0">
              <a:buNone/>
              <a:defRPr lang="en-US" sz="44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400" b="1" spc="-100" kern="0" dirty="0">
                <a:solidFill>
                  <a:srgbClr val="FFFFFF"/>
                </a:solidFill>
                <a:latin typeface="Arial" pitchFamily="34" charset="0"/>
                <a:ea typeface="Arial" pitchFamily="34" charset="-122"/>
                <a:cs typeface="Arial" pitchFamily="34" charset="-120"/>
              </a:rPr>
              <a:t>Presentation title</a:t>
            </a:r>
            <a:endParaRPr lang="en-US" sz="4400" dirty="0"/>
          </a:p>
        </p:txBody>
      </p:sp>
      <p:sp>
        <p:nvSpPr>
          <p:cNvPr id="7" name="Text 1"/>
          <p:cNvSpPr txBox="1"/>
          <p:nvPr>
            <p:ph idx="105" type="body" hasCustomPrompt="1"/>
          </p:nvPr>
        </p:nvSpPr>
        <p:spPr>
          <a:xfrm>
            <a:off x="731520" y="4956048"/>
            <a:ext cx="658368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8" name="Text 1"/>
          <p:cNvSpPr txBox="1"/>
          <p:nvPr>
            <p:ph idx="106" type="body" hasCustomPrompt="1"/>
          </p:nvPr>
        </p:nvSpPr>
        <p:spPr>
          <a:xfrm>
            <a:off x="731520" y="5998464"/>
            <a:ext cx="658368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SALES MEETING</a:t>
            </a:r>
          </a:p>
        </p:txBody>
      </p:sp>
      <p:sp>
        <p:nvSpPr>
          <p:cNvPr id="3" name="Title 2"/>
          <p:cNvSpPr>
            <a:spLocks noGrp="1"/>
          </p:cNvSpPr>
          <p:nvPr>
            <p:ph type="title" idx="104"/>
          </p:nvPr>
        </p:nvSpPr>
        <p:spPr/>
        <p:txBody>
          <a:bodyPr/>
          <a:lstStyle/>
          <a:p>
            <a:r>
              <a:t>Speed and service win the order</a:t>
            </a:r>
          </a:p>
        </p:txBody>
      </p:sp>
      <p:sp>
        <p:nvSpPr>
          <p:cNvPr id="4" name="Text Placeholder 3"/>
          <p:cNvSpPr>
            <a:spLocks noGrp="1"/>
          </p:cNvSpPr>
          <p:nvPr>
            <p:ph type="body" idx="105"/>
          </p:nvPr>
        </p:nvSpPr>
        <p:spPr/>
        <p:txBody>
          <a:bodyPr/>
          <a:lstStyle/>
          <a:p>
            <a:r>
              <a:t>What the research says about first touch, follow-up, and support in industrial buying</a:t>
            </a:r>
          </a:p>
        </p:txBody>
      </p:sp>
      <p:sp>
        <p:nvSpPr>
          <p:cNvPr id="5" name="Text Placeholder 4"/>
          <p:cNvSpPr>
            <a:spLocks noGrp="1"/>
          </p:cNvSpPr>
          <p:nvPr>
            <p:ph type="body" idx="106"/>
          </p:nvPr>
        </p:nvSpPr>
        <p:spPr/>
        <p:txBody>
          <a:bodyPr/>
          <a:lstStyle/>
          <a:p>
            <a:r>
              <a:t>Nate Guralski  |  Steel King Sales Team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POINT</a:t>
            </a:r>
          </a:p>
        </p:txBody>
      </p:sp>
      <p:sp>
        <p:nvSpPr>
          <p:cNvPr id="3" name="Title 2"/>
          <p:cNvSpPr>
            <a:spLocks noGrp="1"/>
          </p:cNvSpPr>
          <p:nvPr>
            <p:ph type="title" idx="103"/>
          </p:nvPr>
        </p:nvSpPr>
        <p:spPr/>
        <p:txBody>
          <a:bodyPr/>
          <a:lstStyle/>
          <a:p>
            <a:r>
              <a:t>By the time a buyer contacts us, they have already picked a favorite. The first touch decides whether it stays us.</a:t>
            </a:r>
          </a:p>
        </p:txBody>
      </p:sp>
      <p:sp>
        <p:nvSpPr>
          <p:cNvPr id="4" name="Text Placeholder 3"/>
          <p:cNvSpPr>
            <a:spLocks noGrp="1"/>
          </p:cNvSpPr>
          <p:nvPr>
            <p:ph type="body" idx="104"/>
          </p:nvPr>
        </p:nvSpPr>
        <p:spPr/>
        <p:txBody>
          <a:bodyPr/>
          <a:lstStyle/>
          <a:p>
            <a:r>
              <a:t>Eight in ten B2B deals go to the first vendor the buyer contacts. Most vendors take more than a day to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AGENDA</a:t>
            </a:r>
          </a:p>
        </p:txBody>
      </p:sp>
      <p:sp>
        <p:nvSpPr>
          <p:cNvPr id="3" name="Title 2"/>
          <p:cNvSpPr>
            <a:spLocks noGrp="1"/>
          </p:cNvSpPr>
          <p:nvPr>
            <p:ph type="title" idx="101"/>
          </p:nvPr>
        </p:nvSpPr>
        <p:spPr/>
        <p:txBody>
          <a:bodyPr/>
          <a:lstStyle/>
          <a:p>
            <a:r>
              <a:t>Five things we cover</a:t>
            </a:r>
          </a:p>
        </p:txBody>
      </p:sp>
      <p:sp>
        <p:nvSpPr>
          <p:cNvPr id="4" name="Text Placeholder 3"/>
          <p:cNvSpPr>
            <a:spLocks noGrp="1"/>
          </p:cNvSpPr>
          <p:nvPr>
            <p:ph type="body" idx="102"/>
          </p:nvPr>
        </p:nvSpPr>
        <p:spPr/>
        <p:txBody>
          <a:bodyPr/>
          <a:lstStyle/>
          <a:p>
            <a:r>
              <a:t>Why it matters, what the market shows, and what we change.</a:t>
            </a:r>
          </a:p>
        </p:txBody>
      </p:sp>
      <p:sp>
        <p:nvSpPr>
          <p:cNvPr id="5" name="Text Placeholder 4"/>
          <p:cNvSpPr>
            <a:spLocks noGrp="1"/>
          </p:cNvSpPr>
          <p:nvPr>
            <p:ph type="body" idx="104"/>
          </p:nvPr>
        </p:nvSpPr>
        <p:spPr/>
        <p:txBody>
          <a:bodyPr/>
          <a:lstStyle/>
          <a:p>
            <a:r>
              <a:t>The market is showing up</a:t>
            </a:r>
          </a:p>
        </p:txBody>
      </p:sp>
      <p:sp>
        <p:nvSpPr>
          <p:cNvPr id="6" name="Text Placeholder 5"/>
          <p:cNvSpPr>
            <a:spLocks noGrp="1"/>
          </p:cNvSpPr>
          <p:nvPr>
            <p:ph type="body" idx="105"/>
          </p:nvPr>
        </p:nvSpPr>
        <p:spPr/>
        <p:txBody>
          <a:bodyPr/>
          <a:lstStyle/>
          <a:p>
            <a:r>
              <a:t>5 min</a:t>
            </a:r>
          </a:p>
        </p:txBody>
      </p:sp>
      <p:sp>
        <p:nvSpPr>
          <p:cNvPr id="7" name="Text Placeholder 6"/>
          <p:cNvSpPr>
            <a:spLocks noGrp="1"/>
          </p:cNvSpPr>
          <p:nvPr>
            <p:ph type="body" idx="108"/>
          </p:nvPr>
        </p:nvSpPr>
        <p:spPr/>
        <p:txBody>
          <a:bodyPr/>
          <a:lstStyle/>
          <a:p>
            <a:r>
              <a:t>The buyer decides early</a:t>
            </a:r>
          </a:p>
        </p:txBody>
      </p:sp>
      <p:sp>
        <p:nvSpPr>
          <p:cNvPr id="8" name="Text Placeholder 7"/>
          <p:cNvSpPr>
            <a:spLocks noGrp="1"/>
          </p:cNvSpPr>
          <p:nvPr>
            <p:ph type="body" idx="109"/>
          </p:nvPr>
        </p:nvSpPr>
        <p:spPr/>
        <p:txBody>
          <a:bodyPr/>
          <a:lstStyle/>
          <a:p>
            <a:r>
              <a:t>10 min</a:t>
            </a:r>
          </a:p>
        </p:txBody>
      </p:sp>
      <p:sp>
        <p:nvSpPr>
          <p:cNvPr id="9" name="Text Placeholder 8"/>
          <p:cNvSpPr>
            <a:spLocks noGrp="1"/>
          </p:cNvSpPr>
          <p:nvPr>
            <p:ph type="body" idx="112"/>
          </p:nvPr>
        </p:nvSpPr>
        <p:spPr/>
        <p:txBody>
          <a:bodyPr/>
          <a:lstStyle/>
          <a:p>
            <a:r>
              <a:t>Speed to lead</a:t>
            </a:r>
          </a:p>
        </p:txBody>
      </p:sp>
      <p:sp>
        <p:nvSpPr>
          <p:cNvPr id="10" name="Text Placeholder 9"/>
          <p:cNvSpPr>
            <a:spLocks noGrp="1"/>
          </p:cNvSpPr>
          <p:nvPr>
            <p:ph type="body" idx="113"/>
          </p:nvPr>
        </p:nvSpPr>
        <p:spPr/>
        <p:txBody>
          <a:bodyPr/>
          <a:lstStyle/>
          <a:p>
            <a:r>
              <a:t>10 min</a:t>
            </a:r>
          </a:p>
        </p:txBody>
      </p:sp>
      <p:sp>
        <p:nvSpPr>
          <p:cNvPr id="11" name="Text Placeholder 10"/>
          <p:cNvSpPr>
            <a:spLocks noGrp="1"/>
          </p:cNvSpPr>
          <p:nvPr>
            <p:ph type="body" idx="116"/>
          </p:nvPr>
        </p:nvSpPr>
        <p:spPr/>
        <p:txBody>
          <a:bodyPr/>
          <a:lstStyle/>
          <a:p>
            <a:r>
              <a:t>Service after the sale</a:t>
            </a:r>
          </a:p>
        </p:txBody>
      </p:sp>
      <p:sp>
        <p:nvSpPr>
          <p:cNvPr id="12" name="Text Placeholder 11"/>
          <p:cNvSpPr>
            <a:spLocks noGrp="1"/>
          </p:cNvSpPr>
          <p:nvPr>
            <p:ph type="body" idx="117"/>
          </p:nvPr>
        </p:nvSpPr>
        <p:spPr/>
        <p:txBody>
          <a:bodyPr/>
          <a:lstStyle/>
          <a:p>
            <a:r>
              <a:t>10 min</a:t>
            </a:r>
          </a:p>
        </p:txBody>
      </p:sp>
      <p:sp>
        <p:nvSpPr>
          <p:cNvPr id="13" name="Text Placeholder 12"/>
          <p:cNvSpPr>
            <a:spLocks noGrp="1"/>
          </p:cNvSpPr>
          <p:nvPr>
            <p:ph type="body" idx="120"/>
          </p:nvPr>
        </p:nvSpPr>
        <p:spPr/>
        <p:txBody>
          <a:bodyPr/>
          <a:lstStyle/>
          <a:p>
            <a:r>
              <a:t>What we change</a:t>
            </a:r>
          </a:p>
        </p:txBody>
      </p:sp>
      <p:sp>
        <p:nvSpPr>
          <p:cNvPr id="14" name="Text Placeholder 13"/>
          <p:cNvSpPr>
            <a:spLocks noGrp="1"/>
          </p:cNvSpPr>
          <p:nvPr>
            <p:ph type="body" idx="121"/>
          </p:nvPr>
        </p:nvSpPr>
        <p:spPr/>
        <p:txBody>
          <a:bodyPr/>
          <a:lstStyle/>
          <a:p>
            <a:r>
              <a:t>15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01</a:t>
            </a:r>
          </a:p>
        </p:txBody>
      </p:sp>
      <p:sp>
        <p:nvSpPr>
          <p:cNvPr id="3" name="Title 2"/>
          <p:cNvSpPr>
            <a:spLocks noGrp="1"/>
          </p:cNvSpPr>
          <p:nvPr>
            <p:ph type="title" idx="103"/>
          </p:nvPr>
        </p:nvSpPr>
        <p:spPr/>
        <p:txBody>
          <a:bodyPr/>
          <a:lstStyle/>
          <a:p>
            <a:r>
              <a:t>The market is showing up</a:t>
            </a:r>
          </a:p>
        </p:txBody>
      </p:sp>
      <p:sp>
        <p:nvSpPr>
          <p:cNvPr id="4" name="Text Placeholder 3"/>
          <p:cNvSpPr>
            <a:spLocks noGrp="1"/>
          </p:cNvSpPr>
          <p:nvPr>
            <p:ph type="body" idx="104"/>
          </p:nvPr>
        </p:nvSpPr>
        <p:spPr/>
        <p:txBody>
          <a:bodyPr/>
          <a:lstStyle/>
          <a:p>
            <a:r>
              <a:t>Demand for rack is real. The question is who gets the 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MARKET</a:t>
            </a:r>
          </a:p>
        </p:txBody>
      </p:sp>
      <p:sp>
        <p:nvSpPr>
          <p:cNvPr id="3" name="Title 2"/>
          <p:cNvSpPr>
            <a:spLocks noGrp="1"/>
          </p:cNvSpPr>
          <p:nvPr>
            <p:ph type="title" idx="101"/>
          </p:nvPr>
        </p:nvSpPr>
        <p:spPr/>
        <p:txBody>
          <a:bodyPr/>
          <a:lstStyle/>
          <a:p>
            <a:r>
              <a:t>Racking is the top planned equipment buy</a:t>
            </a:r>
          </a:p>
        </p:txBody>
      </p:sp>
      <p:sp>
        <p:nvSpPr>
          <p:cNvPr id="4" name="Text Placeholder 3"/>
          <p:cNvSpPr>
            <a:spLocks noGrp="1"/>
          </p:cNvSpPr>
          <p:nvPr>
            <p:ph type="body" idx="102"/>
          </p:nvPr>
        </p:nvSpPr>
        <p:spPr/>
        <p:txBody>
          <a:bodyPr/>
          <a:lstStyle/>
          <a:p>
            <a:r>
              <a:t>Buyers have budget and intent. We are competing for share, not for demand.</a:t>
            </a:r>
          </a:p>
        </p:txBody>
      </p:sp>
      <p:sp>
        <p:nvSpPr>
          <p:cNvPr id="5" name="Text Placeholder 4"/>
          <p:cNvSpPr>
            <a:spLocks noGrp="1"/>
          </p:cNvSpPr>
          <p:nvPr>
            <p:ph type="body" idx="104"/>
          </p:nvPr>
        </p:nvSpPr>
        <p:spPr/>
        <p:txBody>
          <a:bodyPr/>
          <a:lstStyle/>
          <a:p>
            <a:r>
              <a:t>45%</a:t>
            </a:r>
          </a:p>
        </p:txBody>
      </p:sp>
      <p:sp>
        <p:nvSpPr>
          <p:cNvPr id="6" name="Text Placeholder 5"/>
          <p:cNvSpPr>
            <a:spLocks noGrp="1"/>
          </p:cNvSpPr>
          <p:nvPr>
            <p:ph type="body" idx="105"/>
          </p:nvPr>
        </p:nvSpPr>
        <p:spPr/>
        <p:txBody>
          <a:bodyPr/>
          <a:lstStyle/>
          <a:p>
            <a:r>
              <a:t>PLAN TO BUY RACKS AND SHELVING</a:t>
            </a:r>
          </a:p>
        </p:txBody>
      </p:sp>
      <p:sp>
        <p:nvSpPr>
          <p:cNvPr id="7" name="Text Placeholder 6"/>
          <p:cNvSpPr>
            <a:spLocks noGrp="1"/>
          </p:cNvSpPr>
          <p:nvPr>
            <p:ph type="body" idx="106"/>
          </p:nvPr>
        </p:nvSpPr>
        <p:spPr/>
        <p:txBody>
          <a:bodyPr/>
          <a:lstStyle/>
          <a:p>
            <a:r>
              <a:t>Top equipment priority in the 2026 and 2025 MMH outlook surveys</a:t>
            </a:r>
          </a:p>
        </p:txBody>
      </p:sp>
      <p:sp>
        <p:nvSpPr>
          <p:cNvPr id="8" name="Text Placeholder 7"/>
          <p:cNvSpPr>
            <a:spLocks noGrp="1"/>
          </p:cNvSpPr>
          <p:nvPr>
            <p:ph type="body" idx="108"/>
          </p:nvPr>
        </p:nvSpPr>
        <p:spPr/>
        <p:txBody>
          <a:bodyPr/>
          <a:lstStyle/>
          <a:p>
            <a:r>
              <a:t>$542K</a:t>
            </a:r>
          </a:p>
        </p:txBody>
      </p:sp>
      <p:sp>
        <p:nvSpPr>
          <p:cNvPr id="9" name="Text Placeholder 8"/>
          <p:cNvSpPr>
            <a:spLocks noGrp="1"/>
          </p:cNvSpPr>
          <p:nvPr>
            <p:ph type="body" idx="109"/>
          </p:nvPr>
        </p:nvSpPr>
        <p:spPr/>
        <p:txBody>
          <a:bodyPr/>
          <a:lstStyle/>
          <a:p>
            <a:r>
              <a:t>AVG PLANNED MH EQUIPMENT SPEND</a:t>
            </a:r>
          </a:p>
        </p:txBody>
      </p:sp>
      <p:sp>
        <p:nvSpPr>
          <p:cNvPr id="10" name="Text Placeholder 9"/>
          <p:cNvSpPr>
            <a:spLocks noGrp="1"/>
          </p:cNvSpPr>
          <p:nvPr>
            <p:ph type="body" idx="110"/>
          </p:nvPr>
        </p:nvSpPr>
        <p:spPr/>
        <p:txBody>
          <a:bodyPr/>
          <a:lstStyle/>
          <a:p>
            <a:r>
              <a:t>Up from $402K planned for 2025, a 35% jump</a:t>
            </a:r>
          </a:p>
        </p:txBody>
      </p:sp>
      <p:sp>
        <p:nvSpPr>
          <p:cNvPr id="11" name="Text Placeholder 10"/>
          <p:cNvSpPr>
            <a:spLocks noGrp="1"/>
          </p:cNvSpPr>
          <p:nvPr>
            <p:ph type="body" idx="112"/>
          </p:nvPr>
        </p:nvSpPr>
        <p:spPr/>
        <p:txBody>
          <a:bodyPr/>
          <a:lstStyle/>
          <a:p>
            <a:r>
              <a:t>+18%</a:t>
            </a:r>
          </a:p>
        </p:txBody>
      </p:sp>
      <p:sp>
        <p:nvSpPr>
          <p:cNvPr id="12" name="Text Placeholder 11"/>
          <p:cNvSpPr>
            <a:spLocks noGrp="1"/>
          </p:cNvSpPr>
          <p:nvPr>
            <p:ph type="body" idx="113"/>
          </p:nvPr>
        </p:nvSpPr>
        <p:spPr/>
        <p:txBody>
          <a:bodyPr/>
          <a:lstStyle/>
          <a:p>
            <a:r>
              <a:t>U.S. INDUSTRIAL CONSTRUCTION PIPELINE</a:t>
            </a:r>
          </a:p>
        </p:txBody>
      </p:sp>
      <p:sp>
        <p:nvSpPr>
          <p:cNvPr id="13" name="Text Placeholder 12"/>
          <p:cNvSpPr>
            <a:spLocks noGrp="1"/>
          </p:cNvSpPr>
          <p:nvPr>
            <p:ph type="body" idx="114"/>
          </p:nvPr>
        </p:nvSpPr>
        <p:spPr/>
        <p:txBody>
          <a:bodyPr/>
          <a:lstStyle/>
          <a:p>
            <a:r>
              <a:t>305M sq ft under construction, Q2 2026, fourth straight quarterly rise</a:t>
            </a:r>
          </a:p>
        </p:txBody>
      </p:sp>
      <p:sp>
        <p:nvSpPr>
          <p:cNvPr id="14" name="Text Placeholder 13"/>
          <p:cNvSpPr>
            <a:spLocks noGrp="1"/>
          </p:cNvSpPr>
          <p:nvPr>
            <p:ph type="body" idx="115"/>
          </p:nvPr>
        </p:nvSpPr>
        <p:spPr/>
        <p:txBody>
          <a:bodyPr/>
          <a:lstStyle/>
          <a:p>
            <a:r>
              <a:t>Every one of these buyers will shortlist fewer than five suppliers. Our job is to be on the list and stay on it.</a:t>
            </a:r>
          </a:p>
        </p:txBody>
      </p:sp>
      <p:sp>
        <p:nvSpPr>
          <p:cNvPr id="15" name="Text Placeholder 14"/>
          <p:cNvSpPr>
            <a:spLocks noGrp="1"/>
          </p:cNvSpPr>
          <p:nvPr>
            <p:ph type="body" idx="116"/>
          </p:nvPr>
        </p:nvSpPr>
        <p:spPr/>
        <p:txBody>
          <a:bodyPr/>
          <a:lstStyle/>
          <a:p>
            <a:r>
              <a:t>Source: Modern Materials Handling / Peerless Research 2026 and 2025 Outlook Surveys (n=103, n=110); Cushman &amp; Wakefield U.S. Industrial MarketBeat Q2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02</a:t>
            </a:r>
          </a:p>
        </p:txBody>
      </p:sp>
      <p:sp>
        <p:nvSpPr>
          <p:cNvPr id="3" name="Title 2"/>
          <p:cNvSpPr>
            <a:spLocks noGrp="1"/>
          </p:cNvSpPr>
          <p:nvPr>
            <p:ph type="title" idx="103"/>
          </p:nvPr>
        </p:nvSpPr>
        <p:spPr/>
        <p:txBody>
          <a:bodyPr/>
          <a:lstStyle/>
          <a:p>
            <a:r>
              <a:t>The buyer decides early</a:t>
            </a:r>
          </a:p>
        </p:txBody>
      </p:sp>
      <p:sp>
        <p:nvSpPr>
          <p:cNvPr id="4" name="Text Placeholder 3"/>
          <p:cNvSpPr>
            <a:spLocks noGrp="1"/>
          </p:cNvSpPr>
          <p:nvPr>
            <p:ph type="body" idx="104"/>
          </p:nvPr>
        </p:nvSpPr>
        <p:spPr/>
        <p:txBody>
          <a:bodyPr/>
          <a:lstStyle/>
          <a:p>
            <a:r>
              <a:t>Most of the decision is made before anyone calls a rep.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BUYER BEHAVIOR</a:t>
            </a:r>
          </a:p>
        </p:txBody>
      </p:sp>
      <p:sp>
        <p:nvSpPr>
          <p:cNvPr id="3" name="Title 2"/>
          <p:cNvSpPr>
            <a:spLocks noGrp="1"/>
          </p:cNvSpPr>
          <p:nvPr>
            <p:ph type="title" idx="101"/>
          </p:nvPr>
        </p:nvSpPr>
        <p:spPr/>
        <p:txBody>
          <a:bodyPr/>
          <a:lstStyle/>
          <a:p>
            <a:r>
              <a:t>The shortlist is built before we get the call</a:t>
            </a:r>
          </a:p>
        </p:txBody>
      </p:sp>
      <p:sp>
        <p:nvSpPr>
          <p:cNvPr id="4" name="Text Placeholder 3"/>
          <p:cNvSpPr>
            <a:spLocks noGrp="1"/>
          </p:cNvSpPr>
          <p:nvPr>
            <p:ph type="body" idx="102"/>
          </p:nvPr>
        </p:nvSpPr>
        <p:spPr/>
        <p:txBody>
          <a:bodyPr/>
          <a:lstStyle/>
          <a:p>
            <a:r>
              <a:t>Buyers research alone, keep the list short, and mostly buy from the first vendor they contact.</a:t>
            </a:r>
          </a:p>
        </p:txBody>
      </p:sp>
      <p:sp>
        <p:nvSpPr>
          <p:cNvPr id="5" name="Text Placeholder 4"/>
          <p:cNvSpPr>
            <a:spLocks noGrp="1"/>
          </p:cNvSpPr>
          <p:nvPr>
            <p:ph type="body" idx="104"/>
          </p:nvPr>
        </p:nvSpPr>
        <p:spPr/>
        <p:txBody>
          <a:bodyPr/>
          <a:lstStyle/>
          <a:p>
            <a:r>
              <a:t>62%</a:t>
            </a:r>
          </a:p>
        </p:txBody>
      </p:sp>
      <p:sp>
        <p:nvSpPr>
          <p:cNvPr id="6" name="Text Placeholder 5"/>
          <p:cNvSpPr>
            <a:spLocks noGrp="1"/>
          </p:cNvSpPr>
          <p:nvPr>
            <p:ph type="body" idx="105"/>
          </p:nvPr>
        </p:nvSpPr>
        <p:spPr/>
        <p:txBody>
          <a:bodyPr/>
          <a:lstStyle/>
          <a:p>
            <a:r>
              <a:t>OF THE BUYING PROCESS DONE ONLINE</a:t>
            </a:r>
          </a:p>
        </p:txBody>
      </p:sp>
      <p:sp>
        <p:nvSpPr>
          <p:cNvPr id="7" name="Text Placeholder 6"/>
          <p:cNvSpPr>
            <a:spLocks noGrp="1"/>
          </p:cNvSpPr>
          <p:nvPr>
            <p:ph type="body" idx="106"/>
          </p:nvPr>
        </p:nvSpPr>
        <p:spPr/>
        <p:txBody>
          <a:bodyPr/>
          <a:lstStyle/>
          <a:p>
            <a:r>
              <a:t>Before a technical buyer contacts anyone at the vendor</a:t>
            </a:r>
          </a:p>
        </p:txBody>
      </p:sp>
      <p:sp>
        <p:nvSpPr>
          <p:cNvPr id="8" name="Text Placeholder 7"/>
          <p:cNvSpPr>
            <a:spLocks noGrp="1"/>
          </p:cNvSpPr>
          <p:nvPr>
            <p:ph type="body" idx="108"/>
          </p:nvPr>
        </p:nvSpPr>
        <p:spPr/>
        <p:txBody>
          <a:bodyPr/>
          <a:lstStyle/>
          <a:p>
            <a:r>
              <a:t>71%</a:t>
            </a:r>
          </a:p>
        </p:txBody>
      </p:sp>
      <p:sp>
        <p:nvSpPr>
          <p:cNvPr id="9" name="Text Placeholder 8"/>
          <p:cNvSpPr>
            <a:spLocks noGrp="1"/>
          </p:cNvSpPr>
          <p:nvPr>
            <p:ph type="body" idx="109"/>
          </p:nvPr>
        </p:nvSpPr>
        <p:spPr/>
        <p:txBody>
          <a:bodyPr/>
          <a:lstStyle/>
          <a:p>
            <a:r>
              <a:t>VET FEWER THAN FIVE SUPPLIERS</a:t>
            </a:r>
          </a:p>
        </p:txBody>
      </p:sp>
      <p:sp>
        <p:nvSpPr>
          <p:cNvPr id="10" name="Text Placeholder 9"/>
          <p:cNvSpPr>
            <a:spLocks noGrp="1"/>
          </p:cNvSpPr>
          <p:nvPr>
            <p:ph type="body" idx="110"/>
          </p:nvPr>
        </p:nvSpPr>
        <p:spPr/>
        <p:txBody>
          <a:bodyPr/>
          <a:lstStyle/>
          <a:p>
            <a:r>
              <a:t>Industrial buyers; only 3% look at more than ten</a:t>
            </a:r>
          </a:p>
        </p:txBody>
      </p:sp>
      <p:sp>
        <p:nvSpPr>
          <p:cNvPr id="11" name="Text Placeholder 10"/>
          <p:cNvSpPr>
            <a:spLocks noGrp="1"/>
          </p:cNvSpPr>
          <p:nvPr>
            <p:ph type="body" idx="112"/>
          </p:nvPr>
        </p:nvSpPr>
        <p:spPr/>
        <p:txBody>
          <a:bodyPr/>
          <a:lstStyle/>
          <a:p>
            <a:r>
              <a:t>8 in 10</a:t>
            </a:r>
          </a:p>
        </p:txBody>
      </p:sp>
      <p:sp>
        <p:nvSpPr>
          <p:cNvPr id="12" name="Text Placeholder 11"/>
          <p:cNvSpPr>
            <a:spLocks noGrp="1"/>
          </p:cNvSpPr>
          <p:nvPr>
            <p:ph type="body" idx="113"/>
          </p:nvPr>
        </p:nvSpPr>
        <p:spPr/>
        <p:txBody>
          <a:bodyPr/>
          <a:lstStyle/>
          <a:p>
            <a:r>
              <a:t>DEALS GO TO FIRST VENDOR CONTACTED</a:t>
            </a:r>
          </a:p>
        </p:txBody>
      </p:sp>
      <p:sp>
        <p:nvSpPr>
          <p:cNvPr id="13" name="Text Placeholder 12"/>
          <p:cNvSpPr>
            <a:spLocks noGrp="1"/>
          </p:cNvSpPr>
          <p:nvPr>
            <p:ph type="body" idx="114"/>
          </p:nvPr>
        </p:nvSpPr>
        <p:spPr/>
        <p:txBody>
          <a:bodyPr/>
          <a:lstStyle/>
          <a:p>
            <a:r>
              <a:t>Buyers rank favorites first, then reach out</a:t>
            </a:r>
          </a:p>
        </p:txBody>
      </p:sp>
      <p:sp>
        <p:nvSpPr>
          <p:cNvPr id="14" name="Text Placeholder 13"/>
          <p:cNvSpPr>
            <a:spLocks noGrp="1"/>
          </p:cNvSpPr>
          <p:nvPr>
            <p:ph type="body" idx="115"/>
          </p:nvPr>
        </p:nvSpPr>
        <p:spPr/>
        <p:txBody>
          <a:bodyPr/>
          <a:lstStyle/>
          <a:p>
            <a:r>
              <a:t>If the first call, form, or dealer inquiry goes unanswered for a day, we hand the order to whoever answered.</a:t>
            </a:r>
          </a:p>
        </p:txBody>
      </p:sp>
      <p:sp>
        <p:nvSpPr>
          <p:cNvPr id="15" name="Text Placeholder 14"/>
          <p:cNvSpPr>
            <a:spLocks noGrp="1"/>
          </p:cNvSpPr>
          <p:nvPr>
            <p:ph type="body" idx="116"/>
          </p:nvPr>
        </p:nvSpPr>
        <p:spPr/>
        <p:txBody>
          <a:bodyPr/>
          <a:lstStyle/>
          <a:p>
            <a:r>
              <a:t>Source: GlobalSpec / TREW Marketing, 2026 State of Marketing to Engineers (n=1,000+); Thomasnet Industrial Buyer Habits report; 6sense 2025 Buyer Experience Report (approx. 4,000 buyers).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WHAT BUYERS WEIGH</a:t>
            </a:r>
          </a:p>
        </p:txBody>
      </p:sp>
      <p:sp>
        <p:nvSpPr>
          <p:cNvPr id="3" name="Title 2"/>
          <p:cNvSpPr>
            <a:spLocks noGrp="1"/>
          </p:cNvSpPr>
          <p:nvPr>
            <p:ph type="title" idx="101"/>
          </p:nvPr>
        </p:nvSpPr>
        <p:spPr/>
        <p:txBody>
          <a:bodyPr/>
          <a:lstStyle/>
          <a:p>
            <a:r>
              <a:t>Lead time and support outrank price</a:t>
            </a:r>
          </a:p>
        </p:txBody>
      </p:sp>
      <p:sp>
        <p:nvSpPr>
          <p:cNvPr id="4" name="Text Placeholder 3"/>
          <p:cNvSpPr>
            <a:spLocks noGrp="1"/>
          </p:cNvSpPr>
          <p:nvPr>
            <p:ph type="body" idx="102"/>
          </p:nvPr>
        </p:nvSpPr>
        <p:spPr/>
        <p:txBody>
          <a:bodyPr/>
          <a:lstStyle/>
          <a:p>
            <a:r>
              <a:t>Industrial buyers rank lead time first when they shortlist. Price is fifth on why distributors win.</a:t>
            </a:r>
          </a:p>
        </p:txBody>
      </p:sp>
      <p:sp>
        <p:nvSpPr>
          <p:cNvPr id="5" name="Text Placeholder 4"/>
          <p:cNvSpPr>
            <a:spLocks noGrp="1"/>
          </p:cNvSpPr>
          <p:nvPr>
            <p:ph type="body" idx="103"/>
          </p:nvPr>
        </p:nvSpPr>
        <p:spPr/>
        <p:txBody>
          <a:bodyPr/>
          <a:lstStyle/>
          <a:p>
            <a:pPr>
              <a:spcAft>
                <a:spcPts val="700"/>
              </a:spcAft>
            </a:pPr>
            <a:r>
              <a:t>Thomasnet shortlist factors, in order: lead time and availability, unit price, quality certifications, verified company information.</a:t>
            </a:r>
          </a:p>
          <a:p>
            <a:pPr>
              <a:spcAft>
                <a:spcPts val="700"/>
              </a:spcAft>
            </a:pPr>
            <a:r>
              <a:t>Buyers expect an answer inside 24 hours. 44% say so outright.</a:t>
            </a:r>
          </a:p>
          <a:p>
            <a:pPr>
              <a:spcAft>
                <a:spcPts val="700"/>
              </a:spcAft>
            </a:pPr>
            <a:r>
              <a:t>One buyer, verbatim: "If I have to follow up twice, I eliminate you from consideration."</a:t>
            </a:r>
          </a:p>
          <a:p>
            <a:pPr>
              <a:spcAft>
                <a:spcPts val="700"/>
              </a:spcAft>
            </a:pPr>
            <a:r>
              <a:t>Rejection reasons: delayed or no RFQ response, having to follow up more than once, unclear pricing, stale company info.</a:t>
            </a:r>
          </a:p>
        </p:txBody>
      </p:sp>
      <p:sp>
        <p:nvSpPr>
          <p:cNvPr id="7" name="Text Placeholder 6"/>
          <p:cNvSpPr>
            <a:spLocks noGrp="1"/>
          </p:cNvSpPr>
          <p:nvPr>
            <p:ph type="body" idx="105"/>
          </p:nvPr>
        </p:nvSpPr>
        <p:spPr/>
        <p:txBody>
          <a:bodyPr/>
          <a:lstStyle/>
          <a:p>
            <a:r>
              <a:t>Source: Thomasnet survey of 400+ registered industrial buyers (2021); Industrial Distribution Survey of Distributor Operations.</a:t>
            </a:r>
          </a:p>
        </p:txBody>
      </p:sp>
      <p:graphicFrame>
        <p:nvGraphicFramePr>
          <p:cNvPr id="8" name="Chart 7"/>
          <p:cNvGraphicFramePr>
            <a:graphicFrameLocks noGrp="1"/>
          </p:cNvGraphicFramePr>
          <p:nvPr/>
        </p:nvGraphicFramePr>
        <p:xfrm>
          <a:off x="5943600" y="2121408"/>
          <a:ext cx="5513832" cy="3913632"/>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THE REP</a:t>
            </a:r>
          </a:p>
        </p:txBody>
      </p:sp>
      <p:sp>
        <p:nvSpPr>
          <p:cNvPr id="3" name="Title 2"/>
          <p:cNvSpPr>
            <a:spLocks noGrp="1"/>
          </p:cNvSpPr>
          <p:nvPr>
            <p:ph type="title" idx="101"/>
          </p:nvPr>
        </p:nvSpPr>
        <p:spPr/>
        <p:txBody>
          <a:bodyPr/>
          <a:lstStyle/>
          <a:p>
            <a:r>
              <a:t>Buyers want a rep who knows their business</a:t>
            </a:r>
          </a:p>
        </p:txBody>
      </p:sp>
      <p:sp>
        <p:nvSpPr>
          <p:cNvPr id="4" name="Text Placeholder 3"/>
          <p:cNvSpPr>
            <a:spLocks noGrp="1"/>
          </p:cNvSpPr>
          <p:nvPr>
            <p:ph type="body" idx="102"/>
          </p:nvPr>
        </p:nvSpPr>
        <p:spPr/>
        <p:txBody>
          <a:bodyPr/>
          <a:lstStyle/>
          <a:p>
            <a:r>
              <a:t>Human help cuts buyer regret in half. Generic help gets us removed from the list.</a:t>
            </a:r>
          </a:p>
        </p:txBody>
      </p:sp>
      <p:sp>
        <p:nvSpPr>
          <p:cNvPr id="5" name="Text Placeholder 4"/>
          <p:cNvSpPr>
            <a:spLocks noGrp="1"/>
          </p:cNvSpPr>
          <p:nvPr>
            <p:ph type="body" idx="103"/>
          </p:nvPr>
        </p:nvSpPr>
        <p:spPr/>
        <p:txBody>
          <a:bodyPr/>
          <a:lstStyle/>
          <a:p>
            <a:r>
              <a:t>WHAT BUYERS WANT</a:t>
            </a:r>
          </a:p>
        </p:txBody>
      </p:sp>
      <p:sp>
        <p:nvSpPr>
          <p:cNvPr id="6" name="Text Placeholder 5"/>
          <p:cNvSpPr>
            <a:spLocks noGrp="1"/>
          </p:cNvSpPr>
          <p:nvPr>
            <p:ph type="body" idx="105"/>
          </p:nvPr>
        </p:nvSpPr>
        <p:spPr/>
        <p:txBody>
          <a:bodyPr/>
          <a:lstStyle/>
          <a:p>
            <a:pPr>
              <a:spcAft>
                <a:spcPts val="700"/>
              </a:spcAft>
            </a:pPr>
            <a:r>
              <a:t>86% are more likely to buy when the company understands their goals.</a:t>
            </a:r>
          </a:p>
          <a:p>
            <a:pPr>
              <a:spcAft>
                <a:spcPts val="700"/>
              </a:spcAft>
            </a:pPr>
            <a:r>
              <a:t>84% expect the rep to act as a trusted advisor.</a:t>
            </a:r>
          </a:p>
          <a:p>
            <a:pPr>
              <a:spcAft>
                <a:spcPts val="700"/>
              </a:spcAft>
            </a:pPr>
            <a:r>
              <a:t>Rep-assisted purchases carry half the regret of self-service buys: 21% vs 43%.</a:t>
            </a:r>
          </a:p>
          <a:p>
            <a:pPr>
              <a:spcAft>
                <a:spcPts val="700"/>
              </a:spcAft>
            </a:pPr>
            <a:r>
              <a:t>Only 6% of technical buyers want no salesperson at all.</a:t>
            </a:r>
          </a:p>
        </p:txBody>
      </p:sp>
      <p:sp>
        <p:nvSpPr>
          <p:cNvPr id="7" name="Text Placeholder 6"/>
          <p:cNvSpPr>
            <a:spLocks noGrp="1"/>
          </p:cNvSpPr>
          <p:nvPr>
            <p:ph type="body" idx="106"/>
          </p:nvPr>
        </p:nvSpPr>
        <p:spPr/>
        <p:txBody>
          <a:bodyPr/>
          <a:lstStyle/>
          <a:p>
            <a:r>
              <a:t>WHAT BUYERS REPORT GETTING</a:t>
            </a:r>
          </a:p>
        </p:txBody>
      </p:sp>
      <p:sp>
        <p:nvSpPr>
          <p:cNvPr id="8" name="Text Placeholder 7"/>
          <p:cNvSpPr>
            <a:spLocks noGrp="1"/>
          </p:cNvSpPr>
          <p:nvPr>
            <p:ph type="body" idx="108"/>
          </p:nvPr>
        </p:nvSpPr>
        <p:spPr/>
        <p:txBody>
          <a:bodyPr/>
          <a:lstStyle/>
          <a:p>
            <a:pPr>
              <a:spcAft>
                <a:spcPts val="700"/>
              </a:spcAft>
            </a:pPr>
            <a:r>
              <a:t>59% say most reps don't take the time to understand them.</a:t>
            </a:r>
          </a:p>
          <a:p>
            <a:pPr>
              <a:spcAft>
                <a:spcPts val="700"/>
              </a:spcAft>
            </a:pPr>
            <a:r>
              <a:t>73% say most sales interactions feel transactional.</a:t>
            </a:r>
          </a:p>
          <a:p>
            <a:pPr>
              <a:spcAft>
                <a:spcPts val="700"/>
              </a:spcAft>
            </a:pPr>
            <a:r>
              <a:t>69% see conflicts between the website and what the rep says.</a:t>
            </a:r>
          </a:p>
          <a:p>
            <a:pPr>
              <a:spcAft>
                <a:spcPts val="700"/>
              </a:spcAft>
            </a:pPr>
            <a:r>
              <a:t>Top deal killers: misleading price or product info (48%), not understanding the buyer's company (44%).</a:t>
            </a:r>
          </a:p>
        </p:txBody>
      </p:sp>
      <p:sp>
        <p:nvSpPr>
          <p:cNvPr id="9" name="Text Placeholder 8"/>
          <p:cNvSpPr>
            <a:spLocks noGrp="1"/>
          </p:cNvSpPr>
          <p:nvPr>
            <p:ph type="body" idx="109"/>
          </p:nvPr>
        </p:nvSpPr>
        <p:spPr/>
        <p:txBody>
          <a:bodyPr/>
          <a:lstStyle/>
          <a:p>
            <a:r>
              <a:t>Source: Salesforce State of the Connected Customer 2023 (3,300 business buyers); Gartner B2B Buying Report (2022 survey, n=441); LinkedIn State of Sales 2021; Gartner 2025 sales survey via Salesforce.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03</a:t>
            </a:r>
          </a:p>
        </p:txBody>
      </p:sp>
      <p:sp>
        <p:nvSpPr>
          <p:cNvPr id="3" name="Title 2"/>
          <p:cNvSpPr>
            <a:spLocks noGrp="1"/>
          </p:cNvSpPr>
          <p:nvPr>
            <p:ph type="title" idx="103"/>
          </p:nvPr>
        </p:nvSpPr>
        <p:spPr/>
        <p:txBody>
          <a:bodyPr/>
          <a:lstStyle/>
          <a:p>
            <a:r>
              <a:t>Speed to lead</a:t>
            </a:r>
          </a:p>
        </p:txBody>
      </p:sp>
      <p:sp>
        <p:nvSpPr>
          <p:cNvPr id="4" name="Text Placeholder 3"/>
          <p:cNvSpPr>
            <a:spLocks noGrp="1"/>
          </p:cNvSpPr>
          <p:nvPr>
            <p:ph type="body" idx="104"/>
          </p:nvPr>
        </p:nvSpPr>
        <p:spPr/>
        <p:txBody>
          <a:bodyPr/>
          <a:lstStyle/>
          <a:p>
            <a:r>
              <a:t>The first hour is worth more than the next week.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RESPONSE TIME</a:t>
            </a:r>
          </a:p>
        </p:txBody>
      </p:sp>
      <p:sp>
        <p:nvSpPr>
          <p:cNvPr id="3" name="Title 2"/>
          <p:cNvSpPr>
            <a:spLocks noGrp="1"/>
          </p:cNvSpPr>
          <p:nvPr>
            <p:ph type="title" idx="101"/>
          </p:nvPr>
        </p:nvSpPr>
        <p:spPr/>
        <p:txBody>
          <a:bodyPr/>
          <a:lstStyle/>
          <a:p>
            <a:r>
              <a:t>An hour's delay cuts qualification odds 7x</a:t>
            </a:r>
          </a:p>
        </p:txBody>
      </p:sp>
      <p:sp>
        <p:nvSpPr>
          <p:cNvPr id="4" name="Text Placeholder 3"/>
          <p:cNvSpPr>
            <a:spLocks noGrp="1"/>
          </p:cNvSpPr>
          <p:nvPr>
            <p:ph type="body" idx="102"/>
          </p:nvPr>
        </p:nvSpPr>
        <p:spPr/>
        <p:txBody>
          <a:bodyPr/>
          <a:lstStyle/>
          <a:p>
            <a:r>
              <a:t>The value of a lead decays by the hour. Most companies let it decay for nearly two days.</a:t>
            </a:r>
          </a:p>
        </p:txBody>
      </p:sp>
      <p:sp>
        <p:nvSpPr>
          <p:cNvPr id="5" name="Text Placeholder 4"/>
          <p:cNvSpPr>
            <a:spLocks noGrp="1"/>
          </p:cNvSpPr>
          <p:nvPr>
            <p:ph type="body" idx="104"/>
          </p:nvPr>
        </p:nvSpPr>
        <p:spPr/>
        <p:txBody>
          <a:bodyPr/>
          <a:lstStyle/>
          <a:p>
            <a:r>
              <a:t>7x</a:t>
            </a:r>
          </a:p>
        </p:txBody>
      </p:sp>
      <p:sp>
        <p:nvSpPr>
          <p:cNvPr id="6" name="Text Placeholder 5"/>
          <p:cNvSpPr>
            <a:spLocks noGrp="1"/>
          </p:cNvSpPr>
          <p:nvPr>
            <p:ph type="body" idx="105"/>
          </p:nvPr>
        </p:nvSpPr>
        <p:spPr/>
        <p:txBody>
          <a:bodyPr/>
          <a:lstStyle/>
          <a:p>
            <a:r>
              <a:t>MORE LIKELY TO QUALIFY</a:t>
            </a:r>
          </a:p>
        </p:txBody>
      </p:sp>
      <p:sp>
        <p:nvSpPr>
          <p:cNvPr id="7" name="Text Placeholder 6"/>
          <p:cNvSpPr>
            <a:spLocks noGrp="1"/>
          </p:cNvSpPr>
          <p:nvPr>
            <p:ph type="body" idx="106"/>
          </p:nvPr>
        </p:nvSpPr>
        <p:spPr/>
        <p:txBody>
          <a:bodyPr/>
          <a:lstStyle/>
          <a:p>
            <a:r>
              <a:t>Contact within one hour vs. waiting one more hour</a:t>
            </a:r>
          </a:p>
        </p:txBody>
      </p:sp>
      <p:sp>
        <p:nvSpPr>
          <p:cNvPr id="8" name="Text Placeholder 7"/>
          <p:cNvSpPr>
            <a:spLocks noGrp="1"/>
          </p:cNvSpPr>
          <p:nvPr>
            <p:ph type="body" idx="108"/>
          </p:nvPr>
        </p:nvSpPr>
        <p:spPr/>
        <p:txBody>
          <a:bodyPr/>
          <a:lstStyle/>
          <a:p>
            <a:r>
              <a:t>60x</a:t>
            </a:r>
          </a:p>
        </p:txBody>
      </p:sp>
      <p:sp>
        <p:nvSpPr>
          <p:cNvPr id="9" name="Text Placeholder 8"/>
          <p:cNvSpPr>
            <a:spLocks noGrp="1"/>
          </p:cNvSpPr>
          <p:nvPr>
            <p:ph type="body" idx="109"/>
          </p:nvPr>
        </p:nvSpPr>
        <p:spPr/>
        <p:txBody>
          <a:bodyPr/>
          <a:lstStyle/>
          <a:p>
            <a:r>
              <a:t>MORE LIKELY TO QUALIFY</a:t>
            </a:r>
          </a:p>
        </p:txBody>
      </p:sp>
      <p:sp>
        <p:nvSpPr>
          <p:cNvPr id="10" name="Text Placeholder 9"/>
          <p:cNvSpPr>
            <a:spLocks noGrp="1"/>
          </p:cNvSpPr>
          <p:nvPr>
            <p:ph type="body" idx="110"/>
          </p:nvPr>
        </p:nvSpPr>
        <p:spPr/>
        <p:txBody>
          <a:bodyPr/>
          <a:lstStyle/>
          <a:p>
            <a:r>
              <a:t>Contact within one hour vs. waiting 24 hours or more</a:t>
            </a:r>
          </a:p>
        </p:txBody>
      </p:sp>
      <p:sp>
        <p:nvSpPr>
          <p:cNvPr id="11" name="Text Placeholder 10"/>
          <p:cNvSpPr>
            <a:spLocks noGrp="1"/>
          </p:cNvSpPr>
          <p:nvPr>
            <p:ph type="body" idx="112"/>
          </p:nvPr>
        </p:nvSpPr>
        <p:spPr/>
        <p:txBody>
          <a:bodyPr/>
          <a:lstStyle/>
          <a:p>
            <a:r>
              <a:t>42 hrs</a:t>
            </a:r>
          </a:p>
        </p:txBody>
      </p:sp>
      <p:sp>
        <p:nvSpPr>
          <p:cNvPr id="12" name="Text Placeholder 11"/>
          <p:cNvSpPr>
            <a:spLocks noGrp="1"/>
          </p:cNvSpPr>
          <p:nvPr>
            <p:ph type="body" idx="113"/>
          </p:nvPr>
        </p:nvSpPr>
        <p:spPr/>
        <p:txBody>
          <a:bodyPr/>
          <a:lstStyle/>
          <a:p>
            <a:r>
              <a:t>AVERAGE RESPONSE TIME</a:t>
            </a:r>
          </a:p>
        </p:txBody>
      </p:sp>
      <p:sp>
        <p:nvSpPr>
          <p:cNvPr id="13" name="Text Placeholder 12"/>
          <p:cNvSpPr>
            <a:spLocks noGrp="1"/>
          </p:cNvSpPr>
          <p:nvPr>
            <p:ph type="body" idx="114"/>
          </p:nvPr>
        </p:nvSpPr>
        <p:spPr/>
        <p:txBody>
          <a:bodyPr/>
          <a:lstStyle/>
          <a:p>
            <a:r>
              <a:t>Across 2,241 U.S. companies audited; 23% never responded</a:t>
            </a:r>
          </a:p>
        </p:txBody>
      </p:sp>
      <p:sp>
        <p:nvSpPr>
          <p:cNvPr id="14" name="Text Placeholder 13"/>
          <p:cNvSpPr>
            <a:spLocks noGrp="1"/>
          </p:cNvSpPr>
          <p:nvPr>
            <p:ph type="body" idx="115"/>
          </p:nvPr>
        </p:nvSpPr>
        <p:spPr/>
        <p:txBody>
          <a:bodyPr/>
          <a:lstStyle/>
          <a:p>
            <a:r>
              <a:t>A lead that sits overnight is not the same lead in the morning. Speed is the cheapest advantage we have.</a:t>
            </a:r>
          </a:p>
        </p:txBody>
      </p:sp>
      <p:sp>
        <p:nvSpPr>
          <p:cNvPr id="15" name="Text Placeholder 14"/>
          <p:cNvSpPr>
            <a:spLocks noGrp="1"/>
          </p:cNvSpPr>
          <p:nvPr>
            <p:ph type="body" idx="116"/>
          </p:nvPr>
        </p:nvSpPr>
        <p:spPr/>
        <p:txBody>
          <a:bodyPr/>
          <a:lstStyle/>
          <a:p>
            <a:r>
              <a:t>Source: Oldroyd, McElheran, Elkington, "The Short Life of Online Sales Leads," Harvard Business Review, March 2011 (1.25M leads, 42 companies; audit of 2,241 companies).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THE GAP</a:t>
            </a:r>
          </a:p>
        </p:txBody>
      </p:sp>
      <p:sp>
        <p:nvSpPr>
          <p:cNvPr id="3" name="Title 2"/>
          <p:cNvSpPr>
            <a:spLocks noGrp="1"/>
          </p:cNvSpPr>
          <p:nvPr>
            <p:ph type="title" idx="101"/>
          </p:nvPr>
        </p:nvSpPr>
        <p:spPr/>
        <p:txBody>
          <a:bodyPr/>
          <a:lstStyle/>
          <a:p>
            <a:r>
              <a:t>Most companies take a day or more to answer</a:t>
            </a:r>
          </a:p>
        </p:txBody>
      </p:sp>
      <p:sp>
        <p:nvSpPr>
          <p:cNvPr id="4" name="Text Placeholder 3"/>
          <p:cNvSpPr>
            <a:spLocks noGrp="1"/>
          </p:cNvSpPr>
          <p:nvPr>
            <p:ph type="body" idx="102"/>
          </p:nvPr>
        </p:nvSpPr>
        <p:spPr/>
        <p:txBody>
          <a:bodyPr/>
          <a:lstStyle/>
          <a:p>
            <a:r>
              <a:t>Slow response is the norm. That makes fast response a differentiator.</a:t>
            </a:r>
          </a:p>
        </p:txBody>
      </p:sp>
      <p:sp>
        <p:nvSpPr>
          <p:cNvPr id="5" name="Text Placeholder 4"/>
          <p:cNvSpPr>
            <a:spLocks noGrp="1"/>
          </p:cNvSpPr>
          <p:nvPr>
            <p:ph type="body" idx="103"/>
          </p:nvPr>
        </p:nvSpPr>
        <p:spPr/>
        <p:txBody>
          <a:bodyPr/>
          <a:lstStyle/>
          <a:p>
            <a:pPr>
              <a:spcAft>
                <a:spcPts val="700"/>
              </a:spcAft>
            </a:pPr>
            <a:r>
              <a:t>2026, 114 B2B companies tested: one sent a personalized reply within five minutes. None called within five minutes.</a:t>
            </a:r>
          </a:p>
          <a:p>
            <a:pPr>
              <a:spcAft>
                <a:spcPts val="700"/>
              </a:spcAft>
            </a:pPr>
            <a:r>
              <a:t>Average personalized email took 12 hours. Average phone call took 14.5 hours. Only 31% called at all.</a:t>
            </a:r>
          </a:p>
          <a:p>
            <a:pPr>
              <a:spcAft>
                <a:spcPts val="700"/>
              </a:spcAft>
            </a:pPr>
            <a:r>
              <a:t>Platform data, 5.7M leads: fewer than 1% of first attempts happen inside five minutes. 77% of leads got no response.</a:t>
            </a:r>
          </a:p>
          <a:p>
            <a:pPr>
              <a:spcAft>
                <a:spcPts val="700"/>
              </a:spcAft>
            </a:pPr>
            <a:r>
              <a:t>Reps average 1.3 call attempts before giving up.</a:t>
            </a:r>
          </a:p>
        </p:txBody>
      </p:sp>
      <p:sp>
        <p:nvSpPr>
          <p:cNvPr id="7" name="Text Placeholder 6"/>
          <p:cNvSpPr>
            <a:spLocks noGrp="1"/>
          </p:cNvSpPr>
          <p:nvPr>
            <p:ph type="body" idx="105"/>
          </p:nvPr>
        </p:nvSpPr>
        <p:spPr/>
        <p:txBody>
          <a:bodyPr/>
          <a:lstStyle/>
          <a:p>
            <a:r>
              <a:t>Source: HBR 2011 audit (2,241 companies); Workato lead response study, March 2026 (114 B2B companies); InsideSales 2021 Lead Response Management (5.7M leads).</a:t>
            </a:r>
          </a:p>
        </p:txBody>
      </p:sp>
      <p:graphicFrame>
        <p:nvGraphicFramePr>
          <p:cNvPr id="8" name="Chart 7"/>
          <p:cNvGraphicFramePr>
            <a:graphicFrameLocks noGrp="1"/>
          </p:cNvGraphicFramePr>
          <p:nvPr/>
        </p:nvGraphicFramePr>
        <p:xfrm>
          <a:off x="5943600" y="2121408"/>
          <a:ext cx="5513832" cy="3913632"/>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PERSISTENCE</a:t>
            </a:r>
          </a:p>
        </p:txBody>
      </p:sp>
      <p:sp>
        <p:nvSpPr>
          <p:cNvPr id="3" name="Title 2"/>
          <p:cNvSpPr>
            <a:spLocks noGrp="1"/>
          </p:cNvSpPr>
          <p:nvPr>
            <p:ph type="title" idx="101"/>
          </p:nvPr>
        </p:nvSpPr>
        <p:spPr/>
        <p:txBody>
          <a:bodyPr/>
          <a:lstStyle/>
          <a:p>
            <a:r>
              <a:t>Most reps quit after one attempt</a:t>
            </a:r>
          </a:p>
        </p:txBody>
      </p:sp>
      <p:sp>
        <p:nvSpPr>
          <p:cNvPr id="4" name="Text Placeholder 3"/>
          <p:cNvSpPr>
            <a:spLocks noGrp="1"/>
          </p:cNvSpPr>
          <p:nvPr>
            <p:ph type="body" idx="102"/>
          </p:nvPr>
        </p:nvSpPr>
        <p:spPr/>
        <p:txBody>
          <a:bodyPr/>
          <a:lstStyle/>
          <a:p>
            <a:r>
              <a:t>Most deals need several touches. The second through sixth is where reps stop and conversions live.</a:t>
            </a:r>
          </a:p>
        </p:txBody>
      </p:sp>
      <p:sp>
        <p:nvSpPr>
          <p:cNvPr id="5" name="Text Placeholder 4"/>
          <p:cNvSpPr>
            <a:spLocks noGrp="1"/>
          </p:cNvSpPr>
          <p:nvPr>
            <p:ph type="body" idx="103"/>
          </p:nvPr>
        </p:nvSpPr>
        <p:spPr/>
        <p:txBody>
          <a:bodyPr/>
          <a:lstStyle/>
          <a:p>
            <a:pPr>
              <a:spcAft>
                <a:spcPts val="700"/>
              </a:spcAft>
            </a:pPr>
            <a:r>
              <a:t>Half of all leads are called only once. 93% of leads that convert are reached by the sixth call.</a:t>
            </a:r>
          </a:p>
          <a:p>
            <a:pPr>
              <a:spcAft>
                <a:spcPts val="700"/>
              </a:spcAft>
            </a:pPr>
            <a:r>
              <a:t>A six-call cadence lifted conversion 49%. Adding a five-email cadence lifted it 128% combined.</a:t>
            </a:r>
          </a:p>
          <a:p>
            <a:pPr>
              <a:spcAft>
                <a:spcPts val="700"/>
              </a:spcAft>
            </a:pPr>
            <a:r>
              <a:t>Average rep makes 1.3 call attempts before moving on.</a:t>
            </a:r>
          </a:p>
          <a:p>
            <a:pPr>
              <a:spcAft>
                <a:spcPts val="700"/>
              </a:spcAft>
            </a:pPr>
            <a:r>
              <a:t>New accounts take 8 touches on average to get a meeting. Top performers get there in 5 because each touch carries something useful.</a:t>
            </a:r>
          </a:p>
          <a:p>
            <a:pPr>
              <a:spcAft>
                <a:spcPts val="700"/>
              </a:spcAft>
            </a:pPr>
            <a:r>
              <a:t>Buyers told RAIN what they will tolerate: 55% accept 2 to 4 contacts, 23% accept 5 to 10. Persistence is expected, not resented.</a:t>
            </a:r>
          </a:p>
          <a:p>
            <a:pPr>
              <a:spcAft>
                <a:spcPts val="700"/>
              </a:spcAft>
            </a:pPr>
            <a:r>
              <a:t>Caveat: the Velocify data is consumer phone sales. The direction holds in B2B; the exact percentages are not ours to claim.</a:t>
            </a:r>
          </a:p>
        </p:txBody>
      </p:sp>
      <p:sp>
        <p:nvSpPr>
          <p:cNvPr id="6" name="Text Placeholder 5"/>
          <p:cNvSpPr>
            <a:spLocks noGrp="1"/>
          </p:cNvSpPr>
          <p:nvPr>
            <p:ph type="body" idx="104"/>
          </p:nvPr>
        </p:nvSpPr>
        <p:spPr/>
        <p:txBody>
          <a:bodyPr/>
          <a:lstStyle/>
          <a:p>
            <a:r>
              <a:t>Source: Velocify / Leads360 Ultimate Contact Strategy 2012 (3.5M leads, consumer-heavy verticals); RAIN Group, Top Performance in Sales Prospecting, 2018 (488 buyers, 489 sellers); InsideSales 2013 Lead Response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CREDIBILITY</a:t>
            </a:r>
          </a:p>
        </p:txBody>
      </p:sp>
      <p:sp>
        <p:nvSpPr>
          <p:cNvPr id="3" name="Title 2"/>
          <p:cNvSpPr>
            <a:spLocks noGrp="1"/>
          </p:cNvSpPr>
          <p:nvPr>
            <p:ph type="title" idx="101"/>
          </p:nvPr>
        </p:nvSpPr>
        <p:spPr/>
        <p:txBody>
          <a:bodyPr/>
          <a:lstStyle/>
          <a:p>
            <a:r>
              <a:t>The popular follow-up stats don't hold up</a:t>
            </a:r>
          </a:p>
        </p:txBody>
      </p:sp>
      <p:sp>
        <p:nvSpPr>
          <p:cNvPr id="4" name="Text Placeholder 3"/>
          <p:cNvSpPr>
            <a:spLocks noGrp="1"/>
          </p:cNvSpPr>
          <p:nvPr>
            <p:ph type="body" idx="102"/>
          </p:nvPr>
        </p:nvSpPr>
        <p:spPr/>
        <p:txBody>
          <a:bodyPr/>
          <a:lstStyle/>
          <a:p>
            <a:r>
              <a:t>Every figure in this deck traces to a named study. These popular ones don't, so they're not here.</a:t>
            </a:r>
          </a:p>
        </p:txBody>
      </p:sp>
      <p:sp>
        <p:nvSpPr>
          <p:cNvPr id="5" name="Text Placeholder 4"/>
          <p:cNvSpPr>
            <a:spLocks noGrp="1"/>
          </p:cNvSpPr>
          <p:nvPr>
            <p:ph type="body" idx="103"/>
          </p:nvPr>
        </p:nvSpPr>
        <p:spPr/>
        <p:txBody>
          <a:bodyPr/>
          <a:lstStyle/>
          <a:p>
            <a:pPr>
              <a:spcAft>
                <a:spcPts val="700"/>
              </a:spcAft>
            </a:pPr>
            <a:r>
              <a:t>"80% of sales need 5 follow-ups; 44% of reps give up after one." Traces to a 1942 survey of under 40 door-to-door salesmen. No modern source.</a:t>
            </a:r>
          </a:p>
          <a:p>
            <a:pPr>
              <a:spcAft>
                <a:spcPts val="700"/>
              </a:spcAft>
            </a:pPr>
            <a:r>
              <a:t>"78% of buyers buy from the first company to respond." Attributed to a "Lead Connect survey" that no one can produce.</a:t>
            </a:r>
          </a:p>
          <a:p>
            <a:pPr>
              <a:spcAft>
                <a:spcPts val="700"/>
              </a:spcAft>
            </a:pPr>
            <a:r>
              <a:t>"35 to 50% of sales go to the first responder." A vendor blog assertion with no study behind it.</a:t>
            </a:r>
          </a:p>
          <a:p>
            <a:pPr>
              <a:spcAft>
                <a:spcPts val="700"/>
              </a:spcAft>
            </a:pPr>
            <a:r>
              <a:t>"The MIT study says 21x." It was a 2007 vendor-sponsored analysis by an MIT fellow, not an MIT publication. HBR's 7x and 60x are the clean numbers.</a:t>
            </a:r>
          </a:p>
          <a:p>
            <a:pPr>
              <a:spcAft>
                <a:spcPts val="700"/>
              </a:spcAft>
            </a:pPr>
            <a:r>
              <a:t>"A dissatisfied customer tells 9 to 15 people." Attributed to a White House office that never published it; the research is from 1979.</a:t>
            </a:r>
          </a:p>
          <a:p>
            <a:pPr>
              <a:spcAft>
                <a:spcPts val="700"/>
              </a:spcAft>
            </a:pPr>
            <a:r>
              <a:t>Why it matters: if we set standards on bad numbers, the first skeptic in the room wins. Use the sourced ones.</a:t>
            </a:r>
          </a:p>
        </p:txBody>
      </p:sp>
      <p:sp>
        <p:nvSpPr>
          <p:cNvPr id="6" name="Text Placeholder 5"/>
          <p:cNvSpPr>
            <a:spLocks noGrp="1"/>
          </p:cNvSpPr>
          <p:nvPr>
            <p:ph type="body" idx="104"/>
          </p:nvPr>
        </p:nvSpPr>
        <p:spPr/>
        <p:txBody>
          <a:bodyPr/>
          <a:lstStyle/>
          <a:p>
            <a:r>
              <a:t>Source: Verification notes in the companion research brief. Origins traced by Sales &amp; Marketing Executives International (2021), HBR 2011, and the original publishers.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04</a:t>
            </a:r>
          </a:p>
        </p:txBody>
      </p:sp>
      <p:sp>
        <p:nvSpPr>
          <p:cNvPr id="3" name="Title 2"/>
          <p:cNvSpPr>
            <a:spLocks noGrp="1"/>
          </p:cNvSpPr>
          <p:nvPr>
            <p:ph type="title" idx="103"/>
          </p:nvPr>
        </p:nvSpPr>
        <p:spPr/>
        <p:txBody>
          <a:bodyPr/>
          <a:lstStyle/>
          <a:p>
            <a:r>
              <a:t>Service after the sale</a:t>
            </a:r>
          </a:p>
        </p:txBody>
      </p:sp>
      <p:sp>
        <p:nvSpPr>
          <p:cNvPr id="4" name="Text Placeholder 3"/>
          <p:cNvSpPr>
            <a:spLocks noGrp="1"/>
          </p:cNvSpPr>
          <p:nvPr>
            <p:ph type="body" idx="104"/>
          </p:nvPr>
        </p:nvSpPr>
        <p:spPr/>
        <p:txBody>
          <a:bodyPr/>
          <a:lstStyle/>
          <a:p>
            <a:r>
              <a:t>Service response is now a purchase criterion, not a cost center.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SERVICE</a:t>
            </a:r>
          </a:p>
        </p:txBody>
      </p:sp>
      <p:sp>
        <p:nvSpPr>
          <p:cNvPr id="3" name="Title 2"/>
          <p:cNvSpPr>
            <a:spLocks noGrp="1"/>
          </p:cNvSpPr>
          <p:nvPr>
            <p:ph type="title" idx="101"/>
          </p:nvPr>
        </p:nvSpPr>
        <p:spPr/>
        <p:txBody>
          <a:bodyPr/>
          <a:lstStyle/>
          <a:p>
            <a:r>
              <a:t>Service response is now a buying criterion</a:t>
            </a:r>
          </a:p>
        </p:txBody>
      </p:sp>
      <p:sp>
        <p:nvSpPr>
          <p:cNvPr id="4" name="Text Placeholder 3"/>
          <p:cNvSpPr>
            <a:spLocks noGrp="1"/>
          </p:cNvSpPr>
          <p:nvPr>
            <p:ph type="body" idx="102"/>
          </p:nvPr>
        </p:nvSpPr>
        <p:spPr/>
        <p:txBody>
          <a:bodyPr/>
          <a:lstStyle/>
          <a:p>
            <a:r>
              <a:t>Buyers rank fast service response next to uptime. Poor service is the second reason business buyers leave.</a:t>
            </a:r>
          </a:p>
        </p:txBody>
      </p:sp>
      <p:sp>
        <p:nvSpPr>
          <p:cNvPr id="5" name="Text Placeholder 4"/>
          <p:cNvSpPr>
            <a:spLocks noGrp="1"/>
          </p:cNvSpPr>
          <p:nvPr>
            <p:ph type="body" idx="104"/>
          </p:nvPr>
        </p:nvSpPr>
        <p:spPr/>
        <p:txBody>
          <a:bodyPr/>
          <a:lstStyle/>
          <a:p>
            <a:r>
              <a:t>95%</a:t>
            </a:r>
          </a:p>
        </p:txBody>
      </p:sp>
      <p:sp>
        <p:nvSpPr>
          <p:cNvPr id="6" name="Text Placeholder 5"/>
          <p:cNvSpPr>
            <a:spLocks noGrp="1"/>
          </p:cNvSpPr>
          <p:nvPr>
            <p:ph type="body" idx="105"/>
          </p:nvPr>
        </p:nvSpPr>
        <p:spPr/>
        <p:txBody>
          <a:bodyPr/>
          <a:lstStyle/>
          <a:p>
            <a:r>
              <a:t>RATE FAST SERVICE RESPONSE VERY IMPORTANT</a:t>
            </a:r>
          </a:p>
        </p:txBody>
      </p:sp>
      <p:sp>
        <p:nvSpPr>
          <p:cNvPr id="7" name="Text Placeholder 6"/>
          <p:cNvSpPr>
            <a:spLocks noGrp="1"/>
          </p:cNvSpPr>
          <p:nvPr>
            <p:ph type="body" idx="106"/>
          </p:nvPr>
        </p:nvSpPr>
        <p:spPr/>
        <p:txBody>
          <a:bodyPr/>
          <a:lstStyle/>
          <a:p>
            <a:r>
              <a:t>Warehouse automation buyers, 2026; up from 83% a year earlier</a:t>
            </a:r>
          </a:p>
        </p:txBody>
      </p:sp>
      <p:sp>
        <p:nvSpPr>
          <p:cNvPr id="8" name="Text Placeholder 7"/>
          <p:cNvSpPr>
            <a:spLocks noGrp="1"/>
          </p:cNvSpPr>
          <p:nvPr>
            <p:ph type="body" idx="108"/>
          </p:nvPr>
        </p:nvSpPr>
        <p:spPr/>
        <p:txBody>
          <a:bodyPr/>
          <a:lstStyle/>
          <a:p>
            <a:r>
              <a:t>41%</a:t>
            </a:r>
          </a:p>
        </p:txBody>
      </p:sp>
      <p:sp>
        <p:nvSpPr>
          <p:cNvPr id="9" name="Text Placeholder 8"/>
          <p:cNvSpPr>
            <a:spLocks noGrp="1"/>
          </p:cNvSpPr>
          <p:nvPr>
            <p:ph type="body" idx="109"/>
          </p:nvPr>
        </p:nvSpPr>
        <p:spPr/>
        <p:txBody>
          <a:bodyPr/>
          <a:lstStyle/>
          <a:p>
            <a:r>
              <a:t>OF BUSINESS BUYERS LEFT OVER POOR SERVICE</a:t>
            </a:r>
          </a:p>
        </p:txBody>
      </p:sp>
      <p:sp>
        <p:nvSpPr>
          <p:cNvPr id="10" name="Text Placeholder 9"/>
          <p:cNvSpPr>
            <a:spLocks noGrp="1"/>
          </p:cNvSpPr>
          <p:nvPr>
            <p:ph type="body" idx="110"/>
          </p:nvPr>
        </p:nvSpPr>
        <p:spPr/>
        <p:txBody>
          <a:bodyPr/>
          <a:lstStyle/>
          <a:p>
            <a:r>
              <a:t>Second only to price (65%) as a reason to stop buying</a:t>
            </a:r>
          </a:p>
        </p:txBody>
      </p:sp>
      <p:sp>
        <p:nvSpPr>
          <p:cNvPr id="11" name="Text Placeholder 10"/>
          <p:cNvSpPr>
            <a:spLocks noGrp="1"/>
          </p:cNvSpPr>
          <p:nvPr>
            <p:ph type="body" idx="112"/>
          </p:nvPr>
        </p:nvSpPr>
        <p:spPr/>
        <p:txBody>
          <a:bodyPr/>
          <a:lstStyle/>
          <a:p>
            <a:r>
              <a:t>63%</a:t>
            </a:r>
          </a:p>
        </p:txBody>
      </p:sp>
      <p:sp>
        <p:nvSpPr>
          <p:cNvPr id="12" name="Text Placeholder 11"/>
          <p:cNvSpPr>
            <a:spLocks noGrp="1"/>
          </p:cNvSpPr>
          <p:nvPr>
            <p:ph type="body" idx="113"/>
          </p:nvPr>
        </p:nvSpPr>
        <p:spPr/>
        <p:txBody>
          <a:bodyPr/>
          <a:lstStyle/>
          <a:p>
            <a:r>
              <a:t>WILL SWITCH AFTER ONE BAD EXPERIENCE</a:t>
            </a:r>
          </a:p>
        </p:txBody>
      </p:sp>
      <p:sp>
        <p:nvSpPr>
          <p:cNvPr id="13" name="Text Placeholder 12"/>
          <p:cNvSpPr>
            <a:spLocks noGrp="1"/>
          </p:cNvSpPr>
          <p:nvPr>
            <p:ph type="body" idx="114"/>
          </p:nvPr>
        </p:nvSpPr>
        <p:spPr/>
        <p:txBody>
          <a:bodyPr/>
          <a:lstStyle/>
          <a:p>
            <a:r>
              <a:t>Up nine points year over year</a:t>
            </a:r>
          </a:p>
        </p:txBody>
      </p:sp>
      <p:sp>
        <p:nvSpPr>
          <p:cNvPr id="14" name="Text Placeholder 13"/>
          <p:cNvSpPr>
            <a:spLocks noGrp="1"/>
          </p:cNvSpPr>
          <p:nvPr>
            <p:ph type="body" idx="115"/>
          </p:nvPr>
        </p:nvSpPr>
        <p:spPr/>
        <p:txBody>
          <a:bodyPr/>
          <a:lstStyle/>
          <a:p>
            <a:r>
              <a:t>The install crew, the parts desk, and the engineer who calls back are part of the product. Buyers score them that way.</a:t>
            </a:r>
          </a:p>
        </p:txBody>
      </p:sp>
      <p:sp>
        <p:nvSpPr>
          <p:cNvPr id="15" name="Text Placeholder 14"/>
          <p:cNvSpPr>
            <a:spLocks noGrp="1"/>
          </p:cNvSpPr>
          <p:nvPr>
            <p:ph type="body" idx="116"/>
          </p:nvPr>
        </p:nvSpPr>
        <p:spPr/>
        <p:txBody>
          <a:bodyPr/>
          <a:lstStyle/>
          <a:p>
            <a:r>
              <a:t>Source: Modern Materials Handling / Peerless 2026 Automation Study (120+ decision makers) and 2025 Automation Survey (n=139); Salesforce State of the AI Connected Customer 2024 (1,570 business buyers); Zendesk CX Trends 2025 (5,100 consumers).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THE MATH</a:t>
            </a:r>
          </a:p>
        </p:txBody>
      </p:sp>
      <p:sp>
        <p:nvSpPr>
          <p:cNvPr id="3" name="Title 2"/>
          <p:cNvSpPr>
            <a:spLocks noGrp="1"/>
          </p:cNvSpPr>
          <p:nvPr>
            <p:ph type="title" idx="101"/>
          </p:nvPr>
        </p:nvSpPr>
        <p:spPr/>
        <p:txBody>
          <a:bodyPr/>
          <a:lstStyle/>
          <a:p>
            <a:r>
              <a:t>Retention pays twice. Churn costs for years.</a:t>
            </a:r>
          </a:p>
        </p:txBody>
      </p:sp>
      <p:sp>
        <p:nvSpPr>
          <p:cNvPr id="4" name="Text Placeholder 3"/>
          <p:cNvSpPr>
            <a:spLocks noGrp="1"/>
          </p:cNvSpPr>
          <p:nvPr>
            <p:ph type="body" idx="102"/>
          </p:nvPr>
        </p:nvSpPr>
        <p:spPr/>
        <p:txBody>
          <a:bodyPr/>
          <a:lstStyle/>
          <a:p>
            <a:r>
              <a:t>Aftermarket carries double the margin of equipment, and a burned B2B customer stays gone.</a:t>
            </a:r>
          </a:p>
        </p:txBody>
      </p:sp>
      <p:sp>
        <p:nvSpPr>
          <p:cNvPr id="5" name="Text Placeholder 4"/>
          <p:cNvSpPr>
            <a:spLocks noGrp="1"/>
          </p:cNvSpPr>
          <p:nvPr>
            <p:ph type="body" idx="103"/>
          </p:nvPr>
        </p:nvSpPr>
        <p:spPr/>
        <p:txBody>
          <a:bodyPr/>
          <a:lstStyle/>
          <a:p>
            <a:r>
              <a:t>WHAT SERVICE EARNS</a:t>
            </a:r>
          </a:p>
        </p:txBody>
      </p:sp>
      <p:sp>
        <p:nvSpPr>
          <p:cNvPr id="6" name="Text Placeholder 5"/>
          <p:cNvSpPr>
            <a:spLocks noGrp="1"/>
          </p:cNvSpPr>
          <p:nvPr>
            <p:ph type="body" idx="105"/>
          </p:nvPr>
        </p:nvSpPr>
        <p:spPr/>
        <p:txBody>
          <a:bodyPr/>
          <a:lstStyle/>
          <a:p>
            <a:pPr>
              <a:spcAft>
                <a:spcPts val="700"/>
              </a:spcAft>
            </a:pPr>
            <a:r>
              <a:t>Aftermarket services deliver margins more than two times higher than equipment sales alone.</a:t>
            </a:r>
          </a:p>
          <a:p>
            <a:pPr>
              <a:spcAft>
                <a:spcPts val="700"/>
              </a:spcAft>
            </a:pPr>
            <a:r>
              <a:t>73% of chief sales officers now prioritize growth from existing customers over new logos.</a:t>
            </a:r>
          </a:p>
          <a:p>
            <a:pPr>
              <a:spcAft>
                <a:spcPts val="700"/>
              </a:spcAft>
            </a:pPr>
            <a:r>
              <a:t>Companies that run service as a value center grow revenue 3.5x faster than those that run it as a cost center.</a:t>
            </a:r>
          </a:p>
          <a:p>
            <a:pPr>
              <a:spcAft>
                <a:spcPts val="700"/>
              </a:spcAft>
            </a:pPr>
            <a:r>
              <a:t>62% of B2B customers bought more after a good service experience.</a:t>
            </a:r>
          </a:p>
        </p:txBody>
      </p:sp>
      <p:sp>
        <p:nvSpPr>
          <p:cNvPr id="7" name="Text Placeholder 6"/>
          <p:cNvSpPr>
            <a:spLocks noGrp="1"/>
          </p:cNvSpPr>
          <p:nvPr>
            <p:ph type="body" idx="106"/>
          </p:nvPr>
        </p:nvSpPr>
        <p:spPr/>
        <p:txBody>
          <a:bodyPr/>
          <a:lstStyle/>
          <a:p>
            <a:r>
              <a:t>WHAT POOR SERVICE COSTS</a:t>
            </a:r>
          </a:p>
        </p:txBody>
      </p:sp>
      <p:sp>
        <p:nvSpPr>
          <p:cNvPr id="8" name="Text Placeholder 7"/>
          <p:cNvSpPr>
            <a:spLocks noGrp="1"/>
          </p:cNvSpPr>
          <p:nvPr>
            <p:ph type="body" idx="108"/>
          </p:nvPr>
        </p:nvSpPr>
        <p:spPr/>
        <p:txBody>
          <a:bodyPr/>
          <a:lstStyle/>
          <a:p>
            <a:pPr>
              <a:spcAft>
                <a:spcPts val="700"/>
              </a:spcAft>
            </a:pPr>
            <a:r>
              <a:t>80% of frequent B2B buyers switched a supplier in 24 months because it could not meet their expectations.</a:t>
            </a:r>
          </a:p>
          <a:p>
            <a:pPr>
              <a:spcAft>
                <a:spcPts val="700"/>
              </a:spcAft>
            </a:pPr>
            <a:r>
              <a:t>66% of B2B customers stopped buying after a bad service interaction.</a:t>
            </a:r>
          </a:p>
          <a:p>
            <a:pPr>
              <a:spcAft>
                <a:spcPts val="700"/>
              </a:spcAft>
            </a:pPr>
            <a:r>
              <a:t>51% of them were still avoiding that vendor two or more years later.</a:t>
            </a:r>
          </a:p>
          <a:p>
            <a:pPr>
              <a:spcAft>
                <a:spcPts val="700"/>
              </a:spcAft>
            </a:pPr>
            <a:r>
              <a:t>Only 29% of B2B customers are fully engaged. Gallup calls the other 71% ready to take their business elsewhere.</a:t>
            </a:r>
          </a:p>
        </p:txBody>
      </p:sp>
      <p:sp>
        <p:nvSpPr>
          <p:cNvPr id="9" name="Text Placeholder 8"/>
          <p:cNvSpPr>
            <a:spLocks noGrp="1"/>
          </p:cNvSpPr>
          <p:nvPr>
            <p:ph type="body" idx="109"/>
          </p:nvPr>
        </p:nvSpPr>
        <p:spPr/>
        <p:txBody>
          <a:bodyPr/>
          <a:lstStyle/>
          <a:p>
            <a:r>
              <a:t>Source: Deloitte 2026 Manufacturing Industry Outlook; Gartner CSO survey May 2025 (n=243); Accenture 2022 and 2019 B2B studies; Dimensional Research 2013 (n=1,046, B2B split); Gallup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THE CHANNEL</a:t>
            </a:r>
          </a:p>
        </p:txBody>
      </p:sp>
      <p:sp>
        <p:nvSpPr>
          <p:cNvPr id="3" name="Title 2"/>
          <p:cNvSpPr>
            <a:spLocks noGrp="1"/>
          </p:cNvSpPr>
          <p:nvPr>
            <p:ph type="title" idx="101"/>
          </p:nvPr>
        </p:nvSpPr>
        <p:spPr/>
        <p:txBody>
          <a:bodyPr/>
          <a:lstStyle/>
          <a:p>
            <a:r>
              <a:t>Our response time becomes the dealer's</a:t>
            </a:r>
          </a:p>
        </p:txBody>
      </p:sp>
      <p:sp>
        <p:nvSpPr>
          <p:cNvPr id="4" name="Text Placeholder 3"/>
          <p:cNvSpPr>
            <a:spLocks noGrp="1"/>
          </p:cNvSpPr>
          <p:nvPr>
            <p:ph type="body" idx="102"/>
          </p:nvPr>
        </p:nvSpPr>
        <p:spPr/>
        <p:txBody>
          <a:bodyPr/>
          <a:lstStyle/>
          <a:p>
            <a:r>
              <a:t>Dealers are being asked for contractor-grade service. Our response time is theirs.</a:t>
            </a:r>
          </a:p>
        </p:txBody>
      </p:sp>
      <p:sp>
        <p:nvSpPr>
          <p:cNvPr id="5" name="Text Placeholder 4"/>
          <p:cNvSpPr>
            <a:spLocks noGrp="1"/>
          </p:cNvSpPr>
          <p:nvPr>
            <p:ph type="body" idx="103"/>
          </p:nvPr>
        </p:nvSpPr>
        <p:spPr/>
        <p:txBody>
          <a:bodyPr/>
          <a:lstStyle/>
          <a:p>
            <a:pPr>
              <a:spcAft>
                <a:spcPts val="700"/>
              </a:spcAft>
            </a:pPr>
            <a:r>
              <a:t>86% of lift truck spend runs through dealers. Under 15% goes direct. Rack is not measured the same way, but the channel is the same.</a:t>
            </a:r>
          </a:p>
          <a:p>
            <a:pPr>
              <a:spcAft>
                <a:spcPts val="700"/>
              </a:spcAft>
            </a:pPr>
            <a:r>
              <a:t>MHEDA 2025: storage and handling customers now expect "contractor-like service capabilities" from the dealer.</a:t>
            </a:r>
          </a:p>
          <a:p>
            <a:pPr>
              <a:spcAft>
                <a:spcPts val="700"/>
              </a:spcAft>
            </a:pPr>
            <a:r>
              <a:t>MHEDA 2026 trends: rising customer expectations squeezing margins; manufacturer-distributor partnerships "becoming essential."</a:t>
            </a:r>
          </a:p>
          <a:p>
            <a:pPr>
              <a:spcAft>
                <a:spcPts val="700"/>
              </a:spcAft>
            </a:pPr>
            <a:r>
              <a:t>Half of industrial buyers would switch to a supplier offering returns help, training, and on-site support. 87% of millennial buyers would.</a:t>
            </a:r>
          </a:p>
          <a:p>
            <a:pPr>
              <a:spcAft>
                <a:spcPts val="700"/>
              </a:spcAft>
            </a:pPr>
            <a:r>
              <a:t>Younger buyers research online and expect to buy online. 80% would move to a supplier with a more usable web presence.</a:t>
            </a:r>
          </a:p>
          <a:p>
            <a:pPr>
              <a:spcAft>
                <a:spcPts val="700"/>
              </a:spcAft>
            </a:pPr>
            <a:r>
              <a:t>Every quote, drawing, and parts question a dealer sends us has an end customer waiting behind it.</a:t>
            </a:r>
          </a:p>
        </p:txBody>
      </p:sp>
      <p:sp>
        <p:nvSpPr>
          <p:cNvPr id="6" name="Text Placeholder 5"/>
          <p:cNvSpPr>
            <a:spLocks noGrp="1"/>
          </p:cNvSpPr>
          <p:nvPr>
            <p:ph type="body" idx="104"/>
          </p:nvPr>
        </p:nvSpPr>
        <p:spPr/>
        <p:txBody>
          <a:bodyPr/>
          <a:lstStyle/>
          <a:p>
            <a:r>
              <a:t>Source: MMH / Peerless 2025 Lift Truck User Survey (n=150); MHEDA Journal 2025 Industry Outlook and 2026 Business Trends; UPS Industrial Buying Dynamics 2017 (1,500 U.S. buyers) and 2019.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05</a:t>
            </a:r>
          </a:p>
        </p:txBody>
      </p:sp>
      <p:sp>
        <p:nvSpPr>
          <p:cNvPr id="3" name="Title 2"/>
          <p:cNvSpPr>
            <a:spLocks noGrp="1"/>
          </p:cNvSpPr>
          <p:nvPr>
            <p:ph type="title" idx="103"/>
          </p:nvPr>
        </p:nvSpPr>
        <p:spPr/>
        <p:txBody>
          <a:bodyPr/>
          <a:lstStyle/>
          <a:p>
            <a:r>
              <a:t>What we change</a:t>
            </a:r>
          </a:p>
        </p:txBody>
      </p:sp>
      <p:sp>
        <p:nvSpPr>
          <p:cNvPr id="4" name="Text Placeholder 3"/>
          <p:cNvSpPr>
            <a:spLocks noGrp="1"/>
          </p:cNvSpPr>
          <p:nvPr>
            <p:ph type="body" idx="104"/>
          </p:nvPr>
        </p:nvSpPr>
        <p:spPr/>
        <p:txBody>
          <a:bodyPr/>
          <a:lstStyle/>
          <a:p>
            <a:r>
              <a:t>Three standards, measured, owned, and on the scorecard.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STANDARDS</a:t>
            </a:r>
          </a:p>
        </p:txBody>
      </p:sp>
      <p:sp>
        <p:nvSpPr>
          <p:cNvPr id="3" name="Title 2"/>
          <p:cNvSpPr>
            <a:spLocks noGrp="1"/>
          </p:cNvSpPr>
          <p:nvPr>
            <p:ph type="title" idx="101"/>
          </p:nvPr>
        </p:nvSpPr>
        <p:spPr/>
        <p:txBody>
          <a:bodyPr/>
          <a:lstStyle/>
          <a:p>
            <a:r>
              <a:t>Three standards we hold ourselves to</a:t>
            </a:r>
          </a:p>
        </p:txBody>
      </p:sp>
      <p:sp>
        <p:nvSpPr>
          <p:cNvPr id="4" name="Text Placeholder 3"/>
          <p:cNvSpPr>
            <a:spLocks noGrp="1"/>
          </p:cNvSpPr>
          <p:nvPr>
            <p:ph type="body" idx="102"/>
          </p:nvPr>
        </p:nvSpPr>
        <p:spPr/>
        <p:txBody>
          <a:bodyPr/>
          <a:lstStyle/>
          <a:p>
            <a:r>
              <a:t>Each one maps to a number in this deck. Each one gets measured.</a:t>
            </a:r>
          </a:p>
        </p:txBody>
      </p:sp>
      <p:sp>
        <p:nvSpPr>
          <p:cNvPr id="5" name="Text Placeholder 4"/>
          <p:cNvSpPr>
            <a:spLocks noGrp="1"/>
          </p:cNvSpPr>
          <p:nvPr>
            <p:ph type="body" idx="106"/>
          </p:nvPr>
        </p:nvSpPr>
        <p:spPr/>
        <p:txBody>
          <a:bodyPr/>
          <a:lstStyle/>
          <a:p>
            <a:r>
              <a:t>1. First touch inside one hour</a:t>
            </a:r>
          </a:p>
        </p:txBody>
      </p:sp>
      <p:sp>
        <p:nvSpPr>
          <p:cNvPr id="6" name="Text Placeholder 5"/>
          <p:cNvSpPr>
            <a:spLocks noGrp="1"/>
          </p:cNvSpPr>
          <p:nvPr>
            <p:ph type="body" idx="107"/>
          </p:nvPr>
        </p:nvSpPr>
        <p:spPr/>
        <p:txBody>
          <a:bodyPr/>
          <a:lstStyle/>
          <a:p>
            <a:r>
              <a:t>Every inbound lead, web form, dealer inquiry, and RFQ gets a human acknowledgment within one business hour. A real answer or quote inside 24 hours. Nobody waits two days to hear from Steel King.</a:t>
            </a:r>
          </a:p>
        </p:txBody>
      </p:sp>
      <p:sp>
        <p:nvSpPr>
          <p:cNvPr id="7" name="Text Placeholder 6"/>
          <p:cNvSpPr>
            <a:spLocks noGrp="1"/>
          </p:cNvSpPr>
          <p:nvPr>
            <p:ph type="body" idx="111"/>
          </p:nvPr>
        </p:nvSpPr>
        <p:spPr/>
        <p:txBody>
          <a:bodyPr/>
          <a:lstStyle/>
          <a:p>
            <a:r>
              <a:t>2. Six touches before we close a lead</a:t>
            </a:r>
          </a:p>
        </p:txBody>
      </p:sp>
      <p:sp>
        <p:nvSpPr>
          <p:cNvPr id="8" name="Text Placeholder 7"/>
          <p:cNvSpPr>
            <a:spLocks noGrp="1"/>
          </p:cNvSpPr>
          <p:nvPr>
            <p:ph type="body" idx="112"/>
          </p:nvPr>
        </p:nvSpPr>
        <p:spPr/>
        <p:txBody>
          <a:bodyPr/>
          <a:lstStyle/>
          <a:p>
            <a:r>
              <a:t>No lead is marked dead after one call. Minimum six touches across phone and email over two weeks, each with something useful: a drawing, a lead time, a reference. Log every touch.</a:t>
            </a:r>
          </a:p>
        </p:txBody>
      </p:sp>
      <p:sp>
        <p:nvSpPr>
          <p:cNvPr id="9" name="Text Placeholder 8"/>
          <p:cNvSpPr>
            <a:spLocks noGrp="1"/>
          </p:cNvSpPr>
          <p:nvPr>
            <p:ph type="body" idx="116"/>
          </p:nvPr>
        </p:nvSpPr>
        <p:spPr/>
        <p:txBody>
          <a:bodyPr/>
          <a:lstStyle/>
          <a:p>
            <a:r>
              <a:t>3. Same-day service response</a:t>
            </a:r>
          </a:p>
        </p:txBody>
      </p:sp>
      <p:sp>
        <p:nvSpPr>
          <p:cNvPr id="10" name="Text Placeholder 9"/>
          <p:cNvSpPr>
            <a:spLocks noGrp="1"/>
          </p:cNvSpPr>
          <p:nvPr>
            <p:ph type="body" idx="117"/>
          </p:nvPr>
        </p:nvSpPr>
        <p:spPr/>
        <p:txBody>
          <a:bodyPr/>
          <a:lstStyle/>
          <a:p>
            <a:r>
              <a:t>Post-sale questions, parts, and install issues get a same-day reply and a named owner. Dealer questions answered within four business hours. Response time reported monthly next to bookings.</a:t>
            </a:r>
          </a:p>
        </p:txBody>
      </p:sp>
      <p:sp>
        <p:nvSpPr>
          <p:cNvPr id="11" name="Text Placeholder 10"/>
          <p:cNvSpPr>
            <a:spLocks noGrp="1"/>
          </p:cNvSpPr>
          <p:nvPr>
            <p:ph type="body" idx="118"/>
          </p:nvPr>
        </p:nvSpPr>
        <p:spPr/>
        <p:txBody>
          <a:bodyPr/>
          <a:lstStyle/>
          <a:p>
            <a:r>
              <a:t>Source: Proposed. Targets set from the research above; final numbers to be confirmed with the team.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ROLLOUT</a:t>
            </a:r>
          </a:p>
        </p:txBody>
      </p:sp>
      <p:sp>
        <p:nvSpPr>
          <p:cNvPr id="3" name="Title 2"/>
          <p:cNvSpPr>
            <a:spLocks noGrp="1"/>
          </p:cNvSpPr>
          <p:nvPr>
            <p:ph type="title" idx="101"/>
          </p:nvPr>
        </p:nvSpPr>
        <p:spPr/>
        <p:txBody>
          <a:bodyPr/>
          <a:lstStyle/>
          <a:p>
            <a:r>
              <a:t>Measure first, then set the bar</a:t>
            </a:r>
          </a:p>
        </p:txBody>
      </p:sp>
      <p:sp>
        <p:nvSpPr>
          <p:cNvPr id="4" name="Text Placeholder 3"/>
          <p:cNvSpPr>
            <a:spLocks noGrp="1"/>
          </p:cNvSpPr>
          <p:nvPr>
            <p:ph type="body" idx="102"/>
          </p:nvPr>
        </p:nvSpPr>
        <p:spPr/>
        <p:txBody>
          <a:bodyPr/>
          <a:lstStyle/>
          <a:p>
            <a:r>
              <a:t>We cannot manage response time until we can see it. Baseline comes before targets.</a:t>
            </a:r>
          </a:p>
        </p:txBody>
      </p:sp>
      <p:sp>
        <p:nvSpPr>
          <p:cNvPr id="5" name="Text Placeholder 4"/>
          <p:cNvSpPr>
            <a:spLocks noGrp="1"/>
          </p:cNvSpPr>
          <p:nvPr>
            <p:ph type="body" idx="106"/>
          </p:nvPr>
        </p:nvSpPr>
        <p:spPr/>
        <p:txBody>
          <a:bodyPr/>
          <a:lstStyle/>
          <a:p>
            <a:r>
              <a:t>OCT 2026</a:t>
            </a:r>
          </a:p>
        </p:txBody>
      </p:sp>
      <p:sp>
        <p:nvSpPr>
          <p:cNvPr id="6" name="Text Placeholder 5"/>
          <p:cNvSpPr>
            <a:spLocks noGrp="1"/>
          </p:cNvSpPr>
          <p:nvPr>
            <p:ph type="body" idx="107"/>
          </p:nvPr>
        </p:nvSpPr>
        <p:spPr/>
        <p:txBody>
          <a:bodyPr/>
          <a:lstStyle/>
          <a:p>
            <a:r>
              <a:t>Baseline</a:t>
            </a:r>
          </a:p>
        </p:txBody>
      </p:sp>
      <p:sp>
        <p:nvSpPr>
          <p:cNvPr id="7" name="Text Placeholder 6"/>
          <p:cNvSpPr>
            <a:spLocks noGrp="1"/>
          </p:cNvSpPr>
          <p:nvPr>
            <p:ph type="body" idx="108"/>
          </p:nvPr>
        </p:nvSpPr>
        <p:spPr/>
        <p:txBody>
          <a:bodyPr/>
          <a:lstStyle/>
          <a:p>
            <a:r>
              <a:t>Pull current response times for web leads, dealer RFQs, and service requests. Secret-shop our own inbound. Owner: Nate with inside sales.</a:t>
            </a:r>
          </a:p>
        </p:txBody>
      </p:sp>
      <p:sp>
        <p:nvSpPr>
          <p:cNvPr id="8" name="Text Placeholder 7"/>
          <p:cNvSpPr>
            <a:spLocks noGrp="1"/>
          </p:cNvSpPr>
          <p:nvPr>
            <p:ph type="body" idx="111"/>
          </p:nvPr>
        </p:nvSpPr>
        <p:spPr/>
        <p:txBody>
          <a:bodyPr/>
          <a:lstStyle/>
          <a:p>
            <a:r>
              <a:t>NOV 2026</a:t>
            </a:r>
          </a:p>
        </p:txBody>
      </p:sp>
      <p:sp>
        <p:nvSpPr>
          <p:cNvPr id="9" name="Text Placeholder 8"/>
          <p:cNvSpPr>
            <a:spLocks noGrp="1"/>
          </p:cNvSpPr>
          <p:nvPr>
            <p:ph type="body" idx="112"/>
          </p:nvPr>
        </p:nvSpPr>
        <p:spPr/>
        <p:txBody>
          <a:bodyPr/>
          <a:lstStyle/>
          <a:p>
            <a:r>
              <a:t>Standards and cadence</a:t>
            </a:r>
          </a:p>
        </p:txBody>
      </p:sp>
      <p:sp>
        <p:nvSpPr>
          <p:cNvPr id="10" name="Text Placeholder 9"/>
          <p:cNvSpPr>
            <a:spLocks noGrp="1"/>
          </p:cNvSpPr>
          <p:nvPr>
            <p:ph type="body" idx="113"/>
          </p:nvPr>
        </p:nvSpPr>
        <p:spPr/>
        <p:txBody>
          <a:bodyPr/>
          <a:lstStyle/>
          <a:p>
            <a:r>
              <a:t>Agree the three standards. Build the six-touch cadence and templates. Assign lead ownership rules. Owner: regional managers.</a:t>
            </a:r>
          </a:p>
        </p:txBody>
      </p:sp>
      <p:sp>
        <p:nvSpPr>
          <p:cNvPr id="11" name="Text Placeholder 10"/>
          <p:cNvSpPr>
            <a:spLocks noGrp="1"/>
          </p:cNvSpPr>
          <p:nvPr>
            <p:ph type="body" idx="116"/>
          </p:nvPr>
        </p:nvSpPr>
        <p:spPr/>
        <p:txBody>
          <a:bodyPr/>
          <a:lstStyle/>
          <a:p>
            <a:r>
              <a:t>DEC 2026</a:t>
            </a:r>
          </a:p>
        </p:txBody>
      </p:sp>
      <p:sp>
        <p:nvSpPr>
          <p:cNvPr id="12" name="Text Placeholder 11"/>
          <p:cNvSpPr>
            <a:spLocks noGrp="1"/>
          </p:cNvSpPr>
          <p:nvPr>
            <p:ph type="body" idx="117"/>
          </p:nvPr>
        </p:nvSpPr>
        <p:spPr/>
        <p:txBody>
          <a:bodyPr/>
          <a:lstStyle/>
          <a:p>
            <a:r>
              <a:t>Tools and dashboard</a:t>
            </a:r>
          </a:p>
        </p:txBody>
      </p:sp>
      <p:sp>
        <p:nvSpPr>
          <p:cNvPr id="13" name="Text Placeholder 12"/>
          <p:cNvSpPr>
            <a:spLocks noGrp="1"/>
          </p:cNvSpPr>
          <p:nvPr>
            <p:ph type="body" idx="118"/>
          </p:nvPr>
        </p:nvSpPr>
        <p:spPr/>
        <p:txBody>
          <a:bodyPr/>
          <a:lstStyle/>
          <a:p>
            <a:r>
              <a:t>Route leads with alerts. Response-time report by rep and by dealer. Owner: marketing and inside sales.</a:t>
            </a:r>
          </a:p>
        </p:txBody>
      </p:sp>
      <p:sp>
        <p:nvSpPr>
          <p:cNvPr id="14" name="Text Placeholder 13"/>
          <p:cNvSpPr>
            <a:spLocks noGrp="1"/>
          </p:cNvSpPr>
          <p:nvPr>
            <p:ph type="body" idx="121"/>
          </p:nvPr>
        </p:nvSpPr>
        <p:spPr/>
        <p:txBody>
          <a:bodyPr/>
          <a:lstStyle/>
          <a:p>
            <a:r>
              <a:t>Q1 2027</a:t>
            </a:r>
          </a:p>
        </p:txBody>
      </p:sp>
      <p:sp>
        <p:nvSpPr>
          <p:cNvPr id="15" name="Text Placeholder 14"/>
          <p:cNvSpPr>
            <a:spLocks noGrp="1"/>
          </p:cNvSpPr>
          <p:nvPr>
            <p:ph type="body" idx="122"/>
          </p:nvPr>
        </p:nvSpPr>
        <p:spPr/>
        <p:txBody>
          <a:bodyPr/>
          <a:lstStyle/>
          <a:p>
            <a:r>
              <a:t>Scorecard and review</a:t>
            </a:r>
          </a:p>
        </p:txBody>
      </p:sp>
      <p:sp>
        <p:nvSpPr>
          <p:cNvPr id="16" name="Text Placeholder 15"/>
          <p:cNvSpPr>
            <a:spLocks noGrp="1"/>
          </p:cNvSpPr>
          <p:nvPr>
            <p:ph type="body" idx="123"/>
          </p:nvPr>
        </p:nvSpPr>
        <p:spPr/>
        <p:txBody>
          <a:bodyPr/>
          <a:lstStyle/>
          <a:p>
            <a:r>
              <a:t>Response time and follow-up rate on the sales scorecard. Review monthly in L10. Owner: Nate.</a:t>
            </a:r>
          </a:p>
        </p:txBody>
      </p:sp>
      <p:sp>
        <p:nvSpPr>
          <p:cNvPr id="17" name="Text Placeholder 16"/>
          <p:cNvSpPr>
            <a:spLocks noGrp="1"/>
          </p:cNvSpPr>
          <p:nvPr>
            <p:ph type="body" idx="124"/>
          </p:nvPr>
        </p:nvSpPr>
        <p:spPr/>
        <p:txBody>
          <a:bodyPr/>
          <a:lstStyle/>
          <a:p>
            <a:r>
              <a:t>Source: Dates are proposed and can move with the team's input.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THE POINT</a:t>
            </a:r>
          </a:p>
        </p:txBody>
      </p:sp>
      <p:sp>
        <p:nvSpPr>
          <p:cNvPr id="3" name="Title 2"/>
          <p:cNvSpPr>
            <a:spLocks noGrp="1"/>
          </p:cNvSpPr>
          <p:nvPr>
            <p:ph type="title" idx="103"/>
          </p:nvPr>
        </p:nvSpPr>
        <p:spPr/>
        <p:txBody>
          <a:bodyPr/>
          <a:lstStyle/>
          <a:p>
            <a:r>
              <a:t>Nobody buys rack because we called back fast. They stop considering us because we didn't.</a:t>
            </a:r>
          </a:p>
        </p:txBody>
      </p:sp>
      <p:sp>
        <p:nvSpPr>
          <p:cNvPr id="4" name="Text Placeholder 3"/>
          <p:cNvSpPr>
            <a:spLocks noGrp="1"/>
          </p:cNvSpPr>
          <p:nvPr>
            <p:ph type="body" idx="104"/>
          </p:nvPr>
        </p:nvSpPr>
        <p:spPr/>
        <p:txBody>
          <a:bodyPr/>
          <a:lstStyle/>
          <a:p>
            <a:r>
              <a:t>Speed and service don't win on their own. They keep us on the shortlist long enough for product and price to win.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ACTIONS</a:t>
            </a:r>
          </a:p>
        </p:txBody>
      </p:sp>
      <p:sp>
        <p:nvSpPr>
          <p:cNvPr id="3" name="Title 2"/>
          <p:cNvSpPr>
            <a:spLocks noGrp="1"/>
          </p:cNvSpPr>
          <p:nvPr>
            <p:ph type="title" idx="101"/>
          </p:nvPr>
        </p:nvSpPr>
        <p:spPr/>
        <p:txBody>
          <a:bodyPr/>
          <a:lstStyle/>
          <a:p>
            <a:r>
              <a:t>Next steps</a:t>
            </a:r>
          </a:p>
        </p:txBody>
      </p:sp>
      <p:sp>
        <p:nvSpPr>
          <p:cNvPr id="4" name="Text Placeholder 3"/>
          <p:cNvSpPr>
            <a:spLocks noGrp="1"/>
          </p:cNvSpPr>
          <p:nvPr>
            <p:ph type="body" idx="102"/>
          </p:nvPr>
        </p:nvSpPr>
        <p:spPr/>
        <p:txBody>
          <a:bodyPr/>
          <a:lstStyle/>
          <a:p>
            <a:r>
              <a:t>What we agree to today, who owns it, and when.</a:t>
            </a:r>
          </a:p>
        </p:txBody>
      </p:sp>
      <p:sp>
        <p:nvSpPr>
          <p:cNvPr id="6" name="Text Placeholder 5"/>
          <p:cNvSpPr>
            <a:spLocks noGrp="1"/>
          </p:cNvSpPr>
          <p:nvPr>
            <p:ph type="body" idx="104"/>
          </p:nvPr>
        </p:nvSpPr>
        <p:spPr/>
        <p:txBody>
          <a:bodyPr/>
          <a:lstStyle/>
          <a:p>
            <a:r>
              <a:t>Owners and dates are proposed for discussion in the meeting.</a:t>
            </a:r>
          </a:p>
        </p:txBody>
      </p:sp>
      <p:graphicFrame>
        <p:nvGraphicFramePr>
          <p:cNvPr id="7" name="Table 6"/>
          <p:cNvGraphicFramePr>
            <a:graphicFrameLocks noGrp="1"/>
          </p:cNvGraphicFramePr>
          <p:nvPr/>
        </p:nvGraphicFramePr>
        <p:xfrm>
          <a:off x="731520" y="2121408"/>
          <a:ext cx="10725912" cy="3749039"/>
        </p:xfrm>
        <a:graphic>
          <a:graphicData uri="http://schemas.openxmlformats.org/drawingml/2006/table">
            <a:tbl>
              <a:tblPr firstRow="1" bandRow="1">
                <a:tableStyleId>{5C22544A-7EE6-4342-B048-85BDC9FD1C3A}</a:tableStyleId>
              </a:tblPr>
              <a:tblGrid>
                <a:gridCol w="5605272"/>
                <a:gridCol w="2011680"/>
                <a:gridCol w="1463040"/>
                <a:gridCol w="1645920"/>
              </a:tblGrid>
              <a:tr h="535577">
                <a:tc>
                  <a:txBody>
                    <a:bodyPr/>
                    <a:lstStyle/>
                    <a:p>
                      <a:r>
                        <a:rPr sz="1100" b="1">
                          <a:solidFill>
                            <a:srgbClr val="FFFFFF"/>
                          </a:solidFill>
                          <a:latin typeface="Arial"/>
                        </a:rPr>
                        <a:t>Action</a:t>
                      </a:r>
                    </a:p>
                  </a:txBody>
                  <a:tcPr marL="73152" marR="73152" marT="45720" marB="45720">
                    <a:solidFill>
                      <a:srgbClr val="3C7D4D"/>
                    </a:solidFill>
                  </a:tcPr>
                </a:tc>
                <a:tc>
                  <a:txBody>
                    <a:bodyPr/>
                    <a:lstStyle/>
                    <a:p>
                      <a:r>
                        <a:rPr sz="1100" b="1">
                          <a:solidFill>
                            <a:srgbClr val="FFFFFF"/>
                          </a:solidFill>
                          <a:latin typeface="Arial"/>
                        </a:rPr>
                        <a:t>Owner</a:t>
                      </a:r>
                    </a:p>
                  </a:txBody>
                  <a:tcPr marL="73152" marR="73152" marT="45720" marB="45720">
                    <a:solidFill>
                      <a:srgbClr val="3C7D4D"/>
                    </a:solidFill>
                  </a:tcPr>
                </a:tc>
                <a:tc>
                  <a:txBody>
                    <a:bodyPr/>
                    <a:lstStyle/>
                    <a:p>
                      <a:r>
                        <a:rPr sz="1100" b="1">
                          <a:solidFill>
                            <a:srgbClr val="FFFFFF"/>
                          </a:solidFill>
                          <a:latin typeface="Arial"/>
                        </a:rPr>
                        <a:t>Date</a:t>
                      </a:r>
                    </a:p>
                  </a:txBody>
                  <a:tcPr marL="73152" marR="73152" marT="45720" marB="45720">
                    <a:solidFill>
                      <a:srgbClr val="3C7D4D"/>
                    </a:solidFill>
                  </a:tcPr>
                </a:tc>
                <a:tc>
                  <a:txBody>
                    <a:bodyPr/>
                    <a:lstStyle/>
                    <a:p>
                      <a:r>
                        <a:rPr sz="1100" b="1">
                          <a:solidFill>
                            <a:srgbClr val="FFFFFF"/>
                          </a:solidFill>
                          <a:latin typeface="Arial"/>
                        </a:rPr>
                        <a:t>Status</a:t>
                      </a:r>
                    </a:p>
                  </a:txBody>
                  <a:tcPr marL="73152" marR="73152" marT="45720" marB="45720">
                    <a:solidFill>
                      <a:srgbClr val="3C7D4D"/>
                    </a:solidFill>
                  </a:tcPr>
                </a:tc>
              </a:tr>
              <a:tr h="535577">
                <a:tc>
                  <a:txBody>
                    <a:bodyPr/>
                    <a:lstStyle/>
                    <a:p>
                      <a:r>
                        <a:rPr sz="1200" b="0">
                          <a:solidFill>
                            <a:srgbClr val="15181A"/>
                          </a:solidFill>
                          <a:latin typeface="Arial"/>
                        </a:rPr>
                        <a:t>Secret-shop our own inbound (web form, phone, dealer RFQ) and report response times</a:t>
                      </a:r>
                    </a:p>
                  </a:txBody>
                  <a:tcPr marL="73152" marR="73152" marT="45720" marB="45720">
                    <a:solidFill>
                      <a:srgbClr val="FFFFFF"/>
                    </a:solidFill>
                  </a:tcPr>
                </a:tc>
                <a:tc>
                  <a:txBody>
                    <a:bodyPr/>
                    <a:lstStyle/>
                    <a:p>
                      <a:r>
                        <a:rPr sz="1200" b="0">
                          <a:solidFill>
                            <a:srgbClr val="15181A"/>
                          </a:solidFill>
                          <a:latin typeface="Arial"/>
                        </a:rPr>
                        <a:t>Nate</a:t>
                      </a:r>
                    </a:p>
                  </a:txBody>
                  <a:tcPr marL="73152" marR="73152" marT="45720" marB="45720">
                    <a:solidFill>
                      <a:srgbClr val="FFFFFF"/>
                    </a:solidFill>
                  </a:tcPr>
                </a:tc>
                <a:tc>
                  <a:txBody>
                    <a:bodyPr/>
                    <a:lstStyle/>
                    <a:p>
                      <a:r>
                        <a:rPr sz="1200" b="0">
                          <a:solidFill>
                            <a:srgbClr val="15181A"/>
                          </a:solidFill>
                          <a:latin typeface="Arial"/>
                        </a:rPr>
                        <a:t>Oct 15, 2026</a:t>
                      </a:r>
                    </a:p>
                  </a:txBody>
                  <a:tcPr marL="73152" marR="73152" marT="45720" marB="45720">
                    <a:solidFill>
                      <a:srgbClr val="FFFFFF"/>
                    </a:solidFill>
                  </a:tcPr>
                </a:tc>
                <a:tc>
                  <a:txBody>
                    <a:bodyPr/>
                    <a:lstStyle/>
                    <a:p>
                      <a:r>
                        <a:rPr sz="1200" b="0">
                          <a:solidFill>
                            <a:srgbClr val="15181A"/>
                          </a:solidFill>
                          <a:latin typeface="Arial"/>
                        </a:rPr>
                        <a:t>Proposed</a:t>
                      </a:r>
                    </a:p>
                  </a:txBody>
                  <a:tcPr marL="73152" marR="73152" marT="45720" marB="45720">
                    <a:solidFill>
                      <a:srgbClr val="FFFFFF"/>
                    </a:solidFill>
                  </a:tcPr>
                </a:tc>
              </a:tr>
              <a:tr h="535577">
                <a:tc>
                  <a:txBody>
                    <a:bodyPr/>
                    <a:lstStyle/>
                    <a:p>
                      <a:r>
                        <a:rPr sz="1200" b="0">
                          <a:solidFill>
                            <a:srgbClr val="15181A"/>
                          </a:solidFill>
                          <a:latin typeface="Arial"/>
                        </a:rPr>
                        <a:t>Pull 90-day CRM data: time to first touch and touches per lead, by rep</a:t>
                      </a:r>
                    </a:p>
                  </a:txBody>
                  <a:tcPr marL="73152" marR="73152" marT="45720" marB="45720">
                    <a:solidFill>
                      <a:srgbClr val="F2F5F2"/>
                    </a:solidFill>
                  </a:tcPr>
                </a:tc>
                <a:tc>
                  <a:txBody>
                    <a:bodyPr/>
                    <a:lstStyle/>
                    <a:p>
                      <a:r>
                        <a:rPr sz="1200" b="0">
                          <a:solidFill>
                            <a:srgbClr val="15181A"/>
                          </a:solidFill>
                          <a:latin typeface="Arial"/>
                        </a:rPr>
                        <a:t>Inside sales lead</a:t>
                      </a:r>
                    </a:p>
                  </a:txBody>
                  <a:tcPr marL="73152" marR="73152" marT="45720" marB="45720">
                    <a:solidFill>
                      <a:srgbClr val="F2F5F2"/>
                    </a:solidFill>
                  </a:tcPr>
                </a:tc>
                <a:tc>
                  <a:txBody>
                    <a:bodyPr/>
                    <a:lstStyle/>
                    <a:p>
                      <a:r>
                        <a:rPr sz="1200" b="0">
                          <a:solidFill>
                            <a:srgbClr val="15181A"/>
                          </a:solidFill>
                          <a:latin typeface="Arial"/>
                        </a:rPr>
                        <a:t>Oct 15, 2026</a:t>
                      </a:r>
                    </a:p>
                  </a:txBody>
                  <a:tcPr marL="73152" marR="73152" marT="45720" marB="45720">
                    <a:solidFill>
                      <a:srgbClr val="F2F5F2"/>
                    </a:solidFill>
                  </a:tcPr>
                </a:tc>
                <a:tc>
                  <a:txBody>
                    <a:bodyPr/>
                    <a:lstStyle/>
                    <a:p>
                      <a:r>
                        <a:rPr sz="1200" b="0">
                          <a:solidFill>
                            <a:srgbClr val="15181A"/>
                          </a:solidFill>
                          <a:latin typeface="Arial"/>
                        </a:rPr>
                        <a:t>Proposed</a:t>
                      </a:r>
                    </a:p>
                  </a:txBody>
                  <a:tcPr marL="73152" marR="73152" marT="45720" marB="45720">
                    <a:solidFill>
                      <a:srgbClr val="F2F5F2"/>
                    </a:solidFill>
                  </a:tcPr>
                </a:tc>
              </a:tr>
              <a:tr h="535577">
                <a:tc>
                  <a:txBody>
                    <a:bodyPr/>
                    <a:lstStyle/>
                    <a:p>
                      <a:r>
                        <a:rPr sz="1200" b="0">
                          <a:solidFill>
                            <a:srgbClr val="15181A"/>
                          </a:solidFill>
                          <a:latin typeface="Arial"/>
                        </a:rPr>
                        <a:t>Draft the six-touch cadence with templates and required content per touch</a:t>
                      </a:r>
                    </a:p>
                  </a:txBody>
                  <a:tcPr marL="73152" marR="73152" marT="45720" marB="45720">
                    <a:solidFill>
                      <a:srgbClr val="FFFFFF"/>
                    </a:solidFill>
                  </a:tcPr>
                </a:tc>
                <a:tc>
                  <a:txBody>
                    <a:bodyPr/>
                    <a:lstStyle/>
                    <a:p>
                      <a:r>
                        <a:rPr sz="1200" b="0">
                          <a:solidFill>
                            <a:srgbClr val="15181A"/>
                          </a:solidFill>
                          <a:latin typeface="Arial"/>
                        </a:rPr>
                        <a:t>Regional managers</a:t>
                      </a:r>
                    </a:p>
                  </a:txBody>
                  <a:tcPr marL="73152" marR="73152" marT="45720" marB="45720">
                    <a:solidFill>
                      <a:srgbClr val="FFFFFF"/>
                    </a:solidFill>
                  </a:tcPr>
                </a:tc>
                <a:tc>
                  <a:txBody>
                    <a:bodyPr/>
                    <a:lstStyle/>
                    <a:p>
                      <a:r>
                        <a:rPr sz="1200" b="0">
                          <a:solidFill>
                            <a:srgbClr val="15181A"/>
                          </a:solidFill>
                          <a:latin typeface="Arial"/>
                        </a:rPr>
                        <a:t>Nov 1, 2026</a:t>
                      </a:r>
                    </a:p>
                  </a:txBody>
                  <a:tcPr marL="73152" marR="73152" marT="45720" marB="45720">
                    <a:solidFill>
                      <a:srgbClr val="FFFFFF"/>
                    </a:solidFill>
                  </a:tcPr>
                </a:tc>
                <a:tc>
                  <a:txBody>
                    <a:bodyPr/>
                    <a:lstStyle/>
                    <a:p>
                      <a:r>
                        <a:rPr sz="1200" b="0">
                          <a:solidFill>
                            <a:srgbClr val="15181A"/>
                          </a:solidFill>
                          <a:latin typeface="Arial"/>
                        </a:rPr>
                        <a:t>Proposed</a:t>
                      </a:r>
                    </a:p>
                  </a:txBody>
                  <a:tcPr marL="73152" marR="73152" marT="45720" marB="45720">
                    <a:solidFill>
                      <a:srgbClr val="FFFFFF"/>
                    </a:solidFill>
                  </a:tcPr>
                </a:tc>
              </a:tr>
              <a:tr h="535577">
                <a:tc>
                  <a:txBody>
                    <a:bodyPr/>
                    <a:lstStyle/>
                    <a:p>
                      <a:r>
                        <a:rPr sz="1200" b="0">
                          <a:solidFill>
                            <a:srgbClr val="15181A"/>
                          </a:solidFill>
                          <a:latin typeface="Arial"/>
                        </a:rPr>
                        <a:t>Agree the three standards and the exceptions</a:t>
                      </a:r>
                    </a:p>
                  </a:txBody>
                  <a:tcPr marL="73152" marR="73152" marT="45720" marB="45720">
                    <a:solidFill>
                      <a:srgbClr val="F2F5F2"/>
                    </a:solidFill>
                  </a:tcPr>
                </a:tc>
                <a:tc>
                  <a:txBody>
                    <a:bodyPr/>
                    <a:lstStyle/>
                    <a:p>
                      <a:r>
                        <a:rPr sz="1200" b="0">
                          <a:solidFill>
                            <a:srgbClr val="15181A"/>
                          </a:solidFill>
                          <a:latin typeface="Arial"/>
                        </a:rPr>
                        <a:t>Sales team</a:t>
                      </a:r>
                    </a:p>
                  </a:txBody>
                  <a:tcPr marL="73152" marR="73152" marT="45720" marB="45720">
                    <a:solidFill>
                      <a:srgbClr val="F2F5F2"/>
                    </a:solidFill>
                  </a:tcPr>
                </a:tc>
                <a:tc>
                  <a:txBody>
                    <a:bodyPr/>
                    <a:lstStyle/>
                    <a:p>
                      <a:r>
                        <a:rPr sz="1200" b="0">
                          <a:solidFill>
                            <a:srgbClr val="15181A"/>
                          </a:solidFill>
                          <a:latin typeface="Arial"/>
                        </a:rPr>
                        <a:t>Nov sales meeting</a:t>
                      </a:r>
                    </a:p>
                  </a:txBody>
                  <a:tcPr marL="73152" marR="73152" marT="45720" marB="45720">
                    <a:solidFill>
                      <a:srgbClr val="F2F5F2"/>
                    </a:solidFill>
                  </a:tcPr>
                </a:tc>
                <a:tc>
                  <a:txBody>
                    <a:bodyPr/>
                    <a:lstStyle/>
                    <a:p>
                      <a:r>
                        <a:rPr sz="1200" b="0">
                          <a:solidFill>
                            <a:srgbClr val="15181A"/>
                          </a:solidFill>
                          <a:latin typeface="Arial"/>
                        </a:rPr>
                        <a:t>Proposed</a:t>
                      </a:r>
                    </a:p>
                  </a:txBody>
                  <a:tcPr marL="73152" marR="73152" marT="45720" marB="45720">
                    <a:solidFill>
                      <a:srgbClr val="F2F5F2"/>
                    </a:solidFill>
                  </a:tcPr>
                </a:tc>
              </a:tr>
              <a:tr h="535577">
                <a:tc>
                  <a:txBody>
                    <a:bodyPr/>
                    <a:lstStyle/>
                    <a:p>
                      <a:r>
                        <a:rPr sz="1200" b="0">
                          <a:solidFill>
                            <a:srgbClr val="15181A"/>
                          </a:solidFill>
                          <a:latin typeface="Arial"/>
                        </a:rPr>
                        <a:t>Lead routing alerts and a response-time dashboard by rep and dealer</a:t>
                      </a:r>
                    </a:p>
                  </a:txBody>
                  <a:tcPr marL="73152" marR="73152" marT="45720" marB="45720">
                    <a:solidFill>
                      <a:srgbClr val="FFFFFF"/>
                    </a:solidFill>
                  </a:tcPr>
                </a:tc>
                <a:tc>
                  <a:txBody>
                    <a:bodyPr/>
                    <a:lstStyle/>
                    <a:p>
                      <a:r>
                        <a:rPr sz="1200" b="0">
                          <a:solidFill>
                            <a:srgbClr val="15181A"/>
                          </a:solidFill>
                          <a:latin typeface="Arial"/>
                        </a:rPr>
                        <a:t>Marketing (John) with inside sales</a:t>
                      </a:r>
                    </a:p>
                  </a:txBody>
                  <a:tcPr marL="73152" marR="73152" marT="45720" marB="45720">
                    <a:solidFill>
                      <a:srgbClr val="FFFFFF"/>
                    </a:solidFill>
                  </a:tcPr>
                </a:tc>
                <a:tc>
                  <a:txBody>
                    <a:bodyPr/>
                    <a:lstStyle/>
                    <a:p>
                      <a:r>
                        <a:rPr sz="1200" b="0">
                          <a:solidFill>
                            <a:srgbClr val="15181A"/>
                          </a:solidFill>
                          <a:latin typeface="Arial"/>
                        </a:rPr>
                        <a:t>Dec 15, 2026</a:t>
                      </a:r>
                    </a:p>
                  </a:txBody>
                  <a:tcPr marL="73152" marR="73152" marT="45720" marB="45720">
                    <a:solidFill>
                      <a:srgbClr val="FFFFFF"/>
                    </a:solidFill>
                  </a:tcPr>
                </a:tc>
                <a:tc>
                  <a:txBody>
                    <a:bodyPr/>
                    <a:lstStyle/>
                    <a:p>
                      <a:r>
                        <a:rPr sz="1200" b="0">
                          <a:solidFill>
                            <a:srgbClr val="15181A"/>
                          </a:solidFill>
                          <a:latin typeface="Arial"/>
                        </a:rPr>
                        <a:t>Proposed</a:t>
                      </a:r>
                    </a:p>
                  </a:txBody>
                  <a:tcPr marL="73152" marR="73152" marT="45720" marB="45720">
                    <a:solidFill>
                      <a:srgbClr val="FFFFFF"/>
                    </a:solidFill>
                  </a:tcPr>
                </a:tc>
              </a:tr>
              <a:tr h="535577">
                <a:tc>
                  <a:txBody>
                    <a:bodyPr/>
                    <a:lstStyle/>
                    <a:p>
                      <a:r>
                        <a:rPr sz="1200" b="0">
                          <a:solidFill>
                            <a:srgbClr val="15181A"/>
                          </a:solidFill>
                          <a:latin typeface="Arial"/>
                        </a:rPr>
                        <a:t>Add response time and follow-up rate to the sales scorecard</a:t>
                      </a:r>
                    </a:p>
                  </a:txBody>
                  <a:tcPr marL="73152" marR="73152" marT="45720" marB="45720">
                    <a:solidFill>
                      <a:srgbClr val="F2F5F2"/>
                    </a:solidFill>
                  </a:tcPr>
                </a:tc>
                <a:tc>
                  <a:txBody>
                    <a:bodyPr/>
                    <a:lstStyle/>
                    <a:p>
                      <a:r>
                        <a:rPr sz="1200" b="0">
                          <a:solidFill>
                            <a:srgbClr val="15181A"/>
                          </a:solidFill>
                          <a:latin typeface="Arial"/>
                        </a:rPr>
                        <a:t>Nate</a:t>
                      </a:r>
                    </a:p>
                  </a:txBody>
                  <a:tcPr marL="73152" marR="73152" marT="45720" marB="45720">
                    <a:solidFill>
                      <a:srgbClr val="F2F5F2"/>
                    </a:solidFill>
                  </a:tcPr>
                </a:tc>
                <a:tc>
                  <a:txBody>
                    <a:bodyPr/>
                    <a:lstStyle/>
                    <a:p>
                      <a:r>
                        <a:rPr sz="1200" b="0">
                          <a:solidFill>
                            <a:srgbClr val="15181A"/>
                          </a:solidFill>
                          <a:latin typeface="Arial"/>
                        </a:rPr>
                        <a:t>Jan 2027 L10</a:t>
                      </a:r>
                    </a:p>
                  </a:txBody>
                  <a:tcPr marL="73152" marR="73152" marT="45720" marB="45720">
                    <a:solidFill>
                      <a:srgbClr val="F2F5F2"/>
                    </a:solidFill>
                  </a:tcPr>
                </a:tc>
                <a:tc>
                  <a:txBody>
                    <a:bodyPr/>
                    <a:lstStyle/>
                    <a:p>
                      <a:r>
                        <a:rPr sz="1200" b="0">
                          <a:solidFill>
                            <a:srgbClr val="15181A"/>
                          </a:solidFill>
                          <a:latin typeface="Arial"/>
                        </a:rPr>
                        <a:t>Proposed</a:t>
                      </a:r>
                    </a:p>
                  </a:txBody>
                  <a:tcPr marL="73152" marR="73152" marT="45720" marB="45720">
                    <a:solidFill>
                      <a:srgbClr val="F2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What we decided</a:t>
            </a:r>
          </a:p>
        </p:txBody>
      </p:sp>
      <p:sp>
        <p:nvSpPr>
          <p:cNvPr id="3" name="Text Placeholder 2"/>
          <p:cNvSpPr>
            <a:spLocks noGrp="1"/>
          </p:cNvSpPr>
          <p:nvPr>
            <p:ph type="body" idx="103"/>
          </p:nvPr>
        </p:nvSpPr>
        <p:spPr/>
        <p:txBody>
          <a:bodyPr/>
          <a:lstStyle/>
          <a:p>
            <a:r>
              <a:t>Three standards: first touch inside an hour, six touches before a lead closes, same-day service response. Baseline in October, on the scorecard by January.</a:t>
            </a:r>
          </a:p>
        </p:txBody>
      </p:sp>
      <p:sp>
        <p:nvSpPr>
          <p:cNvPr id="4" name="Text Placeholder 3"/>
          <p:cNvSpPr>
            <a:spLocks noGrp="1"/>
          </p:cNvSpPr>
          <p:nvPr>
            <p:ph type="body" idx="104"/>
          </p:nvPr>
        </p:nvSpPr>
        <p:spPr/>
        <p:txBody>
          <a:bodyPr/>
          <a:lstStyle/>
          <a:p>
            <a:r>
              <a:t>Nate Guralski  |  VP Sales &amp; Marketing  |  Steel King Industries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Steel King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King Presentation System</dc:title>
  <dc:subject>PptxGenJS Presentation</dc:subject>
  <dc:creator>Steel King Industries</dc:creator>
  <cp:lastModifiedBy>Steel King Industries</cp:lastModifiedBy>
  <cp:revision>1</cp:revision>
  <dcterms:created xsi:type="dcterms:W3CDTF">2026-09-11T23:28:37Z</dcterms:created>
  <dcterms:modified xsi:type="dcterms:W3CDTF">2026-09-11T23:28:37Z</dcterms:modified>
</cp:coreProperties>
</file>